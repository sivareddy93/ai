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x="19507200" cy="10972800"/>
  <p:notesSz cx="19507200" cy="10972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4050" y="9982200"/>
            <a:ext cx="1914525" cy="61912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6575" y="3981450"/>
            <a:ext cx="8201025" cy="58578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8900" y="9229725"/>
            <a:ext cx="4752975" cy="6000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44300" y="9963150"/>
            <a:ext cx="381000" cy="476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75143" y="579437"/>
            <a:ext cx="1503680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26080" y="6144768"/>
            <a:ext cx="13655040" cy="274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75360" y="2523744"/>
            <a:ext cx="8485632" cy="7242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046208" y="2523744"/>
            <a:ext cx="8485632" cy="7242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345" y="115887"/>
            <a:ext cx="17290472" cy="15973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4319" y="4699000"/>
            <a:ext cx="17379950" cy="5568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632448" y="10204704"/>
            <a:ext cx="6242304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75360" y="10204704"/>
            <a:ext cx="4486656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045185" y="10204704"/>
            <a:ext cx="4486656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Relationship Id="rId3" Type="http://schemas.openxmlformats.org/officeDocument/2006/relationships/image" Target="../media/image52.png"/><Relationship Id="rId4" Type="http://schemas.openxmlformats.org/officeDocument/2006/relationships/image" Target="../media/image53.jpg"/><Relationship Id="rId5" Type="http://schemas.openxmlformats.org/officeDocument/2006/relationships/image" Target="../media/image5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jp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jpg"/><Relationship Id="rId9" Type="http://schemas.openxmlformats.org/officeDocument/2006/relationships/image" Target="../media/image85.png"/><Relationship Id="rId10" Type="http://schemas.openxmlformats.org/officeDocument/2006/relationships/image" Target="../media/image86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Relationship Id="rId4" Type="http://schemas.openxmlformats.org/officeDocument/2006/relationships/image" Target="../media/image89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jpg"/><Relationship Id="rId3" Type="http://schemas.openxmlformats.org/officeDocument/2006/relationships/image" Target="../media/image101.png"/><Relationship Id="rId4" Type="http://schemas.openxmlformats.org/officeDocument/2006/relationships/image" Target="../media/image102.jpg"/><Relationship Id="rId5" Type="http://schemas.openxmlformats.org/officeDocument/2006/relationships/image" Target="../media/image103.jpg"/><Relationship Id="rId6" Type="http://schemas.openxmlformats.org/officeDocument/2006/relationships/image" Target="../media/image104.png"/><Relationship Id="rId7" Type="http://schemas.openxmlformats.org/officeDocument/2006/relationships/image" Target="../media/image105.jp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jp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Relationship Id="rId14" Type="http://schemas.openxmlformats.org/officeDocument/2006/relationships/image" Target="../media/image132.png"/><Relationship Id="rId15" Type="http://schemas.openxmlformats.org/officeDocument/2006/relationships/image" Target="../media/image133.png"/><Relationship Id="rId16" Type="http://schemas.openxmlformats.org/officeDocument/2006/relationships/image" Target="../media/image134.png"/><Relationship Id="rId17" Type="http://schemas.openxmlformats.org/officeDocument/2006/relationships/image" Target="../media/image135.png"/><Relationship Id="rId18" Type="http://schemas.openxmlformats.org/officeDocument/2006/relationships/image" Target="../media/image136.png"/><Relationship Id="rId19" Type="http://schemas.openxmlformats.org/officeDocument/2006/relationships/image" Target="../media/image137.png"/><Relationship Id="rId20" Type="http://schemas.openxmlformats.org/officeDocument/2006/relationships/image" Target="../media/image138.png"/><Relationship Id="rId21" Type="http://schemas.openxmlformats.org/officeDocument/2006/relationships/image" Target="../media/image139.png"/><Relationship Id="rId22" Type="http://schemas.openxmlformats.org/officeDocument/2006/relationships/image" Target="../media/image140.png"/><Relationship Id="rId23" Type="http://schemas.openxmlformats.org/officeDocument/2006/relationships/image" Target="../media/image141.png"/><Relationship Id="rId24" Type="http://schemas.openxmlformats.org/officeDocument/2006/relationships/image" Target="../media/image142.png"/><Relationship Id="rId25" Type="http://schemas.openxmlformats.org/officeDocument/2006/relationships/image" Target="../media/image143.png"/><Relationship Id="rId26" Type="http://schemas.openxmlformats.org/officeDocument/2006/relationships/image" Target="../media/image144.png"/><Relationship Id="rId27" Type="http://schemas.openxmlformats.org/officeDocument/2006/relationships/image" Target="../media/image145.png"/><Relationship Id="rId28" Type="http://schemas.openxmlformats.org/officeDocument/2006/relationships/image" Target="../media/image146.png"/><Relationship Id="rId29" Type="http://schemas.openxmlformats.org/officeDocument/2006/relationships/image" Target="../media/image147.png"/><Relationship Id="rId30" Type="http://schemas.openxmlformats.org/officeDocument/2006/relationships/image" Target="../media/image148.png"/><Relationship Id="rId31" Type="http://schemas.openxmlformats.org/officeDocument/2006/relationships/image" Target="../media/image149.png"/><Relationship Id="rId32" Type="http://schemas.openxmlformats.org/officeDocument/2006/relationships/image" Target="../media/image150.png"/><Relationship Id="rId33" Type="http://schemas.openxmlformats.org/officeDocument/2006/relationships/image" Target="../media/image151.png"/><Relationship Id="rId34" Type="http://schemas.openxmlformats.org/officeDocument/2006/relationships/image" Target="../media/image152.png"/><Relationship Id="rId35" Type="http://schemas.openxmlformats.org/officeDocument/2006/relationships/image" Target="../media/image153.png"/><Relationship Id="rId36" Type="http://schemas.openxmlformats.org/officeDocument/2006/relationships/image" Target="../media/image154.png"/><Relationship Id="rId37" Type="http://schemas.openxmlformats.org/officeDocument/2006/relationships/image" Target="../media/image155.png"/><Relationship Id="rId38" Type="http://schemas.openxmlformats.org/officeDocument/2006/relationships/image" Target="../media/image156.png"/><Relationship Id="rId39" Type="http://schemas.openxmlformats.org/officeDocument/2006/relationships/image" Target="../media/image157.png"/><Relationship Id="rId40" Type="http://schemas.openxmlformats.org/officeDocument/2006/relationships/image" Target="../media/image158.png"/><Relationship Id="rId41" Type="http://schemas.openxmlformats.org/officeDocument/2006/relationships/image" Target="../media/image159.png"/><Relationship Id="rId42" Type="http://schemas.openxmlformats.org/officeDocument/2006/relationships/image" Target="../media/image160.png"/><Relationship Id="rId43" Type="http://schemas.openxmlformats.org/officeDocument/2006/relationships/image" Target="../media/image161.png"/><Relationship Id="rId44" Type="http://schemas.openxmlformats.org/officeDocument/2006/relationships/image" Target="../media/image162.png"/><Relationship Id="rId45" Type="http://schemas.openxmlformats.org/officeDocument/2006/relationships/image" Target="../media/image163.png"/><Relationship Id="rId46" Type="http://schemas.openxmlformats.org/officeDocument/2006/relationships/image" Target="../media/image164.png"/><Relationship Id="rId47" Type="http://schemas.openxmlformats.org/officeDocument/2006/relationships/image" Target="../media/image165.png"/><Relationship Id="rId48" Type="http://schemas.openxmlformats.org/officeDocument/2006/relationships/image" Target="../media/image166.png"/><Relationship Id="rId49" Type="http://schemas.openxmlformats.org/officeDocument/2006/relationships/image" Target="../media/image167.png"/><Relationship Id="rId50" Type="http://schemas.openxmlformats.org/officeDocument/2006/relationships/image" Target="../media/image168.png"/><Relationship Id="rId51" Type="http://schemas.openxmlformats.org/officeDocument/2006/relationships/image" Target="../media/image169.png"/><Relationship Id="rId52" Type="http://schemas.openxmlformats.org/officeDocument/2006/relationships/image" Target="../media/image170.png"/><Relationship Id="rId53" Type="http://schemas.openxmlformats.org/officeDocument/2006/relationships/image" Target="../media/image171.png"/><Relationship Id="rId54" Type="http://schemas.openxmlformats.org/officeDocument/2006/relationships/image" Target="../media/image172.png"/><Relationship Id="rId55" Type="http://schemas.openxmlformats.org/officeDocument/2006/relationships/image" Target="../media/image173.png"/><Relationship Id="rId56" Type="http://schemas.openxmlformats.org/officeDocument/2006/relationships/image" Target="../media/image174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jpg"/><Relationship Id="rId5" Type="http://schemas.openxmlformats.org/officeDocument/2006/relationships/image" Target="../media/image178.png"/><Relationship Id="rId6" Type="http://schemas.openxmlformats.org/officeDocument/2006/relationships/image" Target="../media/image179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jp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Relationship Id="rId4" Type="http://schemas.openxmlformats.org/officeDocument/2006/relationships/image" Target="../media/image186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jpg"/><Relationship Id="rId3" Type="http://schemas.openxmlformats.org/officeDocument/2006/relationships/image" Target="../media/image188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jpg"/><Relationship Id="rId3" Type="http://schemas.openxmlformats.org/officeDocument/2006/relationships/image" Target="../media/image191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2.jpg"/><Relationship Id="rId3" Type="http://schemas.openxmlformats.org/officeDocument/2006/relationships/image" Target="../media/image193.jpg"/><Relationship Id="rId4" Type="http://schemas.openxmlformats.org/officeDocument/2006/relationships/image" Target="../media/image194.jpg"/><Relationship Id="rId5" Type="http://schemas.openxmlformats.org/officeDocument/2006/relationships/image" Target="../media/image195.jpg"/><Relationship Id="rId6" Type="http://schemas.openxmlformats.org/officeDocument/2006/relationships/image" Target="../media/image196.jpg"/><Relationship Id="rId7" Type="http://schemas.openxmlformats.org/officeDocument/2006/relationships/image" Target="../media/image197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8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9.jpg"/><Relationship Id="rId3" Type="http://schemas.openxmlformats.org/officeDocument/2006/relationships/image" Target="../media/image200.jpg"/><Relationship Id="rId4" Type="http://schemas.openxmlformats.org/officeDocument/2006/relationships/image" Target="../media/image201.jpg"/><Relationship Id="rId5" Type="http://schemas.openxmlformats.org/officeDocument/2006/relationships/image" Target="../media/image202.jpg"/><Relationship Id="rId6" Type="http://schemas.openxmlformats.org/officeDocument/2006/relationships/image" Target="../media/image203.jpg"/><Relationship Id="rId7" Type="http://schemas.openxmlformats.org/officeDocument/2006/relationships/image" Target="../media/image204.jpg"/><Relationship Id="rId8" Type="http://schemas.openxmlformats.org/officeDocument/2006/relationships/image" Target="../media/image205.jpg"/><Relationship Id="rId9" Type="http://schemas.openxmlformats.org/officeDocument/2006/relationships/image" Target="../media/image206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7.jpg"/><Relationship Id="rId3" Type="http://schemas.openxmlformats.org/officeDocument/2006/relationships/image" Target="../media/image208.jpg"/><Relationship Id="rId4" Type="http://schemas.openxmlformats.org/officeDocument/2006/relationships/image" Target="../media/image209.jpg"/><Relationship Id="rId5" Type="http://schemas.openxmlformats.org/officeDocument/2006/relationships/image" Target="../media/image210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1.jpg"/><Relationship Id="rId3" Type="http://schemas.openxmlformats.org/officeDocument/2006/relationships/image" Target="../media/image212.jpg"/><Relationship Id="rId4" Type="http://schemas.openxmlformats.org/officeDocument/2006/relationships/image" Target="../media/image213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4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5050" y="4429125"/>
            <a:ext cx="2000250" cy="10858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6325" y="3105150"/>
            <a:ext cx="3438525" cy="1104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6325" y="3105150"/>
            <a:ext cx="4448175" cy="8953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35025" y="3105150"/>
            <a:ext cx="1095375" cy="1104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64013" y="4037012"/>
            <a:ext cx="2503170" cy="1526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850" spc="-925">
                <a:solidFill>
                  <a:srgbClr val="FB0300"/>
                </a:solidFill>
                <a:latin typeface="Arial MT"/>
                <a:cs typeface="Arial MT"/>
              </a:rPr>
              <a:t>searc</a:t>
            </a:r>
            <a:endParaRPr sz="98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135685" y="2786062"/>
            <a:ext cx="2022475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350" spc="-675">
                <a:latin typeface="Arial MT"/>
                <a:cs typeface="Arial MT"/>
              </a:rPr>
              <a:t>ems</a:t>
            </a:r>
            <a:endParaRPr sz="9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0275" y="5086350"/>
            <a:ext cx="542925" cy="190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0300" y="8772525"/>
            <a:ext cx="2238375" cy="89535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3277850" y="5010150"/>
            <a:ext cx="3390900" cy="1304925"/>
            <a:chOff x="13277850" y="5010150"/>
            <a:chExt cx="3390900" cy="1304925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77850" y="5010150"/>
              <a:ext cx="2085975" cy="6191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30275" y="5086350"/>
              <a:ext cx="542925" cy="1905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49400" y="5629275"/>
              <a:ext cx="2419350" cy="685800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58675" y="8086725"/>
            <a:ext cx="3933825" cy="75247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9625" y="9667875"/>
            <a:ext cx="4829175" cy="6953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97350" y="5886450"/>
            <a:ext cx="1085850" cy="4286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249400" y="8839200"/>
            <a:ext cx="3733800" cy="55245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34625" y="5953125"/>
            <a:ext cx="1038225" cy="3619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53900" y="5476875"/>
            <a:ext cx="1133475" cy="2381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363575" y="1962150"/>
            <a:ext cx="1057275" cy="32385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7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450" spc="-300"/>
              <a:t>Searching</a:t>
            </a:r>
            <a:r>
              <a:rPr dirty="0" sz="7450" spc="295"/>
              <a:t> </a:t>
            </a:r>
            <a:r>
              <a:rPr dirty="0" sz="7450" spc="-300"/>
              <a:t>for</a:t>
            </a:r>
            <a:r>
              <a:rPr dirty="0" sz="7450" spc="-130"/>
              <a:t> </a:t>
            </a:r>
            <a:r>
              <a:rPr dirty="0" sz="7450" spc="-265"/>
              <a:t>Solufions</a:t>
            </a:r>
            <a:endParaRPr sz="7450"/>
          </a:p>
        </p:txBody>
      </p:sp>
      <p:sp>
        <p:nvSpPr>
          <p:cNvPr id="16" name="object 16" descr=""/>
          <p:cNvSpPr txBox="1"/>
          <p:nvPr/>
        </p:nvSpPr>
        <p:spPr>
          <a:xfrm>
            <a:off x="662284" y="2035175"/>
            <a:ext cx="604266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5450" algn="l"/>
                <a:tab pos="4181475" algn="l"/>
                <a:tab pos="5556885" algn="l"/>
              </a:tabLst>
            </a:pPr>
            <a:r>
              <a:rPr dirty="0" sz="4050" spc="-10">
                <a:latin typeface="Calibri"/>
                <a:cs typeface="Calibri"/>
              </a:rPr>
              <a:t>search</a:t>
            </a:r>
            <a:r>
              <a:rPr dirty="0" sz="4050">
                <a:latin typeface="Calibri"/>
                <a:cs typeface="Calibri"/>
              </a:rPr>
              <a:t>	</a:t>
            </a:r>
            <a:r>
              <a:rPr dirty="0" sz="4050" spc="-10">
                <a:latin typeface="Calibri"/>
                <a:cs typeface="Calibri"/>
              </a:rPr>
              <a:t>algorithms</a:t>
            </a:r>
            <a:r>
              <a:rPr dirty="0" sz="4050">
                <a:latin typeface="Calibri"/>
                <a:cs typeface="Calibri"/>
              </a:rPr>
              <a:t>	</a:t>
            </a:r>
            <a:r>
              <a:rPr dirty="0" sz="4050" spc="-20">
                <a:latin typeface="Calibri"/>
                <a:cs typeface="Calibri"/>
              </a:rPr>
              <a:t>work</a:t>
            </a:r>
            <a:r>
              <a:rPr dirty="0" sz="4050">
                <a:latin typeface="Calibri"/>
                <a:cs typeface="Calibri"/>
              </a:rPr>
              <a:t>	</a:t>
            </a:r>
            <a:r>
              <a:rPr dirty="0" sz="4050" spc="-100">
                <a:latin typeface="Calibri"/>
                <a:cs typeface="Calibri"/>
              </a:rPr>
              <a:t>by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60017" y="2620962"/>
            <a:ext cx="4070985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6045" algn="l"/>
              </a:tabLst>
            </a:pPr>
            <a:r>
              <a:rPr dirty="0" sz="4050" spc="-10">
                <a:latin typeface="Calibri"/>
                <a:cs typeface="Calibri"/>
              </a:rPr>
              <a:t>considering</a:t>
            </a:r>
            <a:r>
              <a:rPr dirty="0" sz="4050">
                <a:latin typeface="Calibri"/>
                <a:cs typeface="Calibri"/>
              </a:rPr>
              <a:t>	</a:t>
            </a:r>
            <a:r>
              <a:rPr dirty="0" sz="4050" spc="-120">
                <a:latin typeface="Calibri"/>
                <a:cs typeface="Calibri"/>
              </a:rPr>
              <a:t>various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63800" y="2620962"/>
            <a:ext cx="1627505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95">
                <a:latin typeface="Calibri"/>
                <a:cs typeface="Calibri"/>
              </a:rPr>
              <a:t>possible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59519" y="3211512"/>
            <a:ext cx="340614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60">
                <a:latin typeface="Calibri"/>
                <a:cs typeface="Calibri"/>
              </a:rPr>
              <a:t>acñon</a:t>
            </a:r>
            <a:r>
              <a:rPr dirty="0" sz="4050" spc="-155">
                <a:latin typeface="Calibri"/>
                <a:cs typeface="Calibri"/>
              </a:rPr>
              <a:t> </a:t>
            </a:r>
            <a:r>
              <a:rPr dirty="0" sz="4050" spc="-135">
                <a:latin typeface="Calibri"/>
                <a:cs typeface="Calibri"/>
              </a:rPr>
              <a:t>sequences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9423" y="4486275"/>
            <a:ext cx="599884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>
                <a:latin typeface="Calibri"/>
                <a:cs typeface="Calibri"/>
              </a:rPr>
              <a:t>The</a:t>
            </a:r>
            <a:r>
              <a:rPr dirty="0" sz="3950" spc="-200">
                <a:latin typeface="Calibri"/>
                <a:cs typeface="Calibri"/>
              </a:rPr>
              <a:t> </a:t>
            </a:r>
            <a:r>
              <a:rPr dirty="0" sz="3950" spc="-45">
                <a:latin typeface="Calibri"/>
                <a:cs typeface="Calibri"/>
              </a:rPr>
              <a:t>possible</a:t>
            </a:r>
            <a:r>
              <a:rPr dirty="0" sz="3950" spc="-9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acñon</a:t>
            </a:r>
            <a:r>
              <a:rPr dirty="0" sz="3950" spc="-120">
                <a:latin typeface="Calibri"/>
                <a:cs typeface="Calibri"/>
              </a:rPr>
              <a:t> </a:t>
            </a:r>
            <a:r>
              <a:rPr dirty="0" sz="3950" spc="-65">
                <a:latin typeface="Calibri"/>
                <a:cs typeface="Calibri"/>
              </a:rPr>
              <a:t>sequences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4038" y="5078412"/>
            <a:ext cx="6055995" cy="295719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just" marL="12700" marR="5080" indent="8255">
              <a:lnSpc>
                <a:spcPct val="98600"/>
              </a:lnSpc>
              <a:spcBef>
                <a:spcPts val="165"/>
              </a:spcBef>
            </a:pPr>
            <a:r>
              <a:rPr dirty="0" sz="3900" spc="100">
                <a:latin typeface="Calibri"/>
                <a:cs typeface="Calibri"/>
              </a:rPr>
              <a:t>staring</a:t>
            </a:r>
            <a:r>
              <a:rPr dirty="0" sz="3900" spc="455">
                <a:latin typeface="Calibri"/>
                <a:cs typeface="Calibri"/>
              </a:rPr>
              <a:t>  </a:t>
            </a:r>
            <a:r>
              <a:rPr dirty="0" sz="3900">
                <a:latin typeface="Calibri"/>
                <a:cs typeface="Calibri"/>
              </a:rPr>
              <a:t>at</a:t>
            </a:r>
            <a:r>
              <a:rPr dirty="0" sz="3900" spc="445">
                <a:latin typeface="Calibri"/>
                <a:cs typeface="Calibri"/>
              </a:rPr>
              <a:t>  </a:t>
            </a:r>
            <a:r>
              <a:rPr dirty="0" sz="3900">
                <a:latin typeface="Calibri"/>
                <a:cs typeface="Calibri"/>
              </a:rPr>
              <a:t>the</a:t>
            </a:r>
            <a:r>
              <a:rPr dirty="0" sz="3900" spc="400">
                <a:latin typeface="Calibri"/>
                <a:cs typeface="Calibri"/>
              </a:rPr>
              <a:t>  </a:t>
            </a:r>
            <a:r>
              <a:rPr dirty="0" sz="3900">
                <a:latin typeface="Calibri"/>
                <a:cs typeface="Calibri"/>
              </a:rPr>
              <a:t>initial</a:t>
            </a:r>
            <a:r>
              <a:rPr dirty="0" sz="3900" spc="450">
                <a:latin typeface="Calibri"/>
                <a:cs typeface="Calibri"/>
              </a:rPr>
              <a:t>  </a:t>
            </a:r>
            <a:r>
              <a:rPr dirty="0" sz="3900" spc="-10">
                <a:latin typeface="Calibri"/>
                <a:cs typeface="Calibri"/>
              </a:rPr>
              <a:t>state </a:t>
            </a:r>
            <a:r>
              <a:rPr dirty="0" sz="3950">
                <a:latin typeface="Calibri"/>
                <a:cs typeface="Calibri"/>
              </a:rPr>
              <a:t>form</a:t>
            </a:r>
            <a:r>
              <a:rPr dirty="0" sz="3950" spc="72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</a:t>
            </a:r>
            <a:r>
              <a:rPr dirty="0" sz="3950" spc="67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search</a:t>
            </a:r>
            <a:r>
              <a:rPr dirty="0" sz="3950" spc="74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tree</a:t>
            </a:r>
            <a:r>
              <a:rPr dirty="0" sz="3950" spc="6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with</a:t>
            </a:r>
            <a:r>
              <a:rPr dirty="0" sz="3950" spc="785">
                <a:latin typeface="Calibri"/>
                <a:cs typeface="Calibri"/>
              </a:rPr>
              <a:t> </a:t>
            </a:r>
            <a:r>
              <a:rPr dirty="0" sz="3950" spc="-25">
                <a:latin typeface="Calibri"/>
                <a:cs typeface="Calibri"/>
              </a:rPr>
              <a:t>the </a:t>
            </a:r>
            <a:r>
              <a:rPr dirty="0" sz="3900">
                <a:solidFill>
                  <a:srgbClr val="2175AC"/>
                </a:solidFill>
                <a:latin typeface="Calibri"/>
                <a:cs typeface="Calibri"/>
              </a:rPr>
              <a:t>initial</a:t>
            </a:r>
            <a:r>
              <a:rPr dirty="0" sz="3900" spc="240">
                <a:solidFill>
                  <a:srgbClr val="2175AC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769AF"/>
                </a:solidFill>
                <a:latin typeface="Calibri"/>
                <a:cs typeface="Calibri"/>
              </a:rPr>
              <a:t>state</a:t>
            </a:r>
            <a:r>
              <a:rPr dirty="0" sz="3900" spc="695">
                <a:solidFill>
                  <a:srgbClr val="0769AF"/>
                </a:solidFill>
                <a:latin typeface="Calibri"/>
                <a:cs typeface="Calibri"/>
              </a:rPr>
              <a:t>   </a:t>
            </a:r>
            <a:r>
              <a:rPr dirty="0" sz="3900">
                <a:latin typeface="Calibri"/>
                <a:cs typeface="Calibri"/>
              </a:rPr>
              <a:t>at</a:t>
            </a:r>
            <a:r>
              <a:rPr dirty="0" sz="3900" spc="4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the</a:t>
            </a:r>
            <a:r>
              <a:rPr dirty="0" sz="3900" spc="4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root;</a:t>
            </a:r>
            <a:r>
              <a:rPr dirty="0" sz="3900" spc="190">
                <a:latin typeface="Calibri"/>
                <a:cs typeface="Calibri"/>
              </a:rPr>
              <a:t> </a:t>
            </a:r>
            <a:r>
              <a:rPr dirty="0" sz="3900" spc="-25">
                <a:latin typeface="Calibri"/>
                <a:cs typeface="Calibri"/>
              </a:rPr>
              <a:t>the </a:t>
            </a:r>
            <a:r>
              <a:rPr dirty="0" sz="3850">
                <a:solidFill>
                  <a:srgbClr val="F20516"/>
                </a:solidFill>
                <a:latin typeface="Calibri"/>
                <a:cs typeface="Calibri"/>
              </a:rPr>
              <a:t>branches</a:t>
            </a:r>
            <a:r>
              <a:rPr dirty="0" sz="3850" spc="590">
                <a:solidFill>
                  <a:srgbClr val="F20516"/>
                </a:solidFill>
                <a:latin typeface="Calibri"/>
                <a:cs typeface="Calibri"/>
              </a:rPr>
              <a:t> </a:t>
            </a:r>
            <a:r>
              <a:rPr dirty="0" sz="3850">
                <a:latin typeface="Calibri"/>
                <a:cs typeface="Calibri"/>
              </a:rPr>
              <a:t>are</a:t>
            </a:r>
            <a:r>
              <a:rPr dirty="0" sz="3850" spc="409">
                <a:latin typeface="Calibri"/>
                <a:cs typeface="Calibri"/>
              </a:rPr>
              <a:t> </a:t>
            </a:r>
            <a:r>
              <a:rPr dirty="0" sz="3850">
                <a:solidFill>
                  <a:srgbClr val="E40001"/>
                </a:solidFill>
                <a:latin typeface="Calibri"/>
                <a:cs typeface="Calibri"/>
              </a:rPr>
              <a:t>actions</a:t>
            </a:r>
            <a:r>
              <a:rPr dirty="0" sz="3850" spc="595">
                <a:solidFill>
                  <a:srgbClr val="E40001"/>
                </a:solidFill>
                <a:latin typeface="Calibri"/>
                <a:cs typeface="Calibri"/>
              </a:rPr>
              <a:t> </a:t>
            </a:r>
            <a:r>
              <a:rPr dirty="0" sz="3850">
                <a:latin typeface="Calibri"/>
                <a:cs typeface="Calibri"/>
              </a:rPr>
              <a:t>and</a:t>
            </a:r>
            <a:r>
              <a:rPr dirty="0" sz="3850" spc="520">
                <a:latin typeface="Calibri"/>
                <a:cs typeface="Calibri"/>
              </a:rPr>
              <a:t> </a:t>
            </a:r>
            <a:r>
              <a:rPr dirty="0" sz="3850" spc="-25">
                <a:latin typeface="Calibri"/>
                <a:cs typeface="Calibri"/>
              </a:rPr>
              <a:t>the </a:t>
            </a:r>
            <a:r>
              <a:rPr dirty="0" sz="3850">
                <a:solidFill>
                  <a:srgbClr val="1C72A5"/>
                </a:solidFill>
                <a:latin typeface="Calibri"/>
                <a:cs typeface="Calibri"/>
              </a:rPr>
              <a:t>nodes</a:t>
            </a:r>
            <a:r>
              <a:rPr dirty="0" sz="3850" spc="235">
                <a:solidFill>
                  <a:srgbClr val="1C72A5"/>
                </a:solidFill>
                <a:latin typeface="Calibri"/>
                <a:cs typeface="Calibri"/>
              </a:rPr>
              <a:t> </a:t>
            </a:r>
            <a:r>
              <a:rPr dirty="0" sz="3850">
                <a:latin typeface="Calibri"/>
                <a:cs typeface="Calibri"/>
              </a:rPr>
              <a:t>correspond</a:t>
            </a:r>
            <a:r>
              <a:rPr dirty="0" sz="3850" spc="350">
                <a:latin typeface="Calibri"/>
                <a:cs typeface="Calibri"/>
              </a:rPr>
              <a:t> </a:t>
            </a:r>
            <a:r>
              <a:rPr dirty="0" sz="3850">
                <a:latin typeface="Calibri"/>
                <a:cs typeface="Calibri"/>
              </a:rPr>
              <a:t>to</a:t>
            </a:r>
            <a:r>
              <a:rPr dirty="0" sz="3850" spc="114">
                <a:latin typeface="Calibri"/>
                <a:cs typeface="Calibri"/>
              </a:rPr>
              <a:t> </a:t>
            </a:r>
            <a:r>
              <a:rPr dirty="0" sz="3850">
                <a:solidFill>
                  <a:srgbClr val="006793"/>
                </a:solidFill>
                <a:latin typeface="Calibri"/>
                <a:cs typeface="Calibri"/>
              </a:rPr>
              <a:t>states</a:t>
            </a:r>
            <a:r>
              <a:rPr dirty="0" sz="3850" spc="220">
                <a:solidFill>
                  <a:srgbClr val="006793"/>
                </a:solidFill>
                <a:latin typeface="Calibri"/>
                <a:cs typeface="Calibri"/>
              </a:rPr>
              <a:t> </a:t>
            </a:r>
            <a:r>
              <a:rPr dirty="0" sz="3850" spc="-25">
                <a:latin typeface="Calibri"/>
                <a:cs typeface="Calibri"/>
              </a:rPr>
              <a:t>in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65018" y="7996237"/>
            <a:ext cx="6041390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9835" algn="l"/>
                <a:tab pos="2743835" algn="l"/>
                <a:tab pos="4417695" algn="l"/>
                <a:tab pos="5374640" algn="l"/>
              </a:tabLst>
            </a:pPr>
            <a:r>
              <a:rPr dirty="0" sz="3950" spc="-25">
                <a:latin typeface="Calibri"/>
                <a:cs typeface="Calibri"/>
              </a:rPr>
              <a:t>the</a:t>
            </a:r>
            <a:r>
              <a:rPr dirty="0" sz="3950">
                <a:latin typeface="Calibri"/>
                <a:cs typeface="Calibri"/>
              </a:rPr>
              <a:t>	</a:t>
            </a:r>
            <a:r>
              <a:rPr dirty="0" sz="3950" spc="-10">
                <a:latin typeface="Calibri"/>
                <a:cs typeface="Calibri"/>
              </a:rPr>
              <a:t>state</a:t>
            </a:r>
            <a:r>
              <a:rPr dirty="0" sz="3950">
                <a:latin typeface="Calibri"/>
                <a:cs typeface="Calibri"/>
              </a:rPr>
              <a:t>	</a:t>
            </a:r>
            <a:r>
              <a:rPr dirty="0" sz="3950" spc="-10">
                <a:latin typeface="Calibri"/>
                <a:cs typeface="Calibri"/>
              </a:rPr>
              <a:t>space</a:t>
            </a:r>
            <a:r>
              <a:rPr dirty="0" sz="3950">
                <a:latin typeface="Calibri"/>
                <a:cs typeface="Calibri"/>
              </a:rPr>
              <a:t>	</a:t>
            </a:r>
            <a:r>
              <a:rPr dirty="0" sz="3950" spc="-25">
                <a:latin typeface="Calibri"/>
                <a:cs typeface="Calibri"/>
              </a:rPr>
              <a:t>of</a:t>
            </a:r>
            <a:r>
              <a:rPr dirty="0" sz="3950">
                <a:latin typeface="Calibri"/>
                <a:cs typeface="Calibri"/>
              </a:rPr>
              <a:t>	</a:t>
            </a:r>
            <a:r>
              <a:rPr dirty="0" sz="3950" spc="-60">
                <a:latin typeface="Calibri"/>
                <a:cs typeface="Calibri"/>
              </a:rPr>
              <a:t>the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61218" y="8594725"/>
            <a:ext cx="6036310" cy="221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3850" spc="-10">
                <a:latin typeface="Calibri"/>
                <a:cs typeface="Calibri"/>
              </a:rPr>
              <a:t>problem</a:t>
            </a:r>
            <a:endParaRPr sz="3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80"/>
              </a:spcBef>
              <a:tabLst>
                <a:tab pos="1114425" algn="l"/>
                <a:tab pos="2237740" algn="l"/>
                <a:tab pos="3141980" algn="l"/>
                <a:tab pos="3723004" algn="l"/>
                <a:tab pos="4893945" algn="l"/>
                <a:tab pos="5226050" algn="l"/>
              </a:tabLst>
            </a:pPr>
            <a:r>
              <a:rPr dirty="0" sz="2900" spc="-10">
                <a:latin typeface="Calibri"/>
                <a:cs typeface="Calibri"/>
              </a:rPr>
              <a:t>Partial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10">
                <a:latin typeface="Calibri"/>
                <a:cs typeface="Calibri"/>
              </a:rPr>
              <a:t>search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10">
                <a:latin typeface="Calibri"/>
                <a:cs typeface="Calibri"/>
              </a:rPr>
              <a:t>trees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25">
                <a:latin typeface="Calibri"/>
                <a:cs typeface="Calibri"/>
              </a:rPr>
              <a:t>for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10">
                <a:latin typeface="Calibri"/>
                <a:cs typeface="Calibri"/>
              </a:rPr>
              <a:t>finding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30">
                <a:latin typeface="Calibri"/>
                <a:cs typeface="Calibri"/>
              </a:rPr>
              <a:t>a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35">
                <a:latin typeface="Calibri"/>
                <a:cs typeface="Calibri"/>
              </a:rPr>
              <a:t>route</a:t>
            </a:r>
            <a:endParaRPr sz="29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3800" spc="-515">
                <a:latin typeface="Calibri"/>
                <a:cs typeface="Calibri"/>
              </a:rPr>
              <a:t>from</a:t>
            </a:r>
            <a:r>
              <a:rPr dirty="0" sz="3800" spc="-120">
                <a:latin typeface="Calibri"/>
                <a:cs typeface="Calibri"/>
              </a:rPr>
              <a:t> </a:t>
            </a:r>
            <a:r>
              <a:rPr dirty="0" sz="3800" spc="-20">
                <a:latin typeface="Calibri"/>
                <a:cs typeface="Calibri"/>
              </a:rPr>
              <a:t>Arad</a:t>
            </a:r>
            <a:r>
              <a:rPr dirty="0" sz="3800" spc="-165">
                <a:latin typeface="Calibri"/>
                <a:cs typeface="Calibri"/>
              </a:rPr>
              <a:t> </a:t>
            </a:r>
            <a:r>
              <a:rPr dirty="0" sz="3800" spc="-430">
                <a:latin typeface="Calibri"/>
                <a:cs typeface="Calibri"/>
              </a:rPr>
              <a:t>to</a:t>
            </a:r>
            <a:r>
              <a:rPr dirty="0" sz="3800" spc="-170">
                <a:latin typeface="Calibri"/>
                <a:cs typeface="Calibri"/>
              </a:rPr>
              <a:t> </a:t>
            </a:r>
            <a:r>
              <a:rPr dirty="0" sz="3800" spc="-10">
                <a:latin typeface="Calibri"/>
                <a:cs typeface="Calibri"/>
              </a:rPr>
              <a:t>Bucharest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33493" y="1890712"/>
            <a:ext cx="24003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imes New Roman"/>
                <a:cs typeface="Times New Roman"/>
              </a:rPr>
              <a:t>(a)</a:t>
            </a:r>
            <a:r>
              <a:rPr dirty="0" sz="2300" spc="95">
                <a:latin typeface="Times New Roman"/>
                <a:cs typeface="Times New Roman"/>
              </a:rPr>
              <a:t> </a:t>
            </a:r>
            <a:r>
              <a:rPr dirty="0" sz="2300" spc="80">
                <a:latin typeface="Times New Roman"/>
                <a:cs typeface="Times New Roman"/>
              </a:rPr>
              <a:t>The</a:t>
            </a:r>
            <a:r>
              <a:rPr dirty="0" sz="2300" spc="170">
                <a:latin typeface="Times New Roman"/>
                <a:cs typeface="Times New Roman"/>
              </a:rPr>
              <a:t> </a:t>
            </a:r>
            <a:r>
              <a:rPr dirty="0" sz="2300" spc="45">
                <a:latin typeface="Times New Roman"/>
                <a:cs typeface="Times New Roman"/>
              </a:rPr>
              <a:t>initial</a:t>
            </a:r>
            <a:r>
              <a:rPr dirty="0" sz="2300" spc="75">
                <a:latin typeface="Times New Roman"/>
                <a:cs typeface="Times New Roman"/>
              </a:rPr>
              <a:t> </a:t>
            </a:r>
            <a:r>
              <a:rPr dirty="0" sz="2300" spc="40">
                <a:latin typeface="Times New Roman"/>
                <a:cs typeface="Times New Roman"/>
              </a:rPr>
              <a:t>state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243018" y="4900612"/>
            <a:ext cx="321881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0E0E0E"/>
                </a:solidFill>
                <a:latin typeface="Times New Roman"/>
                <a:cs typeface="Times New Roman"/>
              </a:rPr>
              <a:t>(b)</a:t>
            </a:r>
            <a:r>
              <a:rPr dirty="0" sz="2300" spc="32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After</a:t>
            </a:r>
            <a:r>
              <a:rPr dirty="0" sz="2300" spc="4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expanding</a:t>
            </a:r>
            <a:r>
              <a:rPr dirty="0" sz="2300" spc="484">
                <a:latin typeface="Times New Roman"/>
                <a:cs typeface="Times New Roman"/>
              </a:rPr>
              <a:t> </a:t>
            </a:r>
            <a:r>
              <a:rPr dirty="0" sz="2300" spc="60">
                <a:solidFill>
                  <a:srgbClr val="0F0F0F"/>
                </a:solidFill>
                <a:latin typeface="Times New Roman"/>
                <a:cs typeface="Times New Roman"/>
              </a:rPr>
              <a:t>Arad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236443" y="8040687"/>
            <a:ext cx="320929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50">
                <a:solidFill>
                  <a:srgbClr val="1F1F1F"/>
                </a:solidFill>
                <a:latin typeface="Calibri"/>
                <a:cs typeface="Calibri"/>
              </a:rPr>
              <a:t>(c)</a:t>
            </a:r>
            <a:r>
              <a:rPr dirty="0" sz="2250" spc="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250" spc="105">
                <a:solidFill>
                  <a:srgbClr val="0F0F0F"/>
                </a:solidFill>
                <a:latin typeface="Calibri"/>
                <a:cs typeface="Calibri"/>
              </a:rPr>
              <a:t>After</a:t>
            </a:r>
            <a:r>
              <a:rPr dirty="0" sz="2250" spc="20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250" spc="75">
                <a:latin typeface="Calibri"/>
                <a:cs typeface="Calibri"/>
              </a:rPr>
              <a:t>ezpaoding</a:t>
            </a:r>
            <a:r>
              <a:rPr dirty="0" sz="2250" spc="185"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0C0C0C"/>
                </a:solidFill>
                <a:latin typeface="Calibri"/>
                <a:cs typeface="Calibri"/>
              </a:rPr>
              <a:t>Sibizz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43075" y="142875"/>
            <a:ext cx="16116300" cy="10734675"/>
            <a:chOff x="1743075" y="142875"/>
            <a:chExt cx="16116300" cy="107346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075" y="142875"/>
              <a:ext cx="16116300" cy="1073467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7575" y="9372600"/>
              <a:ext cx="1076325" cy="21907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30175" y="7286625"/>
              <a:ext cx="304800" cy="22860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703386" y="2046287"/>
            <a:ext cx="3841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0">
                <a:solidFill>
                  <a:srgbClr val="4B4B4B"/>
                </a:solidFill>
                <a:latin typeface="Courier New"/>
                <a:cs typeface="Courier New"/>
              </a:rPr>
              <a:t>75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50392" y="4041775"/>
            <a:ext cx="501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0A0A0A"/>
                </a:solidFill>
                <a:latin typeface="Times New Roman"/>
                <a:cs typeface="Times New Roman"/>
              </a:rPr>
              <a:t>118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65710" y="774700"/>
            <a:ext cx="3486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35">
                <a:solidFill>
                  <a:srgbClr val="3A3A3A"/>
                </a:solidFill>
                <a:latin typeface="Times New Roman"/>
                <a:cs typeface="Times New Roman"/>
              </a:rPr>
              <a:t>71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33933" y="1649412"/>
            <a:ext cx="9575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onsolas"/>
                <a:cs typeface="Consolas"/>
              </a:rPr>
              <a:t>g,;gg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4586" y="6751637"/>
            <a:ext cx="4013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70">
                <a:solidFill>
                  <a:srgbClr val="3F3F3F"/>
                </a:solidFill>
                <a:latin typeface="Courier New"/>
                <a:cs typeface="Courier New"/>
              </a:rPr>
              <a:t>70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84586" y="7923212"/>
            <a:ext cx="3454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450">
                <a:solidFill>
                  <a:srgbClr val="343434"/>
                </a:solidFill>
                <a:latin typeface="Courier New"/>
                <a:cs typeface="Courier New"/>
              </a:rPr>
              <a:t>7å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28055" y="6142037"/>
            <a:ext cx="871219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0">
                <a:solidFill>
                  <a:srgbClr val="0F0F0F"/>
                </a:solidFill>
                <a:latin typeface="Consolas"/>
                <a:cs typeface="Consolas"/>
              </a:rPr>
              <a:t>Lugoj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35750" y="3478212"/>
            <a:ext cx="708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151515"/>
                </a:solidFill>
                <a:latin typeface="Times New Roman"/>
                <a:cs typeface="Times New Roman"/>
              </a:rPr>
              <a:t>Sibíu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34995" y="7288212"/>
            <a:ext cx="120142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100">
                <a:solidFill>
                  <a:srgbClr val="1C1C1C"/>
                </a:solidFill>
                <a:latin typeface="Times New Roman"/>
                <a:cs typeface="Times New Roman"/>
              </a:rPr>
              <a:t>Metadia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175518" y="6211887"/>
            <a:ext cx="35306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25">
                <a:solidFill>
                  <a:srgbClr val="484848"/>
                </a:solidFill>
                <a:latin typeface="Times New Roman"/>
                <a:cs typeface="Times New Roman"/>
              </a:rPr>
              <a:t>97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430721" y="6049962"/>
            <a:ext cx="86106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10">
                <a:solidFill>
                  <a:srgbClr val="0F0F0F"/>
                </a:solidFill>
                <a:latin typeface="Times New Roman"/>
                <a:cs typeface="Times New Roman"/>
              </a:rPr>
              <a:t>Piteuti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71860" y="10158412"/>
            <a:ext cx="173418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140">
                <a:latin typeface="Times New Roman"/>
                <a:cs typeface="Times New Roman"/>
              </a:rPr>
              <a:t>Figure</a:t>
            </a:r>
            <a:r>
              <a:rPr dirty="0" sz="3050" spc="-130">
                <a:latin typeface="Times New Roman"/>
                <a:cs typeface="Times New Roman"/>
              </a:rPr>
              <a:t> </a:t>
            </a:r>
            <a:r>
              <a:rPr dirty="0" sz="3050" spc="35">
                <a:latin typeface="Times New Roman"/>
                <a:cs typeface="Times New Roman"/>
              </a:rPr>
              <a:t>3.2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80123" y="10158412"/>
            <a:ext cx="675195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305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simplified</a:t>
            </a:r>
            <a:r>
              <a:rPr dirty="0" sz="3050" spc="195">
                <a:latin typeface="Times New Roman"/>
                <a:cs typeface="Times New Roman"/>
              </a:rPr>
              <a:t> </a:t>
            </a:r>
            <a:r>
              <a:rPr dirty="0" sz="3050" spc="135">
                <a:latin typeface="Times New Roman"/>
                <a:cs typeface="Times New Roman"/>
              </a:rPr>
              <a:t>œad</a:t>
            </a:r>
            <a:r>
              <a:rPr dirty="0" sz="3050" spc="75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map</a:t>
            </a:r>
            <a:r>
              <a:rPr dirty="0" sz="3050" spc="-10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of</a:t>
            </a:r>
            <a:r>
              <a:rPr dirty="0" sz="3050" spc="170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part</a:t>
            </a:r>
            <a:r>
              <a:rPr dirty="0" sz="3050" spc="-55"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181818"/>
                </a:solidFill>
                <a:latin typeface="Times New Roman"/>
                <a:cs typeface="Times New Roman"/>
              </a:rPr>
              <a:t>of</a:t>
            </a:r>
            <a:r>
              <a:rPr dirty="0" sz="3050" spc="1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050" spc="-10">
                <a:solidFill>
                  <a:srgbClr val="1A1A1A"/>
                </a:solidFill>
                <a:latin typeface="Times New Roman"/>
                <a:cs typeface="Times New Roman"/>
              </a:rPr>
              <a:t>Romania.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406018" y="1636712"/>
            <a:ext cx="371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50">
                <a:solidFill>
                  <a:srgbClr val="1D1D1D"/>
                </a:solidFill>
                <a:latin typeface="Courier New"/>
                <a:cs typeface="Courier New"/>
              </a:rPr>
              <a:t>87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941422" y="6780212"/>
            <a:ext cx="388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85">
                <a:solidFill>
                  <a:srgbClr val="1A1A1A"/>
                </a:solidFill>
                <a:latin typeface="Courier New"/>
                <a:cs typeface="Courier New"/>
              </a:rPr>
              <a:t>98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789221" y="7818437"/>
            <a:ext cx="3460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111111"/>
                </a:solidFill>
                <a:latin typeface="Times New Roman"/>
                <a:cs typeface="Times New Roman"/>
              </a:rPr>
              <a:t>8ò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4125" y="7400925"/>
            <a:ext cx="219075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5112" rIns="0" bIns="0" rtlCol="0" vert="horz">
            <a:spAutoFit/>
          </a:bodyPr>
          <a:lstStyle/>
          <a:p>
            <a:pPr marL="829310">
              <a:lnSpc>
                <a:spcPct val="100000"/>
              </a:lnSpc>
              <a:spcBef>
                <a:spcPts val="100"/>
              </a:spcBef>
            </a:pPr>
            <a:r>
              <a:rPr dirty="0" sz="7050" spc="-325"/>
              <a:t>The</a:t>
            </a:r>
            <a:r>
              <a:rPr dirty="0" sz="7050" spc="145"/>
              <a:t> </a:t>
            </a:r>
            <a:r>
              <a:rPr dirty="0" sz="7050" spc="-155"/>
              <a:t>Concepts</a:t>
            </a:r>
            <a:r>
              <a:rPr dirty="0" sz="7050" spc="290"/>
              <a:t> </a:t>
            </a:r>
            <a:r>
              <a:rPr dirty="0" sz="7050" spc="-295"/>
              <a:t>and</a:t>
            </a:r>
            <a:r>
              <a:rPr dirty="0" sz="7050" spc="110"/>
              <a:t> </a:t>
            </a:r>
            <a:r>
              <a:rPr dirty="0" sz="7050" spc="-300"/>
              <a:t>Terminology</a:t>
            </a:r>
            <a:r>
              <a:rPr dirty="0" sz="7050" spc="535"/>
              <a:t> </a:t>
            </a:r>
            <a:r>
              <a:rPr dirty="0" sz="7050" spc="-270"/>
              <a:t>of</a:t>
            </a:r>
            <a:r>
              <a:rPr dirty="0" sz="7050" spc="-5"/>
              <a:t> </a:t>
            </a:r>
            <a:r>
              <a:rPr dirty="0" sz="7050" spc="-265"/>
              <a:t>Searching</a:t>
            </a:r>
            <a:endParaRPr sz="7050"/>
          </a:p>
        </p:txBody>
      </p:sp>
      <p:sp>
        <p:nvSpPr>
          <p:cNvPr id="4" name="object 4" descr=""/>
          <p:cNvSpPr txBox="1"/>
          <p:nvPr/>
        </p:nvSpPr>
        <p:spPr>
          <a:xfrm>
            <a:off x="1446723" y="1890712"/>
            <a:ext cx="16567150" cy="633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1955" indent="-389255">
              <a:lnSpc>
                <a:spcPct val="100000"/>
              </a:lnSpc>
              <a:spcBef>
                <a:spcPts val="100"/>
              </a:spcBef>
              <a:buChar char="•"/>
              <a:tabLst>
                <a:tab pos="401955" algn="l"/>
              </a:tabLst>
            </a:pPr>
            <a:r>
              <a:rPr dirty="0" sz="4550" spc="-20">
                <a:latin typeface="Calibri"/>
                <a:cs typeface="Calibri"/>
              </a:rPr>
              <a:t>applying</a:t>
            </a:r>
            <a:r>
              <a:rPr dirty="0" sz="4550" spc="-2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each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30">
                <a:latin typeface="Calibri"/>
                <a:cs typeface="Calibri"/>
              </a:rPr>
              <a:t>legal</a:t>
            </a:r>
            <a:r>
              <a:rPr dirty="0" sz="4550" spc="-1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acñon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65">
                <a:latin typeface="Calibri"/>
                <a:cs typeface="Calibri"/>
              </a:rPr>
              <a:t>a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state</a:t>
            </a:r>
            <a:r>
              <a:rPr dirty="0" sz="4550" spc="-70">
                <a:latin typeface="Calibri"/>
                <a:cs typeface="Calibri"/>
              </a:rPr>
              <a:t> </a:t>
            </a:r>
            <a:r>
              <a:rPr dirty="0" sz="4550" spc="-2270">
                <a:latin typeface="Calibri"/>
                <a:cs typeface="Calibri"/>
              </a:rPr>
              <a:t>—</a:t>
            </a:r>
            <a:r>
              <a:rPr dirty="0" sz="4550" spc="325">
                <a:latin typeface="Calibri"/>
                <a:cs typeface="Calibri"/>
              </a:rPr>
              <a:t> </a:t>
            </a:r>
            <a:r>
              <a:rPr dirty="0" sz="4550" spc="-40">
                <a:solidFill>
                  <a:srgbClr val="0866A3"/>
                </a:solidFill>
                <a:latin typeface="Calibri"/>
                <a:cs typeface="Calibri"/>
              </a:rPr>
              <a:t>Expanding</a:t>
            </a:r>
            <a:r>
              <a:rPr dirty="0" sz="4550" spc="170">
                <a:solidFill>
                  <a:srgbClr val="0866A3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7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State</a:t>
            </a:r>
            <a:endParaRPr sz="4550">
              <a:latin typeface="Calibri"/>
              <a:cs typeface="Calibri"/>
            </a:endParaRPr>
          </a:p>
          <a:p>
            <a:pPr marL="404495" indent="-391795">
              <a:lnSpc>
                <a:spcPct val="100000"/>
              </a:lnSpc>
              <a:spcBef>
                <a:spcPts val="165"/>
              </a:spcBef>
              <a:buChar char="•"/>
              <a:tabLst>
                <a:tab pos="404495" algn="l"/>
              </a:tabLst>
            </a:pP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2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set</a:t>
            </a:r>
            <a:r>
              <a:rPr dirty="0" sz="4550" spc="-2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all</a:t>
            </a:r>
            <a:r>
              <a:rPr dirty="0" sz="4550" spc="-2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leaf</a:t>
            </a:r>
            <a:r>
              <a:rPr dirty="0" sz="4550" spc="-1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nodes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 spc="-40">
                <a:latin typeface="Calibri"/>
                <a:cs typeface="Calibri"/>
              </a:rPr>
              <a:t>available</a:t>
            </a:r>
            <a:r>
              <a:rPr dirty="0" sz="4550" spc="-85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for</a:t>
            </a:r>
            <a:r>
              <a:rPr dirty="0" sz="4550" spc="-23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expansion</a:t>
            </a:r>
            <a:r>
              <a:rPr dirty="0" sz="4550" spc="-6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-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FF0E0C"/>
                </a:solidFill>
                <a:latin typeface="Calibri"/>
                <a:cs typeface="Calibri"/>
              </a:rPr>
              <a:t>Fronñer</a:t>
            </a:r>
            <a:r>
              <a:rPr dirty="0" sz="4550" spc="25">
                <a:solidFill>
                  <a:srgbClr val="FF0E0C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/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E20A08"/>
                </a:solidFill>
                <a:latin typeface="Calibri"/>
                <a:cs typeface="Calibri"/>
              </a:rPr>
              <a:t>Open</a:t>
            </a:r>
            <a:r>
              <a:rPr dirty="0" sz="4550" spc="-165">
                <a:solidFill>
                  <a:srgbClr val="E20A08"/>
                </a:solidFill>
                <a:latin typeface="Calibri"/>
                <a:cs typeface="Calibri"/>
              </a:rPr>
              <a:t> </a:t>
            </a:r>
            <a:r>
              <a:rPr dirty="0" sz="4550" spc="-20">
                <a:solidFill>
                  <a:srgbClr val="EB0713"/>
                </a:solidFill>
                <a:latin typeface="Calibri"/>
                <a:cs typeface="Calibri"/>
              </a:rPr>
              <a:t>List</a:t>
            </a:r>
            <a:endParaRPr sz="4550">
              <a:latin typeface="Calibri"/>
              <a:cs typeface="Calibri"/>
            </a:endParaRPr>
          </a:p>
          <a:p>
            <a:pPr marL="408940" indent="-396240">
              <a:lnSpc>
                <a:spcPts val="4750"/>
              </a:lnSpc>
              <a:spcBef>
                <a:spcPts val="115"/>
              </a:spcBef>
              <a:buClr>
                <a:srgbClr val="E81500"/>
              </a:buClr>
              <a:buChar char="•"/>
              <a:tabLst>
                <a:tab pos="408940" algn="l"/>
                <a:tab pos="2209165" algn="l"/>
                <a:tab pos="4362450" algn="l"/>
                <a:tab pos="4796790" algn="l"/>
                <a:tab pos="5900420" algn="l"/>
                <a:tab pos="7909559" algn="l"/>
                <a:tab pos="8632190" algn="l"/>
                <a:tab pos="11272520" algn="l"/>
                <a:tab pos="12929235" algn="l"/>
                <a:tab pos="13783310" algn="l"/>
                <a:tab pos="14810740" algn="l"/>
              </a:tabLst>
            </a:pPr>
            <a:r>
              <a:rPr dirty="0" sz="4600" spc="-10">
                <a:solidFill>
                  <a:srgbClr val="E6000C"/>
                </a:solidFill>
                <a:latin typeface="Calibri"/>
                <a:cs typeface="Calibri"/>
              </a:rPr>
              <a:t>Search</a:t>
            </a:r>
            <a:r>
              <a:rPr dirty="0" sz="4600">
                <a:solidFill>
                  <a:srgbClr val="E6000C"/>
                </a:solidFill>
                <a:latin typeface="Calibri"/>
                <a:cs typeface="Calibri"/>
              </a:rPr>
              <a:t>	</a:t>
            </a:r>
            <a:r>
              <a:rPr dirty="0" sz="4600" spc="-10">
                <a:solidFill>
                  <a:srgbClr val="E20F0C"/>
                </a:solidFill>
                <a:latin typeface="Calibri"/>
                <a:cs typeface="Calibri"/>
              </a:rPr>
              <a:t>Strategy</a:t>
            </a:r>
            <a:r>
              <a:rPr dirty="0" sz="4600">
                <a:solidFill>
                  <a:srgbClr val="E20F0C"/>
                </a:solidFill>
                <a:latin typeface="Calibri"/>
                <a:cs typeface="Calibri"/>
              </a:rPr>
              <a:t>	</a:t>
            </a:r>
            <a:r>
              <a:rPr dirty="0" sz="4600" spc="-50">
                <a:latin typeface="Calibri"/>
                <a:cs typeface="Calibri"/>
              </a:rPr>
              <a:t>-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process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of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expanding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nodes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on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75">
                <a:latin typeface="Calibri"/>
                <a:cs typeface="Calibri"/>
              </a:rPr>
              <a:t>frontier</a:t>
            </a:r>
            <a:endParaRPr sz="4600">
              <a:latin typeface="Calibri"/>
              <a:cs typeface="Calibri"/>
            </a:endParaRPr>
          </a:p>
          <a:p>
            <a:pPr marL="400685" marR="7620" indent="-6985">
              <a:lnSpc>
                <a:spcPct val="73400"/>
              </a:lnSpc>
              <a:spcBef>
                <a:spcPts val="695"/>
              </a:spcBef>
              <a:tabLst>
                <a:tab pos="2806700" algn="l"/>
              </a:tabLst>
            </a:pPr>
            <a:r>
              <a:rPr dirty="0" sz="4600" spc="-10">
                <a:latin typeface="Calibri"/>
                <a:cs typeface="Calibri"/>
              </a:rPr>
              <a:t>continues</a:t>
            </a:r>
            <a:r>
              <a:rPr dirty="0" sz="4600">
                <a:latin typeface="Calibri"/>
                <a:cs typeface="Calibri"/>
              </a:rPr>
              <a:t>	until</a:t>
            </a:r>
            <a:r>
              <a:rPr dirty="0" sz="4600" spc="2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1F6EB8"/>
                </a:solidFill>
                <a:latin typeface="Calibri"/>
                <a:cs typeface="Calibri"/>
              </a:rPr>
              <a:t>either</a:t>
            </a:r>
            <a:r>
              <a:rPr dirty="0" sz="4600" spc="125">
                <a:solidFill>
                  <a:srgbClr val="1F6EB8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5">
                <a:latin typeface="Calibri"/>
                <a:cs typeface="Calibri"/>
              </a:rPr>
              <a:t> </a:t>
            </a:r>
            <a:r>
              <a:rPr dirty="0" sz="4600" spc="-25">
                <a:solidFill>
                  <a:srgbClr val="006BC6"/>
                </a:solidFill>
                <a:latin typeface="Calibri"/>
                <a:cs typeface="Calibri"/>
              </a:rPr>
              <a:t>solution</a:t>
            </a:r>
            <a:r>
              <a:rPr dirty="0" sz="4600" spc="65">
                <a:solidFill>
                  <a:srgbClr val="006BC6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30">
                <a:latin typeface="Calibri"/>
                <a:cs typeface="Calibri"/>
              </a:rPr>
              <a:t> </a:t>
            </a:r>
            <a:r>
              <a:rPr dirty="0" sz="4600" spc="-35">
                <a:solidFill>
                  <a:srgbClr val="136BA0"/>
                </a:solidFill>
                <a:latin typeface="Calibri"/>
                <a:cs typeface="Calibri"/>
              </a:rPr>
              <a:t>found</a:t>
            </a:r>
            <a:r>
              <a:rPr dirty="0" sz="4600" spc="170">
                <a:solidFill>
                  <a:srgbClr val="136BA0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or</a:t>
            </a:r>
            <a:r>
              <a:rPr dirty="0" sz="4600" spc="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there</a:t>
            </a:r>
            <a:r>
              <a:rPr dirty="0" sz="4600" spc="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</a:t>
            </a:r>
            <a:r>
              <a:rPr dirty="0" sz="4600" spc="-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more</a:t>
            </a:r>
            <a:r>
              <a:rPr dirty="0" sz="4600" spc="100">
                <a:latin typeface="Calibri"/>
                <a:cs typeface="Calibri"/>
              </a:rPr>
              <a:t> </a:t>
            </a:r>
            <a:r>
              <a:rPr dirty="0" sz="4600" spc="-80">
                <a:latin typeface="Calibri"/>
                <a:cs typeface="Calibri"/>
              </a:rPr>
              <a:t>states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expand</a:t>
            </a:r>
            <a:endParaRPr sz="4600">
              <a:latin typeface="Calibri"/>
              <a:cs typeface="Calibri"/>
            </a:endParaRPr>
          </a:p>
          <a:p>
            <a:pPr marL="394970" indent="-382270">
              <a:lnSpc>
                <a:spcPct val="100000"/>
              </a:lnSpc>
              <a:spcBef>
                <a:spcPts val="105"/>
              </a:spcBef>
              <a:buChar char="•"/>
              <a:tabLst>
                <a:tab pos="394970" algn="l"/>
              </a:tabLst>
            </a:pPr>
            <a:r>
              <a:rPr dirty="0" sz="4600">
                <a:latin typeface="Calibri"/>
                <a:cs typeface="Calibri"/>
              </a:rPr>
              <a:t>redundant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paths,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mulñple</a:t>
            </a:r>
            <a:r>
              <a:rPr dirty="0" sz="4600" spc="-19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Paths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that</a:t>
            </a:r>
            <a:r>
              <a:rPr dirty="0" sz="4600" spc="-22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exist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from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one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state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another</a:t>
            </a:r>
            <a:endParaRPr sz="4600">
              <a:latin typeface="Calibri"/>
              <a:cs typeface="Calibri"/>
            </a:endParaRPr>
          </a:p>
          <a:p>
            <a:pPr marL="27305">
              <a:lnSpc>
                <a:spcPts val="4865"/>
              </a:lnSpc>
              <a:spcBef>
                <a:spcPts val="55"/>
              </a:spcBef>
              <a:tabLst>
                <a:tab pos="981075" algn="l"/>
                <a:tab pos="3734435" algn="l"/>
                <a:tab pos="5024120" algn="l"/>
                <a:tab pos="5995670" algn="l"/>
                <a:tab pos="7427595" algn="l"/>
                <a:tab pos="8086725" algn="l"/>
                <a:tab pos="14554835" algn="l"/>
                <a:tab pos="15844519" algn="l"/>
              </a:tabLst>
            </a:pPr>
            <a:r>
              <a:rPr dirty="0" sz="4650" spc="-25">
                <a:solidFill>
                  <a:srgbClr val="FF1318"/>
                </a:solidFill>
                <a:latin typeface="Calibri"/>
                <a:cs typeface="Calibri"/>
              </a:rPr>
              <a:t>Ex:</a:t>
            </a:r>
            <a:r>
              <a:rPr dirty="0" sz="4650">
                <a:solidFill>
                  <a:srgbClr val="FF1318"/>
                </a:solidFill>
                <a:latin typeface="Calibri"/>
                <a:cs typeface="Calibri"/>
              </a:rPr>
              <a:t>	</a:t>
            </a:r>
            <a:r>
              <a:rPr dirty="0" sz="4650" spc="-375">
                <a:latin typeface="Calibri"/>
                <a:cs typeface="Calibri"/>
              </a:rPr>
              <a:t>Arad—</a:t>
            </a:r>
            <a:r>
              <a:rPr dirty="0" sz="4650" spc="-280">
                <a:latin typeface="Calibri"/>
                <a:cs typeface="Calibri"/>
              </a:rPr>
              <a:t>Sibiu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(140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km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long)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50">
                <a:latin typeface="Calibri"/>
                <a:cs typeface="Calibri"/>
              </a:rPr>
              <a:t>&amp;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350">
                <a:latin typeface="Calibri"/>
                <a:cs typeface="Calibri"/>
              </a:rPr>
              <a:t>Arad—</a:t>
            </a:r>
            <a:r>
              <a:rPr dirty="0" sz="4650" spc="-310">
                <a:latin typeface="Calibri"/>
                <a:cs typeface="Calibri"/>
              </a:rPr>
              <a:t>Zerind—</a:t>
            </a:r>
            <a:r>
              <a:rPr dirty="0" sz="4650" spc="-330">
                <a:latin typeface="Calibri"/>
                <a:cs typeface="Calibri"/>
              </a:rPr>
              <a:t>0radea—</a:t>
            </a:r>
            <a:r>
              <a:rPr dirty="0" sz="4650" spc="-10">
                <a:latin typeface="Calibri"/>
                <a:cs typeface="Calibri"/>
              </a:rPr>
              <a:t>Sibiu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(297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0">
                <a:latin typeface="Calibri"/>
                <a:cs typeface="Calibri"/>
              </a:rPr>
              <a:t>km</a:t>
            </a:r>
            <a:endParaRPr sz="4650">
              <a:latin typeface="Calibri"/>
              <a:cs typeface="Calibri"/>
            </a:endParaRPr>
          </a:p>
          <a:p>
            <a:pPr marL="33655">
              <a:lnSpc>
                <a:spcPts val="4745"/>
              </a:lnSpc>
            </a:pPr>
            <a:r>
              <a:rPr dirty="0" sz="4550" spc="-10">
                <a:latin typeface="Calibri"/>
                <a:cs typeface="Calibri"/>
              </a:rPr>
              <a:t>long)</a:t>
            </a:r>
            <a:endParaRPr sz="4550">
              <a:latin typeface="Calibri"/>
              <a:cs typeface="Calibri"/>
            </a:endParaRPr>
          </a:p>
          <a:p>
            <a:pPr marL="398780" marR="457834" indent="-385445">
              <a:lnSpc>
                <a:spcPct val="75000"/>
              </a:lnSpc>
              <a:spcBef>
                <a:spcPts val="1565"/>
              </a:spcBef>
              <a:buClr>
                <a:srgbClr val="E20800"/>
              </a:buClr>
              <a:buChar char="•"/>
              <a:tabLst>
                <a:tab pos="400050" algn="l"/>
                <a:tab pos="12383135" algn="l"/>
              </a:tabLst>
            </a:pPr>
            <a:r>
              <a:rPr dirty="0" sz="4500">
                <a:solidFill>
                  <a:srgbClr val="ED0000"/>
                </a:solidFill>
                <a:latin typeface="Calibri"/>
                <a:cs typeface="Calibri"/>
              </a:rPr>
              <a:t>Loopy</a:t>
            </a:r>
            <a:r>
              <a:rPr dirty="0" sz="4500" spc="145">
                <a:solidFill>
                  <a:srgbClr val="ED0000"/>
                </a:solidFill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EF070C"/>
                </a:solidFill>
                <a:latin typeface="Calibri"/>
                <a:cs typeface="Calibri"/>
              </a:rPr>
              <a:t>Paths</a:t>
            </a:r>
            <a:r>
              <a:rPr dirty="0" sz="4500" spc="215">
                <a:solidFill>
                  <a:srgbClr val="EF070C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</a:t>
            </a:r>
            <a:r>
              <a:rPr dirty="0" sz="4500" spc="35">
                <a:latin typeface="Calibri"/>
                <a:cs typeface="Calibri"/>
              </a:rPr>
              <a:t> 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>
                <a:latin typeface="Calibri"/>
                <a:cs typeface="Calibri"/>
              </a:rPr>
              <a:t> special</a:t>
            </a:r>
            <a:r>
              <a:rPr dirty="0" sz="4500" spc="1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case</a:t>
            </a:r>
            <a:r>
              <a:rPr dirty="0" sz="4500" spc="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these</a:t>
            </a:r>
            <a:r>
              <a:rPr dirty="0" sz="4500" spc="8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Redundant</a:t>
            </a:r>
            <a:r>
              <a:rPr dirty="0" sz="4500">
                <a:latin typeface="Calibri"/>
                <a:cs typeface="Calibri"/>
              </a:rPr>
              <a:t>	Paths</a:t>
            </a:r>
            <a:r>
              <a:rPr dirty="0" sz="4500" spc="-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(Like</a:t>
            </a:r>
            <a:r>
              <a:rPr dirty="0" sz="4500" spc="-65">
                <a:latin typeface="Calibri"/>
                <a:cs typeface="Calibri"/>
              </a:rPr>
              <a:t> </a:t>
            </a:r>
            <a:r>
              <a:rPr dirty="0" sz="4500" spc="-30">
                <a:latin typeface="Calibri"/>
                <a:cs typeface="Calibri"/>
              </a:rPr>
              <a:t>Arad </a:t>
            </a:r>
            <a:r>
              <a:rPr dirty="0" sz="4500" spc="-30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Sibiu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 spc="-2160">
                <a:latin typeface="Calibri"/>
                <a:cs typeface="Calibri"/>
              </a:rPr>
              <a:t>—</a:t>
            </a:r>
            <a:r>
              <a:rPr dirty="0" sz="4500" spc="27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Arad)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9977" y="554037"/>
            <a:ext cx="13856335" cy="8712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93740" algn="l"/>
                <a:tab pos="10880090" algn="l"/>
              </a:tabLst>
            </a:pPr>
            <a:r>
              <a:rPr dirty="0" sz="5550" spc="-55"/>
              <a:t>General</a:t>
            </a:r>
            <a:r>
              <a:rPr dirty="0" sz="5550" spc="-70"/>
              <a:t> </a:t>
            </a:r>
            <a:r>
              <a:rPr dirty="0" sz="5550" spc="-125"/>
              <a:t>tree-</a:t>
            </a:r>
            <a:r>
              <a:rPr dirty="0" sz="5550" spc="-10"/>
              <a:t>search</a:t>
            </a:r>
            <a:r>
              <a:rPr dirty="0" sz="5550"/>
              <a:t>	and</a:t>
            </a:r>
            <a:r>
              <a:rPr dirty="0" sz="5550" spc="-10"/>
              <a:t> </a:t>
            </a:r>
            <a:r>
              <a:rPr dirty="0" sz="5550" spc="-135"/>
              <a:t>graph-</a:t>
            </a:r>
            <a:r>
              <a:rPr dirty="0" sz="5550" spc="-10"/>
              <a:t>search</a:t>
            </a:r>
            <a:r>
              <a:rPr dirty="0" sz="5550"/>
              <a:t>	</a:t>
            </a:r>
            <a:r>
              <a:rPr dirty="0" sz="5550" spc="-75"/>
              <a:t>algorithms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1734727" y="1811337"/>
            <a:ext cx="12772390" cy="438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7340" algn="l"/>
                <a:tab pos="4152900" algn="l"/>
                <a:tab pos="5798820" algn="l"/>
              </a:tabLst>
            </a:pPr>
            <a:r>
              <a:rPr dirty="0" sz="3000" spc="125">
                <a:latin typeface="Times New Roman"/>
                <a:cs typeface="Times New Roman"/>
              </a:rPr>
              <a:t>function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sz="3000" spc="-275">
                <a:latin typeface="Times New Roman"/>
                <a:cs typeface="Times New Roman"/>
              </a:rPr>
              <a:t>TREE-</a:t>
            </a:r>
            <a:r>
              <a:rPr dirty="0" u="dbl" sz="3000" spc="-270">
                <a:uFill>
                  <a:solidFill>
                    <a:srgbClr val="385497"/>
                  </a:solidFill>
                </a:uFill>
                <a:latin typeface="Times New Roman"/>
                <a:cs typeface="Times New Roman"/>
              </a:rPr>
              <a:t>SEARCHt’</a:t>
            </a:r>
            <a:r>
              <a:rPr dirty="0" u="dbl" sz="3000">
                <a:uFill>
                  <a:solidFill>
                    <a:srgbClr val="385497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dbl" sz="3000" spc="-10" i="1">
                <a:uFill>
                  <a:solidFill>
                    <a:srgbClr val="385497"/>
                  </a:solidFill>
                </a:uFill>
                <a:latin typeface="Cambria"/>
                <a:cs typeface="Cambria"/>
              </a:rPr>
              <a:t>problePt</a:t>
            </a:r>
            <a:r>
              <a:rPr dirty="0" sz="3000" i="1">
                <a:latin typeface="Cambria"/>
                <a:cs typeface="Cambria"/>
              </a:rPr>
              <a:t>	</a:t>
            </a:r>
            <a:r>
              <a:rPr dirty="0" sz="3000" spc="-465" i="1">
                <a:solidFill>
                  <a:srgbClr val="3D3D3D"/>
                </a:solidFill>
                <a:latin typeface="Cambria"/>
                <a:cs typeface="Cambria"/>
              </a:rPr>
              <a:t>}</a:t>
            </a:r>
            <a:r>
              <a:rPr dirty="0" sz="3000" spc="310" i="1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dirty="0" sz="3000" spc="254">
                <a:latin typeface="Times New Roman"/>
                <a:cs typeface="Times New Roman"/>
              </a:rPr>
              <a:t>remrns</a:t>
            </a:r>
            <a:r>
              <a:rPr dirty="0" sz="3000" spc="1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4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solution,</a:t>
            </a:r>
            <a:r>
              <a:rPr dirty="0" sz="3000" spc="290">
                <a:latin typeface="Times New Roman"/>
                <a:cs typeface="Times New Roman"/>
              </a:rPr>
              <a:t> </a:t>
            </a:r>
            <a:r>
              <a:rPr dirty="0" sz="3000" spc="-225">
                <a:latin typeface="Times New Roman"/>
                <a:cs typeface="Times New Roman"/>
              </a:rPr>
              <a:t>oi•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failure</a:t>
            </a:r>
            <a:endParaRPr sz="3000">
              <a:latin typeface="Times New Roman"/>
              <a:cs typeface="Times New Roman"/>
            </a:endParaRPr>
          </a:p>
          <a:p>
            <a:pPr marL="424815">
              <a:lnSpc>
                <a:spcPct val="100000"/>
              </a:lnSpc>
              <a:spcBef>
                <a:spcPts val="100"/>
              </a:spcBef>
              <a:tabLst>
                <a:tab pos="5492115" algn="l"/>
              </a:tabLst>
            </a:pPr>
            <a:r>
              <a:rPr dirty="0" sz="3200">
                <a:latin typeface="Times New Roman"/>
                <a:cs typeface="Times New Roman"/>
              </a:rPr>
              <a:t>initialize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frontier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using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ie</a:t>
            </a:r>
            <a:r>
              <a:rPr dirty="0" sz="3200">
                <a:latin typeface="Times New Roman"/>
                <a:cs typeface="Times New Roman"/>
              </a:rPr>
              <a:t>	initial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state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45" i="1">
                <a:latin typeface="Cambria"/>
                <a:cs typeface="Cambria"/>
              </a:rPr>
              <a:t>problem</a:t>
            </a:r>
            <a:endParaRPr sz="3200">
              <a:latin typeface="Cambria"/>
              <a:cs typeface="Cambria"/>
            </a:endParaRPr>
          </a:p>
          <a:p>
            <a:pPr marL="425450">
              <a:lnSpc>
                <a:spcPct val="100000"/>
              </a:lnSpc>
              <a:spcBef>
                <a:spcPts val="35"/>
              </a:spcBef>
            </a:pPr>
            <a:r>
              <a:rPr dirty="0" sz="3000" spc="105">
                <a:latin typeface="Times New Roman"/>
                <a:cs typeface="Times New Roman"/>
              </a:rPr>
              <a:t>loop</a:t>
            </a:r>
            <a:r>
              <a:rPr dirty="0" sz="3000" spc="180">
                <a:latin typeface="Times New Roman"/>
                <a:cs typeface="Times New Roman"/>
              </a:rPr>
              <a:t> </a:t>
            </a:r>
            <a:r>
              <a:rPr dirty="0" sz="3000" spc="110">
                <a:latin typeface="Times New Roman"/>
                <a:cs typeface="Times New Roman"/>
              </a:rPr>
              <a:t>do</a:t>
            </a:r>
            <a:endParaRPr sz="3000">
              <a:latin typeface="Times New Roman"/>
              <a:cs typeface="Times New Roman"/>
            </a:endParaRPr>
          </a:p>
          <a:p>
            <a:pPr marL="1035050">
              <a:lnSpc>
                <a:spcPct val="100000"/>
              </a:lnSpc>
              <a:spcBef>
                <a:spcPts val="400"/>
              </a:spcBef>
              <a:tabLst>
                <a:tab pos="3321050" algn="l"/>
              </a:tabLst>
            </a:pPr>
            <a:r>
              <a:rPr dirty="0" sz="3050">
                <a:latin typeface="Times New Roman"/>
                <a:cs typeface="Times New Roman"/>
              </a:rPr>
              <a:t>if</a:t>
            </a:r>
            <a:r>
              <a:rPr dirty="0" sz="3050" spc="95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tiie</a:t>
            </a:r>
            <a:r>
              <a:rPr dirty="0" sz="3050" spc="95">
                <a:latin typeface="Times New Roman"/>
                <a:cs typeface="Times New Roman"/>
              </a:rPr>
              <a:t> </a:t>
            </a:r>
            <a:r>
              <a:rPr dirty="0" sz="3050" spc="-10">
                <a:latin typeface="Times New Roman"/>
                <a:cs typeface="Times New Roman"/>
              </a:rPr>
              <a:t>Lontief</a:t>
            </a:r>
            <a:r>
              <a:rPr dirty="0" sz="3050">
                <a:latin typeface="Times New Roman"/>
                <a:cs typeface="Times New Roman"/>
              </a:rPr>
              <a:t>	is</a:t>
            </a:r>
            <a:r>
              <a:rPr dirty="0" sz="3050" spc="160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empty</a:t>
            </a:r>
            <a:r>
              <a:rPr dirty="0" sz="3050" spc="235">
                <a:latin typeface="Times New Roman"/>
                <a:cs typeface="Times New Roman"/>
              </a:rPr>
              <a:t> </a:t>
            </a:r>
            <a:r>
              <a:rPr dirty="0" sz="3050" spc="155">
                <a:latin typeface="Times New Roman"/>
                <a:cs typeface="Times New Roman"/>
              </a:rPr>
              <a:t>then</a:t>
            </a:r>
            <a:r>
              <a:rPr dirty="0" sz="3050" spc="425">
                <a:latin typeface="Times New Roman"/>
                <a:cs typeface="Times New Roman"/>
              </a:rPr>
              <a:t> </a:t>
            </a:r>
            <a:r>
              <a:rPr dirty="0" sz="3050" spc="229">
                <a:latin typeface="Times New Roman"/>
                <a:cs typeface="Times New Roman"/>
              </a:rPr>
              <a:t>return</a:t>
            </a:r>
            <a:r>
              <a:rPr dirty="0" sz="3050" spc="295">
                <a:latin typeface="Times New Roman"/>
                <a:cs typeface="Times New Roman"/>
              </a:rPr>
              <a:t> </a:t>
            </a:r>
            <a:r>
              <a:rPr dirty="0" sz="3050" spc="-10">
                <a:latin typeface="Times New Roman"/>
                <a:cs typeface="Times New Roman"/>
              </a:rPr>
              <a:t>failure</a:t>
            </a:r>
            <a:endParaRPr sz="3050">
              <a:latin typeface="Times New Roman"/>
              <a:cs typeface="Times New Roman"/>
            </a:endParaRPr>
          </a:p>
          <a:p>
            <a:pPr marL="1033144">
              <a:lnSpc>
                <a:spcPct val="100000"/>
              </a:lnSpc>
              <a:spcBef>
                <a:spcPts val="265"/>
              </a:spcBef>
            </a:pPr>
            <a:r>
              <a:rPr dirty="0" sz="2950" spc="105">
                <a:latin typeface="Times New Roman"/>
                <a:cs typeface="Times New Roman"/>
              </a:rPr>
              <a:t>choose</a:t>
            </a:r>
            <a:r>
              <a:rPr dirty="0" sz="2950" spc="18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a</a:t>
            </a:r>
            <a:r>
              <a:rPr dirty="0" sz="2950" spc="36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leaf</a:t>
            </a:r>
            <a:r>
              <a:rPr dirty="0" sz="2950" spc="200">
                <a:latin typeface="Times New Roman"/>
                <a:cs typeface="Times New Roman"/>
              </a:rPr>
              <a:t> </a:t>
            </a:r>
            <a:r>
              <a:rPr dirty="0" sz="2950" spc="95">
                <a:latin typeface="Times New Roman"/>
                <a:cs typeface="Times New Roman"/>
              </a:rPr>
              <a:t>node</a:t>
            </a:r>
            <a:r>
              <a:rPr dirty="0" sz="2950" spc="2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and</a:t>
            </a:r>
            <a:r>
              <a:rPr dirty="0" sz="2950" spc="32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remoa</a:t>
            </a:r>
            <a:r>
              <a:rPr dirty="0" sz="2950" spc="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e</a:t>
            </a:r>
            <a:r>
              <a:rPr dirty="0" sz="2950" spc="27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it</a:t>
            </a:r>
            <a:r>
              <a:rPr dirty="0" sz="2950" spc="105">
                <a:latin typeface="Times New Roman"/>
                <a:cs typeface="Times New Roman"/>
              </a:rPr>
              <a:t> </a:t>
            </a:r>
            <a:r>
              <a:rPr dirty="0" sz="2950" spc="95">
                <a:latin typeface="Times New Roman"/>
                <a:cs typeface="Times New Roman"/>
              </a:rPr>
              <a:t>from</a:t>
            </a:r>
            <a:r>
              <a:rPr dirty="0" sz="2950" spc="165">
                <a:latin typeface="Times New Roman"/>
                <a:cs typeface="Times New Roman"/>
              </a:rPr>
              <a:t> </a:t>
            </a:r>
            <a:r>
              <a:rPr dirty="0" sz="2950" spc="80">
                <a:latin typeface="Times New Roman"/>
                <a:cs typeface="Times New Roman"/>
              </a:rPr>
              <a:t>the</a:t>
            </a:r>
            <a:r>
              <a:rPr dirty="0" sz="2950" spc="120">
                <a:latin typeface="Times New Roman"/>
                <a:cs typeface="Times New Roman"/>
              </a:rPr>
              <a:t> </a:t>
            </a:r>
            <a:r>
              <a:rPr dirty="0" sz="2950" spc="60">
                <a:latin typeface="Times New Roman"/>
                <a:cs typeface="Times New Roman"/>
              </a:rPr>
              <a:t>frontiei</a:t>
            </a:r>
            <a:endParaRPr sz="2950">
              <a:latin typeface="Times New Roman"/>
              <a:cs typeface="Times New Roman"/>
            </a:endParaRPr>
          </a:p>
          <a:p>
            <a:pPr marL="1035050">
              <a:lnSpc>
                <a:spcPct val="100000"/>
              </a:lnSpc>
              <a:spcBef>
                <a:spcPts val="310"/>
              </a:spcBef>
              <a:tabLst>
                <a:tab pos="4366260" algn="l"/>
                <a:tab pos="7187565" algn="l"/>
              </a:tabLst>
            </a:pPr>
            <a:r>
              <a:rPr dirty="0" sz="3000">
                <a:latin typeface="Times New Roman"/>
                <a:cs typeface="Times New Roman"/>
              </a:rPr>
              <a:t>if</a:t>
            </a:r>
            <a:r>
              <a:rPr dirty="0" sz="3000" spc="125">
                <a:latin typeface="Times New Roman"/>
                <a:cs typeface="Times New Roman"/>
              </a:rPr>
              <a:t> </a:t>
            </a:r>
            <a:r>
              <a:rPr dirty="0" sz="3000" spc="80">
                <a:latin typeface="Times New Roman"/>
                <a:cs typeface="Times New Roman"/>
              </a:rPr>
              <a:t>the</a:t>
            </a:r>
            <a:r>
              <a:rPr dirty="0" sz="3000" spc="130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Times New Roman"/>
                <a:cs typeface="Times New Roman"/>
              </a:rPr>
              <a:t>node</a:t>
            </a:r>
            <a:r>
              <a:rPr dirty="0" sz="3000" spc="20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contakis</a:t>
            </a:r>
            <a:r>
              <a:rPr dirty="0" sz="3000">
                <a:latin typeface="Times New Roman"/>
                <a:cs typeface="Times New Roman"/>
              </a:rPr>
              <a:t>	a</a:t>
            </a:r>
            <a:r>
              <a:rPr dirty="0" sz="3000" spc="185">
                <a:latin typeface="Times New Roman"/>
                <a:cs typeface="Times New Roman"/>
              </a:rPr>
              <a:t> </a:t>
            </a:r>
            <a:r>
              <a:rPr dirty="0" sz="3000" spc="70">
                <a:latin typeface="Times New Roman"/>
                <a:cs typeface="Times New Roman"/>
              </a:rPr>
              <a:t>goal</a:t>
            </a:r>
            <a:r>
              <a:rPr dirty="0" sz="3000" spc="1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state</a:t>
            </a:r>
            <a:r>
              <a:rPr dirty="0" sz="3000" spc="305">
                <a:latin typeface="Times New Roman"/>
                <a:cs typeface="Times New Roman"/>
              </a:rPr>
              <a:t> </a:t>
            </a:r>
            <a:r>
              <a:rPr dirty="0" sz="3000" spc="120">
                <a:latin typeface="Times New Roman"/>
                <a:cs typeface="Times New Roman"/>
              </a:rPr>
              <a:t>then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sz="3000" spc="235">
                <a:latin typeface="Times New Roman"/>
                <a:cs typeface="Times New Roman"/>
              </a:rPr>
              <a:t>return</a:t>
            </a:r>
            <a:r>
              <a:rPr dirty="0" sz="3000" spc="434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19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coi•responding</a:t>
            </a:r>
            <a:r>
              <a:rPr dirty="0" sz="3000" spc="165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Times New Roman"/>
                <a:cs typeface="Times New Roman"/>
              </a:rPr>
              <a:t>solution</a:t>
            </a:r>
            <a:endParaRPr sz="3000">
              <a:latin typeface="Times New Roman"/>
              <a:cs typeface="Times New Roman"/>
            </a:endParaRPr>
          </a:p>
          <a:p>
            <a:pPr marL="1032510">
              <a:lnSpc>
                <a:spcPct val="100000"/>
              </a:lnSpc>
              <a:spcBef>
                <a:spcPts val="125"/>
              </a:spcBef>
              <a:tabLst>
                <a:tab pos="2328545" algn="l"/>
              </a:tabLst>
            </a:pPr>
            <a:r>
              <a:rPr dirty="0" sz="2950" spc="60">
                <a:latin typeface="Times New Roman"/>
                <a:cs typeface="Times New Roman"/>
              </a:rPr>
              <a:t>expand</a:t>
            </a:r>
            <a:r>
              <a:rPr dirty="0" sz="2950">
                <a:latin typeface="Times New Roman"/>
                <a:cs typeface="Times New Roman"/>
              </a:rPr>
              <a:t>	the</a:t>
            </a:r>
            <a:r>
              <a:rPr dirty="0" sz="2950" spc="310">
                <a:latin typeface="Times New Roman"/>
                <a:cs typeface="Times New Roman"/>
              </a:rPr>
              <a:t> </a:t>
            </a:r>
            <a:r>
              <a:rPr dirty="0" sz="2950" spc="95">
                <a:latin typeface="Times New Roman"/>
                <a:cs typeface="Times New Roman"/>
              </a:rPr>
              <a:t>chosen</a:t>
            </a:r>
            <a:r>
              <a:rPr dirty="0" sz="2950" spc="200">
                <a:latin typeface="Times New Roman"/>
                <a:cs typeface="Times New Roman"/>
              </a:rPr>
              <a:t> </a:t>
            </a:r>
            <a:r>
              <a:rPr dirty="0" sz="2950" spc="100">
                <a:latin typeface="Times New Roman"/>
                <a:cs typeface="Times New Roman"/>
              </a:rPr>
              <a:t>node.</a:t>
            </a:r>
            <a:r>
              <a:rPr dirty="0" sz="2950" spc="90">
                <a:latin typeface="Times New Roman"/>
                <a:cs typeface="Times New Roman"/>
              </a:rPr>
              <a:t> </a:t>
            </a:r>
            <a:r>
              <a:rPr dirty="0" sz="2950" spc="80">
                <a:latin typeface="Times New Roman"/>
                <a:cs typeface="Times New Roman"/>
              </a:rPr>
              <a:t>addiug</a:t>
            </a:r>
            <a:r>
              <a:rPr dirty="0" sz="2950" spc="225">
                <a:latin typeface="Times New Roman"/>
                <a:cs typeface="Times New Roman"/>
              </a:rPr>
              <a:t> </a:t>
            </a:r>
            <a:r>
              <a:rPr dirty="0" sz="2950" spc="80">
                <a:latin typeface="Times New Roman"/>
                <a:cs typeface="Times New Roman"/>
              </a:rPr>
              <a:t>the</a:t>
            </a:r>
            <a:r>
              <a:rPr dirty="0" sz="2950" spc="140">
                <a:latin typeface="Times New Roman"/>
                <a:cs typeface="Times New Roman"/>
              </a:rPr>
              <a:t> </a:t>
            </a:r>
            <a:r>
              <a:rPr dirty="0" sz="2950" spc="80">
                <a:latin typeface="Times New Roman"/>
                <a:cs typeface="Times New Roman"/>
              </a:rPr>
              <a:t>resulting</a:t>
            </a:r>
            <a:r>
              <a:rPr dirty="0" sz="2950" spc="290">
                <a:latin typeface="Times New Roman"/>
                <a:cs typeface="Times New Roman"/>
              </a:rPr>
              <a:t> </a:t>
            </a:r>
            <a:r>
              <a:rPr dirty="0" sz="2950" spc="75">
                <a:latin typeface="Times New Roman"/>
                <a:cs typeface="Times New Roman"/>
              </a:rPr>
              <a:t>nodes</a:t>
            </a:r>
            <a:r>
              <a:rPr dirty="0" sz="2950" spc="235">
                <a:latin typeface="Times New Roman"/>
                <a:cs typeface="Times New Roman"/>
              </a:rPr>
              <a:t> </a:t>
            </a:r>
            <a:r>
              <a:rPr dirty="0" sz="2950" spc="55">
                <a:latin typeface="Times New Roman"/>
                <a:cs typeface="Times New Roman"/>
              </a:rPr>
              <a:t>to</a:t>
            </a:r>
            <a:r>
              <a:rPr dirty="0" sz="2950" spc="16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the</a:t>
            </a:r>
            <a:r>
              <a:rPr dirty="0" sz="2950" spc="220">
                <a:latin typeface="Times New Roman"/>
                <a:cs typeface="Times New Roman"/>
              </a:rPr>
              <a:t> </a:t>
            </a:r>
            <a:r>
              <a:rPr dirty="0" sz="2950" spc="65">
                <a:latin typeface="Times New Roman"/>
                <a:cs typeface="Times New Roman"/>
              </a:rPr>
              <a:t>frontier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498340" algn="l"/>
                <a:tab pos="6116955" algn="l"/>
              </a:tabLst>
            </a:pPr>
            <a:r>
              <a:rPr dirty="0" sz="3000" spc="135">
                <a:latin typeface="Times New Roman"/>
                <a:cs typeface="Times New Roman"/>
              </a:rPr>
              <a:t>function</a:t>
            </a:r>
            <a:r>
              <a:rPr dirty="0" sz="3000" spc="430">
                <a:latin typeface="Times New Roman"/>
                <a:cs typeface="Times New Roman"/>
              </a:rPr>
              <a:t> </a:t>
            </a:r>
            <a:r>
              <a:rPr dirty="0" sz="3000" spc="-250">
                <a:latin typeface="Times New Roman"/>
                <a:cs typeface="Times New Roman"/>
              </a:rPr>
              <a:t>GRAPH-</a:t>
            </a:r>
            <a:r>
              <a:rPr dirty="0" u="dbl" sz="3000" spc="-10">
                <a:uFill>
                  <a:solidFill>
                    <a:srgbClr val="2F4F93"/>
                  </a:solidFill>
                </a:uFill>
                <a:latin typeface="Times New Roman"/>
                <a:cs typeface="Times New Roman"/>
              </a:rPr>
              <a:t>SEARCHf</a:t>
            </a:r>
            <a:r>
              <a:rPr dirty="0" u="dbl" sz="3000">
                <a:uFill>
                  <a:solidFill>
                    <a:srgbClr val="2F4F9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dbl" sz="3000" spc="125" i="1">
                <a:uFill>
                  <a:solidFill>
                    <a:srgbClr val="2F4F93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dirty="0" sz="3000" i="1">
                <a:latin typeface="Times New Roman"/>
                <a:cs typeface="Times New Roman"/>
              </a:rPr>
              <a:t>	</a:t>
            </a:r>
            <a:r>
              <a:rPr dirty="0" sz="3000" spc="-430" i="1">
                <a:solidFill>
                  <a:srgbClr val="232323"/>
                </a:solidFill>
                <a:latin typeface="Times New Roman"/>
                <a:cs typeface="Times New Roman"/>
              </a:rPr>
              <a:t>)</a:t>
            </a:r>
            <a:r>
              <a:rPr dirty="0" sz="3000" spc="120" i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3000" spc="220">
                <a:latin typeface="Times New Roman"/>
                <a:cs typeface="Times New Roman"/>
              </a:rPr>
              <a:t>returns</a:t>
            </a:r>
            <a:r>
              <a:rPr dirty="0" sz="3000" spc="75"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181818"/>
                </a:solidFill>
                <a:latin typeface="Times New Roman"/>
                <a:cs typeface="Times New Roman"/>
              </a:rPr>
              <a:t>a</a:t>
            </a:r>
            <a:r>
              <a:rPr dirty="0" sz="3000" spc="24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000" spc="65">
                <a:latin typeface="Times New Roman"/>
                <a:cs typeface="Times New Roman"/>
              </a:rPr>
              <a:t>solutiou.</a:t>
            </a:r>
            <a:r>
              <a:rPr dirty="0" sz="3000" spc="55">
                <a:latin typeface="Times New Roman"/>
                <a:cs typeface="Times New Roman"/>
              </a:rPr>
              <a:t> </a:t>
            </a:r>
            <a:r>
              <a:rPr dirty="0" sz="3000" spc="75">
                <a:latin typeface="Times New Roman"/>
                <a:cs typeface="Times New Roman"/>
              </a:rPr>
              <a:t>or</a:t>
            </a:r>
            <a:r>
              <a:rPr dirty="0" sz="3000" spc="65">
                <a:latin typeface="Times New Roman"/>
                <a:cs typeface="Times New Roman"/>
              </a:rPr>
              <a:t> </a:t>
            </a:r>
            <a:r>
              <a:rPr dirty="0" sz="3000" spc="40">
                <a:latin typeface="Times New Roman"/>
                <a:cs typeface="Times New Roman"/>
              </a:rPr>
              <a:t>failure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42083" y="6199187"/>
            <a:ext cx="8942070" cy="24549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43180" indent="14604">
              <a:lnSpc>
                <a:spcPct val="100800"/>
              </a:lnSpc>
              <a:spcBef>
                <a:spcPts val="70"/>
              </a:spcBef>
              <a:tabLst>
                <a:tab pos="2157095" algn="l"/>
                <a:tab pos="7473315" algn="l"/>
              </a:tabLst>
            </a:pPr>
            <a:r>
              <a:rPr dirty="0" sz="3100">
                <a:latin typeface="Times New Roman"/>
                <a:cs typeface="Times New Roman"/>
              </a:rPr>
              <a:t>initlalize</a:t>
            </a:r>
            <a:r>
              <a:rPr dirty="0" sz="3100" spc="245"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262626"/>
                </a:solidFill>
                <a:latin typeface="Times New Roman"/>
                <a:cs typeface="Times New Roman"/>
              </a:rPr>
              <a:t>ie</a:t>
            </a:r>
            <a:r>
              <a:rPr dirty="0" sz="3100">
                <a:solidFill>
                  <a:srgbClr val="262626"/>
                </a:solidFill>
                <a:latin typeface="Times New Roman"/>
                <a:cs typeface="Times New Roman"/>
              </a:rPr>
              <a:t>	</a:t>
            </a:r>
            <a:r>
              <a:rPr dirty="0" sz="3100">
                <a:latin typeface="Times New Roman"/>
                <a:cs typeface="Times New Roman"/>
              </a:rPr>
              <a:t>frontier</a:t>
            </a:r>
            <a:r>
              <a:rPr dirty="0" sz="3100" spc="229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using</a:t>
            </a:r>
            <a:r>
              <a:rPr dirty="0" sz="3100" spc="2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the</a:t>
            </a:r>
            <a:r>
              <a:rPr dirty="0" sz="3100" spc="27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initial</a:t>
            </a:r>
            <a:r>
              <a:rPr dirty="0" sz="3100" spc="14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state</a:t>
            </a:r>
            <a:r>
              <a:rPr dirty="0" sz="3100" spc="125">
                <a:latin typeface="Times New Roman"/>
                <a:cs typeface="Times New Roman"/>
              </a:rPr>
              <a:t> </a:t>
            </a:r>
            <a:r>
              <a:rPr dirty="0" sz="3100" spc="-25">
                <a:latin typeface="Times New Roman"/>
                <a:cs typeface="Times New Roman"/>
              </a:rPr>
              <a:t>of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85" i="1">
                <a:latin typeface="Times New Roman"/>
                <a:cs typeface="Times New Roman"/>
              </a:rPr>
              <a:t>problem </a:t>
            </a:r>
            <a:r>
              <a:rPr dirty="0" sz="3100" spc="65" i="1">
                <a:latin typeface="Times New Roman"/>
                <a:cs typeface="Times New Roman"/>
              </a:rPr>
              <a:t>initiañze</a:t>
            </a:r>
            <a:r>
              <a:rPr dirty="0" sz="3100" spc="110" i="1">
                <a:latin typeface="Times New Roman"/>
                <a:cs typeface="Times New Roman"/>
              </a:rPr>
              <a:t> the </a:t>
            </a:r>
            <a:r>
              <a:rPr dirty="0" sz="3100" i="1">
                <a:latin typeface="Times New Roman"/>
                <a:cs typeface="Times New Roman"/>
              </a:rPr>
              <a:t>e»plared</a:t>
            </a:r>
            <a:r>
              <a:rPr dirty="0" sz="3100" spc="220" i="1">
                <a:latin typeface="Times New Roman"/>
                <a:cs typeface="Times New Roman"/>
              </a:rPr>
              <a:t> </a:t>
            </a:r>
            <a:r>
              <a:rPr dirty="0" sz="3100" i="1">
                <a:latin typeface="Times New Roman"/>
                <a:cs typeface="Times New Roman"/>
              </a:rPr>
              <a:t>set</a:t>
            </a:r>
            <a:r>
              <a:rPr dirty="0" sz="3100" spc="-30" i="1">
                <a:latin typeface="Times New Roman"/>
                <a:cs typeface="Times New Roman"/>
              </a:rPr>
              <a:t> </a:t>
            </a:r>
            <a:r>
              <a:rPr dirty="0" sz="3100" i="1">
                <a:latin typeface="Times New Roman"/>
                <a:cs typeface="Times New Roman"/>
              </a:rPr>
              <a:t>to</a:t>
            </a:r>
            <a:r>
              <a:rPr dirty="0" sz="3100" spc="285" i="1">
                <a:latin typeface="Times New Roman"/>
                <a:cs typeface="Times New Roman"/>
              </a:rPr>
              <a:t> </a:t>
            </a:r>
            <a:r>
              <a:rPr dirty="0" sz="3100" i="1">
                <a:latin typeface="Times New Roman"/>
                <a:cs typeface="Times New Roman"/>
              </a:rPr>
              <a:t>be</a:t>
            </a:r>
            <a:r>
              <a:rPr dirty="0" sz="3100" spc="180" i="1">
                <a:latin typeface="Times New Roman"/>
                <a:cs typeface="Times New Roman"/>
              </a:rPr>
              <a:t> </a:t>
            </a:r>
            <a:r>
              <a:rPr dirty="0" sz="3100" spc="-10" i="1">
                <a:latin typeface="Times New Roman"/>
                <a:cs typeface="Times New Roman"/>
              </a:rPr>
              <a:t>einpfi-</a:t>
            </a:r>
            <a:endParaRPr sz="31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355"/>
              </a:spcBef>
            </a:pPr>
            <a:r>
              <a:rPr dirty="0" sz="3000" spc="80">
                <a:latin typeface="Times New Roman"/>
                <a:cs typeface="Times New Roman"/>
              </a:rPr>
              <a:t>loop</a:t>
            </a:r>
            <a:r>
              <a:rPr dirty="0" sz="3000" spc="280">
                <a:latin typeface="Times New Roman"/>
                <a:cs typeface="Times New Roman"/>
              </a:rPr>
              <a:t> </a:t>
            </a:r>
            <a:r>
              <a:rPr dirty="0" sz="3000" spc="80">
                <a:latin typeface="Times New Roman"/>
                <a:cs typeface="Times New Roman"/>
              </a:rPr>
              <a:t>do</a:t>
            </a:r>
            <a:endParaRPr sz="3000">
              <a:latin typeface="Times New Roman"/>
              <a:cs typeface="Times New Roman"/>
            </a:endParaRPr>
          </a:p>
          <a:p>
            <a:pPr marL="626745">
              <a:lnSpc>
                <a:spcPct val="100000"/>
              </a:lnSpc>
              <a:spcBef>
                <a:spcPts val="50"/>
              </a:spcBef>
            </a:pPr>
            <a:r>
              <a:rPr dirty="0" sz="3250">
                <a:latin typeface="Times New Roman"/>
                <a:cs typeface="Times New Roman"/>
              </a:rPr>
              <a:t>if</a:t>
            </a:r>
            <a:r>
              <a:rPr dirty="0" sz="3250" spc="-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the</a:t>
            </a:r>
            <a:r>
              <a:rPr dirty="0" sz="3250" spc="-1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Lontier</a:t>
            </a:r>
            <a:r>
              <a:rPr dirty="0" sz="3250" spc="13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is</a:t>
            </a:r>
            <a:r>
              <a:rPr dirty="0" sz="3250" spc="-8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empty</a:t>
            </a:r>
            <a:r>
              <a:rPr dirty="0" sz="3250" spc="30">
                <a:latin typeface="Times New Roman"/>
                <a:cs typeface="Times New Roman"/>
              </a:rPr>
              <a:t> </a:t>
            </a:r>
            <a:r>
              <a:rPr dirty="0" sz="3250" spc="65">
                <a:latin typeface="Times New Roman"/>
                <a:cs typeface="Times New Roman"/>
              </a:rPr>
              <a:t>then</a:t>
            </a:r>
            <a:r>
              <a:rPr dirty="0" sz="3250" spc="240">
                <a:latin typeface="Times New Roman"/>
                <a:cs typeface="Times New Roman"/>
              </a:rPr>
              <a:t> </a:t>
            </a:r>
            <a:r>
              <a:rPr dirty="0" sz="3250" spc="140">
                <a:latin typeface="Times New Roman"/>
                <a:cs typeface="Times New Roman"/>
              </a:rPr>
              <a:t>return</a:t>
            </a:r>
            <a:r>
              <a:rPr dirty="0" sz="3250" spc="85">
                <a:latin typeface="Times New Roman"/>
                <a:cs typeface="Times New Roman"/>
              </a:rPr>
              <a:t> </a:t>
            </a:r>
            <a:r>
              <a:rPr dirty="0" sz="3250" spc="1125">
                <a:latin typeface="Times New Roman"/>
                <a:cs typeface="Times New Roman"/>
              </a:rPr>
              <a:t>failures</a:t>
            </a:r>
            <a:endParaRPr sz="3250">
              <a:latin typeface="Times New Roman"/>
              <a:cs typeface="Times New Roman"/>
            </a:endParaRPr>
          </a:p>
          <a:p>
            <a:pPr marL="626110">
              <a:lnSpc>
                <a:spcPct val="100000"/>
              </a:lnSpc>
              <a:spcBef>
                <a:spcPts val="275"/>
              </a:spcBef>
              <a:tabLst>
                <a:tab pos="8521700" algn="l"/>
              </a:tabLst>
            </a:pPr>
            <a:r>
              <a:rPr dirty="0" sz="2900" spc="130">
                <a:latin typeface="Times New Roman"/>
                <a:cs typeface="Times New Roman"/>
              </a:rPr>
              <a:t>choose</a:t>
            </a:r>
            <a:r>
              <a:rPr dirty="0" sz="2900" spc="265"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290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900" spc="75">
                <a:latin typeface="Times New Roman"/>
                <a:cs typeface="Times New Roman"/>
              </a:rPr>
              <a:t>leaf</a:t>
            </a:r>
            <a:r>
              <a:rPr dirty="0" sz="2900" spc="254">
                <a:latin typeface="Times New Roman"/>
                <a:cs typeface="Times New Roman"/>
              </a:rPr>
              <a:t> </a:t>
            </a:r>
            <a:r>
              <a:rPr dirty="0" sz="2900" spc="105">
                <a:latin typeface="Times New Roman"/>
                <a:cs typeface="Times New Roman"/>
              </a:rPr>
              <a:t>node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 spc="65">
                <a:latin typeface="Times New Roman"/>
                <a:cs typeface="Times New Roman"/>
              </a:rPr>
              <a:t>and</a:t>
            </a:r>
            <a:r>
              <a:rPr dirty="0" sz="2900" spc="260">
                <a:latin typeface="Times New Roman"/>
                <a:cs typeface="Times New Roman"/>
              </a:rPr>
              <a:t> </a:t>
            </a:r>
            <a:r>
              <a:rPr dirty="0" sz="2900" spc="55">
                <a:latin typeface="Times New Roman"/>
                <a:cs typeface="Times New Roman"/>
              </a:rPr>
              <a:t>reiuoa</a:t>
            </a:r>
            <a:r>
              <a:rPr dirty="0" sz="2900">
                <a:latin typeface="Times New Roman"/>
                <a:cs typeface="Times New Roman"/>
              </a:rPr>
              <a:t> e</a:t>
            </a:r>
            <a:r>
              <a:rPr dirty="0" sz="2900" spc="2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it</a:t>
            </a:r>
            <a:r>
              <a:rPr dirty="0" sz="2900" spc="105">
                <a:latin typeface="Times New Roman"/>
                <a:cs typeface="Times New Roman"/>
              </a:rPr>
              <a:t> </a:t>
            </a:r>
            <a:r>
              <a:rPr dirty="0" sz="2900" spc="135">
                <a:latin typeface="Times New Roman"/>
                <a:cs typeface="Times New Roman"/>
              </a:rPr>
              <a:t>from</a:t>
            </a:r>
            <a:r>
              <a:rPr dirty="0" sz="2900" spc="155">
                <a:latin typeface="Times New Roman"/>
                <a:cs typeface="Times New Roman"/>
              </a:rPr>
              <a:t> </a:t>
            </a:r>
            <a:r>
              <a:rPr dirty="0" sz="2900" spc="110">
                <a:latin typeface="Times New Roman"/>
                <a:cs typeface="Times New Roman"/>
              </a:rPr>
              <a:t>the</a:t>
            </a:r>
            <a:r>
              <a:rPr dirty="0" sz="2900" spc="-105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Times New Roman"/>
                <a:cs typeface="Times New Roman"/>
              </a:rPr>
              <a:t>out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75">
                <a:latin typeface="Times New Roman"/>
                <a:cs typeface="Times New Roman"/>
              </a:rPr>
              <a:t>er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611249" y="8053387"/>
            <a:ext cx="363601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alibri"/>
                <a:cs typeface="Calibri"/>
              </a:rPr>
              <a:t>Also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known</a:t>
            </a:r>
            <a:r>
              <a:rPr dirty="0" sz="2900" spc="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as</a:t>
            </a:r>
            <a:r>
              <a:rPr dirty="0" sz="2900" spc="-114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Open</a:t>
            </a:r>
            <a:r>
              <a:rPr dirty="0" sz="2900" spc="-165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List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57623" y="8675687"/>
            <a:ext cx="1174940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64580" algn="l"/>
              </a:tabLst>
            </a:pPr>
            <a:r>
              <a:rPr dirty="0" sz="2950">
                <a:latin typeface="Times New Roman"/>
                <a:cs typeface="Times New Roman"/>
              </a:rPr>
              <a:t>if</a:t>
            </a:r>
            <a:r>
              <a:rPr dirty="0" sz="2950" spc="105">
                <a:latin typeface="Times New Roman"/>
                <a:cs typeface="Times New Roman"/>
              </a:rPr>
              <a:t> the</a:t>
            </a:r>
            <a:r>
              <a:rPr dirty="0" sz="2950" spc="120">
                <a:latin typeface="Times New Roman"/>
                <a:cs typeface="Times New Roman"/>
              </a:rPr>
              <a:t> </a:t>
            </a:r>
            <a:r>
              <a:rPr dirty="0" sz="2950" spc="80">
                <a:latin typeface="Times New Roman"/>
                <a:cs typeface="Times New Roman"/>
              </a:rPr>
              <a:t>node</a:t>
            </a:r>
            <a:r>
              <a:rPr dirty="0" sz="2950" spc="180">
                <a:latin typeface="Times New Roman"/>
                <a:cs typeface="Times New Roman"/>
              </a:rPr>
              <a:t> </a:t>
            </a:r>
            <a:r>
              <a:rPr dirty="0" sz="2950" spc="65">
                <a:latin typeface="Times New Roman"/>
                <a:cs typeface="Times New Roman"/>
              </a:rPr>
              <a:t>contains</a:t>
            </a:r>
            <a:r>
              <a:rPr dirty="0" sz="2950" spc="37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a</a:t>
            </a:r>
            <a:r>
              <a:rPr dirty="0" sz="2950" spc="180">
                <a:latin typeface="Times New Roman"/>
                <a:cs typeface="Times New Roman"/>
              </a:rPr>
              <a:t> </a:t>
            </a:r>
            <a:r>
              <a:rPr dirty="0" sz="2950" spc="95">
                <a:latin typeface="Times New Roman"/>
                <a:cs typeface="Times New Roman"/>
              </a:rPr>
              <a:t>goal</a:t>
            </a:r>
            <a:r>
              <a:rPr dirty="0" sz="2950" spc="50">
                <a:latin typeface="Times New Roman"/>
                <a:cs typeface="Times New Roman"/>
              </a:rPr>
              <a:t> </a:t>
            </a:r>
            <a:r>
              <a:rPr dirty="0" sz="2950" spc="70">
                <a:latin typeface="Times New Roman"/>
                <a:cs typeface="Times New Roman"/>
              </a:rPr>
              <a:t>state</a:t>
            </a:r>
            <a:r>
              <a:rPr dirty="0" sz="2950" spc="310">
                <a:latin typeface="Times New Roman"/>
                <a:cs typeface="Times New Roman"/>
              </a:rPr>
              <a:t> </a:t>
            </a:r>
            <a:r>
              <a:rPr dirty="0" sz="2950" spc="145">
                <a:latin typeface="Times New Roman"/>
                <a:cs typeface="Times New Roman"/>
              </a:rPr>
              <a:t>then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90">
                <a:latin typeface="Times New Roman"/>
                <a:cs typeface="Times New Roman"/>
              </a:rPr>
              <a:t>returnYr%cori•esponding</a:t>
            </a:r>
            <a:r>
              <a:rPr dirty="0" sz="2950" spc="145">
                <a:latin typeface="Times New Roman"/>
                <a:cs typeface="Times New Roman"/>
              </a:rPr>
              <a:t> </a:t>
            </a:r>
            <a:r>
              <a:rPr dirty="0" sz="2950" spc="-150">
                <a:latin typeface="Times New Roman"/>
                <a:cs typeface="Times New Roman"/>
              </a:rPr>
              <a:t>sOlUtiOIl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53281" y="9129712"/>
            <a:ext cx="536321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21125" algn="l"/>
                <a:tab pos="5042535" algn="l"/>
              </a:tabLst>
            </a:pPr>
            <a:r>
              <a:rPr dirty="0" sz="3050" spc="105" i="1">
                <a:latin typeface="Calibri"/>
                <a:cs typeface="Calibri"/>
              </a:rPr>
              <a:t>add</a:t>
            </a:r>
            <a:r>
              <a:rPr dirty="0" sz="3050" spc="-145" i="1">
                <a:latin typeface="Calibri"/>
                <a:cs typeface="Calibri"/>
              </a:rPr>
              <a:t> </a:t>
            </a:r>
            <a:r>
              <a:rPr dirty="0" sz="3050" spc="80" i="1">
                <a:latin typeface="Calibri"/>
                <a:cs typeface="Calibri"/>
              </a:rPr>
              <a:t>tiie</a:t>
            </a:r>
            <a:r>
              <a:rPr dirty="0" sz="3050" spc="85" i="1">
                <a:latin typeface="Calibri"/>
                <a:cs typeface="Calibri"/>
              </a:rPr>
              <a:t> </a:t>
            </a:r>
            <a:r>
              <a:rPr dirty="0" sz="3050" i="1">
                <a:latin typeface="Calibri"/>
                <a:cs typeface="Calibri"/>
              </a:rPr>
              <a:t>node</a:t>
            </a:r>
            <a:r>
              <a:rPr dirty="0" sz="3050" spc="185" i="1">
                <a:latin typeface="Calibri"/>
                <a:cs typeface="Calibri"/>
              </a:rPr>
              <a:t> </a:t>
            </a:r>
            <a:r>
              <a:rPr dirty="0" sz="3050" i="1">
                <a:latin typeface="Calibri"/>
                <a:cs typeface="Calibri"/>
              </a:rPr>
              <a:t>to</a:t>
            </a:r>
            <a:r>
              <a:rPr dirty="0" sz="3050" spc="65" i="1">
                <a:latin typeface="Calibri"/>
                <a:cs typeface="Calibri"/>
              </a:rPr>
              <a:t> </a:t>
            </a:r>
            <a:r>
              <a:rPr dirty="0" sz="3050" spc="60" i="1">
                <a:latin typeface="Calibri"/>
                <a:cs typeface="Calibri"/>
              </a:rPr>
              <a:t>tiie</a:t>
            </a:r>
            <a:r>
              <a:rPr dirty="0" sz="3050" i="1">
                <a:latin typeface="Calibri"/>
                <a:cs typeface="Calibri"/>
              </a:rPr>
              <a:t>	</a:t>
            </a:r>
            <a:r>
              <a:rPr dirty="0" sz="3050" spc="70" i="1">
                <a:latin typeface="Calibri"/>
                <a:cs typeface="Calibri"/>
              </a:rPr>
              <a:t>iored</a:t>
            </a:r>
            <a:r>
              <a:rPr dirty="0" sz="3050" i="1">
                <a:latin typeface="Calibri"/>
                <a:cs typeface="Calibri"/>
              </a:rPr>
              <a:t>	</a:t>
            </a:r>
            <a:r>
              <a:rPr dirty="0" sz="3050" spc="-25" i="1">
                <a:latin typeface="Calibri"/>
                <a:cs typeface="Calibri"/>
              </a:rPr>
              <a:t>et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268194" y="9234487"/>
            <a:ext cx="382524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3050">
                <a:latin typeface="Calibri"/>
                <a:cs typeface="Calibri"/>
              </a:rPr>
              <a:t>lsoknown</a:t>
            </a:r>
            <a:r>
              <a:rPr dirty="0" sz="3050" spc="-150">
                <a:latin typeface="Calibri"/>
                <a:cs typeface="Calibri"/>
              </a:rPr>
              <a:t> </a:t>
            </a:r>
            <a:r>
              <a:rPr dirty="0" sz="3050" spc="-45">
                <a:latin typeface="Calibri"/>
                <a:cs typeface="Calibri"/>
              </a:rPr>
              <a:t>as</a:t>
            </a:r>
            <a:r>
              <a:rPr dirty="0" sz="3050" spc="-130">
                <a:latin typeface="Calibri"/>
                <a:cs typeface="Calibri"/>
              </a:rPr>
              <a:t> </a:t>
            </a:r>
            <a:r>
              <a:rPr dirty="0" sz="3050" spc="-40">
                <a:latin typeface="Calibri"/>
                <a:cs typeface="Calibri"/>
              </a:rPr>
              <a:t>Closed</a:t>
            </a:r>
            <a:r>
              <a:rPr dirty="0" sz="3050" spc="-120">
                <a:latin typeface="Calibri"/>
                <a:cs typeface="Calibri"/>
              </a:rPr>
              <a:t> </a:t>
            </a:r>
            <a:r>
              <a:rPr dirty="0" sz="3050" spc="-20">
                <a:latin typeface="Calibri"/>
                <a:cs typeface="Calibri"/>
              </a:rPr>
              <a:t>List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62807" y="9599612"/>
            <a:ext cx="10808335" cy="100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9845" algn="l"/>
              </a:tabLst>
            </a:pPr>
            <a:r>
              <a:rPr dirty="0" sz="3250" spc="-10">
                <a:latin typeface="Times New Roman"/>
                <a:cs typeface="Times New Roman"/>
              </a:rPr>
              <a:t>expand</a:t>
            </a:r>
            <a:r>
              <a:rPr dirty="0" sz="3250">
                <a:latin typeface="Times New Roman"/>
                <a:cs typeface="Times New Roman"/>
              </a:rPr>
              <a:t>	the</a:t>
            </a:r>
            <a:r>
              <a:rPr dirty="0" sz="3250" spc="-3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chosen</a:t>
            </a:r>
            <a:r>
              <a:rPr dirty="0" sz="3250" spc="-1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node.</a:t>
            </a:r>
            <a:r>
              <a:rPr dirty="0" sz="3250" spc="-13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adding</a:t>
            </a:r>
            <a:r>
              <a:rPr dirty="0" sz="3250" spc="-60">
                <a:latin typeface="Times New Roman"/>
                <a:cs typeface="Times New Roman"/>
              </a:rPr>
              <a:t> </a:t>
            </a:r>
            <a:r>
              <a:rPr dirty="0" sz="3250" spc="-20">
                <a:latin typeface="Times New Roman"/>
                <a:cs typeface="Times New Roman"/>
              </a:rPr>
              <a:t>tiie</a:t>
            </a:r>
            <a:r>
              <a:rPr dirty="0" sz="3250" spc="-180">
                <a:latin typeface="Times New Roman"/>
                <a:cs typeface="Times New Roman"/>
              </a:rPr>
              <a:t> </a:t>
            </a:r>
            <a:r>
              <a:rPr dirty="0" sz="3250" spc="-105">
                <a:latin typeface="Times New Roman"/>
                <a:cs typeface="Times New Roman"/>
              </a:rPr>
              <a:t>i•esultiiig</a:t>
            </a:r>
            <a:r>
              <a:rPr dirty="0" sz="3250" spc="-7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nodes</a:t>
            </a:r>
            <a:r>
              <a:rPr dirty="0" sz="3250" spc="-5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to</a:t>
            </a:r>
            <a:r>
              <a:rPr dirty="0" sz="3250" spc="-12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the</a:t>
            </a:r>
            <a:r>
              <a:rPr dirty="0" sz="3250" spc="-100">
                <a:latin typeface="Times New Roman"/>
                <a:cs typeface="Times New Roman"/>
              </a:rPr>
              <a:t> </a:t>
            </a:r>
            <a:r>
              <a:rPr dirty="0" sz="3250" spc="-110">
                <a:latin typeface="Times New Roman"/>
                <a:cs typeface="Times New Roman"/>
              </a:rPr>
              <a:t>froiitiei•</a:t>
            </a:r>
            <a:endParaRPr sz="3250">
              <a:latin typeface="Times New Roman"/>
              <a:cs typeface="Times New Roman"/>
            </a:endParaRPr>
          </a:p>
          <a:p>
            <a:pPr marL="415925">
              <a:lnSpc>
                <a:spcPct val="100000"/>
              </a:lnSpc>
              <a:spcBef>
                <a:spcPts val="75"/>
              </a:spcBef>
            </a:pPr>
            <a:r>
              <a:rPr dirty="0" sz="3100" i="1">
                <a:latin typeface="Times New Roman"/>
                <a:cs typeface="Times New Roman"/>
              </a:rPr>
              <a:t>onij-</a:t>
            </a:r>
            <a:r>
              <a:rPr dirty="0" sz="3100" spc="145" i="1">
                <a:latin typeface="Times New Roman"/>
                <a:cs typeface="Times New Roman"/>
              </a:rPr>
              <a:t> </a:t>
            </a:r>
            <a:r>
              <a:rPr dirty="0" sz="3100" spc="55" i="1">
                <a:latin typeface="Times New Roman"/>
                <a:cs typeface="Times New Roman"/>
              </a:rPr>
              <a:t>if</a:t>
            </a:r>
            <a:r>
              <a:rPr dirty="0" sz="3100" spc="180" i="1">
                <a:latin typeface="Times New Roman"/>
                <a:cs typeface="Times New Roman"/>
              </a:rPr>
              <a:t> </a:t>
            </a:r>
            <a:r>
              <a:rPr dirty="0" sz="3100" spc="-25" i="1">
                <a:latin typeface="Times New Roman"/>
                <a:cs typeface="Times New Roman"/>
              </a:rPr>
              <a:t>ao1</a:t>
            </a:r>
            <a:r>
              <a:rPr dirty="0" sz="3100" spc="-240" i="1">
                <a:latin typeface="Times New Roman"/>
                <a:cs typeface="Times New Roman"/>
              </a:rPr>
              <a:t> </a:t>
            </a:r>
            <a:r>
              <a:rPr dirty="0" sz="3100" spc="105" i="1">
                <a:latin typeface="Times New Roman"/>
                <a:cs typeface="Times New Roman"/>
              </a:rPr>
              <a:t>in</a:t>
            </a:r>
            <a:r>
              <a:rPr dirty="0" sz="3100" spc="5" i="1">
                <a:latin typeface="Times New Roman"/>
                <a:cs typeface="Times New Roman"/>
              </a:rPr>
              <a:t> </a:t>
            </a:r>
            <a:r>
              <a:rPr dirty="0" sz="3100" i="1">
                <a:latin typeface="Times New Roman"/>
                <a:cs typeface="Times New Roman"/>
              </a:rPr>
              <a:t>llte</a:t>
            </a:r>
            <a:r>
              <a:rPr dirty="0" sz="3100" spc="130" i="1">
                <a:latin typeface="Times New Roman"/>
                <a:cs typeface="Times New Roman"/>
              </a:rPr>
              <a:t> </a:t>
            </a:r>
            <a:r>
              <a:rPr dirty="0" sz="3100" i="1">
                <a:latin typeface="Times New Roman"/>
                <a:cs typeface="Times New Roman"/>
              </a:rPr>
              <a:t>frontier</a:t>
            </a:r>
            <a:r>
              <a:rPr dirty="0" sz="3100" spc="335" i="1">
                <a:latin typeface="Times New Roman"/>
                <a:cs typeface="Times New Roman"/>
              </a:rPr>
              <a:t> </a:t>
            </a:r>
            <a:r>
              <a:rPr dirty="0" sz="3100" i="1">
                <a:latin typeface="Times New Roman"/>
                <a:cs typeface="Times New Roman"/>
              </a:rPr>
              <a:t>or</a:t>
            </a:r>
            <a:r>
              <a:rPr dirty="0" sz="3100" spc="105" i="1">
                <a:latin typeface="Times New Roman"/>
                <a:cs typeface="Times New Roman"/>
              </a:rPr>
              <a:t> </a:t>
            </a:r>
            <a:r>
              <a:rPr dirty="0" sz="3100" spc="50" i="1">
                <a:latin typeface="Times New Roman"/>
                <a:cs typeface="Times New Roman"/>
              </a:rPr>
              <a:t>explored</a:t>
            </a:r>
            <a:r>
              <a:rPr dirty="0" sz="3100" spc="235" i="1">
                <a:latin typeface="Times New Roman"/>
                <a:cs typeface="Times New Roman"/>
              </a:rPr>
              <a:t> </a:t>
            </a:r>
            <a:r>
              <a:rPr dirty="0" sz="3100" spc="-25" i="1">
                <a:latin typeface="Times New Roman"/>
                <a:cs typeface="Times New Roman"/>
              </a:rPr>
              <a:t>set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0" y="4619625"/>
            <a:ext cx="1438275" cy="14763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275" y="4181475"/>
            <a:ext cx="2524125" cy="22669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68275" y="4181475"/>
            <a:ext cx="3562350" cy="32480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9132" y="539750"/>
            <a:ext cx="7418705" cy="894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8365" algn="l"/>
              </a:tabLst>
            </a:pPr>
            <a:r>
              <a:rPr dirty="0" sz="5700" spc="-195"/>
              <a:t>GRAPH-</a:t>
            </a:r>
            <a:r>
              <a:rPr dirty="0" sz="5700" spc="-10"/>
              <a:t>SEARCH</a:t>
            </a:r>
            <a:r>
              <a:rPr dirty="0" sz="5700"/>
              <a:t>	</a:t>
            </a:r>
            <a:r>
              <a:rPr dirty="0" sz="5700" spc="-130"/>
              <a:t>algorithm</a:t>
            </a:r>
            <a:endParaRPr sz="5700"/>
          </a:p>
        </p:txBody>
      </p:sp>
      <p:sp>
        <p:nvSpPr>
          <p:cNvPr id="6" name="object 6" descr=""/>
          <p:cNvSpPr txBox="1"/>
          <p:nvPr/>
        </p:nvSpPr>
        <p:spPr>
          <a:xfrm>
            <a:off x="1446723" y="1960562"/>
            <a:ext cx="15574644" cy="134112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394335" marR="5080" indent="-382270">
              <a:lnSpc>
                <a:spcPts val="4840"/>
              </a:lnSpc>
              <a:spcBef>
                <a:spcPts val="825"/>
              </a:spcBef>
              <a:buChar char="•"/>
              <a:tabLst>
                <a:tab pos="406400" algn="l"/>
              </a:tabLst>
            </a:pPr>
            <a:r>
              <a:rPr dirty="0" sz="4600">
                <a:latin typeface="Calibri"/>
                <a:cs typeface="Calibri"/>
              </a:rPr>
              <a:t>we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can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think</a:t>
            </a:r>
            <a:r>
              <a:rPr dirty="0" sz="4600" spc="-114">
                <a:latin typeface="Calibri"/>
                <a:cs typeface="Calibri"/>
              </a:rPr>
              <a:t> </a:t>
            </a:r>
            <a:r>
              <a:rPr dirty="0" sz="4600" spc="-120">
                <a:solidFill>
                  <a:srgbClr val="006EB5"/>
                </a:solidFill>
                <a:latin typeface="Calibri"/>
                <a:cs typeface="Calibri"/>
              </a:rPr>
              <a:t>Graph-</a:t>
            </a:r>
            <a:r>
              <a:rPr dirty="0" sz="4600" spc="-30">
                <a:solidFill>
                  <a:srgbClr val="006EB5"/>
                </a:solidFill>
                <a:latin typeface="Calibri"/>
                <a:cs typeface="Calibri"/>
              </a:rPr>
              <a:t>Search</a:t>
            </a:r>
            <a:r>
              <a:rPr dirty="0" sz="4600" spc="135">
                <a:solidFill>
                  <a:srgbClr val="006EB5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as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 spc="-75">
                <a:latin typeface="Calibri"/>
                <a:cs typeface="Calibri"/>
              </a:rPr>
              <a:t>growing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tree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directly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 spc="-75">
                <a:latin typeface="Calibri"/>
                <a:cs typeface="Calibri"/>
              </a:rPr>
              <a:t>state- </a:t>
            </a:r>
            <a:r>
              <a:rPr dirty="0" sz="4600" spc="-75">
                <a:latin typeface="Calibri"/>
                <a:cs typeface="Calibri"/>
              </a:rPr>
              <a:t>	</a:t>
            </a:r>
            <a:r>
              <a:rPr dirty="0" sz="4600" spc="-30">
                <a:latin typeface="Calibri"/>
                <a:cs typeface="Calibri"/>
              </a:rPr>
              <a:t>space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graph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46723" y="8285162"/>
            <a:ext cx="16115665" cy="134556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00050" marR="5080" indent="-387985">
              <a:lnSpc>
                <a:spcPts val="4880"/>
              </a:lnSpc>
              <a:spcBef>
                <a:spcPts val="795"/>
              </a:spcBef>
              <a:buChar char="•"/>
              <a:tabLst>
                <a:tab pos="406400" algn="l"/>
              </a:tabLst>
            </a:pPr>
            <a:r>
              <a:rPr dirty="0" sz="4600">
                <a:latin typeface="Calibri"/>
                <a:cs typeface="Calibri"/>
              </a:rPr>
              <a:t>i.e.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160">
                <a:latin typeface="Calibri"/>
                <a:cs typeface="Calibri"/>
              </a:rPr>
              <a:t>GRAPH-</a:t>
            </a:r>
            <a:r>
              <a:rPr dirty="0" sz="4600" spc="-70">
                <a:latin typeface="Calibri"/>
                <a:cs typeface="Calibri"/>
              </a:rPr>
              <a:t>SEARCH</a:t>
            </a:r>
            <a:r>
              <a:rPr dirty="0" sz="4600" spc="7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algorithm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contains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F2081C"/>
                </a:solidFill>
                <a:latin typeface="Calibri"/>
                <a:cs typeface="Calibri"/>
              </a:rPr>
              <a:t>at</a:t>
            </a:r>
            <a:r>
              <a:rPr dirty="0" sz="4600" spc="-215">
                <a:solidFill>
                  <a:srgbClr val="F2081C"/>
                </a:solidFill>
                <a:latin typeface="Calibri"/>
                <a:cs typeface="Calibri"/>
              </a:rPr>
              <a:t> </a:t>
            </a:r>
            <a:r>
              <a:rPr dirty="0" sz="4600" spc="-45">
                <a:solidFill>
                  <a:srgbClr val="DB1111"/>
                </a:solidFill>
                <a:latin typeface="Calibri"/>
                <a:cs typeface="Calibri"/>
              </a:rPr>
              <a:t>most</a:t>
            </a:r>
            <a:r>
              <a:rPr dirty="0" sz="4600" spc="-110">
                <a:solidFill>
                  <a:srgbClr val="DB1111"/>
                </a:solidFill>
                <a:latin typeface="Calibri"/>
                <a:cs typeface="Calibri"/>
              </a:rPr>
              <a:t> </a:t>
            </a:r>
            <a:r>
              <a:rPr dirty="0" sz="4600" spc="-25">
                <a:solidFill>
                  <a:srgbClr val="F00C0F"/>
                </a:solidFill>
                <a:latin typeface="Calibri"/>
                <a:cs typeface="Calibri"/>
              </a:rPr>
              <a:t>one</a:t>
            </a:r>
            <a:r>
              <a:rPr dirty="0" sz="4600" spc="-229">
                <a:solidFill>
                  <a:srgbClr val="F00C0F"/>
                </a:solidFill>
                <a:latin typeface="Calibri"/>
                <a:cs typeface="Calibri"/>
              </a:rPr>
              <a:t> </a:t>
            </a:r>
            <a:r>
              <a:rPr dirty="0" sz="4600" spc="-25">
                <a:solidFill>
                  <a:srgbClr val="FD1308"/>
                </a:solidFill>
                <a:latin typeface="Calibri"/>
                <a:cs typeface="Calibri"/>
              </a:rPr>
              <a:t>copy</a:t>
            </a:r>
            <a:r>
              <a:rPr dirty="0" sz="4600" spc="-180">
                <a:solidFill>
                  <a:srgbClr val="FD1308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each </a:t>
            </a:r>
            <a:r>
              <a:rPr dirty="0" sz="4600" spc="-2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state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6150" y="3762375"/>
            <a:ext cx="3371850" cy="3352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3875" y="3752850"/>
            <a:ext cx="3352800" cy="33623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1600" y="3752850"/>
            <a:ext cx="3352800" cy="33718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06550" y="7591425"/>
            <a:ext cx="352425" cy="2952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79132" y="539750"/>
            <a:ext cx="7418705" cy="894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8365" algn="l"/>
              </a:tabLst>
            </a:pPr>
            <a:r>
              <a:rPr dirty="0" sz="5700" spc="-195"/>
              <a:t>GRAPH-</a:t>
            </a:r>
            <a:r>
              <a:rPr dirty="0" sz="5700" spc="-10"/>
              <a:t>SEARCH</a:t>
            </a:r>
            <a:r>
              <a:rPr dirty="0" sz="5700"/>
              <a:t>	</a:t>
            </a:r>
            <a:r>
              <a:rPr dirty="0" sz="5700" spc="-130"/>
              <a:t>algorithm</a:t>
            </a:r>
            <a:endParaRPr sz="5700"/>
          </a:p>
        </p:txBody>
      </p:sp>
      <p:sp>
        <p:nvSpPr>
          <p:cNvPr id="7" name="object 7" descr=""/>
          <p:cNvSpPr txBox="1"/>
          <p:nvPr/>
        </p:nvSpPr>
        <p:spPr>
          <a:xfrm>
            <a:off x="1448518" y="1979612"/>
            <a:ext cx="16215360" cy="132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indent="-385445">
              <a:lnSpc>
                <a:spcPts val="5040"/>
              </a:lnSpc>
              <a:spcBef>
                <a:spcPts val="100"/>
              </a:spcBef>
              <a:buChar char="•"/>
              <a:tabLst>
                <a:tab pos="398145" algn="l"/>
              </a:tabLst>
            </a:pP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1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fronñer</a:t>
            </a:r>
            <a:r>
              <a:rPr dirty="0" sz="4450" spc="114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separates</a:t>
            </a:r>
            <a:r>
              <a:rPr dirty="0" sz="4450" spc="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150">
                <a:latin typeface="Calibri"/>
                <a:cs typeface="Calibri"/>
              </a:rPr>
              <a:t> </a:t>
            </a:r>
            <a:r>
              <a:rPr dirty="0" sz="4450" spc="-65">
                <a:latin typeface="Calibri"/>
                <a:cs typeface="Calibri"/>
              </a:rPr>
              <a:t>state-</a:t>
            </a:r>
            <a:r>
              <a:rPr dirty="0" sz="4450">
                <a:latin typeface="Calibri"/>
                <a:cs typeface="Calibri"/>
              </a:rPr>
              <a:t>space</a:t>
            </a:r>
            <a:r>
              <a:rPr dirty="0" sz="4450" spc="254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graph</a:t>
            </a:r>
            <a:r>
              <a:rPr dirty="0" sz="4450" spc="-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into</a:t>
            </a:r>
            <a:r>
              <a:rPr dirty="0" sz="4450" spc="-2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1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explored</a:t>
            </a:r>
            <a:r>
              <a:rPr dirty="0" sz="4450" spc="110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region</a:t>
            </a:r>
            <a:endParaRPr sz="4450">
              <a:latin typeface="Calibri"/>
              <a:cs typeface="Calibri"/>
            </a:endParaRPr>
          </a:p>
          <a:p>
            <a:pPr marL="401320">
              <a:lnSpc>
                <a:spcPts val="5160"/>
              </a:lnSpc>
            </a:pPr>
            <a:r>
              <a:rPr dirty="0" sz="4550">
                <a:latin typeface="Calibri"/>
                <a:cs typeface="Calibri"/>
              </a:rPr>
              <a:t>and</a:t>
            </a:r>
            <a:r>
              <a:rPr dirty="0" sz="4550" spc="-1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240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unexplored</a:t>
            </a:r>
            <a:r>
              <a:rPr dirty="0" sz="4550" spc="2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region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46723" y="7191982"/>
            <a:ext cx="16551910" cy="2434590"/>
          </a:xfrm>
          <a:prstGeom prst="rect">
            <a:avLst/>
          </a:prstGeom>
        </p:spPr>
        <p:txBody>
          <a:bodyPr wrap="square" lIns="0" tIns="264160" rIns="0" bIns="0" rtlCol="0" vert="horz">
            <a:spAutoFit/>
          </a:bodyPr>
          <a:lstStyle/>
          <a:p>
            <a:pPr marL="3539490">
              <a:lnSpc>
                <a:spcPct val="100000"/>
              </a:lnSpc>
              <a:spcBef>
                <a:spcPts val="2080"/>
              </a:spcBef>
              <a:tabLst>
                <a:tab pos="8148955" algn="l"/>
              </a:tabLst>
            </a:pPr>
            <a:r>
              <a:rPr dirty="0" sz="2850" spc="-25">
                <a:latin typeface="Calibri"/>
                <a:cs typeface="Calibri"/>
              </a:rPr>
              <a:t>(n)</a:t>
            </a:r>
            <a:r>
              <a:rPr dirty="0" sz="2850">
                <a:latin typeface="Calibri"/>
                <a:cs typeface="Calibri"/>
              </a:rPr>
              <a:t>	</a:t>
            </a:r>
            <a:r>
              <a:rPr dirty="0" sz="2900" spc="-25">
                <a:solidFill>
                  <a:srgbClr val="161616"/>
                </a:solidFill>
                <a:latin typeface="Calibri"/>
                <a:cs typeface="Calibri"/>
              </a:rPr>
              <a:t>(b)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850">
              <a:latin typeface="Calibri"/>
              <a:cs typeface="Calibri"/>
            </a:endParaRPr>
          </a:p>
          <a:p>
            <a:pPr marL="405130" marR="5080" indent="-393065">
              <a:lnSpc>
                <a:spcPts val="4840"/>
              </a:lnSpc>
              <a:buChar char="•"/>
              <a:tabLst>
                <a:tab pos="410209" algn="l"/>
                <a:tab pos="1485265" algn="l"/>
                <a:tab pos="3467735" algn="l"/>
                <a:tab pos="5157470" algn="l"/>
                <a:tab pos="6956425" algn="l"/>
                <a:tab pos="8721725" algn="l"/>
                <a:tab pos="11154410" algn="l"/>
                <a:tab pos="12146915" algn="l"/>
                <a:tab pos="14387194" algn="l"/>
                <a:tab pos="16082010" algn="l"/>
              </a:tabLst>
            </a:pP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frontier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(white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nodes)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always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separates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explored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region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40">
                <a:latin typeface="Calibri"/>
                <a:cs typeface="Calibri"/>
              </a:rPr>
              <a:t>of </a:t>
            </a:r>
            <a:r>
              <a:rPr dirty="0" sz="4600" spc="-14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the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state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space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(black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nodes)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from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the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unexplored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region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85">
                <a:latin typeface="Calibri"/>
                <a:cs typeface="Calibri"/>
              </a:rPr>
              <a:t>(gray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nodes)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4515" y="565150"/>
            <a:ext cx="10142220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/>
              <a:t>infrastructure</a:t>
            </a:r>
            <a:r>
              <a:rPr dirty="0" sz="5500" spc="-15"/>
              <a:t> </a:t>
            </a:r>
            <a:r>
              <a:rPr dirty="0" sz="5500"/>
              <a:t>for</a:t>
            </a:r>
            <a:r>
              <a:rPr dirty="0" sz="5500" spc="30"/>
              <a:t> </a:t>
            </a:r>
            <a:r>
              <a:rPr dirty="0" sz="5500"/>
              <a:t>search</a:t>
            </a:r>
            <a:r>
              <a:rPr dirty="0" sz="5500" spc="210"/>
              <a:t> </a:t>
            </a:r>
            <a:r>
              <a:rPr dirty="0" sz="5500" spc="-10"/>
              <a:t>algorithms</a:t>
            </a:r>
            <a:endParaRPr sz="5500"/>
          </a:p>
        </p:txBody>
      </p:sp>
      <p:sp>
        <p:nvSpPr>
          <p:cNvPr id="3" name="object 3" descr=""/>
          <p:cNvSpPr txBox="1"/>
          <p:nvPr/>
        </p:nvSpPr>
        <p:spPr>
          <a:xfrm>
            <a:off x="749746" y="1973262"/>
            <a:ext cx="18619470" cy="621728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just" marL="1095375" marR="1557020" indent="-385445">
              <a:lnSpc>
                <a:spcPct val="89600"/>
              </a:lnSpc>
              <a:spcBef>
                <a:spcPts val="660"/>
              </a:spcBef>
              <a:buChar char="•"/>
              <a:tabLst>
                <a:tab pos="1097915" algn="l"/>
              </a:tabLst>
            </a:pPr>
            <a:r>
              <a:rPr dirty="0" sz="4500">
                <a:latin typeface="Calibri"/>
                <a:cs typeface="Calibri"/>
              </a:rPr>
              <a:t>Search</a:t>
            </a:r>
            <a:r>
              <a:rPr dirty="0" sz="4500" spc="-229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algorithms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require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0170BF"/>
                </a:solidFill>
                <a:latin typeface="Calibri"/>
                <a:cs typeface="Calibri"/>
              </a:rPr>
              <a:t>data</a:t>
            </a:r>
            <a:r>
              <a:rPr dirty="0" sz="4500" spc="-130">
                <a:solidFill>
                  <a:srgbClr val="0170BF"/>
                </a:solidFill>
                <a:latin typeface="Calibri"/>
                <a:cs typeface="Calibri"/>
              </a:rPr>
              <a:t> </a:t>
            </a:r>
            <a:r>
              <a:rPr dirty="0" sz="4500" spc="-25">
                <a:solidFill>
                  <a:srgbClr val="1869A0"/>
                </a:solidFill>
                <a:latin typeface="Calibri"/>
                <a:cs typeface="Calibri"/>
              </a:rPr>
              <a:t>structure</a:t>
            </a:r>
            <a:r>
              <a:rPr dirty="0" sz="4500" spc="-20">
                <a:solidFill>
                  <a:srgbClr val="1869A0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keep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track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search </a:t>
            </a:r>
            <a:r>
              <a:rPr dirty="0" sz="4500" spc="-10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tree</a:t>
            </a:r>
            <a:r>
              <a:rPr dirty="0" sz="4500" spc="-1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-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-2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being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 spc="-30">
                <a:latin typeface="Calibri"/>
                <a:cs typeface="Calibri"/>
              </a:rPr>
              <a:t>constructed.</a:t>
            </a:r>
            <a:r>
              <a:rPr dirty="0" sz="4500" spc="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-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each</a:t>
            </a:r>
            <a:r>
              <a:rPr dirty="0" sz="4500" spc="-90">
                <a:latin typeface="Calibri"/>
                <a:cs typeface="Calibri"/>
              </a:rPr>
              <a:t> </a:t>
            </a:r>
            <a:r>
              <a:rPr dirty="0" sz="4500" spc="-25">
                <a:solidFill>
                  <a:srgbClr val="DD0C16"/>
                </a:solidFill>
                <a:latin typeface="Calibri"/>
                <a:cs typeface="Calibri"/>
              </a:rPr>
              <a:t>node</a:t>
            </a:r>
            <a:r>
              <a:rPr dirty="0" sz="4500" spc="-225">
                <a:solidFill>
                  <a:srgbClr val="DD0C16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ED0000"/>
                </a:solidFill>
                <a:latin typeface="Calibri"/>
                <a:cs typeface="Calibri"/>
              </a:rPr>
              <a:t>n</a:t>
            </a:r>
            <a:r>
              <a:rPr dirty="0" sz="4500" spc="30">
                <a:solidFill>
                  <a:srgbClr val="ED0000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tree,</a:t>
            </a:r>
            <a:r>
              <a:rPr dirty="0" sz="4500" spc="-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we</a:t>
            </a:r>
            <a:r>
              <a:rPr dirty="0" sz="4500" spc="-1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have</a:t>
            </a:r>
            <a:r>
              <a:rPr dirty="0" sz="4500" spc="-65">
                <a:latin typeface="Calibri"/>
                <a:cs typeface="Calibri"/>
              </a:rPr>
              <a:t> </a:t>
            </a:r>
            <a:r>
              <a:rPr dirty="0" sz="4500" spc="35">
                <a:latin typeface="Calibri"/>
                <a:cs typeface="Calibri"/>
              </a:rPr>
              <a:t>a </a:t>
            </a:r>
            <a:r>
              <a:rPr dirty="0" sz="4500" spc="35">
                <a:latin typeface="Calibri"/>
                <a:cs typeface="Calibri"/>
              </a:rPr>
              <a:t>	</a:t>
            </a:r>
            <a:r>
              <a:rPr dirty="0" sz="4500" spc="-35">
                <a:latin typeface="Calibri"/>
                <a:cs typeface="Calibri"/>
              </a:rPr>
              <a:t>structure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that</a:t>
            </a:r>
            <a:r>
              <a:rPr dirty="0" sz="4500" spc="-24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contains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four</a:t>
            </a:r>
            <a:r>
              <a:rPr dirty="0" sz="4500" spc="-21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components:</a:t>
            </a:r>
            <a:endParaRPr sz="45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5150"/>
              </a:spcBef>
              <a:tabLst>
                <a:tab pos="532765" algn="l"/>
                <a:tab pos="2664460" algn="l"/>
              </a:tabLst>
            </a:pPr>
            <a:r>
              <a:rPr dirty="0" sz="4000" spc="-50" i="1">
                <a:latin typeface="Times New Roman"/>
                <a:cs typeface="Times New Roman"/>
              </a:rPr>
              <a:t>o</a:t>
            </a:r>
            <a:r>
              <a:rPr dirty="0" sz="4000" i="1">
                <a:latin typeface="Times New Roman"/>
                <a:cs typeface="Times New Roman"/>
              </a:rPr>
              <a:t>	</a:t>
            </a:r>
            <a:r>
              <a:rPr dirty="0" sz="4000" spc="-35">
                <a:latin typeface="Times New Roman"/>
                <a:cs typeface="Times New Roman"/>
              </a:rPr>
              <a:t>ri.STATE:</a:t>
            </a:r>
            <a:r>
              <a:rPr dirty="0" sz="4000">
                <a:latin typeface="Times New Roman"/>
                <a:cs typeface="Times New Roman"/>
              </a:rPr>
              <a:t>	the</a:t>
            </a:r>
            <a:r>
              <a:rPr dirty="0" sz="4000" spc="7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state</a:t>
            </a:r>
            <a:r>
              <a:rPr dirty="0" sz="4000" spc="14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in</a:t>
            </a:r>
            <a:r>
              <a:rPr dirty="0" sz="4000" spc="10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the</a:t>
            </a:r>
            <a:r>
              <a:rPr dirty="0" sz="4000" spc="14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state</a:t>
            </a:r>
            <a:r>
              <a:rPr dirty="0" sz="4000" spc="14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space</a:t>
            </a:r>
            <a:r>
              <a:rPr dirty="0" sz="4000" spc="24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to</a:t>
            </a:r>
            <a:r>
              <a:rPr dirty="0" sz="4000" spc="9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which</a:t>
            </a:r>
            <a:r>
              <a:rPr dirty="0" sz="4000" spc="229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the</a:t>
            </a:r>
            <a:r>
              <a:rPr dirty="0" sz="4000" spc="16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node</a:t>
            </a:r>
            <a:r>
              <a:rPr dirty="0" sz="4000" spc="110">
                <a:latin typeface="Times New Roman"/>
                <a:cs typeface="Times New Roman"/>
              </a:rPr>
              <a:t> </a:t>
            </a:r>
            <a:r>
              <a:rPr dirty="0" sz="4000" spc="-10">
                <a:latin typeface="Times New Roman"/>
                <a:cs typeface="Times New Roman"/>
              </a:rPr>
              <a:t>corresponds;</a:t>
            </a:r>
            <a:endParaRPr sz="4000">
              <a:latin typeface="Times New Roman"/>
              <a:cs typeface="Times New Roman"/>
            </a:endParaRPr>
          </a:p>
          <a:p>
            <a:pPr marL="532765" indent="-520065">
              <a:lnSpc>
                <a:spcPct val="100000"/>
              </a:lnSpc>
              <a:spcBef>
                <a:spcPts val="1465"/>
              </a:spcBef>
              <a:buChar char="•"/>
              <a:tabLst>
                <a:tab pos="532765" algn="l"/>
                <a:tab pos="3054985" algn="l"/>
              </a:tabLst>
            </a:pPr>
            <a:r>
              <a:rPr dirty="0" sz="4000" spc="-10">
                <a:latin typeface="Times New Roman"/>
                <a:cs typeface="Times New Roman"/>
              </a:rPr>
              <a:t>n.PARENT:</a:t>
            </a:r>
            <a:r>
              <a:rPr dirty="0" sz="4000">
                <a:latin typeface="Times New Roman"/>
                <a:cs typeface="Times New Roman"/>
              </a:rPr>
              <a:t>	the</a:t>
            </a:r>
            <a:r>
              <a:rPr dirty="0" sz="4000" spc="114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node</a:t>
            </a:r>
            <a:r>
              <a:rPr dirty="0" sz="4000" spc="15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in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the</a:t>
            </a:r>
            <a:r>
              <a:rPr dirty="0" sz="4000" spc="10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search</a:t>
            </a:r>
            <a:r>
              <a:rPr dirty="0" sz="4000" spc="21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tree</a:t>
            </a:r>
            <a:r>
              <a:rPr dirty="0" sz="4000" spc="19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that</a:t>
            </a:r>
            <a:r>
              <a:rPr dirty="0" sz="4000" spc="10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generated</a:t>
            </a:r>
            <a:r>
              <a:rPr dirty="0" sz="4000" spc="32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this</a:t>
            </a:r>
            <a:r>
              <a:rPr dirty="0" sz="4000" spc="145">
                <a:latin typeface="Times New Roman"/>
                <a:cs typeface="Times New Roman"/>
              </a:rPr>
              <a:t> </a:t>
            </a:r>
            <a:r>
              <a:rPr dirty="0" sz="4000" spc="-10">
                <a:latin typeface="Times New Roman"/>
                <a:cs typeface="Times New Roman"/>
              </a:rPr>
              <a:t>node;</a:t>
            </a:r>
            <a:endParaRPr sz="4000">
              <a:latin typeface="Times New Roman"/>
              <a:cs typeface="Times New Roman"/>
            </a:endParaRPr>
          </a:p>
          <a:p>
            <a:pPr marL="532765" indent="-520065">
              <a:lnSpc>
                <a:spcPct val="100000"/>
              </a:lnSpc>
              <a:spcBef>
                <a:spcPts val="1310"/>
              </a:spcBef>
              <a:buChar char="•"/>
              <a:tabLst>
                <a:tab pos="532765" algn="l"/>
                <a:tab pos="3054985" algn="l"/>
              </a:tabLst>
            </a:pPr>
            <a:r>
              <a:rPr dirty="0" sz="4000" spc="-10">
                <a:latin typeface="Times New Roman"/>
                <a:cs typeface="Times New Roman"/>
              </a:rPr>
              <a:t>n.ACTION:</a:t>
            </a:r>
            <a:r>
              <a:rPr dirty="0" sz="4000">
                <a:latin typeface="Times New Roman"/>
                <a:cs typeface="Times New Roman"/>
              </a:rPr>
              <a:t>	the</a:t>
            </a:r>
            <a:r>
              <a:rPr dirty="0" sz="4000" spc="10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action</a:t>
            </a:r>
            <a:r>
              <a:rPr dirty="0" sz="4000" spc="204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that</a:t>
            </a:r>
            <a:r>
              <a:rPr dirty="0" sz="4000" spc="19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was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applied</a:t>
            </a:r>
            <a:r>
              <a:rPr dirty="0" sz="4000" spc="31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to</a:t>
            </a:r>
            <a:r>
              <a:rPr dirty="0" sz="4000" spc="2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the</a:t>
            </a:r>
            <a:r>
              <a:rPr dirty="0" sz="4000" spc="18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parent</a:t>
            </a:r>
            <a:r>
              <a:rPr dirty="0" sz="4000" spc="24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to</a:t>
            </a:r>
            <a:r>
              <a:rPr dirty="0" sz="4000" spc="-5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generate</a:t>
            </a:r>
            <a:r>
              <a:rPr dirty="0" sz="4000" spc="17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the</a:t>
            </a:r>
            <a:r>
              <a:rPr dirty="0" sz="4000" spc="165">
                <a:latin typeface="Times New Roman"/>
                <a:cs typeface="Times New Roman"/>
              </a:rPr>
              <a:t> </a:t>
            </a:r>
            <a:r>
              <a:rPr dirty="0" sz="4000" spc="-10">
                <a:latin typeface="Times New Roman"/>
                <a:cs typeface="Times New Roman"/>
              </a:rPr>
              <a:t>node;</a:t>
            </a:r>
            <a:endParaRPr sz="4000">
              <a:latin typeface="Times New Roman"/>
              <a:cs typeface="Times New Roman"/>
            </a:endParaRPr>
          </a:p>
          <a:p>
            <a:pPr marL="532765" indent="-520065">
              <a:lnSpc>
                <a:spcPct val="100000"/>
              </a:lnSpc>
              <a:spcBef>
                <a:spcPts val="1375"/>
              </a:spcBef>
              <a:buChar char="•"/>
              <a:tabLst>
                <a:tab pos="532765" algn="l"/>
                <a:tab pos="3864610" algn="l"/>
              </a:tabLst>
            </a:pPr>
            <a:r>
              <a:rPr dirty="0" sz="4050" spc="-185">
                <a:latin typeface="Times New Roman"/>
                <a:cs typeface="Times New Roman"/>
              </a:rPr>
              <a:t>n.PATH-</a:t>
            </a:r>
            <a:r>
              <a:rPr dirty="0" sz="4050" spc="-10">
                <a:latin typeface="Times New Roman"/>
                <a:cs typeface="Times New Roman"/>
              </a:rPr>
              <a:t>COST:</a:t>
            </a:r>
            <a:r>
              <a:rPr dirty="0" sz="4050">
                <a:latin typeface="Times New Roman"/>
                <a:cs typeface="Times New Roman"/>
              </a:rPr>
              <a:t>	the</a:t>
            </a:r>
            <a:r>
              <a:rPr dirty="0" sz="4050" spc="1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cost,</a:t>
            </a:r>
            <a:r>
              <a:rPr dirty="0" sz="4050" spc="75">
                <a:latin typeface="Times New Roman"/>
                <a:cs typeface="Times New Roman"/>
              </a:rPr>
              <a:t> </a:t>
            </a:r>
            <a:r>
              <a:rPr dirty="0" sz="4050" spc="-10">
                <a:latin typeface="Times New Roman"/>
                <a:cs typeface="Times New Roman"/>
              </a:rPr>
              <a:t>traditionally</a:t>
            </a:r>
            <a:r>
              <a:rPr dirty="0" sz="4050" spc="28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denoted</a:t>
            </a:r>
            <a:r>
              <a:rPr dirty="0" sz="4050" spc="15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by</a:t>
            </a:r>
            <a:r>
              <a:rPr dirty="0" sz="4050" spc="16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p(ri),</a:t>
            </a:r>
            <a:r>
              <a:rPr dirty="0" sz="4050" spc="-3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of</a:t>
            </a:r>
            <a:r>
              <a:rPr dirty="0" sz="4050" spc="12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the</a:t>
            </a:r>
            <a:r>
              <a:rPr dirty="0" sz="4050" spc="3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path</a:t>
            </a:r>
            <a:r>
              <a:rPr dirty="0" sz="4050" spc="8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lrom</a:t>
            </a:r>
            <a:r>
              <a:rPr dirty="0" sz="4050" spc="16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the</a:t>
            </a:r>
            <a:r>
              <a:rPr dirty="0" sz="4050" spc="2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initial</a:t>
            </a:r>
            <a:r>
              <a:rPr dirty="0" sz="4050" spc="70">
                <a:latin typeface="Times New Roman"/>
                <a:cs typeface="Times New Roman"/>
              </a:rPr>
              <a:t> </a:t>
            </a:r>
            <a:r>
              <a:rPr dirty="0" sz="4050" spc="-10">
                <a:latin typeface="Times New Roman"/>
                <a:cs typeface="Times New Roman"/>
              </a:rPr>
              <a:t>state</a:t>
            </a:r>
            <a:endParaRPr sz="4050">
              <a:latin typeface="Times New Roman"/>
              <a:cs typeface="Times New Roman"/>
            </a:endParaRPr>
          </a:p>
          <a:p>
            <a:pPr marL="511809">
              <a:lnSpc>
                <a:spcPct val="100000"/>
              </a:lnSpc>
              <a:spcBef>
                <a:spcPts val="140"/>
              </a:spcBef>
              <a:tabLst>
                <a:tab pos="5709285" algn="l"/>
              </a:tabLst>
            </a:pPr>
            <a:r>
              <a:rPr dirty="0" sz="4150">
                <a:latin typeface="Times New Roman"/>
                <a:cs typeface="Times New Roman"/>
              </a:rPr>
              <a:t>to</a:t>
            </a:r>
            <a:r>
              <a:rPr dirty="0" sz="4150" spc="-16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-3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node,</a:t>
            </a:r>
            <a:r>
              <a:rPr dirty="0" sz="4150" spc="-1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as</a:t>
            </a:r>
            <a:r>
              <a:rPr dirty="0" sz="4150" spc="-80">
                <a:latin typeface="Times New Roman"/>
                <a:cs typeface="Times New Roman"/>
              </a:rPr>
              <a:t> </a:t>
            </a:r>
            <a:r>
              <a:rPr dirty="0" sz="4150" spc="-10">
                <a:latin typeface="Times New Roman"/>
                <a:cs typeface="Times New Roman"/>
              </a:rPr>
              <a:t>indicated</a:t>
            </a:r>
            <a:r>
              <a:rPr dirty="0" sz="4150">
                <a:latin typeface="Times New Roman"/>
                <a:cs typeface="Times New Roman"/>
              </a:rPr>
              <a:t>	by</a:t>
            </a:r>
            <a:r>
              <a:rPr dirty="0" sz="4150" spc="-13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-95">
                <a:latin typeface="Times New Roman"/>
                <a:cs typeface="Times New Roman"/>
              </a:rPr>
              <a:t> </a:t>
            </a:r>
            <a:r>
              <a:rPr dirty="0" sz="4150" spc="-10">
                <a:latin typeface="Times New Roman"/>
                <a:cs typeface="Times New Roman"/>
              </a:rPr>
              <a:t>parent</a:t>
            </a:r>
            <a:r>
              <a:rPr dirty="0" sz="4150" spc="65">
                <a:latin typeface="Times New Roman"/>
                <a:cs typeface="Times New Roman"/>
              </a:rPr>
              <a:t> </a:t>
            </a:r>
            <a:r>
              <a:rPr dirty="0" sz="4150" spc="-10">
                <a:latin typeface="Times New Roman"/>
                <a:cs typeface="Times New Roman"/>
              </a:rPr>
              <a:t>pointers.</a:t>
            </a:r>
            <a:endParaRPr sz="4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62200" y="3400425"/>
            <a:ext cx="11277600" cy="6886575"/>
            <a:chOff x="2362200" y="3400425"/>
            <a:chExt cx="11277600" cy="6886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2200" y="3400425"/>
              <a:ext cx="11277600" cy="688657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972288" y="7191755"/>
              <a:ext cx="268605" cy="0"/>
            </a:xfrm>
            <a:custGeom>
              <a:avLst/>
              <a:gdLst/>
              <a:ahLst/>
              <a:cxnLst/>
              <a:rect l="l" t="t" r="r" b="b"/>
              <a:pathLst>
                <a:path w="268605" h="0">
                  <a:moveTo>
                    <a:pt x="0" y="0"/>
                  </a:moveTo>
                  <a:lnTo>
                    <a:pt x="268224" y="0"/>
                  </a:lnTo>
                </a:path>
              </a:pathLst>
            </a:custGeom>
            <a:ln w="21336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960095" y="7124700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69" h="0">
                  <a:moveTo>
                    <a:pt x="0" y="0"/>
                  </a:moveTo>
                  <a:lnTo>
                    <a:pt x="280416" y="0"/>
                  </a:lnTo>
                </a:path>
              </a:pathLst>
            </a:custGeom>
            <a:ln w="21336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972288" y="7115555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80" h="0">
                  <a:moveTo>
                    <a:pt x="0" y="0"/>
                  </a:moveTo>
                  <a:lnTo>
                    <a:pt x="259079" y="0"/>
                  </a:lnTo>
                </a:path>
              </a:pathLst>
            </a:custGeom>
            <a:ln w="21336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3712" rIns="0" bIns="0" rtlCol="0" vert="horz">
            <a:spAutoFit/>
          </a:bodyPr>
          <a:lstStyle/>
          <a:p>
            <a:pPr marL="842010">
              <a:lnSpc>
                <a:spcPct val="100000"/>
              </a:lnSpc>
              <a:spcBef>
                <a:spcPts val="100"/>
              </a:spcBef>
            </a:pPr>
            <a:r>
              <a:rPr dirty="0" sz="5250" spc="-105">
                <a:latin typeface="Arial MT"/>
                <a:cs typeface="Arial MT"/>
              </a:rPr>
              <a:t>Node</a:t>
            </a:r>
            <a:r>
              <a:rPr dirty="0" sz="5250">
                <a:latin typeface="Arial MT"/>
                <a:cs typeface="Arial MT"/>
              </a:rPr>
              <a:t> </a:t>
            </a:r>
            <a:r>
              <a:rPr dirty="0" sz="5250" spc="-340">
                <a:latin typeface="Arial MT"/>
                <a:cs typeface="Arial MT"/>
              </a:rPr>
              <a:t>Data</a:t>
            </a:r>
            <a:r>
              <a:rPr dirty="0" sz="5250" spc="10">
                <a:latin typeface="Arial MT"/>
                <a:cs typeface="Arial MT"/>
              </a:rPr>
              <a:t> </a:t>
            </a:r>
            <a:r>
              <a:rPr dirty="0" sz="5250" spc="-50">
                <a:latin typeface="Arial MT"/>
                <a:cs typeface="Arial MT"/>
              </a:rPr>
              <a:t>Structure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48518" y="1979612"/>
            <a:ext cx="5536565" cy="1323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indent="-385445">
              <a:lnSpc>
                <a:spcPts val="5085"/>
              </a:lnSpc>
              <a:spcBef>
                <a:spcPts val="100"/>
              </a:spcBef>
              <a:buChar char="•"/>
              <a:tabLst>
                <a:tab pos="398145" algn="l"/>
                <a:tab pos="2249805" algn="l"/>
                <a:tab pos="3371215" algn="l"/>
                <a:tab pos="4516120" algn="l"/>
              </a:tabLst>
            </a:pPr>
            <a:r>
              <a:rPr dirty="0" sz="4450" spc="-10">
                <a:latin typeface="Calibri"/>
                <a:cs typeface="Calibri"/>
              </a:rPr>
              <a:t>Nodes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are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the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35">
                <a:latin typeface="Calibri"/>
                <a:cs typeface="Calibri"/>
              </a:rPr>
              <a:t>data</a:t>
            </a:r>
            <a:endParaRPr sz="4450">
              <a:latin typeface="Calibri"/>
              <a:cs typeface="Calibri"/>
            </a:endParaRPr>
          </a:p>
          <a:p>
            <a:pPr marL="393065">
              <a:lnSpc>
                <a:spcPts val="5140"/>
              </a:lnSpc>
            </a:pPr>
            <a:r>
              <a:rPr dirty="0" sz="4500" spc="-10">
                <a:latin typeface="Calibri"/>
                <a:cs typeface="Calibri"/>
              </a:rPr>
              <a:t>constructed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46825" y="1979612"/>
            <a:ext cx="2306955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40">
                <a:latin typeface="Calibri"/>
                <a:cs typeface="Calibri"/>
              </a:rPr>
              <a:t>structures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045017" y="1979612"/>
            <a:ext cx="113157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20">
                <a:latin typeface="Calibri"/>
                <a:cs typeface="Calibri"/>
              </a:rPr>
              <a:t>from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36026" y="1979612"/>
            <a:ext cx="6489065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0380" algn="l"/>
                <a:tab pos="2919095" algn="l"/>
                <a:tab pos="4799330" algn="l"/>
                <a:tab pos="6115050" algn="l"/>
              </a:tabLst>
            </a:pPr>
            <a:r>
              <a:rPr dirty="0" sz="4450" spc="-10">
                <a:latin typeface="Calibri"/>
                <a:cs typeface="Calibri"/>
              </a:rPr>
              <a:t>which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the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search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0">
                <a:latin typeface="Calibri"/>
                <a:cs typeface="Calibri"/>
              </a:rPr>
              <a:t>tree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is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81569" y="6034087"/>
            <a:ext cx="1325245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50" spc="45">
                <a:solidFill>
                  <a:srgbClr val="1A1A1A"/>
                </a:solidFill>
                <a:latin typeface="Times New Roman"/>
                <a:cs typeface="Times New Roman"/>
              </a:rPr>
              <a:t>Node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90481" y="7821612"/>
            <a:ext cx="127317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85">
                <a:latin typeface="Times New Roman"/>
                <a:cs typeface="Times New Roman"/>
              </a:rPr>
              <a:t>ST.4TE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543775" y="6233140"/>
            <a:ext cx="3115945" cy="120015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755"/>
              </a:spcBef>
              <a:tabLst>
                <a:tab pos="2073275" algn="l"/>
              </a:tabLst>
            </a:pPr>
            <a:r>
              <a:rPr dirty="0" sz="3450" spc="-140">
                <a:solidFill>
                  <a:srgbClr val="1A1A1A"/>
                </a:solidFill>
                <a:latin typeface="Times New Roman"/>
                <a:cs typeface="Times New Roman"/>
              </a:rPr>
              <a:t>ACTION</a:t>
            </a:r>
            <a:r>
              <a:rPr dirty="0" sz="3450" spc="-6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5B5B5B"/>
                </a:solidFill>
                <a:latin typeface="Times New Roman"/>
                <a:cs typeface="Times New Roman"/>
              </a:rPr>
              <a:t>=</a:t>
            </a:r>
            <a:r>
              <a:rPr dirty="0" sz="3450">
                <a:solidFill>
                  <a:srgbClr val="5B5B5B"/>
                </a:solidFill>
                <a:latin typeface="Times New Roman"/>
                <a:cs typeface="Times New Roman"/>
              </a:rPr>
              <a:t>	</a:t>
            </a:r>
            <a:r>
              <a:rPr dirty="0" sz="3450" spc="-85">
                <a:latin typeface="Times New Roman"/>
                <a:cs typeface="Times New Roman"/>
              </a:rPr>
              <a:t>Aig/sf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2821305" algn="l"/>
              </a:tabLst>
            </a:pPr>
            <a:r>
              <a:rPr dirty="0" sz="3200" spc="-245">
                <a:latin typeface="Times New Roman"/>
                <a:cs typeface="Times New Roman"/>
              </a:rPr>
              <a:t>PATH—</a:t>
            </a:r>
            <a:r>
              <a:rPr dirty="0" sz="3200" spc="-20">
                <a:latin typeface="Times New Roman"/>
                <a:cs typeface="Times New Roman"/>
              </a:rPr>
              <a:t>COST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50">
                <a:solidFill>
                  <a:srgbClr val="1C1C1C"/>
                </a:solidFill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65320" y="6867143"/>
            <a:ext cx="259079" cy="40005"/>
          </a:xfrm>
          <a:custGeom>
            <a:avLst/>
            <a:gdLst/>
            <a:ahLst/>
            <a:cxnLst/>
            <a:rect l="l" t="t" r="r" b="b"/>
            <a:pathLst>
              <a:path w="259079" h="40004">
                <a:moveTo>
                  <a:pt x="259080" y="0"/>
                </a:move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9144" y="39624"/>
                </a:lnTo>
                <a:lnTo>
                  <a:pt x="259080" y="39624"/>
                </a:lnTo>
                <a:lnTo>
                  <a:pt x="259080" y="21336"/>
                </a:lnTo>
                <a:lnTo>
                  <a:pt x="259080" y="18288"/>
                </a:lnTo>
                <a:lnTo>
                  <a:pt x="259080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474464" y="6780276"/>
            <a:ext cx="250190" cy="0"/>
          </a:xfrm>
          <a:custGeom>
            <a:avLst/>
            <a:gdLst/>
            <a:ahLst/>
            <a:cxnLst/>
            <a:rect l="l" t="t" r="r" b="b"/>
            <a:pathLst>
              <a:path w="250189" h="0">
                <a:moveTo>
                  <a:pt x="0" y="0"/>
                </a:moveTo>
                <a:lnTo>
                  <a:pt x="249936" y="0"/>
                </a:lnTo>
              </a:path>
            </a:pathLst>
          </a:custGeom>
          <a:ln w="21336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672840" y="6257544"/>
            <a:ext cx="250190" cy="21590"/>
          </a:xfrm>
          <a:custGeom>
            <a:avLst/>
            <a:gdLst/>
            <a:ahLst/>
            <a:cxnLst/>
            <a:rect l="l" t="t" r="r" b="b"/>
            <a:pathLst>
              <a:path w="250189" h="21589">
                <a:moveTo>
                  <a:pt x="0" y="0"/>
                </a:moveTo>
                <a:lnTo>
                  <a:pt x="249936" y="0"/>
                </a:lnTo>
                <a:lnTo>
                  <a:pt x="249936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29728" y="6268211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 h="0">
                <a:moveTo>
                  <a:pt x="0" y="0"/>
                </a:moveTo>
                <a:lnTo>
                  <a:pt x="240792" y="0"/>
                </a:lnTo>
              </a:path>
            </a:pathLst>
          </a:custGeom>
          <a:ln w="21336">
            <a:solidFill>
              <a:srgbClr val="3B3B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672840" y="6248400"/>
            <a:ext cx="250190" cy="21590"/>
          </a:xfrm>
          <a:custGeom>
            <a:avLst/>
            <a:gdLst/>
            <a:ahLst/>
            <a:cxnLst/>
            <a:rect l="l" t="t" r="r" b="b"/>
            <a:pathLst>
              <a:path w="250189" h="21589">
                <a:moveTo>
                  <a:pt x="0" y="0"/>
                </a:moveTo>
                <a:lnTo>
                  <a:pt x="249936" y="0"/>
                </a:lnTo>
                <a:lnTo>
                  <a:pt x="249936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02295" y="6249923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4" h="0">
                <a:moveTo>
                  <a:pt x="0" y="0"/>
                </a:moveTo>
                <a:lnTo>
                  <a:pt x="268224" y="0"/>
                </a:lnTo>
              </a:path>
            </a:pathLst>
          </a:custGeom>
          <a:ln w="21336">
            <a:solidFill>
              <a:srgbClr val="3B3B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663696" y="6239255"/>
            <a:ext cx="259079" cy="21590"/>
          </a:xfrm>
          <a:custGeom>
            <a:avLst/>
            <a:gdLst/>
            <a:ahLst/>
            <a:cxnLst/>
            <a:rect l="l" t="t" r="r" b="b"/>
            <a:pathLst>
              <a:path w="259079" h="21589">
                <a:moveTo>
                  <a:pt x="0" y="0"/>
                </a:moveTo>
                <a:lnTo>
                  <a:pt x="259079" y="0"/>
                </a:lnTo>
                <a:lnTo>
                  <a:pt x="259079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29728" y="6164579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 h="0">
                <a:moveTo>
                  <a:pt x="0" y="0"/>
                </a:moveTo>
                <a:lnTo>
                  <a:pt x="240792" y="0"/>
                </a:lnTo>
              </a:path>
            </a:pathLst>
          </a:custGeom>
          <a:ln w="21336">
            <a:solidFill>
              <a:srgbClr val="3B3B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663696" y="6141719"/>
            <a:ext cx="259079" cy="33655"/>
          </a:xfrm>
          <a:custGeom>
            <a:avLst/>
            <a:gdLst/>
            <a:ahLst/>
            <a:cxnLst/>
            <a:rect l="l" t="t" r="r" b="b"/>
            <a:pathLst>
              <a:path w="259079" h="33654">
                <a:moveTo>
                  <a:pt x="259080" y="0"/>
                </a:move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9144" y="33528"/>
                </a:lnTo>
                <a:lnTo>
                  <a:pt x="259080" y="33528"/>
                </a:lnTo>
                <a:lnTo>
                  <a:pt x="259080" y="21336"/>
                </a:lnTo>
                <a:lnTo>
                  <a:pt x="259080" y="12192"/>
                </a:lnTo>
                <a:lnTo>
                  <a:pt x="259080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702295" y="6152388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4" h="0">
                <a:moveTo>
                  <a:pt x="0" y="0"/>
                </a:moveTo>
                <a:lnTo>
                  <a:pt x="268224" y="0"/>
                </a:lnTo>
              </a:path>
            </a:pathLst>
          </a:custGeom>
          <a:ln w="21336">
            <a:solidFill>
              <a:srgbClr val="3B3B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276600" y="5611367"/>
            <a:ext cx="250190" cy="40005"/>
          </a:xfrm>
          <a:custGeom>
            <a:avLst/>
            <a:gdLst/>
            <a:ahLst/>
            <a:cxnLst/>
            <a:rect l="l" t="t" r="r" b="b"/>
            <a:pathLst>
              <a:path w="250189" h="40004">
                <a:moveTo>
                  <a:pt x="249936" y="0"/>
                </a:moveTo>
                <a:lnTo>
                  <a:pt x="0" y="0"/>
                </a:lnTo>
                <a:lnTo>
                  <a:pt x="0" y="9144"/>
                </a:lnTo>
                <a:lnTo>
                  <a:pt x="0" y="21336"/>
                </a:lnTo>
                <a:lnTo>
                  <a:pt x="0" y="30480"/>
                </a:lnTo>
                <a:lnTo>
                  <a:pt x="9144" y="30480"/>
                </a:lnTo>
                <a:lnTo>
                  <a:pt x="9144" y="39624"/>
                </a:lnTo>
                <a:lnTo>
                  <a:pt x="249936" y="39624"/>
                </a:lnTo>
                <a:lnTo>
                  <a:pt x="249936" y="30480"/>
                </a:lnTo>
                <a:lnTo>
                  <a:pt x="249936" y="21336"/>
                </a:lnTo>
                <a:lnTo>
                  <a:pt x="249936" y="18288"/>
                </a:lnTo>
                <a:lnTo>
                  <a:pt x="249936" y="9144"/>
                </a:lnTo>
                <a:lnTo>
                  <a:pt x="249936" y="0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276600" y="5513831"/>
            <a:ext cx="259079" cy="33655"/>
          </a:xfrm>
          <a:custGeom>
            <a:avLst/>
            <a:gdLst/>
            <a:ahLst/>
            <a:cxnLst/>
            <a:rect l="l" t="t" r="r" b="b"/>
            <a:pathLst>
              <a:path w="259079" h="33654">
                <a:moveTo>
                  <a:pt x="259080" y="12192"/>
                </a:moveTo>
                <a:lnTo>
                  <a:pt x="249936" y="12192"/>
                </a:lnTo>
                <a:lnTo>
                  <a:pt x="249936" y="0"/>
                </a:lnTo>
                <a:lnTo>
                  <a:pt x="0" y="0"/>
                </a:lnTo>
                <a:lnTo>
                  <a:pt x="0" y="12192"/>
                </a:lnTo>
                <a:lnTo>
                  <a:pt x="0" y="21336"/>
                </a:lnTo>
                <a:lnTo>
                  <a:pt x="0" y="33528"/>
                </a:lnTo>
                <a:lnTo>
                  <a:pt x="259080" y="33528"/>
                </a:lnTo>
                <a:lnTo>
                  <a:pt x="259080" y="12192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4825" rIns="0" bIns="0" rtlCol="0" vert="horz">
            <a:spAutoFit/>
          </a:bodyPr>
          <a:lstStyle/>
          <a:p>
            <a:pPr marL="831215">
              <a:lnSpc>
                <a:spcPct val="100000"/>
              </a:lnSpc>
              <a:spcBef>
                <a:spcPts val="100"/>
              </a:spcBef>
            </a:pPr>
            <a:r>
              <a:rPr dirty="0" sz="5200" spc="-125">
                <a:latin typeface="Arial MT"/>
                <a:cs typeface="Arial MT"/>
              </a:rPr>
              <a:t>Child-</a:t>
            </a:r>
            <a:r>
              <a:rPr dirty="0" sz="5200">
                <a:latin typeface="Arial MT"/>
                <a:cs typeface="Arial MT"/>
              </a:rPr>
              <a:t>Node</a:t>
            </a:r>
            <a:r>
              <a:rPr dirty="0" sz="5200" spc="-120">
                <a:latin typeface="Arial MT"/>
                <a:cs typeface="Arial MT"/>
              </a:rPr>
              <a:t> </a:t>
            </a:r>
            <a:r>
              <a:rPr dirty="0" sz="5200" spc="-85">
                <a:latin typeface="Arial MT"/>
                <a:cs typeface="Arial MT"/>
              </a:rPr>
              <a:t>Computaùon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97062" y="1985962"/>
            <a:ext cx="18641060" cy="7643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56055" indent="-391795">
              <a:lnSpc>
                <a:spcPts val="5010"/>
              </a:lnSpc>
              <a:spcBef>
                <a:spcPts val="100"/>
              </a:spcBef>
              <a:buChar char="•"/>
              <a:tabLst>
                <a:tab pos="1456055" algn="l"/>
                <a:tab pos="2535555" algn="l"/>
                <a:tab pos="4690745" algn="l"/>
                <a:tab pos="7851775" algn="l"/>
                <a:tab pos="9283700" algn="l"/>
                <a:tab pos="9780905" algn="l"/>
                <a:tab pos="11543030" algn="l"/>
                <a:tab pos="12950825" algn="l"/>
                <a:tab pos="14046200" algn="l"/>
                <a:tab pos="14846300" algn="l"/>
                <a:tab pos="16741775" algn="l"/>
              </a:tabLst>
            </a:pPr>
            <a:r>
              <a:rPr dirty="0" sz="4400" spc="-25">
                <a:latin typeface="Calibri"/>
                <a:cs typeface="Calibri"/>
              </a:rPr>
              <a:t>The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funcùon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35">
                <a:latin typeface="Calibri"/>
                <a:cs typeface="Calibri"/>
              </a:rPr>
              <a:t>CHILD-</a:t>
            </a:r>
            <a:r>
              <a:rPr dirty="0" sz="4400" spc="-20">
                <a:latin typeface="Calibri"/>
                <a:cs typeface="Calibri"/>
              </a:rPr>
              <a:t>NODE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takes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75">
                <a:latin typeface="Calibri"/>
                <a:cs typeface="Calibri"/>
              </a:rPr>
              <a:t>a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parent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0">
                <a:latin typeface="Calibri"/>
                <a:cs typeface="Calibri"/>
              </a:rPr>
              <a:t>node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and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an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acùon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and</a:t>
            </a:r>
            <a:endParaRPr sz="4400">
              <a:latin typeface="Calibri"/>
              <a:cs typeface="Calibri"/>
            </a:endParaRPr>
          </a:p>
          <a:p>
            <a:pPr marL="1445895">
              <a:lnSpc>
                <a:spcPts val="5130"/>
              </a:lnSpc>
            </a:pPr>
            <a:r>
              <a:rPr dirty="0" sz="4500" spc="-25">
                <a:latin typeface="Calibri"/>
                <a:cs typeface="Calibri"/>
              </a:rPr>
              <a:t>returns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5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resulüng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child</a:t>
            </a:r>
            <a:r>
              <a:rPr dirty="0" sz="4500" spc="-20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node</a:t>
            </a:r>
            <a:endParaRPr sz="4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10"/>
              </a:spcBef>
            </a:pPr>
            <a:r>
              <a:rPr dirty="0" sz="3850" spc="175">
                <a:latin typeface="Times New Roman"/>
                <a:cs typeface="Times New Roman"/>
              </a:rPr>
              <a:t>function</a:t>
            </a:r>
            <a:r>
              <a:rPr dirty="0" sz="3850" spc="565">
                <a:latin typeface="Times New Roman"/>
                <a:cs typeface="Times New Roman"/>
              </a:rPr>
              <a:t> </a:t>
            </a:r>
            <a:r>
              <a:rPr dirty="0" sz="3850" spc="60">
                <a:latin typeface="Times New Roman"/>
                <a:cs typeface="Times New Roman"/>
              </a:rPr>
              <a:t>CHILD-</a:t>
            </a:r>
            <a:r>
              <a:rPr dirty="0" sz="3850">
                <a:latin typeface="Times New Roman"/>
                <a:cs typeface="Times New Roman"/>
              </a:rPr>
              <a:t>NODE(prol›lein,</a:t>
            </a:r>
            <a:r>
              <a:rPr dirty="0" sz="3850" spc="440">
                <a:latin typeface="Times New Roman"/>
                <a:cs typeface="Times New Roman"/>
              </a:rPr>
              <a:t> </a:t>
            </a:r>
            <a:r>
              <a:rPr dirty="0" sz="3850" spc="180" i="1">
                <a:latin typeface="Times New Roman"/>
                <a:cs typeface="Times New Roman"/>
              </a:rPr>
              <a:t>paient,</a:t>
            </a:r>
            <a:r>
              <a:rPr dirty="0" sz="3850" spc="20" i="1">
                <a:latin typeface="Times New Roman"/>
                <a:cs typeface="Times New Roman"/>
              </a:rPr>
              <a:t> </a:t>
            </a:r>
            <a:r>
              <a:rPr dirty="0" sz="3850" spc="195">
                <a:latin typeface="Times New Roman"/>
                <a:cs typeface="Times New Roman"/>
              </a:rPr>
              <a:t>action)</a:t>
            </a:r>
            <a:r>
              <a:rPr dirty="0" sz="3850" spc="440">
                <a:latin typeface="Times New Roman"/>
                <a:cs typeface="Times New Roman"/>
              </a:rPr>
              <a:t> </a:t>
            </a:r>
            <a:r>
              <a:rPr dirty="0" sz="3850" spc="254">
                <a:latin typeface="Times New Roman"/>
                <a:cs typeface="Times New Roman"/>
              </a:rPr>
              <a:t>returns</a:t>
            </a:r>
            <a:r>
              <a:rPr dirty="0" sz="3850" spc="300">
                <a:latin typeface="Times New Roman"/>
                <a:cs typeface="Times New Roman"/>
              </a:rPr>
              <a:t> </a:t>
            </a:r>
            <a:r>
              <a:rPr dirty="0" sz="3850">
                <a:latin typeface="Times New Roman"/>
                <a:cs typeface="Times New Roman"/>
              </a:rPr>
              <a:t>a</a:t>
            </a:r>
            <a:r>
              <a:rPr dirty="0" sz="3850" spc="275">
                <a:latin typeface="Times New Roman"/>
                <a:cs typeface="Times New Roman"/>
              </a:rPr>
              <a:t> </a:t>
            </a:r>
            <a:r>
              <a:rPr dirty="0" sz="3850" spc="30">
                <a:latin typeface="Times New Roman"/>
                <a:cs typeface="Times New Roman"/>
              </a:rPr>
              <a:t>node</a:t>
            </a:r>
            <a:endParaRPr sz="385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  <a:spcBef>
                <a:spcPts val="130"/>
              </a:spcBef>
            </a:pPr>
            <a:r>
              <a:rPr dirty="0" sz="4050" spc="190">
                <a:latin typeface="Times New Roman"/>
                <a:cs typeface="Times New Roman"/>
              </a:rPr>
              <a:t>return</a:t>
            </a:r>
            <a:r>
              <a:rPr dirty="0" sz="4050" spc="17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a</a:t>
            </a:r>
            <a:r>
              <a:rPr dirty="0" sz="4050" spc="-2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node</a:t>
            </a:r>
            <a:r>
              <a:rPr dirty="0" sz="4050" spc="210">
                <a:latin typeface="Times New Roman"/>
                <a:cs typeface="Times New Roman"/>
              </a:rPr>
              <a:t> </a:t>
            </a:r>
            <a:r>
              <a:rPr dirty="0" sz="4050" spc="-20">
                <a:latin typeface="Times New Roman"/>
                <a:cs typeface="Times New Roman"/>
              </a:rPr>
              <a:t>with</a:t>
            </a:r>
            <a:endParaRPr sz="4050">
              <a:latin typeface="Times New Roman"/>
              <a:cs typeface="Times New Roman"/>
            </a:endParaRPr>
          </a:p>
          <a:p>
            <a:pPr marL="1336040">
              <a:lnSpc>
                <a:spcPct val="100000"/>
              </a:lnSpc>
              <a:spcBef>
                <a:spcPts val="540"/>
              </a:spcBef>
              <a:tabLst>
                <a:tab pos="3290570" algn="l"/>
              </a:tabLst>
            </a:pPr>
            <a:r>
              <a:rPr dirty="0" sz="3600" spc="-10">
                <a:latin typeface="Times New Roman"/>
                <a:cs typeface="Times New Roman"/>
              </a:rPr>
              <a:t>STATE</a:t>
            </a:r>
            <a:r>
              <a:rPr dirty="0" sz="3600">
                <a:latin typeface="Times New Roman"/>
                <a:cs typeface="Times New Roman"/>
              </a:rPr>
              <a:t>	probl.‹:m.RESULT(J7nre.rit.STATE,</a:t>
            </a:r>
            <a:r>
              <a:rPr dirty="0" sz="3600" spc="85">
                <a:latin typeface="Times New Roman"/>
                <a:cs typeface="Times New Roman"/>
              </a:rPr>
              <a:t> </a:t>
            </a:r>
            <a:r>
              <a:rPr dirty="0" sz="3600" spc="-75">
                <a:latin typeface="Times New Roman"/>
                <a:cs typeface="Times New Roman"/>
              </a:rPr>
              <a:t>co</a:t>
            </a:r>
            <a:r>
              <a:rPr dirty="0" sz="3600" spc="-75" i="1">
                <a:latin typeface="Times New Roman"/>
                <a:cs typeface="Times New Roman"/>
              </a:rPr>
              <a:t>l,i.t»’R),</a:t>
            </a:r>
            <a:endParaRPr sz="3600">
              <a:latin typeface="Times New Roman"/>
              <a:cs typeface="Times New Roman"/>
            </a:endParaRPr>
          </a:p>
          <a:p>
            <a:pPr marL="1344930">
              <a:lnSpc>
                <a:spcPct val="100000"/>
              </a:lnSpc>
              <a:spcBef>
                <a:spcPts val="930"/>
              </a:spcBef>
              <a:tabLst>
                <a:tab pos="3670935" algn="l"/>
                <a:tab pos="7751445" algn="l"/>
              </a:tabLst>
            </a:pPr>
            <a:r>
              <a:rPr dirty="0" sz="3300" spc="-10">
                <a:latin typeface="Times New Roman"/>
                <a:cs typeface="Times New Roman"/>
              </a:rPr>
              <a:t>I*ARENT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50">
                <a:solidFill>
                  <a:srgbClr val="0F0F0F"/>
                </a:solidFill>
                <a:latin typeface="Times New Roman"/>
                <a:cs typeface="Times New Roman"/>
              </a:rPr>
              <a:t>J?ef</a:t>
            </a:r>
            <a:r>
              <a:rPr dirty="0" sz="330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300" spc="270">
                <a:latin typeface="Times New Roman"/>
                <a:cs typeface="Times New Roman"/>
              </a:rPr>
              <a:t>eri/,</a:t>
            </a:r>
            <a:r>
              <a:rPr dirty="0" sz="3300" spc="14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7$CTI</a:t>
            </a:r>
            <a:r>
              <a:rPr dirty="0" sz="3300" spc="-434">
                <a:latin typeface="Times New Roman"/>
                <a:cs typeface="Times New Roman"/>
              </a:rPr>
              <a:t> </a:t>
            </a:r>
            <a:r>
              <a:rPr dirty="0" sz="3300" spc="-25">
                <a:solidFill>
                  <a:srgbClr val="111111"/>
                </a:solidFill>
                <a:latin typeface="Times New Roman"/>
                <a:cs typeface="Times New Roman"/>
              </a:rPr>
              <a:t>O</a:t>
            </a:r>
            <a:r>
              <a:rPr dirty="0" sz="3300" spc="-25">
                <a:latin typeface="Times New Roman"/>
                <a:cs typeface="Times New Roman"/>
              </a:rPr>
              <a:t>N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80">
                <a:solidFill>
                  <a:srgbClr val="0F0F0F"/>
                </a:solidFill>
                <a:latin typeface="Times New Roman"/>
                <a:cs typeface="Times New Roman"/>
              </a:rPr>
              <a:t>cC2</a:t>
            </a:r>
            <a:r>
              <a:rPr dirty="0" sz="3300" spc="-4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it7D,</a:t>
            </a:r>
            <a:endParaRPr sz="3300">
              <a:latin typeface="Times New Roman"/>
              <a:cs typeface="Times New Roman"/>
            </a:endParaRPr>
          </a:p>
          <a:p>
            <a:pPr marL="1338580">
              <a:lnSpc>
                <a:spcPct val="100000"/>
              </a:lnSpc>
              <a:spcBef>
                <a:spcPts val="840"/>
              </a:spcBef>
              <a:tabLst>
                <a:tab pos="4470400" algn="l"/>
                <a:tab pos="8776970" algn="l"/>
              </a:tabLst>
            </a:pPr>
            <a:r>
              <a:rPr dirty="0" sz="3450" spc="95">
                <a:latin typeface="Times New Roman"/>
                <a:cs typeface="Times New Roman"/>
              </a:rPr>
              <a:t>PATH-</a:t>
            </a:r>
            <a:r>
              <a:rPr dirty="0" sz="3450" spc="85">
                <a:latin typeface="Times New Roman"/>
                <a:cs typeface="Times New Roman"/>
              </a:rPr>
              <a:t>COST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54">
                <a:latin typeface="Times New Roman"/>
                <a:cs typeface="Times New Roman"/>
              </a:rPr>
              <a:t>J?B›</a:t>
            </a:r>
            <a:r>
              <a:rPr dirty="0" sz="3450" spc="-360">
                <a:latin typeface="Times New Roman"/>
                <a:cs typeface="Times New Roman"/>
              </a:rPr>
              <a:t> </a:t>
            </a:r>
            <a:r>
              <a:rPr dirty="0" sz="3450" spc="150">
                <a:latin typeface="Times New Roman"/>
                <a:cs typeface="Times New Roman"/>
              </a:rPr>
              <a:t>Pnt.PATH-</a:t>
            </a:r>
            <a:r>
              <a:rPr dirty="0" sz="3450" spc="170">
                <a:latin typeface="Times New Roman"/>
                <a:cs typeface="Times New Roman"/>
              </a:rPr>
              <a:t>COST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155">
                <a:solidFill>
                  <a:srgbClr val="333333"/>
                </a:solidFill>
                <a:latin typeface="Times New Roman"/>
                <a:cs typeface="Times New Roman"/>
              </a:rPr>
              <a:t>+</a:t>
            </a:r>
            <a:r>
              <a:rPr dirty="0" sz="3450" spc="38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3450" spc="-60">
                <a:latin typeface="Times New Roman"/>
                <a:cs typeface="Times New Roman"/>
              </a:rPr>
              <a:t>Q›</a:t>
            </a:r>
            <a:r>
              <a:rPr dirty="0" sz="3450" spc="-415">
                <a:latin typeface="Times New Roman"/>
                <a:cs typeface="Times New Roman"/>
              </a:rPr>
              <a:t> </a:t>
            </a:r>
            <a:r>
              <a:rPr dirty="0" sz="3450" spc="175">
                <a:latin typeface="Times New Roman"/>
                <a:cs typeface="Times New Roman"/>
              </a:rPr>
              <a:t>45/ria.STEP-</a:t>
            </a:r>
            <a:r>
              <a:rPr dirty="0" sz="3450" spc="200">
                <a:latin typeface="Times New Roman"/>
                <a:cs typeface="Times New Roman"/>
              </a:rPr>
              <a:t>COST(J70rent.STATE,</a:t>
            </a:r>
            <a:r>
              <a:rPr dirty="0" sz="3450" spc="145">
                <a:latin typeface="Times New Roman"/>
                <a:cs typeface="Times New Roman"/>
              </a:rPr>
              <a:t> </a:t>
            </a:r>
            <a:r>
              <a:rPr dirty="0" sz="3450" spc="80">
                <a:latin typeface="Times New Roman"/>
                <a:cs typeface="Times New Roman"/>
              </a:rPr>
              <a:t>9c/i/7›/)</a:t>
            </a: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3450">
              <a:latin typeface="Times New Roman"/>
              <a:cs typeface="Times New Roman"/>
            </a:endParaRPr>
          </a:p>
          <a:p>
            <a:pPr marL="1445895" indent="-381635">
              <a:lnSpc>
                <a:spcPts val="5005"/>
              </a:lnSpc>
              <a:buChar char="•"/>
              <a:tabLst>
                <a:tab pos="1445895" algn="l"/>
                <a:tab pos="2391410" algn="l"/>
                <a:tab pos="3451225" algn="l"/>
                <a:tab pos="4479290" algn="l"/>
                <a:tab pos="7117080" algn="l"/>
                <a:tab pos="9299575" algn="l"/>
                <a:tab pos="10038080" algn="l"/>
                <a:tab pos="11747500" algn="l"/>
                <a:tab pos="12772390" algn="l"/>
                <a:tab pos="15227300" algn="l"/>
                <a:tab pos="15960725" algn="l"/>
              </a:tabLst>
            </a:pPr>
            <a:r>
              <a:rPr dirty="0" sz="4400" spc="-25">
                <a:latin typeface="Calibri"/>
                <a:cs typeface="Calibri"/>
              </a:rPr>
              <a:t>we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use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the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SOLUTION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funcñon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to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return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the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sequence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of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acñons</a:t>
            </a:r>
            <a:endParaRPr sz="4400">
              <a:latin typeface="Calibri"/>
              <a:cs typeface="Calibri"/>
            </a:endParaRPr>
          </a:p>
          <a:p>
            <a:pPr marL="1453515">
              <a:lnSpc>
                <a:spcPts val="5180"/>
              </a:lnSpc>
            </a:pPr>
            <a:r>
              <a:rPr dirty="0" sz="4550" spc="-40">
                <a:latin typeface="Calibri"/>
                <a:cs typeface="Calibri"/>
              </a:rPr>
              <a:t>obtained</a:t>
            </a:r>
            <a:r>
              <a:rPr dirty="0" sz="4550" spc="-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by</a:t>
            </a:r>
            <a:r>
              <a:rPr dirty="0" sz="4550" spc="-240">
                <a:latin typeface="Calibri"/>
                <a:cs typeface="Calibri"/>
              </a:rPr>
              <a:t> </a:t>
            </a:r>
            <a:r>
              <a:rPr dirty="0" sz="4550" spc="-55">
                <a:latin typeface="Calibri"/>
                <a:cs typeface="Calibri"/>
              </a:rPr>
              <a:t>following</a:t>
            </a:r>
            <a:r>
              <a:rPr dirty="0" sz="4550" spc="-10">
                <a:latin typeface="Calibri"/>
                <a:cs typeface="Calibri"/>
              </a:rPr>
              <a:t> </a:t>
            </a:r>
            <a:r>
              <a:rPr dirty="0" sz="4550" spc="-30">
                <a:solidFill>
                  <a:srgbClr val="CD110F"/>
                </a:solidFill>
                <a:latin typeface="Calibri"/>
                <a:cs typeface="Calibri"/>
              </a:rPr>
              <a:t>parent</a:t>
            </a:r>
            <a:r>
              <a:rPr dirty="0" sz="4550" spc="-160">
                <a:solidFill>
                  <a:srgbClr val="CD110F"/>
                </a:solidFill>
                <a:latin typeface="Calibri"/>
                <a:cs typeface="Calibri"/>
              </a:rPr>
              <a:t> </a:t>
            </a:r>
            <a:r>
              <a:rPr dirty="0" sz="4550" spc="-35">
                <a:solidFill>
                  <a:srgbClr val="CF1C1F"/>
                </a:solidFill>
                <a:latin typeface="Calibri"/>
                <a:cs typeface="Calibri"/>
              </a:rPr>
              <a:t>pointers</a:t>
            </a:r>
            <a:r>
              <a:rPr dirty="0" sz="4550" spc="-110">
                <a:solidFill>
                  <a:srgbClr val="CF1C1F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back</a:t>
            </a:r>
            <a:r>
              <a:rPr dirty="0" sz="4550" spc="-1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root</a:t>
            </a:r>
            <a:endParaRPr sz="4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3712" rIns="0" bIns="0" rtlCol="0" vert="horz">
            <a:spAutoFit/>
          </a:bodyPr>
          <a:lstStyle/>
          <a:p>
            <a:pPr marL="841375">
              <a:lnSpc>
                <a:spcPct val="100000"/>
              </a:lnSpc>
              <a:spcBef>
                <a:spcPts val="100"/>
              </a:spcBef>
            </a:pPr>
            <a:r>
              <a:rPr dirty="0" sz="5250" spc="-365">
                <a:latin typeface="Arial MT"/>
                <a:cs typeface="Arial MT"/>
              </a:rPr>
              <a:t>Data</a:t>
            </a:r>
            <a:r>
              <a:rPr dirty="0" sz="5250" spc="110">
                <a:latin typeface="Arial MT"/>
                <a:cs typeface="Arial MT"/>
              </a:rPr>
              <a:t> </a:t>
            </a:r>
            <a:r>
              <a:rPr dirty="0" sz="5250" spc="-35">
                <a:latin typeface="Arial MT"/>
                <a:cs typeface="Arial MT"/>
              </a:rPr>
              <a:t>Structure</a:t>
            </a:r>
            <a:r>
              <a:rPr dirty="0" sz="5250" spc="105">
                <a:latin typeface="Arial MT"/>
                <a:cs typeface="Arial MT"/>
              </a:rPr>
              <a:t> </a:t>
            </a:r>
            <a:r>
              <a:rPr dirty="0" sz="5250">
                <a:latin typeface="Arial MT"/>
                <a:cs typeface="Arial MT"/>
              </a:rPr>
              <a:t>for</a:t>
            </a:r>
            <a:r>
              <a:rPr dirty="0" sz="5250" spc="-30">
                <a:latin typeface="Arial MT"/>
                <a:cs typeface="Arial MT"/>
              </a:rPr>
              <a:t> </a:t>
            </a:r>
            <a:r>
              <a:rPr dirty="0" sz="5250" spc="-80">
                <a:latin typeface="Arial MT"/>
                <a:cs typeface="Arial MT"/>
              </a:rPr>
              <a:t>Fronñer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46124" y="1966912"/>
            <a:ext cx="16583025" cy="786384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algn="just" marL="403860" marR="5080" indent="-390525">
              <a:lnSpc>
                <a:spcPts val="4840"/>
              </a:lnSpc>
              <a:spcBef>
                <a:spcPts val="775"/>
              </a:spcBef>
              <a:buChar char="•"/>
              <a:tabLst>
                <a:tab pos="403860" algn="l"/>
                <a:tab pos="405130" algn="l"/>
              </a:tabLst>
            </a:pPr>
            <a:r>
              <a:rPr dirty="0" sz="4550">
                <a:latin typeface="Calibri"/>
                <a:cs typeface="Calibri"/>
              </a:rPr>
              <a:t>	The</a:t>
            </a:r>
            <a:r>
              <a:rPr dirty="0" sz="4550" spc="99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frontier</a:t>
            </a:r>
            <a:r>
              <a:rPr dirty="0" sz="4550" spc="145">
                <a:latin typeface="Calibri"/>
                <a:cs typeface="Calibri"/>
              </a:rPr>
              <a:t>  </a:t>
            </a:r>
            <a:r>
              <a:rPr dirty="0" sz="4550">
                <a:latin typeface="Calibri"/>
                <a:cs typeface="Calibri"/>
              </a:rPr>
              <a:t>needs</a:t>
            </a:r>
            <a:r>
              <a:rPr dirty="0" sz="4550" spc="11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9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be</a:t>
            </a:r>
            <a:r>
              <a:rPr dirty="0" sz="4550" spc="965">
                <a:latin typeface="Calibri"/>
                <a:cs typeface="Calibri"/>
              </a:rPr>
              <a:t>  </a:t>
            </a:r>
            <a:r>
              <a:rPr dirty="0" sz="4550">
                <a:latin typeface="Calibri"/>
                <a:cs typeface="Calibri"/>
              </a:rPr>
              <a:t>stored</a:t>
            </a:r>
            <a:r>
              <a:rPr dirty="0" sz="4550" spc="10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9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such</a:t>
            </a:r>
            <a:r>
              <a:rPr dirty="0" sz="4550" spc="10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</a:t>
            </a:r>
            <a:r>
              <a:rPr dirty="0" sz="4550" spc="94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way</a:t>
            </a:r>
            <a:r>
              <a:rPr dirty="0" sz="4550" spc="10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that</a:t>
            </a:r>
            <a:r>
              <a:rPr dirty="0" sz="4550" spc="10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108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search </a:t>
            </a:r>
            <a:r>
              <a:rPr dirty="0" sz="4600" spc="-20">
                <a:latin typeface="Calibri"/>
                <a:cs typeface="Calibri"/>
              </a:rPr>
              <a:t>algorithm</a:t>
            </a:r>
            <a:r>
              <a:rPr dirty="0" sz="4600" spc="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can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C70B1"/>
                </a:solidFill>
                <a:latin typeface="Calibri"/>
                <a:cs typeface="Calibri"/>
              </a:rPr>
              <a:t>easily </a:t>
            </a:r>
            <a:r>
              <a:rPr dirty="0" sz="4600">
                <a:solidFill>
                  <a:srgbClr val="076BC6"/>
                </a:solidFill>
                <a:latin typeface="Calibri"/>
                <a:cs typeface="Calibri"/>
              </a:rPr>
              <a:t>choose</a:t>
            </a:r>
            <a:r>
              <a:rPr dirty="0" sz="4600" spc="60">
                <a:solidFill>
                  <a:srgbClr val="076BC6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next</a:t>
            </a:r>
            <a:r>
              <a:rPr dirty="0" sz="4600" spc="-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</a:t>
            </a:r>
            <a:r>
              <a:rPr dirty="0" sz="4600" spc="-1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expand</a:t>
            </a:r>
            <a:r>
              <a:rPr dirty="0" sz="4600" spc="-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according</a:t>
            </a:r>
            <a:r>
              <a:rPr dirty="0" sz="4600" spc="-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its </a:t>
            </a:r>
            <a:r>
              <a:rPr dirty="0" sz="4600" spc="-80">
                <a:latin typeface="Calibri"/>
                <a:cs typeface="Calibri"/>
              </a:rPr>
              <a:t>preferred</a:t>
            </a:r>
            <a:r>
              <a:rPr dirty="0" sz="4600" spc="-10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strategy.</a:t>
            </a:r>
            <a:endParaRPr sz="4600">
              <a:latin typeface="Calibri"/>
              <a:cs typeface="Calibri"/>
            </a:endParaRPr>
          </a:p>
          <a:p>
            <a:pPr algn="just" marL="405765" indent="-393065">
              <a:lnSpc>
                <a:spcPct val="100000"/>
              </a:lnSpc>
              <a:spcBef>
                <a:spcPts val="840"/>
              </a:spcBef>
              <a:buChar char="•"/>
              <a:tabLst>
                <a:tab pos="405765" algn="l"/>
              </a:tabLst>
            </a:pP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appropriate</a:t>
            </a:r>
            <a:r>
              <a:rPr dirty="0" sz="4600" spc="-4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data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structure</a:t>
            </a:r>
            <a:r>
              <a:rPr dirty="0" sz="4600" spc="-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for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this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queue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(FIFO›’LIFO/Priority)</a:t>
            </a:r>
            <a:endParaRPr sz="4600">
              <a:latin typeface="Calibri"/>
              <a:cs typeface="Calibri"/>
            </a:endParaRPr>
          </a:p>
          <a:p>
            <a:pPr algn="just" marL="399415" indent="-385445">
              <a:lnSpc>
                <a:spcPts val="5090"/>
              </a:lnSpc>
              <a:spcBef>
                <a:spcPts val="995"/>
              </a:spcBef>
              <a:buChar char="•"/>
              <a:tabLst>
                <a:tab pos="399415" algn="l"/>
              </a:tabLst>
            </a:pPr>
            <a:r>
              <a:rPr dirty="0" sz="4500" spc="-55">
                <a:latin typeface="Calibri"/>
                <a:cs typeface="Calibri"/>
              </a:rPr>
              <a:t>EMPTY?(queue)</a:t>
            </a:r>
            <a:r>
              <a:rPr dirty="0" sz="4500" spc="36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returns</a:t>
            </a:r>
            <a:r>
              <a:rPr dirty="0" sz="4500" spc="-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true</a:t>
            </a:r>
            <a:r>
              <a:rPr dirty="0" sz="4500" spc="-22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only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if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there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</a:t>
            </a:r>
            <a:r>
              <a:rPr dirty="0" sz="4500" spc="-2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</a:t>
            </a:r>
            <a:r>
              <a:rPr dirty="0" sz="4500" spc="-2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more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 spc="-30">
                <a:latin typeface="Calibri"/>
                <a:cs typeface="Calibri"/>
              </a:rPr>
              <a:t>elements</a:t>
            </a:r>
            <a:r>
              <a:rPr dirty="0" sz="4500" spc="-1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-21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</a:t>
            </a:r>
            <a:endParaRPr sz="4500">
              <a:latin typeface="Calibri"/>
              <a:cs typeface="Calibri"/>
            </a:endParaRPr>
          </a:p>
          <a:p>
            <a:pPr marL="402590">
              <a:lnSpc>
                <a:spcPts val="5205"/>
              </a:lnSpc>
            </a:pPr>
            <a:r>
              <a:rPr dirty="0" sz="4600" spc="-10">
                <a:latin typeface="Calibri"/>
                <a:cs typeface="Calibri"/>
              </a:rPr>
              <a:t>queue.</a:t>
            </a:r>
            <a:endParaRPr sz="4600">
              <a:latin typeface="Calibri"/>
              <a:cs typeface="Calibri"/>
            </a:endParaRPr>
          </a:p>
          <a:p>
            <a:pPr marL="398780" indent="-386080">
              <a:lnSpc>
                <a:spcPct val="100000"/>
              </a:lnSpc>
              <a:spcBef>
                <a:spcPts val="855"/>
              </a:spcBef>
              <a:buChar char="•"/>
              <a:tabLst>
                <a:tab pos="398780" algn="l"/>
              </a:tabLst>
            </a:pPr>
            <a:r>
              <a:rPr dirty="0" sz="4600" spc="-110">
                <a:latin typeface="Calibri"/>
                <a:cs typeface="Calibri"/>
              </a:rPr>
              <a:t>POP(queue)</a:t>
            </a:r>
            <a:r>
              <a:rPr dirty="0" sz="4600" spc="-25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removes</a:t>
            </a:r>
            <a:r>
              <a:rPr dirty="0" sz="4600" spc="-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first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element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queue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and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returns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it.</a:t>
            </a:r>
            <a:endParaRPr sz="4600">
              <a:latin typeface="Calibri"/>
              <a:cs typeface="Calibri"/>
            </a:endParaRPr>
          </a:p>
          <a:p>
            <a:pPr marL="399415" indent="-386715">
              <a:lnSpc>
                <a:spcPts val="5240"/>
              </a:lnSpc>
              <a:spcBef>
                <a:spcPts val="880"/>
              </a:spcBef>
              <a:buChar char="•"/>
              <a:tabLst>
                <a:tab pos="399415" algn="l"/>
              </a:tabLst>
            </a:pPr>
            <a:r>
              <a:rPr dirty="0" sz="4650" spc="-105">
                <a:latin typeface="Calibri"/>
                <a:cs typeface="Calibri"/>
              </a:rPr>
              <a:t>INSERT(element</a:t>
            </a:r>
            <a:r>
              <a:rPr dirty="0" sz="4650" spc="-160">
                <a:latin typeface="Calibri"/>
                <a:cs typeface="Calibri"/>
              </a:rPr>
              <a:t> </a:t>
            </a:r>
            <a:r>
              <a:rPr dirty="0" sz="4650" spc="-385">
                <a:latin typeface="Calibri"/>
                <a:cs typeface="Calibri"/>
              </a:rPr>
              <a:t>,</a:t>
            </a:r>
            <a:r>
              <a:rPr dirty="0" sz="4650" spc="25">
                <a:latin typeface="Calibri"/>
                <a:cs typeface="Calibri"/>
              </a:rPr>
              <a:t> </a:t>
            </a:r>
            <a:r>
              <a:rPr dirty="0" sz="4650" spc="-65" i="1">
                <a:latin typeface="Calibri"/>
                <a:cs typeface="Calibri"/>
              </a:rPr>
              <a:t>queue)</a:t>
            </a:r>
            <a:r>
              <a:rPr dirty="0" sz="4650" spc="-160" i="1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inserts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75">
                <a:latin typeface="Calibri"/>
                <a:cs typeface="Calibri"/>
              </a:rPr>
              <a:t>element</a:t>
            </a:r>
            <a:r>
              <a:rPr dirty="0" sz="4650" spc="-125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and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returns</a:t>
            </a:r>
            <a:r>
              <a:rPr dirty="0" sz="4650" spc="-105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the</a:t>
            </a:r>
            <a:r>
              <a:rPr dirty="0" sz="4650" spc="-22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resulting</a:t>
            </a:r>
            <a:endParaRPr sz="4650">
              <a:latin typeface="Calibri"/>
              <a:cs typeface="Calibri"/>
            </a:endParaRPr>
          </a:p>
          <a:p>
            <a:pPr marL="402590">
              <a:lnSpc>
                <a:spcPts val="5120"/>
              </a:lnSpc>
            </a:pPr>
            <a:r>
              <a:rPr dirty="0" sz="4550" spc="-10">
                <a:latin typeface="Calibri"/>
                <a:cs typeface="Calibri"/>
              </a:rPr>
              <a:t>queue.</a:t>
            </a:r>
            <a:endParaRPr sz="4550">
              <a:latin typeface="Calibri"/>
              <a:cs typeface="Calibri"/>
            </a:endParaRPr>
          </a:p>
          <a:p>
            <a:pPr marL="403225" marR="24765" indent="-390525">
              <a:lnSpc>
                <a:spcPts val="4800"/>
              </a:lnSpc>
              <a:spcBef>
                <a:spcPts val="1700"/>
              </a:spcBef>
              <a:buChar char="•"/>
              <a:tabLst>
                <a:tab pos="403225" algn="l"/>
                <a:tab pos="405765" algn="l"/>
                <a:tab pos="1517650" algn="l"/>
                <a:tab pos="3797935" algn="l"/>
                <a:tab pos="4747895" algn="l"/>
                <a:tab pos="5815330" algn="l"/>
                <a:tab pos="6649720" algn="l"/>
                <a:tab pos="9996805" algn="l"/>
                <a:tab pos="11281410" algn="l"/>
                <a:tab pos="11816080" algn="l"/>
                <a:tab pos="13164819" algn="l"/>
                <a:tab pos="14593569" algn="l"/>
                <a:tab pos="15329535" algn="l"/>
              </a:tabLst>
            </a:pP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solidFill>
                  <a:srgbClr val="1370B1"/>
                </a:solidFill>
                <a:latin typeface="Calibri"/>
                <a:cs typeface="Calibri"/>
              </a:rPr>
              <a:t>explored</a:t>
            </a:r>
            <a:r>
              <a:rPr dirty="0" sz="4600">
                <a:solidFill>
                  <a:srgbClr val="1370B1"/>
                </a:solidFill>
                <a:latin typeface="Calibri"/>
                <a:cs typeface="Calibri"/>
              </a:rPr>
              <a:t>	</a:t>
            </a:r>
            <a:r>
              <a:rPr dirty="0" sz="4600" spc="-25">
                <a:solidFill>
                  <a:srgbClr val="0C72BC"/>
                </a:solidFill>
                <a:latin typeface="Calibri"/>
                <a:cs typeface="Calibri"/>
              </a:rPr>
              <a:t>set</a:t>
            </a:r>
            <a:r>
              <a:rPr dirty="0" sz="4600">
                <a:solidFill>
                  <a:srgbClr val="0C72BC"/>
                </a:solidFill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can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be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implemented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with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0">
                <a:latin typeface="Calibri"/>
                <a:cs typeface="Calibri"/>
              </a:rPr>
              <a:t>a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solidFill>
                  <a:srgbClr val="DF1621"/>
                </a:solidFill>
                <a:latin typeface="Calibri"/>
                <a:cs typeface="Calibri"/>
              </a:rPr>
              <a:t>hash</a:t>
            </a:r>
            <a:r>
              <a:rPr dirty="0" sz="4600">
                <a:solidFill>
                  <a:srgbClr val="DF1621"/>
                </a:solidFill>
                <a:latin typeface="Calibri"/>
                <a:cs typeface="Calibri"/>
              </a:rPr>
              <a:t>	</a:t>
            </a:r>
            <a:r>
              <a:rPr dirty="0" sz="4600" spc="-10">
                <a:solidFill>
                  <a:srgbClr val="FF1A05"/>
                </a:solidFill>
                <a:latin typeface="Calibri"/>
                <a:cs typeface="Calibri"/>
              </a:rPr>
              <a:t>table</a:t>
            </a:r>
            <a:r>
              <a:rPr dirty="0" sz="4600">
                <a:solidFill>
                  <a:srgbClr val="FF1A05"/>
                </a:solidFill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to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95">
                <a:latin typeface="Calibri"/>
                <a:cs typeface="Calibri"/>
              </a:rPr>
              <a:t>allow </a:t>
            </a:r>
            <a:r>
              <a:rPr dirty="0" sz="4600" spc="-65">
                <a:latin typeface="Calibri"/>
                <a:cs typeface="Calibri"/>
              </a:rPr>
              <a:t>efficient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checking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for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repeated</a:t>
            </a:r>
            <a:r>
              <a:rPr dirty="0" sz="4600" spc="-11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states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6562" rIns="0" bIns="0" rtlCol="0" vert="horz">
            <a:spAutoFit/>
          </a:bodyPr>
          <a:lstStyle/>
          <a:p>
            <a:pPr marL="831850">
              <a:lnSpc>
                <a:spcPct val="100000"/>
              </a:lnSpc>
              <a:spcBef>
                <a:spcPts val="100"/>
              </a:spcBef>
            </a:pPr>
            <a:r>
              <a:rPr dirty="0" sz="5700" spc="-85"/>
              <a:t>Measuring</a:t>
            </a:r>
            <a:r>
              <a:rPr dirty="0" sz="5700" spc="-60"/>
              <a:t> </a:t>
            </a:r>
            <a:r>
              <a:rPr dirty="0" sz="5700" spc="-120"/>
              <a:t>problem-</a:t>
            </a:r>
            <a:r>
              <a:rPr dirty="0" sz="5700" spc="-35"/>
              <a:t>solving</a:t>
            </a:r>
            <a:r>
              <a:rPr dirty="0" sz="5700" spc="-240"/>
              <a:t> </a:t>
            </a:r>
            <a:r>
              <a:rPr dirty="0" sz="5700" spc="-85"/>
              <a:t>performance</a:t>
            </a:r>
            <a:endParaRPr sz="5700"/>
          </a:p>
        </p:txBody>
      </p:sp>
      <p:sp>
        <p:nvSpPr>
          <p:cNvPr id="3" name="object 3" descr=""/>
          <p:cNvSpPr txBox="1"/>
          <p:nvPr/>
        </p:nvSpPr>
        <p:spPr>
          <a:xfrm>
            <a:off x="1446723" y="1848830"/>
            <a:ext cx="16574135" cy="532701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30"/>
              </a:spcBef>
              <a:tabLst>
                <a:tab pos="12225655" algn="l"/>
              </a:tabLst>
            </a:pPr>
            <a:r>
              <a:rPr dirty="0" sz="4550" spc="-90">
                <a:latin typeface="Calibri"/>
                <a:cs typeface="Calibri"/>
              </a:rPr>
              <a:t>We</a:t>
            </a:r>
            <a:r>
              <a:rPr dirty="0" sz="4550" spc="-1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can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evaluate</a:t>
            </a:r>
            <a:r>
              <a:rPr dirty="0" sz="4550" spc="-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</a:t>
            </a:r>
            <a:r>
              <a:rPr dirty="0" sz="4550" spc="-229">
                <a:latin typeface="Calibri"/>
                <a:cs typeface="Calibri"/>
              </a:rPr>
              <a:t> </a:t>
            </a:r>
            <a:r>
              <a:rPr dirty="0" sz="4550" spc="-45">
                <a:latin typeface="Calibri"/>
                <a:cs typeface="Calibri"/>
              </a:rPr>
              <a:t>algorithm's</a:t>
            </a:r>
            <a:r>
              <a:rPr dirty="0" sz="4550" spc="-5">
                <a:latin typeface="Calibri"/>
                <a:cs typeface="Calibri"/>
              </a:rPr>
              <a:t> </a:t>
            </a:r>
            <a:r>
              <a:rPr dirty="0" sz="4550" spc="-55">
                <a:latin typeface="Calibri"/>
                <a:cs typeface="Calibri"/>
              </a:rPr>
              <a:t>performance</a:t>
            </a:r>
            <a:r>
              <a:rPr dirty="0" sz="4550" spc="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-215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four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ways:</a:t>
            </a:r>
            <a:endParaRPr sz="4550">
              <a:latin typeface="Calibri"/>
              <a:cs typeface="Calibri"/>
            </a:endParaRPr>
          </a:p>
          <a:p>
            <a:pPr marL="391160" marR="24130" indent="-379095">
              <a:lnSpc>
                <a:spcPts val="4800"/>
              </a:lnSpc>
              <a:spcBef>
                <a:spcPts val="1700"/>
              </a:spcBef>
              <a:buChar char="•"/>
              <a:tabLst>
                <a:tab pos="400685" algn="l"/>
                <a:tab pos="4076065" algn="l"/>
                <a:tab pos="4658360" algn="l"/>
                <a:tab pos="5632450" algn="l"/>
                <a:tab pos="8081645" algn="l"/>
                <a:tab pos="10925810" algn="l"/>
                <a:tab pos="11610340" algn="l"/>
                <a:tab pos="12719050" algn="l"/>
                <a:tab pos="13208000" algn="l"/>
                <a:tab pos="15273019" algn="l"/>
              </a:tabLst>
            </a:pPr>
            <a:r>
              <a:rPr dirty="0" sz="4600" spc="-10">
                <a:latin typeface="Calibri"/>
                <a:cs typeface="Calibri"/>
              </a:rPr>
              <a:t>Completeness: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Is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algorithm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guaranteed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to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find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0">
                <a:latin typeface="Calibri"/>
                <a:cs typeface="Calibri"/>
              </a:rPr>
              <a:t>a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solution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20">
                <a:latin typeface="Calibri"/>
                <a:cs typeface="Calibri"/>
              </a:rPr>
              <a:t>when </a:t>
            </a:r>
            <a:r>
              <a:rPr dirty="0" sz="4600" spc="-120">
                <a:latin typeface="Calibri"/>
                <a:cs typeface="Calibri"/>
              </a:rPr>
              <a:t>	</a:t>
            </a:r>
            <a:r>
              <a:rPr dirty="0" sz="4600" spc="-35">
                <a:latin typeface="Calibri"/>
                <a:cs typeface="Calibri"/>
              </a:rPr>
              <a:t>there</a:t>
            </a:r>
            <a:r>
              <a:rPr dirty="0" sz="4600" spc="-1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22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one?</a:t>
            </a:r>
            <a:endParaRPr sz="460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890"/>
              </a:spcBef>
              <a:buChar char="•"/>
              <a:tabLst>
                <a:tab pos="391160" algn="l"/>
              </a:tabLst>
            </a:pPr>
            <a:r>
              <a:rPr dirty="0" sz="4600">
                <a:latin typeface="Calibri"/>
                <a:cs typeface="Calibri"/>
              </a:rPr>
              <a:t>Optimality:</a:t>
            </a:r>
            <a:r>
              <a:rPr dirty="0" sz="4600" spc="-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Does</a:t>
            </a:r>
            <a:r>
              <a:rPr dirty="0" sz="4600" spc="-1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85">
                <a:latin typeface="Calibri"/>
                <a:cs typeface="Calibri"/>
              </a:rPr>
              <a:t>strategy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find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optimal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solution?</a:t>
            </a:r>
            <a:endParaRPr sz="46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spcBef>
                <a:spcPts val="890"/>
              </a:spcBef>
              <a:buChar char="•"/>
              <a:tabLst>
                <a:tab pos="405765" algn="l"/>
              </a:tabLst>
            </a:pPr>
            <a:r>
              <a:rPr dirty="0" sz="4600">
                <a:latin typeface="Calibri"/>
                <a:cs typeface="Calibri"/>
              </a:rPr>
              <a:t>Time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complexity:</a:t>
            </a:r>
            <a:r>
              <a:rPr dirty="0" sz="4600" spc="5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How</a:t>
            </a:r>
            <a:r>
              <a:rPr dirty="0" sz="4600" spc="-1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long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does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75">
                <a:latin typeface="Calibri"/>
                <a:cs typeface="Calibri"/>
              </a:rPr>
              <a:t>take</a:t>
            </a:r>
            <a:r>
              <a:rPr dirty="0" sz="4600" spc="-11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find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solution?</a:t>
            </a:r>
            <a:endParaRPr sz="4600">
              <a:latin typeface="Calibri"/>
              <a:cs typeface="Calibri"/>
            </a:endParaRPr>
          </a:p>
          <a:p>
            <a:pPr marL="398780" marR="5080" indent="-385445">
              <a:lnSpc>
                <a:spcPts val="4840"/>
              </a:lnSpc>
              <a:spcBef>
                <a:spcPts val="1620"/>
              </a:spcBef>
              <a:buChar char="•"/>
              <a:tabLst>
                <a:tab pos="407034" algn="l"/>
                <a:tab pos="2052320" algn="l"/>
                <a:tab pos="5077460" algn="l"/>
                <a:tab pos="6416040" algn="l"/>
                <a:tab pos="7987665" algn="l"/>
                <a:tab pos="10203180" algn="l"/>
                <a:tab pos="10835640" algn="l"/>
                <a:tab pos="12860020" algn="l"/>
                <a:tab pos="13616940" algn="l"/>
                <a:tab pos="15793719" algn="l"/>
              </a:tabLst>
            </a:pPr>
            <a:r>
              <a:rPr dirty="0" sz="4500" spc="-10">
                <a:latin typeface="Calibri"/>
                <a:cs typeface="Calibri"/>
              </a:rPr>
              <a:t>Space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complexity: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How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much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memory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needed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to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perform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45">
                <a:latin typeface="Calibri"/>
                <a:cs typeface="Calibri"/>
              </a:rPr>
              <a:t>the </a:t>
            </a:r>
            <a:r>
              <a:rPr dirty="0" sz="4500" spc="-45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search?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5225" y="2133600"/>
            <a:ext cx="2162175" cy="533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062" rIns="0" bIns="0" rtlCol="0" vert="horz">
            <a:spAutoFit/>
          </a:bodyPr>
          <a:lstStyle/>
          <a:p>
            <a:pPr marL="843915">
              <a:lnSpc>
                <a:spcPct val="100000"/>
              </a:lnSpc>
              <a:spcBef>
                <a:spcPts val="100"/>
              </a:spcBef>
            </a:pPr>
            <a:r>
              <a:rPr dirty="0" sz="5200" spc="-25">
                <a:latin typeface="Arial MT"/>
                <a:cs typeface="Arial MT"/>
              </a:rPr>
              <a:t>Measuring</a:t>
            </a:r>
            <a:r>
              <a:rPr dirty="0" sz="5200" spc="-130">
                <a:latin typeface="Arial MT"/>
                <a:cs typeface="Arial MT"/>
              </a:rPr>
              <a:t> </a:t>
            </a:r>
            <a:r>
              <a:rPr dirty="0" sz="5200" spc="-10">
                <a:latin typeface="Arial MT"/>
                <a:cs typeface="Arial MT"/>
              </a:rPr>
              <a:t>problem-solving</a:t>
            </a:r>
            <a:r>
              <a:rPr dirty="0" sz="5200" spc="-350">
                <a:latin typeface="Arial MT"/>
                <a:cs typeface="Arial MT"/>
              </a:rPr>
              <a:t> </a:t>
            </a:r>
            <a:r>
              <a:rPr dirty="0" sz="5200" spc="-45">
                <a:latin typeface="Arial MT"/>
                <a:cs typeface="Arial MT"/>
              </a:rPr>
              <a:t>performance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8518" y="1833365"/>
            <a:ext cx="16557625" cy="616077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150"/>
              </a:spcBef>
            </a:pPr>
            <a:r>
              <a:rPr dirty="0" sz="4550" spc="-30">
                <a:latin typeface="Calibri"/>
                <a:cs typeface="Calibri"/>
              </a:rPr>
              <a:t>Time</a:t>
            </a:r>
            <a:r>
              <a:rPr dirty="0" sz="4550" spc="-1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and</a:t>
            </a:r>
            <a:r>
              <a:rPr dirty="0" sz="4550" spc="-1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Space</a:t>
            </a:r>
            <a:r>
              <a:rPr dirty="0" sz="4550" spc="-225">
                <a:latin typeface="Calibri"/>
                <a:cs typeface="Calibri"/>
              </a:rPr>
              <a:t> </a:t>
            </a:r>
            <a:r>
              <a:rPr dirty="0" sz="4550" spc="-65">
                <a:latin typeface="Calibri"/>
                <a:cs typeface="Calibri"/>
              </a:rPr>
              <a:t>Complexity</a:t>
            </a:r>
            <a:r>
              <a:rPr dirty="0" sz="4550" spc="1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-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-45">
                <a:latin typeface="Calibri"/>
                <a:cs typeface="Calibri"/>
              </a:rPr>
              <a:t>size</a:t>
            </a:r>
            <a:r>
              <a:rPr dirty="0" sz="4550" spc="-2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6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00">
                <a:latin typeface="Calibri"/>
                <a:cs typeface="Calibri"/>
              </a:rPr>
              <a:t> </a:t>
            </a:r>
            <a:r>
              <a:rPr dirty="0" sz="4550" spc="-40">
                <a:solidFill>
                  <a:srgbClr val="DA001A"/>
                </a:solidFill>
                <a:latin typeface="Calibri"/>
                <a:cs typeface="Calibri"/>
              </a:rPr>
              <a:t>state</a:t>
            </a:r>
            <a:r>
              <a:rPr dirty="0" sz="4550" spc="-85">
                <a:solidFill>
                  <a:srgbClr val="DA001A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ED011C"/>
                </a:solidFill>
                <a:latin typeface="Calibri"/>
                <a:cs typeface="Calibri"/>
              </a:rPr>
              <a:t>space</a:t>
            </a:r>
            <a:r>
              <a:rPr dirty="0" sz="4550" spc="-45">
                <a:solidFill>
                  <a:srgbClr val="ED011C"/>
                </a:solidFill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graph,</a:t>
            </a:r>
            <a:endParaRPr sz="4550">
              <a:latin typeface="Calibri"/>
              <a:cs typeface="Calibri"/>
            </a:endParaRPr>
          </a:p>
          <a:p>
            <a:pPr marL="40005" marR="10160" indent="-10795">
              <a:lnSpc>
                <a:spcPts val="4800"/>
              </a:lnSpc>
              <a:spcBef>
                <a:spcPts val="1700"/>
              </a:spcBef>
              <a:tabLst>
                <a:tab pos="4410075" algn="l"/>
                <a:tab pos="7924800" algn="l"/>
                <a:tab pos="13321030" algn="l"/>
                <a:tab pos="14775180" algn="l"/>
              </a:tabLst>
            </a:pPr>
            <a:r>
              <a:rPr dirty="0" sz="4500">
                <a:latin typeface="Calibri"/>
                <a:cs typeface="Calibri"/>
              </a:rPr>
              <a:t>What</a:t>
            </a:r>
            <a:r>
              <a:rPr dirty="0" sz="4500" spc="3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if</a:t>
            </a:r>
            <a:r>
              <a:rPr dirty="0" sz="4500" spc="3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26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graph</a:t>
            </a:r>
            <a:r>
              <a:rPr dirty="0" sz="4500">
                <a:latin typeface="Calibri"/>
                <a:cs typeface="Calibri"/>
              </a:rPr>
              <a:t>	is</a:t>
            </a:r>
            <a:r>
              <a:rPr dirty="0" sz="4500" spc="31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represented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implicitly</a:t>
            </a:r>
            <a:r>
              <a:rPr dirty="0" sz="4500" spc="2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by</a:t>
            </a:r>
            <a:r>
              <a:rPr dirty="0" sz="4500" spc="20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175"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1675B3"/>
                </a:solidFill>
                <a:latin typeface="Calibri"/>
                <a:cs typeface="Calibri"/>
              </a:rPr>
              <a:t>initial</a:t>
            </a:r>
            <a:r>
              <a:rPr dirty="0" sz="4500">
                <a:solidFill>
                  <a:srgbClr val="1675B3"/>
                </a:solidFill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state,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35">
                <a:latin typeface="Calibri"/>
                <a:cs typeface="Calibri"/>
              </a:rPr>
              <a:t>acñons,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-135">
                <a:latin typeface="Calibri"/>
                <a:cs typeface="Calibri"/>
              </a:rPr>
              <a:t> </a:t>
            </a:r>
            <a:r>
              <a:rPr dirty="0" sz="4500" spc="-20">
                <a:solidFill>
                  <a:srgbClr val="0060A8"/>
                </a:solidFill>
                <a:latin typeface="Calibri"/>
                <a:cs typeface="Calibri"/>
              </a:rPr>
              <a:t>transiñon</a:t>
            </a:r>
            <a:r>
              <a:rPr dirty="0" sz="4500" spc="5">
                <a:solidFill>
                  <a:srgbClr val="0060A8"/>
                </a:solidFill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1170B3"/>
                </a:solidFill>
                <a:latin typeface="Calibri"/>
                <a:cs typeface="Calibri"/>
              </a:rPr>
              <a:t>model</a:t>
            </a:r>
            <a:r>
              <a:rPr dirty="0" sz="4500" spc="-135">
                <a:solidFill>
                  <a:srgbClr val="1170B3"/>
                </a:solidFill>
                <a:latin typeface="Calibri"/>
                <a:cs typeface="Calibri"/>
              </a:rPr>
              <a:t> </a:t>
            </a:r>
            <a:r>
              <a:rPr dirty="0" sz="4500" spc="60">
                <a:solidFill>
                  <a:srgbClr val="005DAF"/>
                </a:solidFill>
                <a:latin typeface="Calibri"/>
                <a:cs typeface="Calibri"/>
              </a:rPr>
              <a:t>&amp;</a:t>
            </a:r>
            <a:r>
              <a:rPr dirty="0" sz="4500" spc="-254">
                <a:solidFill>
                  <a:srgbClr val="005DAF"/>
                </a:solidFill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6936A1"/>
                </a:solidFill>
                <a:latin typeface="Calibri"/>
                <a:cs typeface="Calibri"/>
              </a:rPr>
              <a:t>Usually</a:t>
            </a:r>
            <a:r>
              <a:rPr dirty="0" sz="4500" spc="-55">
                <a:solidFill>
                  <a:srgbClr val="6936A1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6E2F95"/>
                </a:solidFill>
                <a:latin typeface="Calibri"/>
                <a:cs typeface="Calibri"/>
              </a:rPr>
              <a:t>an</a:t>
            </a:r>
            <a:r>
              <a:rPr dirty="0" sz="4500" spc="-250">
                <a:solidFill>
                  <a:srgbClr val="6E2F95"/>
                </a:solidFill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6E368E"/>
                </a:solidFill>
                <a:latin typeface="Calibri"/>
                <a:cs typeface="Calibri"/>
              </a:rPr>
              <a:t>Inñnite</a:t>
            </a:r>
            <a:r>
              <a:rPr dirty="0" sz="4500" spc="-90">
                <a:solidFill>
                  <a:srgbClr val="6E368E"/>
                </a:solidFill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6931A7"/>
                </a:solidFill>
                <a:latin typeface="Calibri"/>
                <a:cs typeface="Calibri"/>
              </a:rPr>
              <a:t>Graph</a:t>
            </a:r>
            <a:endParaRPr sz="4500">
              <a:latin typeface="Calibri"/>
              <a:cs typeface="Calibri"/>
            </a:endParaRPr>
          </a:p>
          <a:p>
            <a:pPr marL="403225" indent="-390525">
              <a:lnSpc>
                <a:spcPct val="100000"/>
              </a:lnSpc>
              <a:spcBef>
                <a:spcPts val="1040"/>
              </a:spcBef>
              <a:buChar char="•"/>
              <a:tabLst>
                <a:tab pos="403225" algn="l"/>
              </a:tabLst>
            </a:pPr>
            <a:r>
              <a:rPr dirty="0" sz="4450">
                <a:latin typeface="Calibri"/>
                <a:cs typeface="Calibri"/>
              </a:rPr>
              <a:t>Then</a:t>
            </a:r>
            <a:r>
              <a:rPr dirty="0" sz="4450" spc="-90">
                <a:latin typeface="Calibri"/>
                <a:cs typeface="Calibri"/>
              </a:rPr>
              <a:t> </a:t>
            </a:r>
            <a:r>
              <a:rPr dirty="0" sz="4450" spc="-20">
                <a:latin typeface="Calibri"/>
                <a:cs typeface="Calibri"/>
              </a:rPr>
              <a:t>complexity</a:t>
            </a:r>
            <a:r>
              <a:rPr dirty="0" sz="4450" spc="2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is</a:t>
            </a:r>
            <a:r>
              <a:rPr dirty="0" sz="4450" spc="-1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expressed</a:t>
            </a:r>
            <a:r>
              <a:rPr dirty="0" sz="4450" spc="1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in</a:t>
            </a:r>
            <a:r>
              <a:rPr dirty="0" sz="4450" spc="-1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terms</a:t>
            </a:r>
            <a:r>
              <a:rPr dirty="0" sz="4450" spc="-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three</a:t>
            </a:r>
            <a:r>
              <a:rPr dirty="0" sz="4450" spc="-120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quanññes:</a:t>
            </a:r>
            <a:endParaRPr sz="4450">
              <a:latin typeface="Calibri"/>
              <a:cs typeface="Calibri"/>
            </a:endParaRPr>
          </a:p>
          <a:p>
            <a:pPr marL="402590" marR="5080" indent="-354330">
              <a:lnSpc>
                <a:spcPts val="4840"/>
              </a:lnSpc>
              <a:spcBef>
                <a:spcPts val="1650"/>
              </a:spcBef>
              <a:tabLst>
                <a:tab pos="1160780" algn="l"/>
                <a:tab pos="2155190" algn="l"/>
                <a:tab pos="4721860" algn="l"/>
                <a:tab pos="6344920" algn="l"/>
                <a:tab pos="7079615" algn="l"/>
                <a:tab pos="9603740" algn="l"/>
                <a:tab pos="11659870" algn="l"/>
                <a:tab pos="12367260" algn="l"/>
                <a:tab pos="15031719" algn="l"/>
                <a:tab pos="15735935" algn="l"/>
              </a:tabLst>
            </a:pPr>
            <a:r>
              <a:rPr dirty="0" sz="4650" spc="-20">
                <a:latin typeface="Calibri"/>
                <a:cs typeface="Calibri"/>
              </a:rPr>
              <a:t>*‘b,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the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branching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factor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or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maximum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number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of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successors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of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50">
                <a:latin typeface="Calibri"/>
                <a:cs typeface="Calibri"/>
              </a:rPr>
              <a:t>any </a:t>
            </a:r>
            <a:r>
              <a:rPr dirty="0" sz="4650" spc="-10">
                <a:latin typeface="Calibri"/>
                <a:cs typeface="Calibri"/>
              </a:rPr>
              <a:t>node;</a:t>
            </a:r>
            <a:endParaRPr sz="465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830"/>
              </a:spcBef>
              <a:tabLst>
                <a:tab pos="7803515" algn="l"/>
              </a:tabLst>
            </a:pPr>
            <a:r>
              <a:rPr dirty="0" sz="4650" spc="-315" i="1">
                <a:latin typeface="Calibri"/>
                <a:cs typeface="Calibri"/>
              </a:rPr>
              <a:t>**d,</a:t>
            </a:r>
            <a:r>
              <a:rPr dirty="0" sz="4650" spc="55" i="1">
                <a:latin typeface="Calibri"/>
                <a:cs typeface="Calibri"/>
              </a:rPr>
              <a:t> </a:t>
            </a:r>
            <a:r>
              <a:rPr dirty="0" sz="4650" spc="-65">
                <a:latin typeface="Calibri"/>
                <a:cs typeface="Calibri"/>
              </a:rPr>
              <a:t>the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depth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of</a:t>
            </a:r>
            <a:r>
              <a:rPr dirty="0" sz="4650" spc="-19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the</a:t>
            </a:r>
            <a:r>
              <a:rPr dirty="0" sz="4650" spc="-13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shallowest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65">
                <a:latin typeface="Calibri"/>
                <a:cs typeface="Calibri"/>
              </a:rPr>
              <a:t>goal</a:t>
            </a:r>
            <a:r>
              <a:rPr dirty="0" sz="4650" spc="-190">
                <a:latin typeface="Calibri"/>
                <a:cs typeface="Calibri"/>
              </a:rPr>
              <a:t> </a:t>
            </a:r>
            <a:r>
              <a:rPr dirty="0" sz="4650" spc="-45">
                <a:latin typeface="Calibri"/>
                <a:cs typeface="Calibri"/>
              </a:rPr>
              <a:t>node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and</a:t>
            </a:r>
            <a:endParaRPr sz="465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795"/>
              </a:spcBef>
              <a:tabLst>
                <a:tab pos="6964045" algn="l"/>
              </a:tabLst>
            </a:pPr>
            <a:r>
              <a:rPr dirty="0" sz="4650" spc="-315" i="1">
                <a:latin typeface="Calibri"/>
                <a:cs typeface="Calibri"/>
              </a:rPr>
              <a:t>**m,</a:t>
            </a:r>
            <a:r>
              <a:rPr dirty="0" sz="4650" spc="40" i="1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the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maximum</a:t>
            </a:r>
            <a:r>
              <a:rPr dirty="0" sz="4650" spc="-250">
                <a:latin typeface="Calibri"/>
                <a:cs typeface="Calibri"/>
              </a:rPr>
              <a:t> </a:t>
            </a:r>
            <a:r>
              <a:rPr dirty="0" sz="4650" spc="-120">
                <a:latin typeface="Calibri"/>
                <a:cs typeface="Calibri"/>
              </a:rPr>
              <a:t>Ien@h</a:t>
            </a:r>
            <a:r>
              <a:rPr dirty="0" sz="4650" spc="-65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of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75">
                <a:latin typeface="Calibri"/>
                <a:cs typeface="Calibri"/>
              </a:rPr>
              <a:t>any</a:t>
            </a:r>
            <a:r>
              <a:rPr dirty="0" sz="4650" spc="-190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path</a:t>
            </a:r>
            <a:r>
              <a:rPr dirty="0" sz="4650" spc="-19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in</a:t>
            </a:r>
            <a:r>
              <a:rPr dirty="0" sz="4650" spc="-24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the</a:t>
            </a:r>
            <a:r>
              <a:rPr dirty="0" sz="4650" spc="-165">
                <a:latin typeface="Calibri"/>
                <a:cs typeface="Calibri"/>
              </a:rPr>
              <a:t> </a:t>
            </a:r>
            <a:r>
              <a:rPr dirty="0" sz="4650" spc="-120">
                <a:latin typeface="Calibri"/>
                <a:cs typeface="Calibri"/>
              </a:rPr>
              <a:t>state</a:t>
            </a:r>
            <a:r>
              <a:rPr dirty="0" sz="4650" spc="-9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space.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1788" y="8106156"/>
            <a:ext cx="16812895" cy="2075814"/>
          </a:xfrm>
          <a:prstGeom prst="rect">
            <a:avLst/>
          </a:prstGeom>
          <a:ln w="21335">
            <a:solidFill>
              <a:srgbClr val="2F3F57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 algn="just" marL="125730" marR="161290" indent="12700">
              <a:lnSpc>
                <a:spcPts val="4800"/>
              </a:lnSpc>
              <a:spcBef>
                <a:spcPts val="695"/>
              </a:spcBef>
            </a:pPr>
            <a:r>
              <a:rPr dirty="0" sz="4550">
                <a:solidFill>
                  <a:srgbClr val="E6030F"/>
                </a:solidFill>
                <a:latin typeface="Calibri"/>
                <a:cs typeface="Calibri"/>
              </a:rPr>
              <a:t>Time</a:t>
            </a:r>
            <a:r>
              <a:rPr dirty="0" sz="4550" spc="459">
                <a:solidFill>
                  <a:srgbClr val="E6030F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36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often</a:t>
            </a:r>
            <a:r>
              <a:rPr dirty="0" sz="4550" spc="4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measured</a:t>
            </a:r>
            <a:r>
              <a:rPr dirty="0" sz="4550" spc="7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4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terms</a:t>
            </a:r>
            <a:r>
              <a:rPr dirty="0" sz="4550" spc="5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5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4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number</a:t>
            </a:r>
            <a:r>
              <a:rPr dirty="0" sz="4550" spc="6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585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1C7EBC"/>
                </a:solidFill>
                <a:latin typeface="Calibri"/>
                <a:cs typeface="Calibri"/>
              </a:rPr>
              <a:t>nodes</a:t>
            </a:r>
            <a:r>
              <a:rPr dirty="0" sz="4550" spc="655">
                <a:solidFill>
                  <a:srgbClr val="1C7EBC"/>
                </a:solidFill>
                <a:latin typeface="Calibri"/>
                <a:cs typeface="Calibri"/>
              </a:rPr>
              <a:t> </a:t>
            </a:r>
            <a:r>
              <a:rPr dirty="0" sz="4550" spc="-50">
                <a:solidFill>
                  <a:srgbClr val="0C64A8"/>
                </a:solidFill>
                <a:latin typeface="Calibri"/>
                <a:cs typeface="Calibri"/>
              </a:rPr>
              <a:t>generated </a:t>
            </a:r>
            <a:r>
              <a:rPr dirty="0" sz="4550">
                <a:latin typeface="Calibri"/>
                <a:cs typeface="Calibri"/>
              </a:rPr>
              <a:t>during</a:t>
            </a:r>
            <a:r>
              <a:rPr dirty="0" sz="4550" spc="8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6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search,</a:t>
            </a:r>
            <a:r>
              <a:rPr dirty="0" sz="4550" spc="8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and</a:t>
            </a:r>
            <a:r>
              <a:rPr dirty="0" sz="4550" spc="790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EF0816"/>
                </a:solidFill>
                <a:latin typeface="Calibri"/>
                <a:cs typeface="Calibri"/>
              </a:rPr>
              <a:t>space</a:t>
            </a:r>
            <a:r>
              <a:rPr dirty="0" sz="4550" spc="730">
                <a:solidFill>
                  <a:srgbClr val="EF0816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6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terms</a:t>
            </a:r>
            <a:r>
              <a:rPr dirty="0" sz="4550" spc="7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7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6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maximum</a:t>
            </a:r>
            <a:r>
              <a:rPr dirty="0" sz="4550" spc="9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number</a:t>
            </a:r>
            <a:r>
              <a:rPr dirty="0" sz="4550" spc="919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of </a:t>
            </a:r>
            <a:r>
              <a:rPr dirty="0" sz="4650" spc="-55">
                <a:solidFill>
                  <a:srgbClr val="056BB1"/>
                </a:solidFill>
                <a:latin typeface="Calibri"/>
                <a:cs typeface="Calibri"/>
              </a:rPr>
              <a:t>nodes</a:t>
            </a:r>
            <a:r>
              <a:rPr dirty="0" sz="4650" spc="-145">
                <a:solidFill>
                  <a:srgbClr val="056BB1"/>
                </a:solidFill>
                <a:latin typeface="Calibri"/>
                <a:cs typeface="Calibri"/>
              </a:rPr>
              <a:t> </a:t>
            </a:r>
            <a:r>
              <a:rPr dirty="0" sz="4650" spc="-95">
                <a:solidFill>
                  <a:srgbClr val="1A77BC"/>
                </a:solidFill>
                <a:latin typeface="Calibri"/>
                <a:cs typeface="Calibri"/>
              </a:rPr>
              <a:t>stored</a:t>
            </a:r>
            <a:r>
              <a:rPr dirty="0" sz="4650" spc="-105">
                <a:solidFill>
                  <a:srgbClr val="1A77BC"/>
                </a:solidFill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in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memory</a:t>
            </a:r>
            <a:endParaRPr sz="4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124200"/>
            <a:ext cx="10972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8545" y="533400"/>
            <a:ext cx="5619115" cy="901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78885" algn="l"/>
              </a:tabLst>
            </a:pPr>
            <a:r>
              <a:rPr dirty="0" sz="5750" spc="-515"/>
              <a:t>Breadth—</a:t>
            </a:r>
            <a:r>
              <a:rPr dirty="0" sz="5750" spc="-330"/>
              <a:t>first</a:t>
            </a:r>
            <a:r>
              <a:rPr dirty="0" sz="5750"/>
              <a:t>	</a:t>
            </a:r>
            <a:r>
              <a:rPr dirty="0" sz="5750" spc="-155"/>
              <a:t>search</a:t>
            </a:r>
            <a:endParaRPr sz="5750"/>
          </a:p>
        </p:txBody>
      </p:sp>
      <p:sp>
        <p:nvSpPr>
          <p:cNvPr id="3" name="object 3" descr=""/>
          <p:cNvSpPr txBox="1"/>
          <p:nvPr/>
        </p:nvSpPr>
        <p:spPr>
          <a:xfrm>
            <a:off x="1446124" y="1966912"/>
            <a:ext cx="16508730" cy="5621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5130" indent="-391795">
              <a:lnSpc>
                <a:spcPts val="5100"/>
              </a:lnSpc>
              <a:spcBef>
                <a:spcPts val="100"/>
              </a:spcBef>
              <a:buChar char="•"/>
              <a:tabLst>
                <a:tab pos="405130" algn="l"/>
              </a:tabLst>
            </a:pPr>
            <a:r>
              <a:rPr dirty="0" sz="4550">
                <a:latin typeface="Calibri"/>
                <a:cs typeface="Calibri"/>
              </a:rPr>
              <a:t>These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-55">
                <a:latin typeface="Calibri"/>
                <a:cs typeface="Calibri"/>
              </a:rPr>
              <a:t>strategies</a:t>
            </a:r>
            <a:r>
              <a:rPr dirty="0" sz="4550" spc="2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have</a:t>
            </a:r>
            <a:r>
              <a:rPr dirty="0" sz="4550" spc="-229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45">
                <a:latin typeface="Calibri"/>
                <a:cs typeface="Calibri"/>
              </a:rPr>
              <a:t>additional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 spc="-70">
                <a:latin typeface="Calibri"/>
                <a:cs typeface="Calibri"/>
              </a:rPr>
              <a:t>information</a:t>
            </a:r>
            <a:r>
              <a:rPr dirty="0" sz="4550" spc="-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about</a:t>
            </a:r>
            <a:r>
              <a:rPr dirty="0" sz="4550" spc="-145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states</a:t>
            </a:r>
            <a:r>
              <a:rPr dirty="0" sz="4550" spc="-22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beyond</a:t>
            </a:r>
            <a:endParaRPr sz="4550">
              <a:latin typeface="Calibri"/>
              <a:cs typeface="Calibri"/>
            </a:endParaRPr>
          </a:p>
          <a:p>
            <a:pPr marL="401320">
              <a:lnSpc>
                <a:spcPts val="5220"/>
              </a:lnSpc>
            </a:pPr>
            <a:r>
              <a:rPr dirty="0" sz="4650" spc="-80">
                <a:latin typeface="Calibri"/>
                <a:cs typeface="Calibri"/>
              </a:rPr>
              <a:t>that</a:t>
            </a:r>
            <a:r>
              <a:rPr dirty="0" sz="4650" spc="-160">
                <a:latin typeface="Calibri"/>
                <a:cs typeface="Calibri"/>
              </a:rPr>
              <a:t> </a:t>
            </a:r>
            <a:r>
              <a:rPr dirty="0" sz="4650" spc="-95">
                <a:latin typeface="Calibri"/>
                <a:cs typeface="Calibri"/>
              </a:rPr>
              <a:t>provided</a:t>
            </a:r>
            <a:r>
              <a:rPr dirty="0" sz="4650" spc="-6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in</a:t>
            </a:r>
            <a:r>
              <a:rPr dirty="0" sz="4650" spc="-240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the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 spc="-95">
                <a:latin typeface="Calibri"/>
                <a:cs typeface="Calibri"/>
              </a:rPr>
              <a:t>problem</a:t>
            </a:r>
            <a:r>
              <a:rPr dirty="0" sz="4650" spc="-2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definition</a:t>
            </a:r>
            <a:endParaRPr sz="4650">
              <a:latin typeface="Calibri"/>
              <a:cs typeface="Calibri"/>
            </a:endParaRPr>
          </a:p>
          <a:p>
            <a:pPr marL="400685" marR="1002665" indent="-387985">
              <a:lnSpc>
                <a:spcPts val="4880"/>
              </a:lnSpc>
              <a:spcBef>
                <a:spcPts val="1575"/>
              </a:spcBef>
              <a:buChar char="•"/>
              <a:tabLst>
                <a:tab pos="400685" algn="l"/>
                <a:tab pos="4058920" algn="l"/>
              </a:tabLst>
            </a:pPr>
            <a:r>
              <a:rPr dirty="0" sz="4600">
                <a:latin typeface="Calibri"/>
                <a:cs typeface="Calibri"/>
              </a:rPr>
              <a:t>All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they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can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do</a:t>
            </a:r>
            <a:r>
              <a:rPr dirty="0" sz="4600">
                <a:latin typeface="Calibri"/>
                <a:cs typeface="Calibri"/>
              </a:rPr>
              <a:t>	is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80">
                <a:solidFill>
                  <a:srgbClr val="0F7290"/>
                </a:solidFill>
                <a:latin typeface="Calibri"/>
                <a:cs typeface="Calibri"/>
              </a:rPr>
              <a:t>generate</a:t>
            </a:r>
            <a:r>
              <a:rPr dirty="0" sz="4600" spc="5">
                <a:solidFill>
                  <a:srgbClr val="0F7290"/>
                </a:solidFill>
                <a:latin typeface="Calibri"/>
                <a:cs typeface="Calibri"/>
              </a:rPr>
              <a:t> </a:t>
            </a:r>
            <a:r>
              <a:rPr dirty="0" sz="4600" spc="-85">
                <a:solidFill>
                  <a:srgbClr val="1F6EB3"/>
                </a:solidFill>
                <a:latin typeface="Calibri"/>
                <a:cs typeface="Calibri"/>
              </a:rPr>
              <a:t>successors</a:t>
            </a:r>
            <a:r>
              <a:rPr dirty="0" sz="4600" spc="-10">
                <a:solidFill>
                  <a:srgbClr val="1F6EB3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and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60">
                <a:solidFill>
                  <a:srgbClr val="FF0800"/>
                </a:solidFill>
                <a:latin typeface="Calibri"/>
                <a:cs typeface="Calibri"/>
              </a:rPr>
              <a:t>distinguish</a:t>
            </a:r>
            <a:r>
              <a:rPr dirty="0" sz="4600" spc="25">
                <a:solidFill>
                  <a:srgbClr val="FF0800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E40F0C"/>
                </a:solidFill>
                <a:latin typeface="Calibri"/>
                <a:cs typeface="Calibri"/>
              </a:rPr>
              <a:t>a</a:t>
            </a:r>
            <a:r>
              <a:rPr dirty="0" sz="4600" spc="-260">
                <a:solidFill>
                  <a:srgbClr val="E40F0C"/>
                </a:solidFill>
                <a:latin typeface="Calibri"/>
                <a:cs typeface="Calibri"/>
              </a:rPr>
              <a:t> </a:t>
            </a:r>
            <a:r>
              <a:rPr dirty="0" sz="4600" spc="-30">
                <a:solidFill>
                  <a:srgbClr val="CA0F16"/>
                </a:solidFill>
                <a:latin typeface="Calibri"/>
                <a:cs typeface="Calibri"/>
              </a:rPr>
              <a:t>goal</a:t>
            </a:r>
            <a:r>
              <a:rPr dirty="0" sz="4600" spc="-114">
                <a:solidFill>
                  <a:srgbClr val="CA0F16"/>
                </a:solidFill>
                <a:latin typeface="Calibri"/>
                <a:cs typeface="Calibri"/>
              </a:rPr>
              <a:t> </a:t>
            </a:r>
            <a:r>
              <a:rPr dirty="0" sz="4600" spc="-40">
                <a:solidFill>
                  <a:srgbClr val="F61621"/>
                </a:solidFill>
                <a:latin typeface="Calibri"/>
                <a:cs typeface="Calibri"/>
              </a:rPr>
              <a:t>state </a:t>
            </a:r>
            <a:r>
              <a:rPr dirty="0" sz="4600" spc="-45">
                <a:latin typeface="Calibri"/>
                <a:cs typeface="Calibri"/>
              </a:rPr>
              <a:t>from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100">
                <a:latin typeface="Calibri"/>
                <a:cs typeface="Calibri"/>
              </a:rPr>
              <a:t>non-</a:t>
            </a:r>
            <a:r>
              <a:rPr dirty="0" sz="4600">
                <a:latin typeface="Calibri"/>
                <a:cs typeface="Calibri"/>
              </a:rPr>
              <a:t>goal</a:t>
            </a:r>
            <a:r>
              <a:rPr dirty="0" sz="4600" spc="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state.</a:t>
            </a:r>
            <a:endParaRPr sz="4600">
              <a:latin typeface="Calibri"/>
              <a:cs typeface="Calibri"/>
            </a:endParaRPr>
          </a:p>
          <a:p>
            <a:pPr marL="400050" marR="643255" indent="-387985">
              <a:lnSpc>
                <a:spcPts val="4880"/>
              </a:lnSpc>
              <a:spcBef>
                <a:spcPts val="1490"/>
              </a:spcBef>
              <a:buChar char="•"/>
              <a:tabLst>
                <a:tab pos="403225" algn="l"/>
                <a:tab pos="5365750" algn="l"/>
              </a:tabLst>
            </a:pPr>
            <a:r>
              <a:rPr dirty="0" sz="4650">
                <a:latin typeface="Calibri"/>
                <a:cs typeface="Calibri"/>
              </a:rPr>
              <a:t>All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 spc="-65">
                <a:latin typeface="Calibri"/>
                <a:cs typeface="Calibri"/>
              </a:rPr>
              <a:t>search</a:t>
            </a:r>
            <a:r>
              <a:rPr dirty="0" sz="4650" spc="-17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strategies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65">
                <a:latin typeface="Calibri"/>
                <a:cs typeface="Calibri"/>
              </a:rPr>
              <a:t>are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 spc="-90">
                <a:latin typeface="Calibri"/>
                <a:cs typeface="Calibri"/>
              </a:rPr>
              <a:t>distinguished</a:t>
            </a:r>
            <a:r>
              <a:rPr dirty="0" sz="4650" spc="-6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by</a:t>
            </a:r>
            <a:r>
              <a:rPr dirty="0" sz="4650" spc="-215">
                <a:latin typeface="Calibri"/>
                <a:cs typeface="Calibri"/>
              </a:rPr>
              <a:t> </a:t>
            </a:r>
            <a:r>
              <a:rPr dirty="0" sz="4650" spc="-45">
                <a:latin typeface="Calibri"/>
                <a:cs typeface="Calibri"/>
              </a:rPr>
              <a:t>the</a:t>
            </a:r>
            <a:r>
              <a:rPr dirty="0" sz="4650" spc="-215">
                <a:latin typeface="Calibri"/>
                <a:cs typeface="Calibri"/>
              </a:rPr>
              <a:t> </a:t>
            </a:r>
            <a:r>
              <a:rPr dirty="0" sz="4650" i="1">
                <a:latin typeface="Calibri"/>
                <a:cs typeface="Calibri"/>
              </a:rPr>
              <a:t>order</a:t>
            </a:r>
            <a:r>
              <a:rPr dirty="0" sz="4650" spc="-90" i="1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in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which</a:t>
            </a:r>
            <a:r>
              <a:rPr dirty="0" sz="4650" spc="-155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nodes </a:t>
            </a:r>
            <a:r>
              <a:rPr dirty="0" sz="4650" spc="-55">
                <a:latin typeface="Calibri"/>
                <a:cs typeface="Calibri"/>
              </a:rPr>
              <a:t>	</a:t>
            </a:r>
            <a:r>
              <a:rPr dirty="0" sz="4650" spc="-105">
                <a:latin typeface="Calibri"/>
                <a:cs typeface="Calibri"/>
              </a:rPr>
              <a:t>are</a:t>
            </a:r>
            <a:r>
              <a:rPr dirty="0" sz="4650" spc="-14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expanded</a:t>
            </a:r>
            <a:endParaRPr sz="4650">
              <a:latin typeface="Calibri"/>
              <a:cs typeface="Calibri"/>
            </a:endParaRPr>
          </a:p>
          <a:p>
            <a:pPr marL="399415" marR="5080" indent="-386715">
              <a:lnSpc>
                <a:spcPts val="4840"/>
              </a:lnSpc>
              <a:spcBef>
                <a:spcPts val="1525"/>
              </a:spcBef>
              <a:buChar char="•"/>
              <a:tabLst>
                <a:tab pos="401320" algn="l"/>
                <a:tab pos="5405755" algn="l"/>
              </a:tabLst>
            </a:pPr>
            <a:r>
              <a:rPr dirty="0" sz="4600" spc="-60">
                <a:latin typeface="Calibri"/>
                <a:cs typeface="Calibri"/>
              </a:rPr>
              <a:t>Strategies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that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know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5">
                <a:latin typeface="Calibri"/>
                <a:cs typeface="Calibri"/>
              </a:rPr>
              <a:t>whether</a:t>
            </a:r>
            <a:r>
              <a:rPr dirty="0" sz="4600" spc="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one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120">
                <a:latin typeface="Calibri"/>
                <a:cs typeface="Calibri"/>
              </a:rPr>
              <a:t>non-</a:t>
            </a:r>
            <a:r>
              <a:rPr dirty="0" sz="4600">
                <a:latin typeface="Calibri"/>
                <a:cs typeface="Calibri"/>
              </a:rPr>
              <a:t>goal </a:t>
            </a:r>
            <a:r>
              <a:rPr dirty="0" sz="4600" spc="-65">
                <a:latin typeface="Calibri"/>
                <a:cs typeface="Calibri"/>
              </a:rPr>
              <a:t>state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“more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 spc="-95">
                <a:latin typeface="Calibri"/>
                <a:cs typeface="Calibri"/>
              </a:rPr>
              <a:t>promising” </a:t>
            </a:r>
            <a:r>
              <a:rPr dirty="0" sz="4600" spc="-95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than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another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are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called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informed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search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or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heuristic</a:t>
            </a:r>
            <a:r>
              <a:rPr dirty="0" sz="4600" spc="-8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search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 spc="-90">
                <a:latin typeface="Calibri"/>
                <a:cs typeface="Calibri"/>
              </a:rPr>
              <a:t>strategies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6300" y="8734425"/>
            <a:ext cx="7924800" cy="6381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8545" y="533400"/>
            <a:ext cx="5619115" cy="901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78885" algn="l"/>
              </a:tabLst>
            </a:pPr>
            <a:r>
              <a:rPr dirty="0" sz="5750" spc="-515"/>
              <a:t>Breadth—</a:t>
            </a:r>
            <a:r>
              <a:rPr dirty="0" sz="5750" spc="-330"/>
              <a:t>first</a:t>
            </a:r>
            <a:r>
              <a:rPr dirty="0" sz="5750"/>
              <a:t>	</a:t>
            </a:r>
            <a:r>
              <a:rPr dirty="0" sz="5750" spc="-155"/>
              <a:t>search</a:t>
            </a:r>
            <a:endParaRPr sz="5750"/>
          </a:p>
        </p:txBody>
      </p:sp>
      <p:sp>
        <p:nvSpPr>
          <p:cNvPr id="4" name="object 4" descr=""/>
          <p:cNvSpPr txBox="1"/>
          <p:nvPr/>
        </p:nvSpPr>
        <p:spPr>
          <a:xfrm>
            <a:off x="1446124" y="1960562"/>
            <a:ext cx="16584930" cy="746315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389255" marR="5080" indent="-376555">
              <a:lnSpc>
                <a:spcPts val="4840"/>
              </a:lnSpc>
              <a:spcBef>
                <a:spcPts val="825"/>
              </a:spcBef>
              <a:buChar char="•"/>
              <a:tabLst>
                <a:tab pos="403225" algn="l"/>
              </a:tabLst>
            </a:pPr>
            <a:r>
              <a:rPr dirty="0" sz="4600" spc="-55">
                <a:latin typeface="Calibri"/>
                <a:cs typeface="Calibri"/>
              </a:rPr>
              <a:t>Breadth-</a:t>
            </a:r>
            <a:r>
              <a:rPr dirty="0" sz="4600">
                <a:latin typeface="Calibri"/>
                <a:cs typeface="Calibri"/>
              </a:rPr>
              <a:t>first</a:t>
            </a:r>
            <a:r>
              <a:rPr dirty="0" sz="4600" spc="7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search</a:t>
            </a:r>
            <a:r>
              <a:rPr dirty="0" sz="4600" spc="5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5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4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simple</a:t>
            </a:r>
            <a:r>
              <a:rPr dirty="0" sz="4600" spc="5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strategy</a:t>
            </a:r>
            <a:r>
              <a:rPr dirty="0" sz="4600" spc="7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3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which</a:t>
            </a:r>
            <a:r>
              <a:rPr dirty="0" sz="4600" spc="5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57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116DAC"/>
                </a:solidFill>
                <a:latin typeface="Calibri"/>
                <a:cs typeface="Calibri"/>
              </a:rPr>
              <a:t>root</a:t>
            </a:r>
            <a:r>
              <a:rPr dirty="0" sz="4600" spc="665">
                <a:solidFill>
                  <a:srgbClr val="116DAC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</a:t>
            </a:r>
            <a:r>
              <a:rPr dirty="0" sz="4600" spc="57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is </a:t>
            </a:r>
            <a:r>
              <a:rPr dirty="0" sz="4600" spc="-25">
                <a:latin typeface="Calibri"/>
                <a:cs typeface="Calibri"/>
              </a:rPr>
              <a:t>	</a:t>
            </a:r>
            <a:r>
              <a:rPr dirty="0" sz="4600" spc="-35">
                <a:latin typeface="Calibri"/>
                <a:cs typeface="Calibri"/>
              </a:rPr>
              <a:t>expanded</a:t>
            </a:r>
            <a:r>
              <a:rPr dirty="0" sz="4600" spc="4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first,</a:t>
            </a:r>
            <a:r>
              <a:rPr dirty="0" sz="4600" spc="-1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then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all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00">
                <a:latin typeface="Calibri"/>
                <a:cs typeface="Calibri"/>
              </a:rPr>
              <a:t> </a:t>
            </a:r>
            <a:r>
              <a:rPr dirty="0" sz="4600" spc="-70">
                <a:solidFill>
                  <a:srgbClr val="EB0013"/>
                </a:solidFill>
                <a:latin typeface="Calibri"/>
                <a:cs typeface="Calibri"/>
              </a:rPr>
              <a:t>successors</a:t>
            </a:r>
            <a:r>
              <a:rPr dirty="0" sz="4600" spc="15">
                <a:solidFill>
                  <a:srgbClr val="EB0013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E1000F"/>
                </a:solidFill>
                <a:latin typeface="Calibri"/>
                <a:cs typeface="Calibri"/>
              </a:rPr>
              <a:t>of</a:t>
            </a:r>
            <a:r>
              <a:rPr dirty="0" sz="4600" spc="-90">
                <a:solidFill>
                  <a:srgbClr val="E1000F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FD070F"/>
                </a:solidFill>
                <a:latin typeface="Calibri"/>
                <a:cs typeface="Calibri"/>
              </a:rPr>
              <a:t>the</a:t>
            </a:r>
            <a:r>
              <a:rPr dirty="0" sz="4600" spc="-155">
                <a:solidFill>
                  <a:srgbClr val="FD070F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ED0511"/>
                </a:solidFill>
                <a:latin typeface="Calibri"/>
                <a:cs typeface="Calibri"/>
              </a:rPr>
              <a:t>root</a:t>
            </a:r>
            <a:r>
              <a:rPr dirty="0" sz="4600" spc="-80">
                <a:solidFill>
                  <a:srgbClr val="ED0511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</a:t>
            </a:r>
            <a:r>
              <a:rPr dirty="0" sz="4600" spc="-1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expanded </a:t>
            </a:r>
            <a:r>
              <a:rPr dirty="0" sz="4600" spc="-1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next,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then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i="1">
                <a:latin typeface="Calibri"/>
                <a:cs typeface="Calibri"/>
              </a:rPr>
              <a:t>their</a:t>
            </a:r>
            <a:r>
              <a:rPr dirty="0" sz="4600" spc="-170" i="1">
                <a:latin typeface="Calibri"/>
                <a:cs typeface="Calibri"/>
              </a:rPr>
              <a:t> </a:t>
            </a:r>
            <a:r>
              <a:rPr dirty="0" sz="4600" spc="-85">
                <a:latin typeface="Calibri"/>
                <a:cs typeface="Calibri"/>
              </a:rPr>
              <a:t>successors,</a:t>
            </a:r>
            <a:r>
              <a:rPr dirty="0" sz="4600" spc="-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and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so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on</a:t>
            </a:r>
            <a:endParaRPr sz="4600">
              <a:latin typeface="Calibri"/>
              <a:cs typeface="Calibri"/>
            </a:endParaRPr>
          </a:p>
          <a:p>
            <a:pPr algn="just" marL="398780" marR="12700" indent="-386715">
              <a:lnSpc>
                <a:spcPts val="4840"/>
              </a:lnSpc>
              <a:spcBef>
                <a:spcPts val="1570"/>
              </a:spcBef>
              <a:buChar char="•"/>
              <a:tabLst>
                <a:tab pos="406400" algn="l"/>
              </a:tabLst>
            </a:pPr>
            <a:r>
              <a:rPr dirty="0" sz="4650">
                <a:latin typeface="Calibri"/>
                <a:cs typeface="Calibri"/>
              </a:rPr>
              <a:t>In</a:t>
            </a:r>
            <a:r>
              <a:rPr dirty="0" sz="4650" spc="204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other</a:t>
            </a:r>
            <a:r>
              <a:rPr dirty="0" sz="4650" spc="35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words</a:t>
            </a:r>
            <a:r>
              <a:rPr dirty="0" sz="4650" spc="380">
                <a:latin typeface="Calibri"/>
                <a:cs typeface="Calibri"/>
              </a:rPr>
              <a:t> </a:t>
            </a:r>
            <a:r>
              <a:rPr dirty="0" sz="4650">
                <a:solidFill>
                  <a:srgbClr val="0875B5"/>
                </a:solidFill>
                <a:latin typeface="Calibri"/>
                <a:cs typeface="Calibri"/>
              </a:rPr>
              <a:t>all</a:t>
            </a:r>
            <a:r>
              <a:rPr dirty="0" sz="4650" spc="265">
                <a:solidFill>
                  <a:srgbClr val="0875B5"/>
                </a:solidFill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the</a:t>
            </a:r>
            <a:r>
              <a:rPr dirty="0" sz="4650" spc="260">
                <a:latin typeface="Calibri"/>
                <a:cs typeface="Calibri"/>
              </a:rPr>
              <a:t> </a:t>
            </a:r>
            <a:r>
              <a:rPr dirty="0" sz="4650">
                <a:solidFill>
                  <a:srgbClr val="2372A5"/>
                </a:solidFill>
                <a:latin typeface="Calibri"/>
                <a:cs typeface="Calibri"/>
              </a:rPr>
              <a:t>nodes</a:t>
            </a:r>
            <a:r>
              <a:rPr dirty="0" sz="4650" spc="350">
                <a:solidFill>
                  <a:srgbClr val="2372A5"/>
                </a:solidFill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are</a:t>
            </a:r>
            <a:r>
              <a:rPr dirty="0" sz="4650" spc="285">
                <a:latin typeface="Calibri"/>
                <a:cs typeface="Calibri"/>
              </a:rPr>
              <a:t> </a:t>
            </a:r>
            <a:r>
              <a:rPr dirty="0" sz="4650">
                <a:solidFill>
                  <a:srgbClr val="F2000C"/>
                </a:solidFill>
                <a:latin typeface="Calibri"/>
                <a:cs typeface="Calibri"/>
              </a:rPr>
              <a:t>expanded</a:t>
            </a:r>
            <a:r>
              <a:rPr dirty="0" sz="4650" spc="484">
                <a:solidFill>
                  <a:srgbClr val="F2000C"/>
                </a:solidFill>
                <a:latin typeface="Calibri"/>
                <a:cs typeface="Calibri"/>
              </a:rPr>
              <a:t> </a:t>
            </a:r>
            <a:r>
              <a:rPr dirty="0" sz="4650">
                <a:solidFill>
                  <a:srgbClr val="137EE1"/>
                </a:solidFill>
                <a:latin typeface="Calibri"/>
                <a:cs typeface="Calibri"/>
              </a:rPr>
              <a:t>at</a:t>
            </a:r>
            <a:r>
              <a:rPr dirty="0" sz="4650" spc="265">
                <a:solidFill>
                  <a:srgbClr val="137EE1"/>
                </a:solidFill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</a:t>
            </a:r>
            <a:r>
              <a:rPr dirty="0" sz="4650" spc="270">
                <a:latin typeface="Calibri"/>
                <a:cs typeface="Calibri"/>
              </a:rPr>
              <a:t> </a:t>
            </a:r>
            <a:r>
              <a:rPr dirty="0" sz="4650">
                <a:solidFill>
                  <a:srgbClr val="136E9A"/>
                </a:solidFill>
                <a:latin typeface="Calibri"/>
                <a:cs typeface="Calibri"/>
              </a:rPr>
              <a:t>given</a:t>
            </a:r>
            <a:r>
              <a:rPr dirty="0" sz="4650" spc="290">
                <a:solidFill>
                  <a:srgbClr val="136E9A"/>
                </a:solidFill>
                <a:latin typeface="Calibri"/>
                <a:cs typeface="Calibri"/>
              </a:rPr>
              <a:t> </a:t>
            </a:r>
            <a:r>
              <a:rPr dirty="0" sz="4650">
                <a:solidFill>
                  <a:srgbClr val="0062B1"/>
                </a:solidFill>
                <a:latin typeface="Calibri"/>
                <a:cs typeface="Calibri"/>
              </a:rPr>
              <a:t>depth</a:t>
            </a:r>
            <a:r>
              <a:rPr dirty="0" sz="4650" spc="295">
                <a:solidFill>
                  <a:srgbClr val="0062B1"/>
                </a:solidFill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in</a:t>
            </a:r>
            <a:r>
              <a:rPr dirty="0" sz="4650" spc="215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the </a:t>
            </a:r>
            <a:r>
              <a:rPr dirty="0" sz="4650" spc="-25">
                <a:latin typeface="Calibri"/>
                <a:cs typeface="Calibri"/>
              </a:rPr>
              <a:t>	</a:t>
            </a:r>
            <a:r>
              <a:rPr dirty="0" sz="4650">
                <a:latin typeface="Calibri"/>
                <a:cs typeface="Calibri"/>
              </a:rPr>
              <a:t>search tree</a:t>
            </a:r>
            <a:r>
              <a:rPr dirty="0" sz="4650" spc="-130">
                <a:latin typeface="Calibri"/>
                <a:cs typeface="Calibri"/>
              </a:rPr>
              <a:t> </a:t>
            </a:r>
            <a:r>
              <a:rPr dirty="0" sz="4650" spc="-45">
                <a:latin typeface="Calibri"/>
                <a:cs typeface="Calibri"/>
              </a:rPr>
              <a:t>before</a:t>
            </a:r>
            <a:r>
              <a:rPr dirty="0" sz="4650" spc="-5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any</a:t>
            </a:r>
            <a:r>
              <a:rPr dirty="0" sz="4650" spc="-14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nodes</a:t>
            </a:r>
            <a:r>
              <a:rPr dirty="0" sz="4650" spc="-8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at</a:t>
            </a:r>
            <a:r>
              <a:rPr dirty="0" sz="4650" spc="-14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the</a:t>
            </a:r>
            <a:r>
              <a:rPr dirty="0" sz="4650" spc="-13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next</a:t>
            </a:r>
            <a:r>
              <a:rPr dirty="0" sz="4650" spc="-13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level</a:t>
            </a:r>
            <a:r>
              <a:rPr dirty="0" sz="4650" spc="-12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are</a:t>
            </a:r>
            <a:r>
              <a:rPr dirty="0" sz="4650" spc="-160">
                <a:latin typeface="Calibri"/>
                <a:cs typeface="Calibri"/>
              </a:rPr>
              <a:t> </a:t>
            </a:r>
            <a:r>
              <a:rPr dirty="0" sz="4650" spc="-40">
                <a:latin typeface="Calibri"/>
                <a:cs typeface="Calibri"/>
              </a:rPr>
              <a:t>expanded,</a:t>
            </a:r>
            <a:r>
              <a:rPr dirty="0" sz="4650" spc="8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i.e.</a:t>
            </a:r>
            <a:r>
              <a:rPr dirty="0" sz="4650" spc="-120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the </a:t>
            </a:r>
            <a:r>
              <a:rPr dirty="0" sz="4650" spc="-25">
                <a:latin typeface="Calibri"/>
                <a:cs typeface="Calibri"/>
              </a:rPr>
              <a:t>	</a:t>
            </a:r>
            <a:r>
              <a:rPr dirty="0" sz="4650" spc="-105" i="1">
                <a:latin typeface="Calibri"/>
                <a:cs typeface="Calibri"/>
              </a:rPr>
              <a:t>shallowest</a:t>
            </a:r>
            <a:r>
              <a:rPr dirty="0" sz="4650" spc="-130" i="1">
                <a:latin typeface="Calibri"/>
                <a:cs typeface="Calibri"/>
              </a:rPr>
              <a:t> </a:t>
            </a:r>
            <a:r>
              <a:rPr dirty="0" sz="4650" spc="-105">
                <a:latin typeface="Calibri"/>
                <a:cs typeface="Calibri"/>
              </a:rPr>
              <a:t>unexpanded</a:t>
            </a:r>
            <a:r>
              <a:rPr dirty="0" sz="4650" spc="60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node</a:t>
            </a:r>
            <a:r>
              <a:rPr dirty="0" sz="4650" spc="-21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is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chosen</a:t>
            </a:r>
            <a:r>
              <a:rPr dirty="0" sz="4650" spc="-155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for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expansion</a:t>
            </a:r>
            <a:endParaRPr sz="4650">
              <a:latin typeface="Calibri"/>
              <a:cs typeface="Calibri"/>
            </a:endParaRPr>
          </a:p>
          <a:p>
            <a:pPr marL="395605" indent="-355600">
              <a:lnSpc>
                <a:spcPct val="100000"/>
              </a:lnSpc>
              <a:spcBef>
                <a:spcPts val="1340"/>
              </a:spcBef>
              <a:buChar char="•"/>
              <a:tabLst>
                <a:tab pos="395605" algn="l"/>
              </a:tabLst>
            </a:pPr>
            <a:r>
              <a:rPr dirty="0" sz="4100" spc="-335">
                <a:latin typeface="Arial MT"/>
                <a:cs typeface="Arial MT"/>
              </a:rPr>
              <a:t>FIFO</a:t>
            </a:r>
            <a:r>
              <a:rPr dirty="0" sz="4100" spc="50">
                <a:latin typeface="Arial MT"/>
                <a:cs typeface="Arial MT"/>
              </a:rPr>
              <a:t> </a:t>
            </a:r>
            <a:r>
              <a:rPr dirty="0" sz="4100">
                <a:latin typeface="Arial MT"/>
                <a:cs typeface="Arial MT"/>
              </a:rPr>
              <a:t>queue</a:t>
            </a:r>
            <a:r>
              <a:rPr dirty="0" sz="4100" spc="-105">
                <a:latin typeface="Arial MT"/>
                <a:cs typeface="Arial MT"/>
              </a:rPr>
              <a:t> </a:t>
            </a:r>
            <a:r>
              <a:rPr dirty="0" sz="4100" spc="-90">
                <a:latin typeface="Arial MT"/>
                <a:cs typeface="Arial MT"/>
              </a:rPr>
              <a:t>is</a:t>
            </a:r>
            <a:r>
              <a:rPr dirty="0" sz="4100" spc="-135">
                <a:latin typeface="Arial MT"/>
                <a:cs typeface="Arial MT"/>
              </a:rPr>
              <a:t> </a:t>
            </a:r>
            <a:r>
              <a:rPr dirty="0" sz="4100" spc="-30">
                <a:latin typeface="Arial MT"/>
                <a:cs typeface="Arial MT"/>
              </a:rPr>
              <a:t>used</a:t>
            </a:r>
            <a:r>
              <a:rPr dirty="0" sz="4100" spc="-10">
                <a:latin typeface="Arial MT"/>
                <a:cs typeface="Arial MT"/>
              </a:rPr>
              <a:t> </a:t>
            </a:r>
            <a:r>
              <a:rPr dirty="0" sz="4100" spc="60">
                <a:latin typeface="Arial MT"/>
                <a:cs typeface="Arial MT"/>
              </a:rPr>
              <a:t>for</a:t>
            </a:r>
            <a:r>
              <a:rPr dirty="0" sz="4100" spc="-25">
                <a:latin typeface="Arial MT"/>
                <a:cs typeface="Arial MT"/>
              </a:rPr>
              <a:t> </a:t>
            </a:r>
            <a:r>
              <a:rPr dirty="0" sz="4100" spc="90">
                <a:latin typeface="Arial MT"/>
                <a:cs typeface="Arial MT"/>
              </a:rPr>
              <a:t>the</a:t>
            </a:r>
            <a:r>
              <a:rPr dirty="0" sz="4100" spc="-130">
                <a:latin typeface="Arial MT"/>
                <a:cs typeface="Arial MT"/>
              </a:rPr>
              <a:t> </a:t>
            </a:r>
            <a:r>
              <a:rPr dirty="0" sz="4100" spc="65">
                <a:latin typeface="Arial MT"/>
                <a:cs typeface="Arial MT"/>
              </a:rPr>
              <a:t>frontier</a:t>
            </a:r>
            <a:endParaRPr sz="4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4100">
              <a:latin typeface="Arial MT"/>
              <a:cs typeface="Arial MT"/>
            </a:endParaRPr>
          </a:p>
          <a:p>
            <a:pPr marL="295275">
              <a:lnSpc>
                <a:spcPts val="7170"/>
              </a:lnSpc>
            </a:pPr>
            <a:r>
              <a:rPr dirty="0" sz="6200" spc="-270">
                <a:solidFill>
                  <a:srgbClr val="017BCD"/>
                </a:solidFill>
                <a:latin typeface="Calibri"/>
                <a:cs typeface="Calibri"/>
              </a:rPr>
              <a:t>goal</a:t>
            </a:r>
            <a:r>
              <a:rPr dirty="0" sz="6200" spc="-20">
                <a:solidFill>
                  <a:srgbClr val="017BCD"/>
                </a:solidFill>
                <a:latin typeface="Calibri"/>
                <a:cs typeface="Calibri"/>
              </a:rPr>
              <a:t> </a:t>
            </a:r>
            <a:r>
              <a:rPr dirty="0" sz="6200" spc="-229">
                <a:solidFill>
                  <a:srgbClr val="0569B8"/>
                </a:solidFill>
                <a:latin typeface="Calibri"/>
                <a:cs typeface="Calibri"/>
              </a:rPr>
              <a:t>test</a:t>
            </a:r>
            <a:r>
              <a:rPr dirty="0" sz="6200" spc="-70">
                <a:solidFill>
                  <a:srgbClr val="0569B8"/>
                </a:solidFill>
                <a:latin typeface="Calibri"/>
                <a:cs typeface="Calibri"/>
              </a:rPr>
              <a:t> </a:t>
            </a:r>
            <a:r>
              <a:rPr dirty="0" sz="6200" spc="-20">
                <a:latin typeface="Calibri"/>
                <a:cs typeface="Calibri"/>
              </a:rPr>
              <a:t>is</a:t>
            </a:r>
            <a:r>
              <a:rPr dirty="0" sz="6200" spc="-120">
                <a:latin typeface="Calibri"/>
                <a:cs typeface="Calibri"/>
              </a:rPr>
              <a:t> </a:t>
            </a:r>
            <a:r>
              <a:rPr dirty="0" sz="6200" spc="-275">
                <a:latin typeface="Calibri"/>
                <a:cs typeface="Calibri"/>
              </a:rPr>
              <a:t>applied</a:t>
            </a:r>
            <a:r>
              <a:rPr dirty="0" sz="6200" spc="280">
                <a:latin typeface="Calibri"/>
                <a:cs typeface="Calibri"/>
              </a:rPr>
              <a:t> </a:t>
            </a:r>
            <a:r>
              <a:rPr dirty="0" sz="6200" spc="-250">
                <a:latin typeface="Calibri"/>
                <a:cs typeface="Calibri"/>
              </a:rPr>
              <a:t>to</a:t>
            </a:r>
            <a:r>
              <a:rPr dirty="0" sz="6200" spc="-200">
                <a:latin typeface="Calibri"/>
                <a:cs typeface="Calibri"/>
              </a:rPr>
              <a:t> </a:t>
            </a:r>
            <a:r>
              <a:rPr dirty="0" sz="6200" spc="-275">
                <a:latin typeface="Calibri"/>
                <a:cs typeface="Calibri"/>
              </a:rPr>
              <a:t>each</a:t>
            </a:r>
            <a:r>
              <a:rPr dirty="0" sz="6200" spc="10">
                <a:latin typeface="Calibri"/>
                <a:cs typeface="Calibri"/>
              </a:rPr>
              <a:t> </a:t>
            </a:r>
            <a:r>
              <a:rPr dirty="0" sz="6200" spc="-295">
                <a:latin typeface="Calibri"/>
                <a:cs typeface="Calibri"/>
              </a:rPr>
              <a:t>node</a:t>
            </a:r>
            <a:r>
              <a:rPr dirty="0" sz="6200" spc="90">
                <a:latin typeface="Calibri"/>
                <a:cs typeface="Calibri"/>
              </a:rPr>
              <a:t> </a:t>
            </a:r>
            <a:r>
              <a:rPr dirty="0" sz="6200" spc="-355">
                <a:solidFill>
                  <a:srgbClr val="0779CD"/>
                </a:solidFill>
                <a:latin typeface="Calibri"/>
                <a:cs typeface="Calibri"/>
              </a:rPr>
              <a:t>when</a:t>
            </a:r>
            <a:r>
              <a:rPr dirty="0" sz="6200" spc="105">
                <a:solidFill>
                  <a:srgbClr val="0779CD"/>
                </a:solidFill>
                <a:latin typeface="Calibri"/>
                <a:cs typeface="Calibri"/>
              </a:rPr>
              <a:t> </a:t>
            </a:r>
            <a:r>
              <a:rPr dirty="0" sz="6200" spc="-100">
                <a:solidFill>
                  <a:srgbClr val="0569B8"/>
                </a:solidFill>
                <a:latin typeface="Calibri"/>
                <a:cs typeface="Calibri"/>
              </a:rPr>
              <a:t>it</a:t>
            </a:r>
            <a:r>
              <a:rPr dirty="0" sz="6200" spc="-215">
                <a:solidFill>
                  <a:srgbClr val="0569B8"/>
                </a:solidFill>
                <a:latin typeface="Calibri"/>
                <a:cs typeface="Calibri"/>
              </a:rPr>
              <a:t> </a:t>
            </a:r>
            <a:r>
              <a:rPr dirty="0" sz="6200" spc="-145">
                <a:solidFill>
                  <a:srgbClr val="036EC1"/>
                </a:solidFill>
                <a:latin typeface="Calibri"/>
                <a:cs typeface="Calibri"/>
              </a:rPr>
              <a:t>is</a:t>
            </a:r>
            <a:r>
              <a:rPr dirty="0" sz="6200" spc="-320">
                <a:solidFill>
                  <a:srgbClr val="036EC1"/>
                </a:solidFill>
                <a:latin typeface="Calibri"/>
                <a:cs typeface="Calibri"/>
              </a:rPr>
              <a:t> </a:t>
            </a:r>
            <a:r>
              <a:rPr dirty="0" sz="6200" spc="-10" i="1">
                <a:latin typeface="Calibri"/>
                <a:cs typeface="Calibri"/>
              </a:rPr>
              <a:t>generated</a:t>
            </a:r>
            <a:endParaRPr sz="6200">
              <a:latin typeface="Calibri"/>
              <a:cs typeface="Calibri"/>
            </a:endParaRPr>
          </a:p>
          <a:p>
            <a:pPr marL="1657350">
              <a:lnSpc>
                <a:spcPts val="7170"/>
              </a:lnSpc>
            </a:pPr>
            <a:r>
              <a:rPr dirty="0" sz="6200" spc="-295">
                <a:latin typeface="Calibri"/>
                <a:cs typeface="Calibri"/>
              </a:rPr>
              <a:t>rather</a:t>
            </a:r>
            <a:r>
              <a:rPr dirty="0" sz="6200" spc="225">
                <a:latin typeface="Calibri"/>
                <a:cs typeface="Calibri"/>
              </a:rPr>
              <a:t> </a:t>
            </a:r>
            <a:r>
              <a:rPr dirty="0" sz="6200" spc="-295">
                <a:latin typeface="Calibri"/>
                <a:cs typeface="Calibri"/>
              </a:rPr>
              <a:t>than</a:t>
            </a:r>
            <a:r>
              <a:rPr dirty="0" sz="6200" spc="-25">
                <a:latin typeface="Calibri"/>
                <a:cs typeface="Calibri"/>
              </a:rPr>
              <a:t> </a:t>
            </a:r>
            <a:r>
              <a:rPr dirty="0" sz="6200" spc="-320">
                <a:latin typeface="Calibri"/>
                <a:cs typeface="Calibri"/>
              </a:rPr>
              <a:t>when</a:t>
            </a:r>
            <a:r>
              <a:rPr dirty="0" sz="6200" spc="-30">
                <a:latin typeface="Calibri"/>
                <a:cs typeface="Calibri"/>
              </a:rPr>
              <a:t> </a:t>
            </a:r>
            <a:r>
              <a:rPr dirty="0" sz="6200" spc="-20">
                <a:latin typeface="Calibri"/>
                <a:cs typeface="Calibri"/>
              </a:rPr>
              <a:t>it</a:t>
            </a:r>
            <a:r>
              <a:rPr dirty="0" sz="6200" spc="-220">
                <a:latin typeface="Calibri"/>
                <a:cs typeface="Calibri"/>
              </a:rPr>
              <a:t> </a:t>
            </a:r>
            <a:r>
              <a:rPr dirty="0" sz="6200" spc="-65">
                <a:latin typeface="Calibri"/>
                <a:cs typeface="Calibri"/>
              </a:rPr>
              <a:t>is</a:t>
            </a:r>
            <a:r>
              <a:rPr dirty="0" sz="6200" spc="-175">
                <a:latin typeface="Calibri"/>
                <a:cs typeface="Calibri"/>
              </a:rPr>
              <a:t> </a:t>
            </a:r>
            <a:r>
              <a:rPr dirty="0" sz="6200" spc="-270">
                <a:latin typeface="Calibri"/>
                <a:cs typeface="Calibri"/>
              </a:rPr>
              <a:t>selected</a:t>
            </a:r>
            <a:r>
              <a:rPr dirty="0" sz="6200" spc="160">
                <a:latin typeface="Calibri"/>
                <a:cs typeface="Calibri"/>
              </a:rPr>
              <a:t> </a:t>
            </a:r>
            <a:r>
              <a:rPr dirty="0" sz="6200" spc="-300">
                <a:latin typeface="Calibri"/>
                <a:cs typeface="Calibri"/>
              </a:rPr>
              <a:t>for</a:t>
            </a:r>
            <a:endParaRPr sz="6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300" y="5295900"/>
            <a:ext cx="1571625" cy="4572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351776" y="3142488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4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819121" y="3133343"/>
            <a:ext cx="268605" cy="30480"/>
          </a:xfrm>
          <a:custGeom>
            <a:avLst/>
            <a:gdLst/>
            <a:ahLst/>
            <a:cxnLst/>
            <a:rect l="l" t="t" r="r" b="b"/>
            <a:pathLst>
              <a:path w="268605" h="30480">
                <a:moveTo>
                  <a:pt x="268224" y="0"/>
                </a:moveTo>
                <a:lnTo>
                  <a:pt x="0" y="0"/>
                </a:lnTo>
                <a:lnTo>
                  <a:pt x="0" y="9144"/>
                </a:lnTo>
                <a:lnTo>
                  <a:pt x="0" y="21336"/>
                </a:lnTo>
                <a:lnTo>
                  <a:pt x="0" y="30480"/>
                </a:lnTo>
                <a:lnTo>
                  <a:pt x="268224" y="30480"/>
                </a:lnTo>
                <a:lnTo>
                  <a:pt x="268224" y="21336"/>
                </a:lnTo>
                <a:lnTo>
                  <a:pt x="268224" y="9144"/>
                </a:lnTo>
                <a:lnTo>
                  <a:pt x="268224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351776" y="3124200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4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819119" y="3124200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5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351776" y="3115055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4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809976" y="3105911"/>
            <a:ext cx="277495" cy="21590"/>
          </a:xfrm>
          <a:custGeom>
            <a:avLst/>
            <a:gdLst/>
            <a:ahLst/>
            <a:cxnLst/>
            <a:rect l="l" t="t" r="r" b="b"/>
            <a:pathLst>
              <a:path w="277494" h="21589">
                <a:moveTo>
                  <a:pt x="0" y="0"/>
                </a:moveTo>
                <a:lnTo>
                  <a:pt x="277368" y="0"/>
                </a:lnTo>
                <a:lnTo>
                  <a:pt x="277368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819119" y="3038855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5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351776" y="3029711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4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819119" y="3029711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5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51776" y="3017520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4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5809976" y="3008376"/>
            <a:ext cx="277495" cy="21590"/>
          </a:xfrm>
          <a:custGeom>
            <a:avLst/>
            <a:gdLst/>
            <a:ahLst/>
            <a:cxnLst/>
            <a:rect l="l" t="t" r="r" b="b"/>
            <a:pathLst>
              <a:path w="277494" h="21589">
                <a:moveTo>
                  <a:pt x="0" y="0"/>
                </a:moveTo>
                <a:lnTo>
                  <a:pt x="277368" y="0"/>
                </a:lnTo>
                <a:lnTo>
                  <a:pt x="277368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351776" y="3008376"/>
            <a:ext cx="268605" cy="21590"/>
          </a:xfrm>
          <a:custGeom>
            <a:avLst/>
            <a:gdLst/>
            <a:ahLst/>
            <a:cxnLst/>
            <a:rect l="l" t="t" r="r" b="b"/>
            <a:pathLst>
              <a:path w="268604" h="21589">
                <a:moveTo>
                  <a:pt x="0" y="0"/>
                </a:moveTo>
                <a:lnTo>
                  <a:pt x="268224" y="0"/>
                </a:lnTo>
                <a:lnTo>
                  <a:pt x="268224" y="21336"/>
                </a:lnTo>
                <a:lnTo>
                  <a:pt x="0" y="2133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478545" y="533400"/>
            <a:ext cx="5638800" cy="901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750" spc="-170"/>
              <a:t>Breadth-</a:t>
            </a:r>
            <a:r>
              <a:rPr dirty="0" sz="5750"/>
              <a:t>first</a:t>
            </a:r>
            <a:r>
              <a:rPr dirty="0" sz="5750" spc="-75"/>
              <a:t> </a:t>
            </a:r>
            <a:r>
              <a:rPr dirty="0" sz="5750" spc="-120"/>
              <a:t>search</a:t>
            </a:r>
            <a:endParaRPr sz="5750"/>
          </a:p>
        </p:txBody>
      </p:sp>
      <p:sp>
        <p:nvSpPr>
          <p:cNvPr id="16" name="object 16" descr=""/>
          <p:cNvSpPr txBox="1"/>
          <p:nvPr/>
        </p:nvSpPr>
        <p:spPr>
          <a:xfrm>
            <a:off x="1092877" y="1599406"/>
            <a:ext cx="17110075" cy="9029065"/>
          </a:xfrm>
          <a:prstGeom prst="rect">
            <a:avLst/>
          </a:prstGeom>
        </p:spPr>
        <p:txBody>
          <a:bodyPr wrap="square" lIns="0" tIns="309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dirty="0" sz="3750" spc="245">
                <a:latin typeface="Times New Roman"/>
                <a:cs typeface="Times New Roman"/>
              </a:rPr>
              <a:t>funcñon</a:t>
            </a:r>
            <a:r>
              <a:rPr dirty="0" sz="3750" spc="400">
                <a:latin typeface="Times New Roman"/>
                <a:cs typeface="Times New Roman"/>
              </a:rPr>
              <a:t> </a:t>
            </a:r>
            <a:r>
              <a:rPr dirty="0" sz="3750" spc="-105">
                <a:latin typeface="Times New Roman"/>
                <a:cs typeface="Times New Roman"/>
              </a:rPr>
              <a:t>BREADTH-</a:t>
            </a:r>
            <a:r>
              <a:rPr dirty="0" sz="3750" spc="-95">
                <a:latin typeface="Times New Roman"/>
                <a:cs typeface="Times New Roman"/>
              </a:rPr>
              <a:t>NIRST-</a:t>
            </a:r>
            <a:r>
              <a:rPr dirty="0" sz="3750" spc="-60">
                <a:latin typeface="Times New Roman"/>
                <a:cs typeface="Times New Roman"/>
              </a:rPr>
              <a:t>SEARCH(pTOblem)</a:t>
            </a:r>
            <a:r>
              <a:rPr dirty="0" sz="3750" spc="225">
                <a:latin typeface="Times New Roman"/>
                <a:cs typeface="Times New Roman"/>
              </a:rPr>
              <a:t> </a:t>
            </a:r>
            <a:r>
              <a:rPr dirty="0" sz="3750" spc="235">
                <a:latin typeface="Times New Roman"/>
                <a:cs typeface="Times New Roman"/>
              </a:rPr>
              <a:t>re$ums</a:t>
            </a:r>
            <a:r>
              <a:rPr dirty="0" sz="3750" spc="-40">
                <a:latin typeface="Times New Roman"/>
                <a:cs typeface="Times New Roman"/>
              </a:rPr>
              <a:t> </a:t>
            </a:r>
            <a:r>
              <a:rPr dirty="0" sz="3750" spc="95">
                <a:solidFill>
                  <a:srgbClr val="080808"/>
                </a:solidFill>
                <a:latin typeface="Times New Roman"/>
                <a:cs typeface="Times New Roman"/>
              </a:rPr>
              <a:t>a</a:t>
            </a:r>
            <a:r>
              <a:rPr dirty="0" sz="3750" spc="65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3750" spc="85">
                <a:latin typeface="Times New Roman"/>
                <a:cs typeface="Times New Roman"/>
              </a:rPr>
              <a:t>solution,</a:t>
            </a:r>
            <a:r>
              <a:rPr dirty="0" sz="3750" spc="65">
                <a:latin typeface="Times New Roman"/>
                <a:cs typeface="Times New Roman"/>
              </a:rPr>
              <a:t> </a:t>
            </a:r>
            <a:r>
              <a:rPr dirty="0" sz="3750" spc="140">
                <a:latin typeface="Times New Roman"/>
                <a:cs typeface="Times New Roman"/>
              </a:rPr>
              <a:t>or</a:t>
            </a:r>
            <a:r>
              <a:rPr dirty="0" sz="3750" spc="-140">
                <a:latin typeface="Times New Roman"/>
                <a:cs typeface="Times New Roman"/>
              </a:rPr>
              <a:t> </a:t>
            </a:r>
            <a:r>
              <a:rPr dirty="0" sz="3750" spc="50">
                <a:latin typeface="Times New Roman"/>
                <a:cs typeface="Times New Roman"/>
              </a:rPr>
              <a:t>fallure</a:t>
            </a:r>
            <a:endParaRPr sz="3750">
              <a:latin typeface="Times New Roman"/>
              <a:cs typeface="Times New Roman"/>
            </a:endParaRPr>
          </a:p>
          <a:p>
            <a:pPr marL="521334" marR="1741170" indent="22860">
              <a:lnSpc>
                <a:spcPct val="103699"/>
              </a:lnSpc>
              <a:spcBef>
                <a:spcPts val="2090"/>
              </a:spcBef>
              <a:tabLst>
                <a:tab pos="2252980" algn="l"/>
                <a:tab pos="6661784" algn="l"/>
                <a:tab pos="7982584" algn="l"/>
                <a:tab pos="14718665" algn="l"/>
                <a:tab pos="15102205" algn="l"/>
              </a:tabLst>
            </a:pPr>
            <a:r>
              <a:rPr dirty="0" sz="3600" spc="65" i="1">
                <a:solidFill>
                  <a:srgbClr val="0F0F0F"/>
                </a:solidFill>
                <a:latin typeface="Cambria"/>
                <a:cs typeface="Cambria"/>
              </a:rPr>
              <a:t>node</a:t>
            </a:r>
            <a:r>
              <a:rPr dirty="0" sz="3600" i="1">
                <a:solidFill>
                  <a:srgbClr val="0F0F0F"/>
                </a:solidFill>
                <a:latin typeface="Cambria"/>
                <a:cs typeface="Cambria"/>
              </a:rPr>
              <a:t>	</a:t>
            </a:r>
            <a:r>
              <a:rPr dirty="0" sz="3600" spc="80">
                <a:latin typeface="Times New Roman"/>
                <a:cs typeface="Times New Roman"/>
              </a:rPr>
              <a:t>a</a:t>
            </a:r>
            <a:r>
              <a:rPr dirty="0" sz="3600" spc="220">
                <a:latin typeface="Times New Roman"/>
                <a:cs typeface="Times New Roman"/>
              </a:rPr>
              <a:t> </a:t>
            </a:r>
            <a:r>
              <a:rPr dirty="0" sz="3600" spc="150">
                <a:latin typeface="Times New Roman"/>
                <a:cs typeface="Times New Roman"/>
              </a:rPr>
              <a:t>node</a:t>
            </a:r>
            <a:r>
              <a:rPr dirty="0" sz="3600" spc="195">
                <a:latin typeface="Times New Roman"/>
                <a:cs typeface="Times New Roman"/>
              </a:rPr>
              <a:t> </a:t>
            </a:r>
            <a:r>
              <a:rPr dirty="0" sz="3600" spc="140">
                <a:latin typeface="Times New Roman"/>
                <a:cs typeface="Times New Roman"/>
              </a:rPr>
              <a:t>with</a:t>
            </a:r>
            <a:r>
              <a:rPr dirty="0" sz="3600" spc="18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STATE</a:t>
            </a:r>
            <a:r>
              <a:rPr dirty="0" sz="3600">
                <a:latin typeface="Times New Roman"/>
                <a:cs typeface="Times New Roman"/>
              </a:rPr>
              <a:t>	prohfeez.INITIAL-</a:t>
            </a:r>
            <a:r>
              <a:rPr dirty="0" sz="3600" spc="60">
                <a:latin typeface="Times New Roman"/>
                <a:cs typeface="Times New Roman"/>
              </a:rPr>
              <a:t>STATE,</a:t>
            </a:r>
            <a:r>
              <a:rPr dirty="0" sz="3600" spc="775">
                <a:latin typeface="Times New Roman"/>
                <a:cs typeface="Times New Roman"/>
              </a:rPr>
              <a:t> </a:t>
            </a:r>
            <a:r>
              <a:rPr dirty="0" sz="3600" spc="-150">
                <a:latin typeface="Times New Roman"/>
                <a:cs typeface="Times New Roman"/>
              </a:rPr>
              <a:t>&amp;ATH-</a:t>
            </a:r>
            <a:r>
              <a:rPr dirty="0" sz="3600" spc="-20">
                <a:latin typeface="Times New Roman"/>
                <a:cs typeface="Times New Roman"/>
              </a:rPr>
              <a:t>COST</a:t>
            </a:r>
            <a:r>
              <a:rPr dirty="0" sz="3600">
                <a:latin typeface="Times New Roman"/>
                <a:cs typeface="Times New Roman"/>
              </a:rPr>
              <a:t>	</a:t>
            </a:r>
            <a:r>
              <a:rPr dirty="0" sz="3600" spc="-50">
                <a:solidFill>
                  <a:srgbClr val="383838"/>
                </a:solidFill>
                <a:latin typeface="Times New Roman"/>
                <a:cs typeface="Times New Roman"/>
              </a:rPr>
              <a:t>-</a:t>
            </a:r>
            <a:r>
              <a:rPr dirty="0" sz="360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dirty="0" sz="3600" spc="-650">
                <a:solidFill>
                  <a:srgbClr val="0C0C0C"/>
                </a:solidFill>
                <a:latin typeface="Times New Roman"/>
                <a:cs typeface="Times New Roman"/>
              </a:rPr>
              <a:t>O </a:t>
            </a:r>
            <a:r>
              <a:rPr dirty="0" sz="3750" spc="-50">
                <a:latin typeface="Times New Roman"/>
                <a:cs typeface="Times New Roman"/>
              </a:rPr>
              <a:t>i£</a:t>
            </a:r>
            <a:r>
              <a:rPr dirty="0" sz="3750" spc="-190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profifexn.GOAL-</a:t>
            </a:r>
            <a:r>
              <a:rPr dirty="0" sz="3750">
                <a:latin typeface="Times New Roman"/>
                <a:cs typeface="Times New Roman"/>
              </a:rPr>
              <a:t>TEST(Rode.S4ATs)</a:t>
            </a:r>
            <a:r>
              <a:rPr dirty="0" sz="3750" spc="270">
                <a:latin typeface="Times New Roman"/>
                <a:cs typeface="Times New Roman"/>
              </a:rPr>
              <a:t> </a:t>
            </a:r>
            <a:r>
              <a:rPr dirty="0" sz="3750" spc="254">
                <a:latin typeface="Times New Roman"/>
                <a:cs typeface="Times New Roman"/>
              </a:rPr>
              <a:t>then</a:t>
            </a:r>
            <a:r>
              <a:rPr dirty="0" sz="3750" spc="220">
                <a:latin typeface="Times New Roman"/>
                <a:cs typeface="Times New Roman"/>
              </a:rPr>
              <a:t> </a:t>
            </a:r>
            <a:r>
              <a:rPr dirty="0" sz="3750" spc="295">
                <a:latin typeface="Times New Roman"/>
                <a:cs typeface="Times New Roman"/>
              </a:rPr>
              <a:t>return</a:t>
            </a:r>
            <a:r>
              <a:rPr dirty="0" sz="3750" spc="190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SOLUTION(node) </a:t>
            </a:r>
            <a:r>
              <a:rPr dirty="0" sz="3900" spc="45" i="1">
                <a:latin typeface="Cambria"/>
                <a:cs typeface="Cambria"/>
              </a:rPr>
              <a:t>fmntier</a:t>
            </a:r>
            <a:r>
              <a:rPr dirty="0" sz="3900" spc="220" i="1">
                <a:latin typeface="Cambria"/>
                <a:cs typeface="Cambria"/>
              </a:rPr>
              <a:t> </a:t>
            </a:r>
            <a:r>
              <a:rPr dirty="0" sz="3900" spc="-409" i="1">
                <a:latin typeface="Cambria"/>
                <a:cs typeface="Cambria"/>
              </a:rPr>
              <a:t>•=-</a:t>
            </a:r>
            <a:r>
              <a:rPr dirty="0" sz="3900" spc="60" i="1">
                <a:latin typeface="Cambria"/>
                <a:cs typeface="Cambria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</a:t>
            </a:r>
            <a:r>
              <a:rPr dirty="0" sz="3900" spc="12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FIFO</a:t>
            </a:r>
            <a:r>
              <a:rPr dirty="0" sz="3900" spc="10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queue</a:t>
            </a:r>
            <a:r>
              <a:rPr dirty="0" sz="3900" spc="16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wi:h</a:t>
            </a:r>
            <a:r>
              <a:rPr dirty="0" sz="3900" spc="430">
                <a:latin typeface="Times New Roman"/>
                <a:cs typeface="Times New Roman"/>
              </a:rPr>
              <a:t> </a:t>
            </a:r>
            <a:r>
              <a:rPr dirty="0" sz="3900" spc="-20" i="1">
                <a:solidFill>
                  <a:srgbClr val="1A1A1A"/>
                </a:solidFill>
                <a:latin typeface="Cambria"/>
                <a:cs typeface="Cambria"/>
              </a:rPr>
              <a:t>node</a:t>
            </a:r>
            <a:r>
              <a:rPr dirty="0" sz="3900" i="1">
                <a:solidFill>
                  <a:srgbClr val="1A1A1A"/>
                </a:solidFill>
                <a:latin typeface="Cambria"/>
                <a:cs typeface="Cambria"/>
              </a:rPr>
              <a:t>	</a:t>
            </a:r>
            <a:r>
              <a:rPr dirty="0" sz="3900" spc="60">
                <a:latin typeface="Times New Roman"/>
                <a:cs typeface="Times New Roman"/>
              </a:rPr>
              <a:t>as</a:t>
            </a:r>
            <a:r>
              <a:rPr dirty="0" sz="3900" spc="-7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tiie</a:t>
            </a:r>
            <a:r>
              <a:rPr dirty="0" sz="3900" spc="-10">
                <a:latin typeface="Times New Roman"/>
                <a:cs typeface="Times New Roman"/>
              </a:rPr>
              <a:t> </a:t>
            </a:r>
            <a:r>
              <a:rPr dirty="0" sz="3900">
                <a:solidFill>
                  <a:srgbClr val="080808"/>
                </a:solidFill>
                <a:latin typeface="Times New Roman"/>
                <a:cs typeface="Times New Roman"/>
              </a:rPr>
              <a:t>only</a:t>
            </a:r>
            <a:r>
              <a:rPr dirty="0" sz="3900" spc="2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element</a:t>
            </a:r>
            <a:endParaRPr sz="3900">
              <a:latin typeface="Times New Roman"/>
              <a:cs typeface="Times New Roman"/>
            </a:endParaRPr>
          </a:p>
          <a:p>
            <a:pPr marL="573405">
              <a:lnSpc>
                <a:spcPct val="100000"/>
              </a:lnSpc>
              <a:spcBef>
                <a:spcPts val="170"/>
              </a:spcBef>
              <a:tabLst>
                <a:tab pos="3023235" algn="l"/>
              </a:tabLst>
            </a:pPr>
            <a:r>
              <a:rPr dirty="0" sz="3850" spc="-10" i="1">
                <a:solidFill>
                  <a:srgbClr val="0C0C0C"/>
                </a:solidFill>
                <a:latin typeface="Cambria"/>
                <a:cs typeface="Cambria"/>
              </a:rPr>
              <a:t>ezplomd</a:t>
            </a:r>
            <a:r>
              <a:rPr dirty="0" sz="3850" i="1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dirty="0" sz="3850" spc="50">
                <a:latin typeface="Times New Roman"/>
                <a:cs typeface="Times New Roman"/>
              </a:rPr>
              <a:t>an</a:t>
            </a:r>
            <a:r>
              <a:rPr dirty="0" sz="3850" spc="100">
                <a:latin typeface="Times New Roman"/>
                <a:cs typeface="Times New Roman"/>
              </a:rPr>
              <a:t> </a:t>
            </a:r>
            <a:r>
              <a:rPr dirty="0" sz="3850">
                <a:latin typeface="Times New Roman"/>
                <a:cs typeface="Times New Roman"/>
              </a:rPr>
              <a:t>empty</a:t>
            </a:r>
            <a:r>
              <a:rPr dirty="0" sz="3850" spc="254">
                <a:latin typeface="Times New Roman"/>
                <a:cs typeface="Times New Roman"/>
              </a:rPr>
              <a:t> </a:t>
            </a:r>
            <a:r>
              <a:rPr dirty="0" sz="3850" spc="-25">
                <a:latin typeface="Times New Roman"/>
                <a:cs typeface="Times New Roman"/>
              </a:rPr>
              <a:t>set</a:t>
            </a:r>
            <a:endParaRPr sz="3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850">
              <a:latin typeface="Times New Roman"/>
              <a:cs typeface="Times New Roman"/>
            </a:endParaRPr>
          </a:p>
          <a:p>
            <a:pPr marL="1292860">
              <a:lnSpc>
                <a:spcPct val="100000"/>
              </a:lnSpc>
              <a:tabLst>
                <a:tab pos="6885305" algn="l"/>
              </a:tabLst>
            </a:pPr>
            <a:r>
              <a:rPr dirty="0" sz="3850" spc="-75">
                <a:solidFill>
                  <a:srgbClr val="0A0A0A"/>
                </a:solidFill>
                <a:latin typeface="Times New Roman"/>
                <a:cs typeface="Times New Roman"/>
              </a:rPr>
              <a:t>i$</a:t>
            </a:r>
            <a:r>
              <a:rPr dirty="0" sz="3850" spc="-40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3850" spc="95">
                <a:latin typeface="Times New Roman"/>
                <a:cs typeface="Times New Roman"/>
              </a:rPr>
              <a:t>CMPTY?(frontier}</a:t>
            </a:r>
            <a:r>
              <a:rPr dirty="0" sz="3850" spc="-285">
                <a:latin typeface="Times New Roman"/>
                <a:cs typeface="Times New Roman"/>
              </a:rPr>
              <a:t> </a:t>
            </a:r>
            <a:r>
              <a:rPr dirty="0" sz="3850" spc="100">
                <a:latin typeface="Times New Roman"/>
                <a:cs typeface="Times New Roman"/>
              </a:rPr>
              <a:t>Gen</a:t>
            </a:r>
            <a:r>
              <a:rPr dirty="0" sz="3850">
                <a:latin typeface="Times New Roman"/>
                <a:cs typeface="Times New Roman"/>
              </a:rPr>
              <a:t>	</a:t>
            </a:r>
            <a:r>
              <a:rPr dirty="0" sz="3850" spc="275">
                <a:latin typeface="Times New Roman"/>
                <a:cs typeface="Times New Roman"/>
              </a:rPr>
              <a:t>return</a:t>
            </a:r>
            <a:r>
              <a:rPr dirty="0" sz="3850" spc="-25">
                <a:latin typeface="Times New Roman"/>
                <a:cs typeface="Times New Roman"/>
              </a:rPr>
              <a:t> </a:t>
            </a:r>
            <a:r>
              <a:rPr dirty="0" sz="3850" spc="-10">
                <a:latin typeface="Times New Roman"/>
                <a:cs typeface="Times New Roman"/>
              </a:rPr>
              <a:t>failure</a:t>
            </a:r>
            <a:endParaRPr sz="3850">
              <a:latin typeface="Times New Roman"/>
              <a:cs typeface="Times New Roman"/>
            </a:endParaRPr>
          </a:p>
          <a:p>
            <a:pPr marL="1315085">
              <a:lnSpc>
                <a:spcPct val="100000"/>
              </a:lnSpc>
              <a:spcBef>
                <a:spcPts val="180"/>
              </a:spcBef>
              <a:tabLst>
                <a:tab pos="3032760" algn="l"/>
                <a:tab pos="6402070" algn="l"/>
                <a:tab pos="11667490" algn="l"/>
              </a:tabLst>
            </a:pPr>
            <a:r>
              <a:rPr dirty="0" sz="3850" spc="-20" i="1">
                <a:solidFill>
                  <a:srgbClr val="1F1F1F"/>
                </a:solidFill>
                <a:latin typeface="Cambria"/>
                <a:cs typeface="Cambria"/>
              </a:rPr>
              <a:t>nade</a:t>
            </a:r>
            <a:r>
              <a:rPr dirty="0" sz="3850" i="1">
                <a:solidFill>
                  <a:srgbClr val="1F1F1F"/>
                </a:solidFill>
                <a:latin typeface="Cambria"/>
                <a:cs typeface="Cambria"/>
              </a:rPr>
              <a:t>	</a:t>
            </a:r>
            <a:r>
              <a:rPr dirty="0" sz="3850" spc="85">
                <a:latin typeface="Times New Roman"/>
                <a:cs typeface="Times New Roman"/>
              </a:rPr>
              <a:t>POP(,/ronfier)</a:t>
            </a:r>
            <a:r>
              <a:rPr dirty="0" sz="3850">
                <a:latin typeface="Times New Roman"/>
                <a:cs typeface="Times New Roman"/>
              </a:rPr>
              <a:t>	</a:t>
            </a:r>
            <a:r>
              <a:rPr dirty="0" sz="3850" spc="105">
                <a:solidFill>
                  <a:srgbClr val="2F2F2F"/>
                </a:solidFill>
                <a:latin typeface="Times New Roman"/>
                <a:cs typeface="Times New Roman"/>
              </a:rPr>
              <a:t>/*</a:t>
            </a:r>
            <a:r>
              <a:rPr dirty="0" sz="3850" spc="-85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3850">
                <a:latin typeface="Times New Roman"/>
                <a:cs typeface="Times New Roman"/>
              </a:rPr>
              <a:t>chooses</a:t>
            </a:r>
            <a:r>
              <a:rPr dirty="0" sz="3850" spc="295">
                <a:latin typeface="Times New Roman"/>
                <a:cs typeface="Times New Roman"/>
              </a:rPr>
              <a:t> </a:t>
            </a:r>
            <a:r>
              <a:rPr dirty="0" sz="3850">
                <a:latin typeface="Times New Roman"/>
                <a:cs typeface="Times New Roman"/>
              </a:rPr>
              <a:t>the</a:t>
            </a:r>
            <a:r>
              <a:rPr dirty="0" sz="3850" spc="165">
                <a:latin typeface="Times New Roman"/>
                <a:cs typeface="Times New Roman"/>
              </a:rPr>
              <a:t> </a:t>
            </a:r>
            <a:r>
              <a:rPr dirty="0" sz="3850" spc="-10">
                <a:latin typeface="Times New Roman"/>
                <a:cs typeface="Times New Roman"/>
              </a:rPr>
              <a:t>shallowest</a:t>
            </a:r>
            <a:r>
              <a:rPr dirty="0" sz="3850">
                <a:latin typeface="Times New Roman"/>
                <a:cs typeface="Times New Roman"/>
              </a:rPr>
              <a:t>	node</a:t>
            </a:r>
            <a:r>
              <a:rPr dirty="0" sz="3850" spc="30">
                <a:latin typeface="Times New Roman"/>
                <a:cs typeface="Times New Roman"/>
              </a:rPr>
              <a:t> </a:t>
            </a:r>
            <a:r>
              <a:rPr dirty="0" sz="3850" spc="60">
                <a:latin typeface="Times New Roman"/>
                <a:cs typeface="Times New Roman"/>
              </a:rPr>
              <a:t>in</a:t>
            </a:r>
            <a:r>
              <a:rPr dirty="0" sz="3850">
                <a:latin typeface="Times New Roman"/>
                <a:cs typeface="Times New Roman"/>
              </a:rPr>
              <a:t> </a:t>
            </a:r>
            <a:r>
              <a:rPr dirty="0" sz="3850" spc="225">
                <a:solidFill>
                  <a:srgbClr val="343434"/>
                </a:solidFill>
                <a:latin typeface="Times New Roman"/>
                <a:cs typeface="Times New Roman"/>
              </a:rPr>
              <a:t>/rontier</a:t>
            </a:r>
            <a:r>
              <a:rPr dirty="0" sz="3850" spc="47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3850" spc="75">
                <a:solidFill>
                  <a:srgbClr val="383838"/>
                </a:solidFill>
                <a:latin typeface="Times New Roman"/>
                <a:cs typeface="Times New Roman"/>
              </a:rPr>
              <a:t>*/</a:t>
            </a:r>
            <a:endParaRPr sz="3850">
              <a:latin typeface="Times New Roman"/>
              <a:cs typeface="Times New Roman"/>
            </a:endParaRPr>
          </a:p>
          <a:p>
            <a:pPr marL="1290320">
              <a:lnSpc>
                <a:spcPct val="100000"/>
              </a:lnSpc>
              <a:spcBef>
                <a:spcPts val="280"/>
              </a:spcBef>
            </a:pPr>
            <a:r>
              <a:rPr dirty="0" sz="3750" spc="70">
                <a:latin typeface="Times New Roman"/>
                <a:cs typeface="Times New Roman"/>
              </a:rPr>
              <a:t>add</a:t>
            </a:r>
            <a:r>
              <a:rPr dirty="0" sz="3750" spc="320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code.STATE</a:t>
            </a:r>
            <a:r>
              <a:rPr dirty="0" sz="3750" spc="315">
                <a:latin typeface="Times New Roman"/>
                <a:cs typeface="Times New Roman"/>
              </a:rPr>
              <a:t> </a:t>
            </a:r>
            <a:r>
              <a:rPr dirty="0" sz="3750" spc="100">
                <a:solidFill>
                  <a:srgbClr val="151515"/>
                </a:solidFill>
                <a:latin typeface="Times New Roman"/>
                <a:cs typeface="Times New Roman"/>
              </a:rPr>
              <a:t>to</a:t>
            </a:r>
            <a:r>
              <a:rPr dirty="0" sz="3750" spc="18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3750" spc="-10" i="1">
                <a:solidFill>
                  <a:srgbClr val="161616"/>
                </a:solidFill>
                <a:latin typeface="Cambria"/>
                <a:cs typeface="Cambria"/>
              </a:rPr>
              <a:t>ezg!ored</a:t>
            </a:r>
            <a:endParaRPr sz="3750">
              <a:latin typeface="Cambria"/>
              <a:cs typeface="Cambria"/>
            </a:endParaRPr>
          </a:p>
          <a:p>
            <a:pPr marL="1288415">
              <a:lnSpc>
                <a:spcPct val="100000"/>
              </a:lnSpc>
              <a:spcBef>
                <a:spcPts val="340"/>
              </a:spcBef>
              <a:tabLst>
                <a:tab pos="2051685" algn="l"/>
              </a:tabLst>
            </a:pPr>
            <a:r>
              <a:rPr dirty="0" sz="3750" spc="-25">
                <a:latin typeface="Times New Roman"/>
                <a:cs typeface="Times New Roman"/>
              </a:rPr>
              <a:t>for</a:t>
            </a:r>
            <a:r>
              <a:rPr dirty="0" sz="3750">
                <a:latin typeface="Times New Roman"/>
                <a:cs typeface="Times New Roman"/>
              </a:rPr>
              <a:t>	</a:t>
            </a:r>
            <a:r>
              <a:rPr dirty="0" sz="3750" spc="204">
                <a:latin typeface="Times New Roman"/>
                <a:cs typeface="Times New Roman"/>
              </a:rPr>
              <a:t>each</a:t>
            </a:r>
            <a:r>
              <a:rPr dirty="0" sz="3750" spc="535">
                <a:latin typeface="Times New Roman"/>
                <a:cs typeface="Times New Roman"/>
              </a:rPr>
              <a:t> </a:t>
            </a:r>
            <a:r>
              <a:rPr dirty="0" sz="3750" spc="185" i="1">
                <a:latin typeface="Cambria"/>
                <a:cs typeface="Cambria"/>
              </a:rPr>
              <a:t>ac!ion</a:t>
            </a:r>
            <a:r>
              <a:rPr dirty="0" sz="3750" spc="240" i="1">
                <a:latin typeface="Cambria"/>
                <a:cs typeface="Cambria"/>
              </a:rPr>
              <a:t> </a:t>
            </a:r>
            <a:r>
              <a:rPr dirty="0" sz="3750" spc="185">
                <a:latin typeface="Times New Roman"/>
                <a:cs typeface="Times New Roman"/>
              </a:rPr>
              <a:t>in</a:t>
            </a:r>
            <a:r>
              <a:rPr dirty="0" sz="3750" spc="400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problem.ACTIONS(node.STATE)</a:t>
            </a:r>
            <a:r>
              <a:rPr dirty="0" sz="3750" spc="210">
                <a:latin typeface="Times New Roman"/>
                <a:cs typeface="Times New Roman"/>
              </a:rPr>
              <a:t> </a:t>
            </a:r>
            <a:r>
              <a:rPr dirty="0" sz="3750" spc="-25">
                <a:latin typeface="Times New Roman"/>
                <a:cs typeface="Times New Roman"/>
              </a:rPr>
              <a:t>do</a:t>
            </a:r>
            <a:endParaRPr sz="3750">
              <a:latin typeface="Times New Roman"/>
              <a:cs typeface="Times New Roman"/>
            </a:endParaRPr>
          </a:p>
          <a:p>
            <a:pPr marL="2077720">
              <a:lnSpc>
                <a:spcPct val="100000"/>
              </a:lnSpc>
              <a:spcBef>
                <a:spcPts val="310"/>
              </a:spcBef>
              <a:tabLst>
                <a:tab pos="3833495" algn="l"/>
              </a:tabLst>
            </a:pPr>
            <a:r>
              <a:rPr dirty="0" sz="3700" spc="90" i="1">
                <a:latin typeface="Cambria"/>
                <a:cs typeface="Cambria"/>
              </a:rPr>
              <a:t>child</a:t>
            </a:r>
            <a:r>
              <a:rPr dirty="0" sz="3700" i="1">
                <a:latin typeface="Cambria"/>
                <a:cs typeface="Cambria"/>
              </a:rPr>
              <a:t>	</a:t>
            </a:r>
            <a:r>
              <a:rPr dirty="0" sz="3700" spc="95">
                <a:latin typeface="Times New Roman"/>
                <a:cs typeface="Times New Roman"/>
              </a:rPr>
              <a:t>CHILD-</a:t>
            </a:r>
            <a:r>
              <a:rPr dirty="0" sz="3700" spc="100">
                <a:latin typeface="Times New Roman"/>
                <a:cs typeface="Times New Roman"/>
              </a:rPr>
              <a:t>NODE(problem,</a:t>
            </a:r>
            <a:r>
              <a:rPr dirty="0" sz="3700" spc="60">
                <a:latin typeface="Times New Roman"/>
                <a:cs typeface="Times New Roman"/>
              </a:rPr>
              <a:t> </a:t>
            </a:r>
            <a:r>
              <a:rPr dirty="0" sz="3700" spc="160">
                <a:solidFill>
                  <a:srgbClr val="1C1C1C"/>
                </a:solidFill>
                <a:latin typeface="Times New Roman"/>
                <a:cs typeface="Times New Roman"/>
              </a:rPr>
              <a:t>node,</a:t>
            </a:r>
            <a:r>
              <a:rPr dirty="0" sz="3700" spc="9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3700" spc="180">
                <a:solidFill>
                  <a:srgbClr val="0A0A0A"/>
                </a:solidFill>
                <a:latin typeface="Times New Roman"/>
                <a:cs typeface="Times New Roman"/>
              </a:rPr>
              <a:t>nction)</a:t>
            </a:r>
            <a:endParaRPr sz="3700">
              <a:latin typeface="Times New Roman"/>
              <a:cs typeface="Times New Roman"/>
            </a:endParaRPr>
          </a:p>
          <a:p>
            <a:pPr marL="2054860">
              <a:lnSpc>
                <a:spcPct val="100000"/>
              </a:lnSpc>
              <a:spcBef>
                <a:spcPts val="235"/>
              </a:spcBef>
              <a:tabLst>
                <a:tab pos="6992620" algn="l"/>
                <a:tab pos="8910320" algn="l"/>
              </a:tabLst>
            </a:pPr>
            <a:r>
              <a:rPr dirty="0" sz="3900">
                <a:solidFill>
                  <a:srgbClr val="080808"/>
                </a:solidFill>
                <a:latin typeface="Times New Roman"/>
                <a:cs typeface="Times New Roman"/>
              </a:rPr>
              <a:t>i£</a:t>
            </a:r>
            <a:r>
              <a:rPr dirty="0" sz="3900" spc="-12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3900" spc="-150">
                <a:latin typeface="Times New Roman"/>
                <a:cs typeface="Times New Roman"/>
              </a:rPr>
              <a:t>cfiiId.STATE</a:t>
            </a:r>
            <a:r>
              <a:rPr dirty="0" sz="3900" spc="140">
                <a:latin typeface="Times New Roman"/>
                <a:cs typeface="Times New Roman"/>
              </a:rPr>
              <a:t> </a:t>
            </a:r>
            <a:r>
              <a:rPr dirty="0" sz="3900">
                <a:solidFill>
                  <a:srgbClr val="1C1C1C"/>
                </a:solidFill>
                <a:latin typeface="Times New Roman"/>
                <a:cs typeface="Times New Roman"/>
              </a:rPr>
              <a:t>is</a:t>
            </a:r>
            <a:r>
              <a:rPr dirty="0" sz="3900" spc="-8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not</a:t>
            </a:r>
            <a:r>
              <a:rPr dirty="0" sz="3900" spc="-50">
                <a:latin typeface="Times New Roman"/>
                <a:cs typeface="Times New Roman"/>
              </a:rPr>
              <a:t> </a:t>
            </a:r>
            <a:r>
              <a:rPr dirty="0" sz="3900" spc="-25">
                <a:latin typeface="Times New Roman"/>
                <a:cs typeface="Times New Roman"/>
              </a:rPr>
              <a:t>in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 i="1">
                <a:solidFill>
                  <a:srgbClr val="0E0E0E"/>
                </a:solidFill>
                <a:latin typeface="Cambria"/>
                <a:cs typeface="Cambria"/>
              </a:rPr>
              <a:t>explored</a:t>
            </a:r>
            <a:r>
              <a:rPr dirty="0" sz="3900" i="1">
                <a:solidFill>
                  <a:srgbClr val="0E0E0E"/>
                </a:solidFill>
                <a:latin typeface="Cambria"/>
                <a:cs typeface="Cambria"/>
              </a:rPr>
              <a:t>	</a:t>
            </a:r>
            <a:r>
              <a:rPr dirty="0" sz="3900">
                <a:latin typeface="Times New Roman"/>
                <a:cs typeface="Times New Roman"/>
              </a:rPr>
              <a:t>or</a:t>
            </a:r>
            <a:r>
              <a:rPr dirty="0" sz="3900" spc="-70">
                <a:latin typeface="Times New Roman"/>
                <a:cs typeface="Times New Roman"/>
              </a:rPr>
              <a:t> </a:t>
            </a:r>
            <a:r>
              <a:rPr dirty="0" sz="3900" spc="200">
                <a:solidFill>
                  <a:srgbClr val="313131"/>
                </a:solidFill>
                <a:latin typeface="Times New Roman"/>
                <a:cs typeface="Times New Roman"/>
              </a:rPr>
              <a:t>/roofier</a:t>
            </a:r>
            <a:r>
              <a:rPr dirty="0" sz="3900" spc="8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3900" spc="310">
                <a:latin typeface="Times New Roman"/>
                <a:cs typeface="Times New Roman"/>
              </a:rPr>
              <a:t>&amp;en</a:t>
            </a:r>
            <a:endParaRPr sz="3900">
              <a:latin typeface="Times New Roman"/>
              <a:cs typeface="Times New Roman"/>
            </a:endParaRPr>
          </a:p>
          <a:p>
            <a:pPr marL="2839085" marR="5080" indent="-22225">
              <a:lnSpc>
                <a:spcPct val="103299"/>
              </a:lnSpc>
              <a:spcBef>
                <a:spcPts val="120"/>
              </a:spcBef>
              <a:tabLst>
                <a:tab pos="5219700" algn="l"/>
              </a:tabLst>
            </a:pPr>
            <a:r>
              <a:rPr dirty="0" sz="3750">
                <a:latin typeface="Times New Roman"/>
                <a:cs typeface="Times New Roman"/>
              </a:rPr>
              <a:t>if</a:t>
            </a:r>
            <a:r>
              <a:rPr dirty="0" sz="3750" spc="509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proh/em.GOAL-TEST(cfii/d.STATE)</a:t>
            </a:r>
            <a:r>
              <a:rPr dirty="0" sz="3750" spc="655">
                <a:latin typeface="Times New Roman"/>
                <a:cs typeface="Times New Roman"/>
              </a:rPr>
              <a:t> </a:t>
            </a:r>
            <a:r>
              <a:rPr dirty="0" sz="3750" spc="225">
                <a:latin typeface="Times New Roman"/>
                <a:cs typeface="Times New Roman"/>
              </a:rPr>
              <a:t>then</a:t>
            </a:r>
            <a:r>
              <a:rPr dirty="0" sz="3750" spc="530">
                <a:latin typeface="Times New Roman"/>
                <a:cs typeface="Times New Roman"/>
              </a:rPr>
              <a:t> </a:t>
            </a:r>
            <a:r>
              <a:rPr dirty="0" sz="3750" spc="310">
                <a:latin typeface="Times New Roman"/>
                <a:cs typeface="Times New Roman"/>
              </a:rPr>
              <a:t>return</a:t>
            </a:r>
            <a:r>
              <a:rPr dirty="0" sz="3750" spc="135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SOLUTION(chi!d) </a:t>
            </a:r>
            <a:r>
              <a:rPr dirty="0" sz="3750" spc="120">
                <a:solidFill>
                  <a:srgbClr val="0A0A0A"/>
                </a:solidFill>
                <a:latin typeface="Times New Roman"/>
                <a:cs typeface="Times New Roman"/>
              </a:rPr>
              <a:t>j7onfier</a:t>
            </a:r>
            <a:r>
              <a:rPr dirty="0" sz="3750">
                <a:solidFill>
                  <a:srgbClr val="0A0A0A"/>
                </a:solidFill>
                <a:latin typeface="Times New Roman"/>
                <a:cs typeface="Times New Roman"/>
              </a:rPr>
              <a:t>	</a:t>
            </a:r>
            <a:r>
              <a:rPr dirty="0" sz="3750" spc="-30">
                <a:latin typeface="Times New Roman"/>
                <a:cs typeface="Times New Roman"/>
              </a:rPr>
              <a:t>INSERT(chéId,</a:t>
            </a:r>
            <a:r>
              <a:rPr dirty="0" sz="3750" spc="65">
                <a:latin typeface="Times New Roman"/>
                <a:cs typeface="Times New Roman"/>
              </a:rPr>
              <a:t> </a:t>
            </a:r>
            <a:r>
              <a:rPr dirty="0" sz="3750" spc="60" i="1">
                <a:solidFill>
                  <a:srgbClr val="0C0C0C"/>
                </a:solidFill>
                <a:latin typeface="Cambria"/>
                <a:cs typeface="Cambria"/>
              </a:rPr>
              <a:t>frontier)</a:t>
            </a:r>
            <a:endParaRPr sz="3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03007" y="1065275"/>
            <a:ext cx="356870" cy="0"/>
          </a:xfrm>
          <a:custGeom>
            <a:avLst/>
            <a:gdLst/>
            <a:ahLst/>
            <a:cxnLst/>
            <a:rect l="l" t="t" r="r" b="b"/>
            <a:pathLst>
              <a:path w="356870" h="0">
                <a:moveTo>
                  <a:pt x="0" y="0"/>
                </a:moveTo>
                <a:lnTo>
                  <a:pt x="356616" y="0"/>
                </a:lnTo>
              </a:path>
            </a:pathLst>
          </a:custGeom>
          <a:ln w="21336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8545" y="533400"/>
            <a:ext cx="11066145" cy="901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78885" algn="l"/>
                <a:tab pos="6336030" algn="l"/>
              </a:tabLst>
            </a:pPr>
            <a:r>
              <a:rPr dirty="0" sz="5750" spc="-515"/>
              <a:t>Breadth—</a:t>
            </a:r>
            <a:r>
              <a:rPr dirty="0" sz="5750" spc="-330"/>
              <a:t>first</a:t>
            </a:r>
            <a:r>
              <a:rPr dirty="0" sz="5750"/>
              <a:t>	</a:t>
            </a:r>
            <a:r>
              <a:rPr dirty="0" sz="5750" spc="-10"/>
              <a:t>search</a:t>
            </a:r>
            <a:r>
              <a:rPr dirty="0" sz="5750"/>
              <a:t>	</a:t>
            </a:r>
            <a:r>
              <a:rPr dirty="0" sz="5750" spc="-20"/>
              <a:t>Time</a:t>
            </a:r>
            <a:r>
              <a:rPr dirty="0" sz="5750" spc="-285"/>
              <a:t> </a:t>
            </a:r>
            <a:r>
              <a:rPr dirty="0" sz="5750" spc="-165"/>
              <a:t>Complexity</a:t>
            </a:r>
            <a:endParaRPr sz="5750"/>
          </a:p>
        </p:txBody>
      </p:sp>
      <p:sp>
        <p:nvSpPr>
          <p:cNvPr id="4" name="object 4" descr=""/>
          <p:cNvSpPr txBox="1"/>
          <p:nvPr/>
        </p:nvSpPr>
        <p:spPr>
          <a:xfrm>
            <a:off x="1434023" y="1841182"/>
            <a:ext cx="16379825" cy="655828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411480" indent="-386080">
              <a:lnSpc>
                <a:spcPct val="100000"/>
              </a:lnSpc>
              <a:spcBef>
                <a:spcPts val="1090"/>
              </a:spcBef>
              <a:buChar char="•"/>
              <a:tabLst>
                <a:tab pos="411480" algn="l"/>
              </a:tabLst>
            </a:pPr>
            <a:r>
              <a:rPr dirty="0" sz="4550" spc="-10">
                <a:latin typeface="Calibri"/>
                <a:cs typeface="Calibri"/>
              </a:rPr>
              <a:t>Imagine</a:t>
            </a:r>
            <a:r>
              <a:rPr dirty="0" sz="4550" spc="-229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searching</a:t>
            </a:r>
            <a:r>
              <a:rPr dirty="0" sz="4550" spc="-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uniform</a:t>
            </a:r>
            <a:r>
              <a:rPr dirty="0" sz="4550" spc="-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tree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where</a:t>
            </a:r>
            <a:r>
              <a:rPr dirty="0" sz="4550" spc="-1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every</a:t>
            </a:r>
            <a:r>
              <a:rPr dirty="0" sz="4550" spc="-105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state</a:t>
            </a:r>
            <a:r>
              <a:rPr dirty="0" sz="4550" spc="-1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has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190">
                <a:latin typeface="Calibri"/>
                <a:cs typeface="Calibri"/>
              </a:rPr>
              <a:t>b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successors.</a:t>
            </a:r>
            <a:endParaRPr sz="4550">
              <a:latin typeface="Calibri"/>
              <a:cs typeface="Calibri"/>
            </a:endParaRPr>
          </a:p>
          <a:p>
            <a:pPr marL="417195" indent="-391795">
              <a:lnSpc>
                <a:spcPct val="100000"/>
              </a:lnSpc>
              <a:spcBef>
                <a:spcPts val="990"/>
              </a:spcBef>
              <a:buChar char="•"/>
              <a:tabLst>
                <a:tab pos="417195" algn="l"/>
              </a:tabLst>
            </a:pP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root</a:t>
            </a:r>
            <a:r>
              <a:rPr dirty="0" sz="4550" spc="-20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35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search</a:t>
            </a:r>
            <a:r>
              <a:rPr dirty="0" sz="4550" spc="-1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tree</a:t>
            </a:r>
            <a:r>
              <a:rPr dirty="0" sz="4550" spc="-140">
                <a:latin typeface="Calibri"/>
                <a:cs typeface="Calibri"/>
              </a:rPr>
              <a:t> </a:t>
            </a:r>
            <a:r>
              <a:rPr dirty="0" sz="4550" spc="-65">
                <a:latin typeface="Calibri"/>
                <a:cs typeface="Calibri"/>
              </a:rPr>
              <a:t>generates</a:t>
            </a:r>
            <a:r>
              <a:rPr dirty="0" sz="4550" spc="5">
                <a:latin typeface="Calibri"/>
                <a:cs typeface="Calibri"/>
              </a:rPr>
              <a:t> </a:t>
            </a:r>
            <a:r>
              <a:rPr dirty="0" sz="4550" spc="190">
                <a:latin typeface="Calibri"/>
                <a:cs typeface="Calibri"/>
              </a:rPr>
              <a:t>b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nodes</a:t>
            </a:r>
            <a:r>
              <a:rPr dirty="0" sz="4550" spc="-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at</a:t>
            </a:r>
            <a:r>
              <a:rPr dirty="0" sz="4550" spc="-2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80">
                <a:latin typeface="Calibri"/>
                <a:cs typeface="Calibri"/>
              </a:rPr>
              <a:t> </a:t>
            </a:r>
            <a:r>
              <a:rPr dirty="0" sz="4550" spc="-30">
                <a:latin typeface="Calibri"/>
                <a:cs typeface="Calibri"/>
              </a:rPr>
              <a:t>first</a:t>
            </a:r>
            <a:r>
              <a:rPr dirty="0" sz="4550" spc="-18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level,</a:t>
            </a:r>
            <a:endParaRPr sz="4550">
              <a:latin typeface="Calibri"/>
              <a:cs typeface="Calibri"/>
            </a:endParaRPr>
          </a:p>
          <a:p>
            <a:pPr marL="415290" indent="-389890">
              <a:lnSpc>
                <a:spcPts val="5210"/>
              </a:lnSpc>
              <a:spcBef>
                <a:spcPts val="940"/>
              </a:spcBef>
              <a:buChar char="•"/>
              <a:tabLst>
                <a:tab pos="415290" algn="l"/>
              </a:tabLst>
            </a:pPr>
            <a:r>
              <a:rPr dirty="0" sz="4600" spc="-20">
                <a:latin typeface="Calibri"/>
                <a:cs typeface="Calibri"/>
              </a:rPr>
              <a:t>each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which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 spc="-100">
                <a:latin typeface="Calibri"/>
                <a:cs typeface="Calibri"/>
              </a:rPr>
              <a:t>generates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 spc="165">
                <a:latin typeface="Calibri"/>
                <a:cs typeface="Calibri"/>
              </a:rPr>
              <a:t>b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more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nodes,</a:t>
            </a:r>
            <a:r>
              <a:rPr dirty="0" sz="4600" spc="-9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for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total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 spc="165">
                <a:latin typeface="Calibri"/>
                <a:cs typeface="Calibri"/>
              </a:rPr>
              <a:t>b</a:t>
            </a:r>
            <a:r>
              <a:rPr dirty="0" baseline="28301" sz="3975" spc="247">
                <a:latin typeface="Calibri"/>
                <a:cs typeface="Calibri"/>
              </a:rPr>
              <a:t>2</a:t>
            </a:r>
            <a:r>
              <a:rPr dirty="0" sz="4600" spc="165">
                <a:latin typeface="Calibri"/>
                <a:cs typeface="Calibri"/>
              </a:rPr>
              <a:t>at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second</a:t>
            </a:r>
            <a:endParaRPr sz="4600">
              <a:latin typeface="Calibri"/>
              <a:cs typeface="Calibri"/>
            </a:endParaRPr>
          </a:p>
          <a:p>
            <a:pPr marL="408940">
              <a:lnSpc>
                <a:spcPts val="5090"/>
              </a:lnSpc>
            </a:pPr>
            <a:r>
              <a:rPr dirty="0" sz="4500" spc="-10">
                <a:latin typeface="Calibri"/>
                <a:cs typeface="Calibri"/>
              </a:rPr>
              <a:t>level.</a:t>
            </a:r>
            <a:endParaRPr sz="4500">
              <a:latin typeface="Calibri"/>
              <a:cs typeface="Calibri"/>
            </a:endParaRPr>
          </a:p>
          <a:p>
            <a:pPr marL="408940" marR="372745" indent="-382905">
              <a:lnSpc>
                <a:spcPts val="4840"/>
              </a:lnSpc>
              <a:spcBef>
                <a:spcPts val="1639"/>
              </a:spcBef>
              <a:buChar char="•"/>
              <a:tabLst>
                <a:tab pos="408940" algn="l"/>
                <a:tab pos="411480" algn="l"/>
              </a:tabLst>
            </a:pPr>
            <a:r>
              <a:rPr dirty="0" sz="4500">
                <a:latin typeface="Calibri"/>
                <a:cs typeface="Calibri"/>
              </a:rPr>
              <a:t>	Each</a:t>
            </a:r>
            <a:r>
              <a:rPr dirty="0" sz="4500" spc="-1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 i="1">
                <a:latin typeface="Calibri"/>
                <a:cs typeface="Calibri"/>
              </a:rPr>
              <a:t>these </a:t>
            </a:r>
            <a:r>
              <a:rPr dirty="0" sz="4500" spc="-45">
                <a:latin typeface="Calibri"/>
                <a:cs typeface="Calibri"/>
              </a:rPr>
              <a:t>generates</a:t>
            </a:r>
            <a:r>
              <a:rPr dirty="0" sz="4500" spc="-35">
                <a:latin typeface="Calibri"/>
                <a:cs typeface="Calibri"/>
              </a:rPr>
              <a:t> </a:t>
            </a:r>
            <a:r>
              <a:rPr dirty="0" sz="4500" spc="210">
                <a:latin typeface="Calibri"/>
                <a:cs typeface="Calibri"/>
              </a:rPr>
              <a:t>b</a:t>
            </a:r>
            <a:r>
              <a:rPr dirty="0" sz="4500" spc="-254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more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nodes,</a:t>
            </a:r>
            <a:r>
              <a:rPr dirty="0" sz="4500" spc="-6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yielding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 spc="90">
                <a:latin typeface="Calibri"/>
                <a:cs typeface="Calibri"/>
              </a:rPr>
              <a:t>b</a:t>
            </a:r>
            <a:r>
              <a:rPr dirty="0" baseline="31400" sz="3450" spc="135">
                <a:latin typeface="Calibri"/>
                <a:cs typeface="Calibri"/>
              </a:rPr>
              <a:t>3</a:t>
            </a:r>
            <a:r>
              <a:rPr dirty="0" baseline="31400" sz="345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nodes</a:t>
            </a:r>
            <a:r>
              <a:rPr dirty="0" sz="4500" spc="-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at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1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third </a:t>
            </a:r>
            <a:r>
              <a:rPr dirty="0" sz="4500">
                <a:latin typeface="Calibri"/>
                <a:cs typeface="Calibri"/>
              </a:rPr>
              <a:t>level,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-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so</a:t>
            </a:r>
            <a:r>
              <a:rPr dirty="0" sz="4500" spc="-17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on.</a:t>
            </a:r>
            <a:endParaRPr sz="4500">
              <a:latin typeface="Calibri"/>
              <a:cs typeface="Calibri"/>
            </a:endParaRPr>
          </a:p>
          <a:p>
            <a:pPr marL="411480" marR="17780" indent="-385445">
              <a:lnSpc>
                <a:spcPct val="89200"/>
              </a:lnSpc>
              <a:spcBef>
                <a:spcPts val="1525"/>
              </a:spcBef>
              <a:buChar char="•"/>
              <a:tabLst>
                <a:tab pos="414020" algn="l"/>
                <a:tab pos="13780769" algn="l"/>
              </a:tabLst>
            </a:pPr>
            <a:r>
              <a:rPr dirty="0" sz="4500">
                <a:latin typeface="Calibri"/>
                <a:cs typeface="Calibri"/>
              </a:rPr>
              <a:t>Now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suppose</a:t>
            </a:r>
            <a:r>
              <a:rPr dirty="0" sz="4500" spc="-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0860B1"/>
                </a:solidFill>
                <a:latin typeface="Calibri"/>
                <a:cs typeface="Calibri"/>
              </a:rPr>
              <a:t>the</a:t>
            </a:r>
            <a:r>
              <a:rPr dirty="0" sz="4500" spc="-150">
                <a:solidFill>
                  <a:srgbClr val="0860B1"/>
                </a:solidFill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1577BA"/>
                </a:solidFill>
                <a:latin typeface="Calibri"/>
                <a:cs typeface="Calibri"/>
              </a:rPr>
              <a:t>soluñon</a:t>
            </a:r>
            <a:r>
              <a:rPr dirty="0" sz="4500" spc="65">
                <a:solidFill>
                  <a:srgbClr val="1577BA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2375AE"/>
                </a:solidFill>
                <a:latin typeface="Calibri"/>
                <a:cs typeface="Calibri"/>
              </a:rPr>
              <a:t>is</a:t>
            </a:r>
            <a:r>
              <a:rPr dirty="0" sz="4500" spc="-105">
                <a:solidFill>
                  <a:srgbClr val="2375AE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036DB6"/>
                </a:solidFill>
                <a:latin typeface="Calibri"/>
                <a:cs typeface="Calibri"/>
              </a:rPr>
              <a:t>at</a:t>
            </a:r>
            <a:r>
              <a:rPr dirty="0" sz="4500" spc="-114">
                <a:solidFill>
                  <a:srgbClr val="036DB6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0870B8"/>
                </a:solidFill>
                <a:latin typeface="Calibri"/>
                <a:cs typeface="Calibri"/>
              </a:rPr>
              <a:t>depth</a:t>
            </a:r>
            <a:r>
              <a:rPr dirty="0" sz="4500" spc="-180">
                <a:solidFill>
                  <a:srgbClr val="0870B8"/>
                </a:solidFill>
                <a:latin typeface="Calibri"/>
                <a:cs typeface="Calibri"/>
              </a:rPr>
              <a:t> </a:t>
            </a:r>
            <a:r>
              <a:rPr dirty="0" sz="4500" spc="85">
                <a:latin typeface="Calibri"/>
                <a:cs typeface="Calibri"/>
              </a:rPr>
              <a:t>d.</a:t>
            </a:r>
            <a:r>
              <a:rPr dirty="0" sz="4500" spc="-2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6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worst</a:t>
            </a:r>
            <a:r>
              <a:rPr dirty="0" sz="4500">
                <a:latin typeface="Calibri"/>
                <a:cs typeface="Calibri"/>
              </a:rPr>
              <a:t>	case,</a:t>
            </a:r>
            <a:r>
              <a:rPr dirty="0" sz="4500" spc="-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it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is </a:t>
            </a:r>
            <a:r>
              <a:rPr dirty="0" sz="4500" spc="-25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last</a:t>
            </a:r>
            <a:r>
              <a:rPr dirty="0" sz="4500" spc="-20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</a:t>
            </a:r>
            <a:r>
              <a:rPr dirty="0" sz="4500" spc="-14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generated</a:t>
            </a:r>
            <a:r>
              <a:rPr dirty="0" sz="4500" spc="-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at</a:t>
            </a:r>
            <a:r>
              <a:rPr dirty="0" sz="4500" spc="-2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level.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Then</a:t>
            </a:r>
            <a:r>
              <a:rPr dirty="0" sz="4500" spc="-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2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total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number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nodes </a:t>
            </a:r>
            <a:r>
              <a:rPr dirty="0" sz="4500" spc="-10">
                <a:latin typeface="Calibri"/>
                <a:cs typeface="Calibri"/>
              </a:rPr>
              <a:t>	</a:t>
            </a:r>
            <a:r>
              <a:rPr dirty="0" sz="4500" spc="-30">
                <a:latin typeface="Calibri"/>
                <a:cs typeface="Calibri"/>
              </a:rPr>
              <a:t>generated</a:t>
            </a:r>
            <a:r>
              <a:rPr dirty="0" sz="4500" spc="-17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is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44142" y="8437562"/>
            <a:ext cx="263652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6280" algn="l"/>
                <a:tab pos="1718945" algn="l"/>
                <a:tab pos="2374265" algn="l"/>
              </a:tabLst>
            </a:pPr>
            <a:r>
              <a:rPr dirty="0" sz="3700" spc="-295" i="1">
                <a:latin typeface="Calibri"/>
                <a:cs typeface="Calibri"/>
              </a:rPr>
              <a:t>:y</a:t>
            </a:r>
            <a:r>
              <a:rPr dirty="0" sz="3700" i="1">
                <a:latin typeface="Calibri"/>
                <a:cs typeface="Calibri"/>
              </a:rPr>
              <a:t>	</a:t>
            </a:r>
            <a:r>
              <a:rPr dirty="0" sz="3700" spc="-565">
                <a:latin typeface="Calibri"/>
                <a:cs typeface="Calibri"/>
              </a:rPr>
              <a:t>2</a:t>
            </a:r>
            <a:r>
              <a:rPr dirty="0" sz="3700" spc="165">
                <a:latin typeface="Calibri"/>
                <a:cs typeface="Calibri"/>
              </a:rPr>
              <a:t> </a:t>
            </a:r>
            <a:r>
              <a:rPr dirty="0" sz="3700" spc="-570" i="1">
                <a:latin typeface="Calibri"/>
                <a:cs typeface="Calibri"/>
              </a:rPr>
              <a:t>cy</a:t>
            </a:r>
            <a:r>
              <a:rPr dirty="0" sz="3700" i="1">
                <a:latin typeface="Calibri"/>
                <a:cs typeface="Calibri"/>
              </a:rPr>
              <a:t>	</a:t>
            </a:r>
            <a:r>
              <a:rPr dirty="0" sz="3700" spc="-565">
                <a:latin typeface="Calibri"/>
                <a:cs typeface="Calibri"/>
              </a:rPr>
              <a:t>3</a:t>
            </a:r>
            <a:r>
              <a:rPr dirty="0" sz="3700" spc="-215">
                <a:latin typeface="Calibri"/>
                <a:cs typeface="Calibri"/>
              </a:rPr>
              <a:t> </a:t>
            </a:r>
            <a:r>
              <a:rPr dirty="0" sz="3700" spc="-605">
                <a:latin typeface="Calibri"/>
                <a:cs typeface="Calibri"/>
              </a:rPr>
              <a:t>+</a:t>
            </a:r>
            <a:r>
              <a:rPr dirty="0" sz="3700">
                <a:latin typeface="Calibri"/>
                <a:cs typeface="Calibri"/>
              </a:rPr>
              <a:t>	</a:t>
            </a:r>
            <a:r>
              <a:rPr dirty="0" sz="3700" spc="-325">
                <a:latin typeface="Calibri"/>
                <a:cs typeface="Calibri"/>
              </a:rPr>
              <a:t>...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42334" y="8609012"/>
            <a:ext cx="262191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47040" algn="l"/>
                <a:tab pos="1412240" algn="l"/>
              </a:tabLst>
            </a:pPr>
            <a:r>
              <a:rPr dirty="0" baseline="20270" sz="5550" spc="-907">
                <a:latin typeface="Calibri"/>
                <a:cs typeface="Calibri"/>
              </a:rPr>
              <a:t>+</a:t>
            </a:r>
            <a:r>
              <a:rPr dirty="0" baseline="20270" sz="5550">
                <a:latin typeface="Calibri"/>
                <a:cs typeface="Calibri"/>
              </a:rPr>
              <a:t>	</a:t>
            </a:r>
            <a:r>
              <a:rPr dirty="0" sz="3700" spc="-90">
                <a:latin typeface="Calibri"/>
                <a:cs typeface="Calibri"/>
              </a:rPr>
              <a:t>bd</a:t>
            </a:r>
            <a:r>
              <a:rPr dirty="0" sz="3700" spc="-285">
                <a:latin typeface="Calibri"/>
                <a:cs typeface="Calibri"/>
              </a:rPr>
              <a:t> </a:t>
            </a:r>
            <a:r>
              <a:rPr dirty="0" sz="3700" spc="-50">
                <a:latin typeface="Calibri"/>
                <a:cs typeface="Calibri"/>
              </a:rPr>
              <a:t>=</a:t>
            </a:r>
            <a:r>
              <a:rPr dirty="0" sz="3700">
                <a:latin typeface="Calibri"/>
                <a:cs typeface="Calibri"/>
              </a:rPr>
              <a:t>	</a:t>
            </a:r>
            <a:r>
              <a:rPr dirty="0" sz="3700" spc="95">
                <a:latin typeface="Calibri"/>
                <a:cs typeface="Calibri"/>
              </a:rPr>
              <a:t>O(b</a:t>
            </a:r>
            <a:r>
              <a:rPr dirty="0" baseline="20270" sz="5550" spc="142">
                <a:latin typeface="Calibri"/>
                <a:cs typeface="Calibri"/>
              </a:rPr>
              <a:t>d</a:t>
            </a:r>
            <a:r>
              <a:rPr dirty="0" sz="3700" spc="95">
                <a:latin typeface="Calibri"/>
                <a:cs typeface="Calibri"/>
              </a:rPr>
              <a:t>)</a:t>
            </a:r>
            <a:endParaRPr sz="3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2425" y="4495800"/>
            <a:ext cx="6105525" cy="80962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7050" y="4495800"/>
            <a:ext cx="4552950" cy="8096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100" y="3181350"/>
            <a:ext cx="561975" cy="800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43625" y="3181350"/>
            <a:ext cx="409575" cy="800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38925" y="3181350"/>
            <a:ext cx="685800" cy="800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77125" y="3181350"/>
            <a:ext cx="514350" cy="8001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34350" y="3190875"/>
            <a:ext cx="828675" cy="79057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63050" y="3181350"/>
            <a:ext cx="438150" cy="79057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53600" y="3181350"/>
            <a:ext cx="590550" cy="79057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696575" y="3171825"/>
            <a:ext cx="485775" cy="8096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15700" y="3181350"/>
            <a:ext cx="438150" cy="79057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20525" y="3171825"/>
            <a:ext cx="657225" cy="8096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592050" y="3181350"/>
            <a:ext cx="504825" cy="8001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182600" y="3171825"/>
            <a:ext cx="581025" cy="80962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887450" y="3171825"/>
            <a:ext cx="552450" cy="8001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333365" y="4049712"/>
            <a:ext cx="402844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52445" algn="l"/>
              </a:tabLst>
            </a:pPr>
            <a:r>
              <a:rPr dirty="0" sz="9600" spc="-10"/>
              <a:t>euris</a:t>
            </a:r>
            <a:r>
              <a:rPr dirty="0" sz="9600"/>
              <a:t>	</a:t>
            </a:r>
            <a:r>
              <a:rPr dirty="0" sz="9600" spc="-95"/>
              <a:t>cs</a:t>
            </a:r>
            <a:endParaRPr sz="9600"/>
          </a:p>
        </p:txBody>
      </p:sp>
      <p:sp>
        <p:nvSpPr>
          <p:cNvPr id="18" name="object 18" descr=""/>
          <p:cNvSpPr txBox="1"/>
          <p:nvPr/>
        </p:nvSpPr>
        <p:spPr>
          <a:xfrm>
            <a:off x="7593210" y="5732462"/>
            <a:ext cx="4262755" cy="1165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455"/>
              </a:lnSpc>
              <a:spcBef>
                <a:spcPts val="100"/>
              </a:spcBef>
            </a:pPr>
            <a:r>
              <a:rPr dirty="0" sz="4000" spc="-10">
                <a:latin typeface="Calibri"/>
                <a:cs typeface="Calibri"/>
              </a:rPr>
              <a:t>Hill</a:t>
            </a:r>
            <a:r>
              <a:rPr dirty="0" sz="4000" spc="-215">
                <a:latin typeface="Calibri"/>
                <a:cs typeface="Calibri"/>
              </a:rPr>
              <a:t> </a:t>
            </a:r>
            <a:r>
              <a:rPr dirty="0" sz="4000" spc="-50">
                <a:latin typeface="Calibri"/>
                <a:cs typeface="Calibri"/>
              </a:rPr>
              <a:t>climbing,</a:t>
            </a:r>
            <a:r>
              <a:rPr dirty="0" sz="4000" spc="-114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A*</a:t>
            </a:r>
            <a:r>
              <a:rPr dirty="0" sz="4000" spc="-10">
                <a:latin typeface="Calibri"/>
                <a:cs typeface="Calibri"/>
              </a:rPr>
              <a:t> </a:t>
            </a:r>
            <a:r>
              <a:rPr dirty="0" sz="4000" spc="-145">
                <a:latin typeface="Calibri"/>
                <a:cs typeface="Calibri"/>
              </a:rPr>
              <a:t>,AO*</a:t>
            </a:r>
            <a:endParaRPr sz="4000">
              <a:latin typeface="Calibri"/>
              <a:cs typeface="Calibri"/>
            </a:endParaRPr>
          </a:p>
          <a:p>
            <a:pPr algn="ctr" marR="97155">
              <a:lnSpc>
                <a:spcPts val="4515"/>
              </a:lnSpc>
            </a:pPr>
            <a:r>
              <a:rPr dirty="0" sz="4050" spc="-45">
                <a:latin typeface="Calibri"/>
                <a:cs typeface="Calibri"/>
              </a:rPr>
              <a:t>Algorithms</a:t>
            </a:r>
            <a:endParaRPr sz="4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679" y="554037"/>
            <a:ext cx="12718415" cy="8712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81190" algn="l"/>
              </a:tabLst>
            </a:pPr>
            <a:r>
              <a:rPr dirty="0" sz="5550" spc="-30"/>
              <a:t>INFORMED </a:t>
            </a:r>
            <a:r>
              <a:rPr dirty="0" sz="5550" spc="-10"/>
              <a:t>(HEURISTIC)</a:t>
            </a:r>
            <a:r>
              <a:rPr dirty="0" sz="5550"/>
              <a:t>	</a:t>
            </a:r>
            <a:r>
              <a:rPr dirty="0" sz="5550" spc="-10"/>
              <a:t>SEARCH</a:t>
            </a:r>
            <a:r>
              <a:rPr dirty="0" sz="5550" spc="-180"/>
              <a:t> </a:t>
            </a:r>
            <a:r>
              <a:rPr dirty="0" sz="5550" spc="-95"/>
              <a:t>STRATEGIES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1447920" y="1973262"/>
            <a:ext cx="1307591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860" indent="-391160">
              <a:lnSpc>
                <a:spcPct val="100000"/>
              </a:lnSpc>
              <a:spcBef>
                <a:spcPts val="100"/>
              </a:spcBef>
              <a:buChar char="•"/>
              <a:tabLst>
                <a:tab pos="403860" algn="l"/>
                <a:tab pos="2253615" algn="l"/>
                <a:tab pos="4958715" algn="l"/>
                <a:tab pos="6262370" algn="l"/>
                <a:tab pos="10577195" algn="l"/>
              </a:tabLst>
            </a:pPr>
            <a:r>
              <a:rPr dirty="0" sz="4500" spc="-10">
                <a:latin typeface="Calibri"/>
                <a:cs typeface="Calibri"/>
              </a:rPr>
              <a:t>These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strategies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use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5">
                <a:solidFill>
                  <a:srgbClr val="1F699E"/>
                </a:solidFill>
                <a:latin typeface="Calibri"/>
                <a:cs typeface="Calibri"/>
              </a:rPr>
              <a:t>problem-</a:t>
            </a:r>
            <a:r>
              <a:rPr dirty="0" sz="4500" spc="-10">
                <a:solidFill>
                  <a:srgbClr val="1F699E"/>
                </a:solidFill>
                <a:latin typeface="Calibri"/>
                <a:cs typeface="Calibri"/>
              </a:rPr>
              <a:t>specific</a:t>
            </a:r>
            <a:r>
              <a:rPr dirty="0" sz="4500">
                <a:solidFill>
                  <a:srgbClr val="1F699E"/>
                </a:solidFill>
                <a:latin typeface="Calibri"/>
                <a:cs typeface="Calibri"/>
              </a:rPr>
              <a:t>	</a:t>
            </a:r>
            <a:r>
              <a:rPr dirty="0" sz="4500" spc="-50">
                <a:solidFill>
                  <a:srgbClr val="0A609E"/>
                </a:solidFill>
                <a:latin typeface="Calibri"/>
                <a:cs typeface="Calibri"/>
              </a:rPr>
              <a:t>knowledge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022676" y="1973262"/>
            <a:ext cx="30079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6945" algn="l"/>
              </a:tabLst>
            </a:pPr>
            <a:r>
              <a:rPr dirty="0" sz="4500" spc="-10">
                <a:latin typeface="Calibri"/>
                <a:cs typeface="Calibri"/>
              </a:rPr>
              <a:t>beyond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the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46124" y="2481621"/>
            <a:ext cx="16590010" cy="163576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403225">
              <a:lnSpc>
                <a:spcPct val="100000"/>
              </a:lnSpc>
              <a:spcBef>
                <a:spcPts val="935"/>
              </a:spcBef>
            </a:pPr>
            <a:r>
              <a:rPr dirty="0" sz="4500" spc="-20">
                <a:latin typeface="Calibri"/>
                <a:cs typeface="Calibri"/>
              </a:rPr>
              <a:t>definiñon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 spc="-35">
                <a:latin typeface="Calibri"/>
                <a:cs typeface="Calibri"/>
              </a:rPr>
              <a:t>problem</a:t>
            </a:r>
            <a:r>
              <a:rPr dirty="0" sz="4500" spc="2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itself</a:t>
            </a:r>
            <a:r>
              <a:rPr dirty="0" sz="4500" spc="-25">
                <a:latin typeface="Calibri"/>
                <a:cs typeface="Calibri"/>
              </a:rPr>
              <a:t> </a:t>
            </a:r>
            <a:r>
              <a:rPr dirty="0" sz="4500" spc="-2160">
                <a:latin typeface="Calibri"/>
                <a:cs typeface="Calibri"/>
              </a:rPr>
              <a:t>—</a:t>
            </a:r>
            <a:r>
              <a:rPr dirty="0" sz="4500" spc="275">
                <a:latin typeface="Calibri"/>
                <a:cs typeface="Calibri"/>
              </a:rPr>
              <a:t> </a:t>
            </a:r>
            <a:r>
              <a:rPr dirty="0" sz="4500" spc="-45">
                <a:solidFill>
                  <a:srgbClr val="FF0508"/>
                </a:solidFill>
                <a:latin typeface="Calibri"/>
                <a:cs typeface="Calibri"/>
              </a:rPr>
              <a:t>Efficient</a:t>
            </a:r>
            <a:r>
              <a:rPr dirty="0" sz="4500" spc="-50">
                <a:solidFill>
                  <a:srgbClr val="FF0508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way</a:t>
            </a:r>
            <a:r>
              <a:rPr dirty="0" sz="4500" spc="-1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finding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Soluñons</a:t>
            </a:r>
            <a:endParaRPr sz="45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860"/>
              </a:spcBef>
              <a:buChar char="•"/>
              <a:tabLst>
                <a:tab pos="406400" algn="l"/>
                <a:tab pos="1643380" algn="l"/>
                <a:tab pos="3736975" algn="l"/>
                <a:tab pos="6287770" algn="l"/>
                <a:tab pos="7014209" algn="l"/>
                <a:tab pos="8749030" algn="l"/>
                <a:tab pos="11226800" algn="l"/>
                <a:tab pos="13140690" algn="l"/>
                <a:tab pos="13806805" algn="l"/>
                <a:tab pos="15555594" algn="l"/>
                <a:tab pos="16290925" algn="l"/>
              </a:tabLst>
            </a:pPr>
            <a:r>
              <a:rPr dirty="0" sz="4650" spc="-25">
                <a:latin typeface="Calibri"/>
                <a:cs typeface="Calibri"/>
              </a:rPr>
              <a:t>The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general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approach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is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called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90">
                <a:latin typeface="Calibri"/>
                <a:cs typeface="Calibri"/>
              </a:rPr>
              <a:t>best-</a:t>
            </a:r>
            <a:r>
              <a:rPr dirty="0" sz="4650" spc="-10">
                <a:latin typeface="Calibri"/>
                <a:cs typeface="Calibri"/>
              </a:rPr>
              <a:t>first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search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410">
                <a:latin typeface="Calibri"/>
                <a:cs typeface="Calibri"/>
              </a:rPr>
              <a:t>—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which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is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50">
                <a:latin typeface="Calibri"/>
                <a:cs typeface="Calibri"/>
              </a:rPr>
              <a:t>a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40346" y="4002087"/>
            <a:ext cx="16166465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87040" algn="l"/>
                <a:tab pos="4878070" algn="l"/>
                <a:tab pos="7874634" algn="l"/>
                <a:tab pos="8649970" algn="l"/>
                <a:tab pos="10381615" algn="l"/>
                <a:tab pos="11002645" algn="l"/>
                <a:tab pos="12532360" algn="l"/>
                <a:tab pos="13232765" algn="l"/>
                <a:tab pos="15512415" algn="l"/>
              </a:tabLst>
            </a:pPr>
            <a:r>
              <a:rPr dirty="0" sz="4650" spc="-10">
                <a:latin typeface="Calibri"/>
                <a:cs typeface="Calibri"/>
              </a:rPr>
              <a:t>Tree›’Graph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Search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mechanism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in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which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50">
                <a:latin typeface="Calibri"/>
                <a:cs typeface="Calibri"/>
              </a:rPr>
              <a:t>a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node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is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selected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40">
                <a:latin typeface="Calibri"/>
                <a:cs typeface="Calibri"/>
              </a:rPr>
              <a:t>for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47920" y="4482750"/>
            <a:ext cx="16564610" cy="575691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91795">
              <a:lnSpc>
                <a:spcPct val="100000"/>
              </a:lnSpc>
              <a:spcBef>
                <a:spcPts val="1115"/>
              </a:spcBef>
            </a:pPr>
            <a:r>
              <a:rPr dirty="0" sz="4650" spc="-75">
                <a:latin typeface="Calibri"/>
                <a:cs typeface="Calibri"/>
              </a:rPr>
              <a:t>expansion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based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on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85">
                <a:solidFill>
                  <a:srgbClr val="0C69AC"/>
                </a:solidFill>
                <a:latin typeface="Calibri"/>
                <a:cs typeface="Calibri"/>
              </a:rPr>
              <a:t>evaluation</a:t>
            </a:r>
            <a:r>
              <a:rPr dirty="0" sz="4650" spc="-70">
                <a:solidFill>
                  <a:srgbClr val="0C69AC"/>
                </a:solidFill>
                <a:latin typeface="Calibri"/>
                <a:cs typeface="Calibri"/>
              </a:rPr>
              <a:t> </a:t>
            </a:r>
            <a:r>
              <a:rPr dirty="0" sz="4650" spc="-70">
                <a:solidFill>
                  <a:srgbClr val="0072C6"/>
                </a:solidFill>
                <a:latin typeface="Calibri"/>
                <a:cs typeface="Calibri"/>
              </a:rPr>
              <a:t>function,</a:t>
            </a:r>
            <a:r>
              <a:rPr dirty="0" sz="4650">
                <a:solidFill>
                  <a:srgbClr val="0072C6"/>
                </a:solidFill>
                <a:latin typeface="Calibri"/>
                <a:cs typeface="Calibri"/>
              </a:rPr>
              <a:t> </a:t>
            </a:r>
            <a:r>
              <a:rPr dirty="0" sz="4650" spc="-20">
                <a:solidFill>
                  <a:srgbClr val="216B9C"/>
                </a:solidFill>
                <a:latin typeface="Calibri"/>
                <a:cs typeface="Calibri"/>
              </a:rPr>
              <a:t>f(n)</a:t>
            </a:r>
            <a:endParaRPr sz="4650">
              <a:latin typeface="Calibri"/>
              <a:cs typeface="Calibri"/>
            </a:endParaRPr>
          </a:p>
          <a:p>
            <a:pPr marL="397510" marR="31750" indent="-385445">
              <a:lnSpc>
                <a:spcPts val="4840"/>
              </a:lnSpc>
              <a:spcBef>
                <a:spcPts val="1610"/>
              </a:spcBef>
              <a:buChar char="•"/>
              <a:tabLst>
                <a:tab pos="398780" algn="l"/>
                <a:tab pos="1842770" algn="l"/>
                <a:tab pos="4126865" algn="l"/>
                <a:tab pos="6820534" algn="l"/>
                <a:tab pos="8746490" algn="l"/>
                <a:tab pos="9489440" algn="l"/>
                <a:tab pos="10004425" algn="l"/>
                <a:tab pos="12909550" algn="l"/>
                <a:tab pos="13638530" algn="l"/>
                <a:tab pos="14070965" algn="l"/>
                <a:tab pos="14587219" algn="l"/>
              </a:tabLst>
            </a:pPr>
            <a:r>
              <a:rPr dirty="0" sz="4500" spc="-20">
                <a:latin typeface="Calibri"/>
                <a:cs typeface="Calibri"/>
              </a:rPr>
              <a:t>Most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5">
                <a:latin typeface="Calibri"/>
                <a:cs typeface="Calibri"/>
              </a:rPr>
              <a:t>best-</a:t>
            </a:r>
            <a:r>
              <a:rPr dirty="0" sz="4500" spc="-10">
                <a:latin typeface="Calibri"/>
                <a:cs typeface="Calibri"/>
              </a:rPr>
              <a:t>first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algorithms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include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as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35">
                <a:latin typeface="Calibri"/>
                <a:cs typeface="Calibri"/>
              </a:rPr>
              <a:t>a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component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of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0">
                <a:latin typeface="Calibri"/>
                <a:cs typeface="Calibri"/>
              </a:rPr>
              <a:t>f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0">
                <a:latin typeface="Calibri"/>
                <a:cs typeface="Calibri"/>
              </a:rPr>
              <a:t>a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5">
                <a:latin typeface="Calibri"/>
                <a:cs typeface="Calibri"/>
              </a:rPr>
              <a:t>heurisñc </a:t>
            </a:r>
            <a:r>
              <a:rPr dirty="0" sz="4500" spc="-55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funcñon,</a:t>
            </a:r>
            <a:r>
              <a:rPr dirty="0" sz="4500" spc="-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denoted</a:t>
            </a:r>
            <a:r>
              <a:rPr dirty="0" sz="4500" spc="-17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h(n):</a:t>
            </a:r>
            <a:endParaRPr sz="4500">
              <a:latin typeface="Calibri"/>
              <a:cs typeface="Calibri"/>
            </a:endParaRPr>
          </a:p>
          <a:p>
            <a:pPr marL="38100" marR="5080" indent="1033144">
              <a:lnSpc>
                <a:spcPts val="4800"/>
              </a:lnSpc>
              <a:spcBef>
                <a:spcPts val="1639"/>
              </a:spcBef>
            </a:pPr>
            <a:r>
              <a:rPr dirty="0" sz="4450">
                <a:latin typeface="Calibri"/>
                <a:cs typeface="Calibri"/>
              </a:rPr>
              <a:t>h(n)</a:t>
            </a:r>
            <a:r>
              <a:rPr dirty="0" sz="4450" spc="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=</a:t>
            </a:r>
            <a:r>
              <a:rPr dirty="0" sz="4450" spc="-1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esñmated</a:t>
            </a:r>
            <a:r>
              <a:rPr dirty="0" sz="4450" spc="1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cost</a:t>
            </a:r>
            <a:r>
              <a:rPr dirty="0" sz="4450" spc="-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cheapest</a:t>
            </a:r>
            <a:r>
              <a:rPr dirty="0" sz="4450" spc="1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path</a:t>
            </a:r>
            <a:r>
              <a:rPr dirty="0" sz="4450" spc="-2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from</a:t>
            </a:r>
            <a:r>
              <a:rPr dirty="0" sz="4450" spc="-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state</a:t>
            </a:r>
            <a:r>
              <a:rPr dirty="0" sz="4450" spc="-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at</a:t>
            </a:r>
            <a:r>
              <a:rPr dirty="0" sz="4450" spc="-18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node</a:t>
            </a:r>
            <a:r>
              <a:rPr dirty="0" sz="4450" spc="-25">
                <a:latin typeface="Calibri"/>
                <a:cs typeface="Calibri"/>
              </a:rPr>
              <a:t> </a:t>
            </a:r>
            <a:r>
              <a:rPr dirty="0" sz="4450" spc="-50">
                <a:latin typeface="Calibri"/>
                <a:cs typeface="Calibri"/>
              </a:rPr>
              <a:t>n </a:t>
            </a:r>
            <a:r>
              <a:rPr dirty="0" sz="4450">
                <a:latin typeface="Calibri"/>
                <a:cs typeface="Calibri"/>
              </a:rPr>
              <a:t>to</a:t>
            </a:r>
            <a:r>
              <a:rPr dirty="0" sz="4450" spc="-95">
                <a:latin typeface="Calibri"/>
                <a:cs typeface="Calibri"/>
              </a:rPr>
              <a:t> </a:t>
            </a:r>
            <a:r>
              <a:rPr dirty="0" sz="4450" spc="85">
                <a:latin typeface="Calibri"/>
                <a:cs typeface="Calibri"/>
              </a:rPr>
              <a:t>a</a:t>
            </a:r>
            <a:r>
              <a:rPr dirty="0" sz="4450" spc="-1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goal</a:t>
            </a:r>
            <a:r>
              <a:rPr dirty="0" sz="4450" spc="5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state.</a:t>
            </a:r>
            <a:endParaRPr sz="4450">
              <a:latin typeface="Calibri"/>
              <a:cs typeface="Calibri"/>
            </a:endParaRPr>
          </a:p>
          <a:p>
            <a:pPr marL="474345">
              <a:lnSpc>
                <a:spcPts val="5205"/>
              </a:lnSpc>
              <a:spcBef>
                <a:spcPts val="850"/>
              </a:spcBef>
            </a:pPr>
            <a:r>
              <a:rPr dirty="0" sz="4600">
                <a:latin typeface="Calibri"/>
                <a:cs typeface="Calibri"/>
              </a:rPr>
              <a:t>Ex: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 spc="-105">
                <a:latin typeface="Calibri"/>
                <a:cs typeface="Calibri"/>
              </a:rPr>
              <a:t>Travelling</a:t>
            </a:r>
            <a:r>
              <a:rPr dirty="0" sz="4600" spc="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from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one</a:t>
            </a:r>
            <a:r>
              <a:rPr dirty="0" sz="4600" spc="-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city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other</a:t>
            </a:r>
            <a:r>
              <a:rPr dirty="0" sz="4600" spc="-15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problem,</a:t>
            </a:r>
            <a:r>
              <a:rPr dirty="0" sz="4600" spc="130">
                <a:latin typeface="Calibri"/>
                <a:cs typeface="Calibri"/>
              </a:rPr>
              <a:t> </a:t>
            </a:r>
            <a:r>
              <a:rPr dirty="0" sz="4600" spc="-114">
                <a:solidFill>
                  <a:srgbClr val="ED162D"/>
                </a:solidFill>
                <a:latin typeface="Calibri"/>
                <a:cs typeface="Calibri"/>
              </a:rPr>
              <a:t>straight-</a:t>
            </a:r>
            <a:r>
              <a:rPr dirty="0" sz="4600">
                <a:solidFill>
                  <a:srgbClr val="ED162D"/>
                </a:solidFill>
                <a:latin typeface="Calibri"/>
                <a:cs typeface="Calibri"/>
              </a:rPr>
              <a:t>line</a:t>
            </a:r>
            <a:r>
              <a:rPr dirty="0" sz="4600" spc="110">
                <a:solidFill>
                  <a:srgbClr val="ED162D"/>
                </a:solidFill>
                <a:latin typeface="Calibri"/>
                <a:cs typeface="Calibri"/>
              </a:rPr>
              <a:t> </a:t>
            </a:r>
            <a:r>
              <a:rPr dirty="0" sz="4600" spc="-35">
                <a:solidFill>
                  <a:srgbClr val="E80305"/>
                </a:solidFill>
                <a:latin typeface="Calibri"/>
                <a:cs typeface="Calibri"/>
              </a:rPr>
              <a:t>distance</a:t>
            </a:r>
            <a:endParaRPr sz="4600">
              <a:latin typeface="Calibri"/>
              <a:cs typeface="Calibri"/>
            </a:endParaRPr>
          </a:p>
          <a:p>
            <a:pPr marL="3124200" marR="24765" indent="-3088005">
              <a:lnSpc>
                <a:spcPts val="4800"/>
              </a:lnSpc>
              <a:spcBef>
                <a:spcPts val="395"/>
              </a:spcBef>
            </a:pPr>
            <a:r>
              <a:rPr dirty="0" sz="4550" spc="-20">
                <a:latin typeface="Calibri"/>
                <a:cs typeface="Calibri"/>
              </a:rPr>
              <a:t>from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current</a:t>
            </a:r>
            <a:r>
              <a:rPr dirty="0" sz="4550" spc="-2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state</a:t>
            </a:r>
            <a:r>
              <a:rPr dirty="0" sz="4550" spc="-60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ED010E"/>
                </a:solidFill>
                <a:latin typeface="Calibri"/>
                <a:cs typeface="Calibri"/>
              </a:rPr>
              <a:t>to</a:t>
            </a:r>
            <a:r>
              <a:rPr dirty="0" sz="4550" spc="-110">
                <a:solidFill>
                  <a:srgbClr val="ED010E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E61613"/>
                </a:solidFill>
                <a:latin typeface="Calibri"/>
                <a:cs typeface="Calibri"/>
              </a:rPr>
              <a:t>the</a:t>
            </a:r>
            <a:r>
              <a:rPr dirty="0" sz="4550" spc="-45">
                <a:solidFill>
                  <a:srgbClr val="E61613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E20A0F"/>
                </a:solidFill>
                <a:latin typeface="Calibri"/>
                <a:cs typeface="Calibri"/>
              </a:rPr>
              <a:t>goal</a:t>
            </a:r>
            <a:r>
              <a:rPr dirty="0" sz="4550" spc="-80">
                <a:solidFill>
                  <a:srgbClr val="E20A0F"/>
                </a:solidFill>
                <a:latin typeface="Calibri"/>
                <a:cs typeface="Calibri"/>
              </a:rPr>
              <a:t> </a:t>
            </a:r>
            <a:r>
              <a:rPr dirty="0" sz="4550" spc="-30">
                <a:solidFill>
                  <a:srgbClr val="E10C28"/>
                </a:solidFill>
                <a:latin typeface="Calibri"/>
                <a:cs typeface="Calibri"/>
              </a:rPr>
              <a:t>state </a:t>
            </a:r>
            <a:r>
              <a:rPr dirty="0" sz="4550">
                <a:latin typeface="Calibri"/>
                <a:cs typeface="Calibri"/>
              </a:rPr>
              <a:t>could</a:t>
            </a:r>
            <a:r>
              <a:rPr dirty="0" sz="4550" spc="-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be</a:t>
            </a:r>
            <a:r>
              <a:rPr dirty="0" sz="4550" spc="-1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used</a:t>
            </a:r>
            <a:r>
              <a:rPr dirty="0" sz="4550" spc="-35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005EA8"/>
                </a:solidFill>
                <a:latin typeface="Calibri"/>
                <a:cs typeface="Calibri"/>
              </a:rPr>
              <a:t>as</a:t>
            </a:r>
            <a:r>
              <a:rPr dirty="0" sz="4550" spc="-160">
                <a:solidFill>
                  <a:srgbClr val="005EA8"/>
                </a:solidFill>
                <a:latin typeface="Calibri"/>
                <a:cs typeface="Calibri"/>
              </a:rPr>
              <a:t> </a:t>
            </a:r>
            <a:r>
              <a:rPr dirty="0" sz="4550" spc="-45">
                <a:solidFill>
                  <a:srgbClr val="1F6B95"/>
                </a:solidFill>
                <a:latin typeface="Calibri"/>
                <a:cs typeface="Calibri"/>
              </a:rPr>
              <a:t>Heuristic</a:t>
            </a:r>
            <a:r>
              <a:rPr dirty="0" sz="4550" spc="80">
                <a:solidFill>
                  <a:srgbClr val="1F6B95"/>
                </a:solidFill>
                <a:latin typeface="Calibri"/>
                <a:cs typeface="Calibri"/>
              </a:rPr>
              <a:t> </a:t>
            </a:r>
            <a:r>
              <a:rPr dirty="0" sz="4550" spc="-25">
                <a:solidFill>
                  <a:srgbClr val="1166AF"/>
                </a:solidFill>
                <a:latin typeface="Calibri"/>
                <a:cs typeface="Calibri"/>
              </a:rPr>
              <a:t>Estimate </a:t>
            </a:r>
            <a:r>
              <a:rPr dirty="0" sz="4550">
                <a:latin typeface="Calibri"/>
                <a:cs typeface="Calibri"/>
              </a:rPr>
              <a:t>if</a:t>
            </a:r>
            <a:r>
              <a:rPr dirty="0" sz="4550" spc="-10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</a:t>
            </a:r>
            <a:r>
              <a:rPr dirty="0" sz="4550" spc="-1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-229">
                <a:latin typeface="Calibri"/>
                <a:cs typeface="Calibri"/>
              </a:rPr>
              <a:t> </a:t>
            </a:r>
            <a:r>
              <a:rPr dirty="0" sz="4550" spc="65">
                <a:latin typeface="Calibri"/>
                <a:cs typeface="Calibri"/>
              </a:rPr>
              <a:t>a</a:t>
            </a:r>
            <a:r>
              <a:rPr dirty="0" sz="4550" spc="-1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goal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node,</a:t>
            </a:r>
            <a:r>
              <a:rPr dirty="0" sz="4550" spc="-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then</a:t>
            </a:r>
            <a:r>
              <a:rPr dirty="0" sz="4550" spc="-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h(n)</a:t>
            </a:r>
            <a:r>
              <a:rPr dirty="0" sz="4550" spc="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=</a:t>
            </a:r>
            <a:r>
              <a:rPr dirty="0" sz="4550" spc="-140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0</a:t>
            </a:r>
            <a:endParaRPr sz="4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43075" y="142875"/>
            <a:ext cx="16116300" cy="10734675"/>
            <a:chOff x="1743075" y="142875"/>
            <a:chExt cx="16116300" cy="107346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075" y="142875"/>
              <a:ext cx="16116300" cy="1073467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7575" y="9372600"/>
              <a:ext cx="1076325" cy="21907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30175" y="7286625"/>
              <a:ext cx="304800" cy="22860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703386" y="2046287"/>
            <a:ext cx="3841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0">
                <a:solidFill>
                  <a:srgbClr val="4B4B4B"/>
                </a:solidFill>
                <a:latin typeface="Courier New"/>
                <a:cs typeface="Courier New"/>
              </a:rPr>
              <a:t>75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50392" y="4041775"/>
            <a:ext cx="501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0A0A0A"/>
                </a:solidFill>
                <a:latin typeface="Times New Roman"/>
                <a:cs typeface="Times New Roman"/>
              </a:rPr>
              <a:t>118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65710" y="774700"/>
            <a:ext cx="3486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35">
                <a:solidFill>
                  <a:srgbClr val="3A3A3A"/>
                </a:solidFill>
                <a:latin typeface="Times New Roman"/>
                <a:cs typeface="Times New Roman"/>
              </a:rPr>
              <a:t>71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33933" y="1649412"/>
            <a:ext cx="9575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onsolas"/>
                <a:cs typeface="Consolas"/>
              </a:rPr>
              <a:t>g,;gg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84586" y="6751637"/>
            <a:ext cx="4013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70">
                <a:solidFill>
                  <a:srgbClr val="3F3F3F"/>
                </a:solidFill>
                <a:latin typeface="Courier New"/>
                <a:cs typeface="Courier New"/>
              </a:rPr>
              <a:t>70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84586" y="7923212"/>
            <a:ext cx="3454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450">
                <a:solidFill>
                  <a:srgbClr val="343434"/>
                </a:solidFill>
                <a:latin typeface="Courier New"/>
                <a:cs typeface="Courier New"/>
              </a:rPr>
              <a:t>7å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28055" y="6142037"/>
            <a:ext cx="871219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0">
                <a:solidFill>
                  <a:srgbClr val="0F0F0F"/>
                </a:solidFill>
                <a:latin typeface="Consolas"/>
                <a:cs typeface="Consolas"/>
              </a:rPr>
              <a:t>Lugoj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35750" y="3478212"/>
            <a:ext cx="708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151515"/>
                </a:solidFill>
                <a:latin typeface="Times New Roman"/>
                <a:cs typeface="Times New Roman"/>
              </a:rPr>
              <a:t>Sibíu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34995" y="7288212"/>
            <a:ext cx="120142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100">
                <a:solidFill>
                  <a:srgbClr val="1C1C1C"/>
                </a:solidFill>
                <a:latin typeface="Times New Roman"/>
                <a:cs typeface="Times New Roman"/>
              </a:rPr>
              <a:t>Metadia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175518" y="6211887"/>
            <a:ext cx="35306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25">
                <a:solidFill>
                  <a:srgbClr val="484848"/>
                </a:solidFill>
                <a:latin typeface="Times New Roman"/>
                <a:cs typeface="Times New Roman"/>
              </a:rPr>
              <a:t>97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430721" y="6049962"/>
            <a:ext cx="86106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10">
                <a:solidFill>
                  <a:srgbClr val="0F0F0F"/>
                </a:solidFill>
                <a:latin typeface="Times New Roman"/>
                <a:cs typeface="Times New Roman"/>
              </a:rPr>
              <a:t>Piteuti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71860" y="10158412"/>
            <a:ext cx="173418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140">
                <a:latin typeface="Times New Roman"/>
                <a:cs typeface="Times New Roman"/>
              </a:rPr>
              <a:t>Figure</a:t>
            </a:r>
            <a:r>
              <a:rPr dirty="0" sz="3050" spc="-130">
                <a:latin typeface="Times New Roman"/>
                <a:cs typeface="Times New Roman"/>
              </a:rPr>
              <a:t> </a:t>
            </a:r>
            <a:r>
              <a:rPr dirty="0" sz="3050" spc="35">
                <a:latin typeface="Times New Roman"/>
                <a:cs typeface="Times New Roman"/>
              </a:rPr>
              <a:t>3.2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80123" y="10158412"/>
            <a:ext cx="675195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3050" spc="-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simplified</a:t>
            </a:r>
            <a:r>
              <a:rPr dirty="0" sz="3050" spc="195">
                <a:latin typeface="Times New Roman"/>
                <a:cs typeface="Times New Roman"/>
              </a:rPr>
              <a:t> </a:t>
            </a:r>
            <a:r>
              <a:rPr dirty="0" sz="3050" spc="135">
                <a:latin typeface="Times New Roman"/>
                <a:cs typeface="Times New Roman"/>
              </a:rPr>
              <a:t>œad</a:t>
            </a:r>
            <a:r>
              <a:rPr dirty="0" sz="3050" spc="75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map</a:t>
            </a:r>
            <a:r>
              <a:rPr dirty="0" sz="3050" spc="-10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of</a:t>
            </a:r>
            <a:r>
              <a:rPr dirty="0" sz="3050" spc="170">
                <a:latin typeface="Times New Roman"/>
                <a:cs typeface="Times New Roman"/>
              </a:rPr>
              <a:t> </a:t>
            </a:r>
            <a:r>
              <a:rPr dirty="0" sz="3050">
                <a:latin typeface="Times New Roman"/>
                <a:cs typeface="Times New Roman"/>
              </a:rPr>
              <a:t>part</a:t>
            </a:r>
            <a:r>
              <a:rPr dirty="0" sz="3050" spc="-55"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181818"/>
                </a:solidFill>
                <a:latin typeface="Times New Roman"/>
                <a:cs typeface="Times New Roman"/>
              </a:rPr>
              <a:t>of</a:t>
            </a:r>
            <a:r>
              <a:rPr dirty="0" sz="3050" spc="1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050" spc="-10">
                <a:solidFill>
                  <a:srgbClr val="1A1A1A"/>
                </a:solidFill>
                <a:latin typeface="Times New Roman"/>
                <a:cs typeface="Times New Roman"/>
              </a:rPr>
              <a:t>Romania.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406018" y="1636712"/>
            <a:ext cx="371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50">
                <a:solidFill>
                  <a:srgbClr val="1D1D1D"/>
                </a:solidFill>
                <a:latin typeface="Courier New"/>
                <a:cs typeface="Courier New"/>
              </a:rPr>
              <a:t>87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941422" y="6780212"/>
            <a:ext cx="388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85">
                <a:solidFill>
                  <a:srgbClr val="1A1A1A"/>
                </a:solidFill>
                <a:latin typeface="Courier New"/>
                <a:cs typeface="Courier New"/>
              </a:rPr>
              <a:t>98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789221" y="7818437"/>
            <a:ext cx="3460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111111"/>
                </a:solidFill>
                <a:latin typeface="Times New Roman"/>
                <a:cs typeface="Times New Roman"/>
              </a:rPr>
              <a:t>8ò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989320" y="9342119"/>
            <a:ext cx="668020" cy="30480"/>
            <a:chOff x="5989320" y="9342119"/>
            <a:chExt cx="668020" cy="30480"/>
          </a:xfrm>
        </p:grpSpPr>
        <p:sp>
          <p:nvSpPr>
            <p:cNvPr id="3" name="object 3" descr=""/>
            <p:cNvSpPr/>
            <p:nvPr/>
          </p:nvSpPr>
          <p:spPr>
            <a:xfrm>
              <a:off x="5989320" y="9361931"/>
              <a:ext cx="668020" cy="0"/>
            </a:xfrm>
            <a:custGeom>
              <a:avLst/>
              <a:gdLst/>
              <a:ahLst/>
              <a:cxnLst/>
              <a:rect l="l" t="t" r="r" b="b"/>
              <a:pathLst>
                <a:path w="668020" h="0">
                  <a:moveTo>
                    <a:pt x="0" y="0"/>
                  </a:moveTo>
                  <a:lnTo>
                    <a:pt x="667512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998464" y="9352787"/>
              <a:ext cx="631190" cy="0"/>
            </a:xfrm>
            <a:custGeom>
              <a:avLst/>
              <a:gdLst/>
              <a:ahLst/>
              <a:cxnLst/>
              <a:rect l="l" t="t" r="r" b="b"/>
              <a:pathLst>
                <a:path w="631190" h="0">
                  <a:moveTo>
                    <a:pt x="0" y="0"/>
                  </a:moveTo>
                  <a:lnTo>
                    <a:pt x="630936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569719" y="8500871"/>
            <a:ext cx="16362044" cy="140335"/>
            <a:chOff x="1569719" y="8500871"/>
            <a:chExt cx="16362044" cy="140335"/>
          </a:xfrm>
        </p:grpSpPr>
        <p:sp>
          <p:nvSpPr>
            <p:cNvPr id="6" name="object 6" descr=""/>
            <p:cNvSpPr/>
            <p:nvPr/>
          </p:nvSpPr>
          <p:spPr>
            <a:xfrm>
              <a:off x="1569719" y="8613647"/>
              <a:ext cx="16362044" cy="0"/>
            </a:xfrm>
            <a:custGeom>
              <a:avLst/>
              <a:gdLst/>
              <a:ahLst/>
              <a:cxnLst/>
              <a:rect l="l" t="t" r="r" b="b"/>
              <a:pathLst>
                <a:path w="16362044" h="0">
                  <a:moveTo>
                    <a:pt x="0" y="0"/>
                  </a:moveTo>
                  <a:lnTo>
                    <a:pt x="16361664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69719" y="8528303"/>
              <a:ext cx="16362044" cy="0"/>
            </a:xfrm>
            <a:custGeom>
              <a:avLst/>
              <a:gdLst/>
              <a:ahLst/>
              <a:cxnLst/>
              <a:rect l="l" t="t" r="r" b="b"/>
              <a:pathLst>
                <a:path w="16362044" h="0">
                  <a:moveTo>
                    <a:pt x="0" y="0"/>
                  </a:moveTo>
                  <a:lnTo>
                    <a:pt x="16361664" y="0"/>
                  </a:lnTo>
                </a:path>
              </a:pathLst>
            </a:custGeom>
            <a:ln w="54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793483" y="7272337"/>
            <a:ext cx="1694180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155">
                <a:solidFill>
                  <a:srgbClr val="161616"/>
                </a:solidFill>
                <a:latin typeface="Times New Roman"/>
                <a:cs typeface="Times New Roman"/>
              </a:rPr>
              <a:t>Lugoj</a:t>
            </a:r>
            <a:endParaRPr sz="5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956006" y="4524375"/>
            <a:ext cx="1475740" cy="8331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 spc="-10">
                <a:solidFill>
                  <a:srgbClr val="131313"/>
                </a:solidFill>
                <a:latin typeface="Times New Roman"/>
                <a:cs typeface="Times New Roman"/>
              </a:rPr>
              <a:t>Sibiu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22991" y="8856662"/>
            <a:ext cx="422275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5200" spc="-130">
                <a:latin typeface="Times New Roman"/>
                <a:cs typeface="Times New Roman"/>
              </a:rPr>
              <a:t>Values</a:t>
            </a:r>
            <a:r>
              <a:rPr dirty="0" sz="5200" spc="-165">
                <a:latin typeface="Times New Roman"/>
                <a:cs typeface="Times New Roman"/>
              </a:rPr>
              <a:t> </a:t>
            </a:r>
            <a:r>
              <a:rPr dirty="0" sz="5200">
                <a:latin typeface="Times New Roman"/>
                <a:cs typeface="Times New Roman"/>
              </a:rPr>
              <a:t>of</a:t>
            </a:r>
            <a:r>
              <a:rPr dirty="0" sz="5200" spc="220">
                <a:latin typeface="Times New Roman"/>
                <a:cs typeface="Times New Roman"/>
              </a:rPr>
              <a:t> </a:t>
            </a:r>
            <a:r>
              <a:rPr dirty="0" sz="5200" spc="385" i="1">
                <a:latin typeface="Times New Roman"/>
                <a:cs typeface="Times New Roman"/>
              </a:rPr>
              <a:t>h</a:t>
            </a:r>
            <a:r>
              <a:rPr dirty="0" baseline="-7478" sz="7800" spc="577" i="1">
                <a:latin typeface="Times New Roman"/>
                <a:cs typeface="Times New Roman"/>
              </a:rPr>
              <a:t>s‹D</a:t>
            </a:r>
            <a:endParaRPr baseline="-7478" sz="7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32078" y="7262812"/>
            <a:ext cx="9368790" cy="2411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  <a:tabLst>
                <a:tab pos="3369945" algn="l"/>
              </a:tabLst>
            </a:pPr>
            <a:r>
              <a:rPr dirty="0" sz="5300" spc="-25">
                <a:solidFill>
                  <a:srgbClr val="111111"/>
                </a:solidFill>
                <a:latin typeface="Times New Roman"/>
                <a:cs typeface="Times New Roman"/>
              </a:rPr>
              <a:t>244</a:t>
            </a:r>
            <a:r>
              <a:rPr dirty="0" sz="530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5300" spc="105">
                <a:solidFill>
                  <a:srgbClr val="1C1C1C"/>
                </a:solidFill>
                <a:latin typeface="Times New Roman"/>
                <a:cs typeface="Times New Roman"/>
              </a:rPr>
              <a:t>Zerind</a:t>
            </a:r>
            <a:endParaRPr sz="5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200" spc="-70">
                <a:latin typeface="Times New Roman"/>
                <a:cs typeface="Times New Roman"/>
              </a:rPr>
              <a:t>straight-</a:t>
            </a:r>
            <a:r>
              <a:rPr dirty="0" sz="5200">
                <a:latin typeface="Times New Roman"/>
                <a:cs typeface="Times New Roman"/>
              </a:rPr>
              <a:t>line</a:t>
            </a:r>
            <a:r>
              <a:rPr dirty="0" sz="5200" spc="60">
                <a:latin typeface="Times New Roman"/>
                <a:cs typeface="Times New Roman"/>
              </a:rPr>
              <a:t> </a:t>
            </a:r>
            <a:r>
              <a:rPr dirty="0" sz="5200" spc="-10">
                <a:latin typeface="Times New Roman"/>
                <a:cs typeface="Times New Roman"/>
              </a:rPr>
              <a:t>distances</a:t>
            </a:r>
            <a:r>
              <a:rPr dirty="0" sz="5200" spc="70">
                <a:latin typeface="Times New Roman"/>
                <a:cs typeface="Times New Roman"/>
              </a:rPr>
              <a:t> </a:t>
            </a:r>
            <a:r>
              <a:rPr dirty="0" sz="5200">
                <a:latin typeface="Times New Roman"/>
                <a:cs typeface="Times New Roman"/>
              </a:rPr>
              <a:t>to</a:t>
            </a:r>
            <a:r>
              <a:rPr dirty="0" sz="5200" spc="-165">
                <a:latin typeface="Times New Roman"/>
                <a:cs typeface="Times New Roman"/>
              </a:rPr>
              <a:t> </a:t>
            </a:r>
            <a:r>
              <a:rPr dirty="0" sz="5200" spc="-10">
                <a:latin typeface="Times New Roman"/>
                <a:cs typeface="Times New Roman"/>
              </a:rPr>
              <a:t>Bucharest.</a:t>
            </a:r>
            <a:endParaRPr sz="52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766533" y="1168257"/>
          <a:ext cx="15824200" cy="6258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7160"/>
                <a:gridCol w="3177540"/>
                <a:gridCol w="6507480"/>
                <a:gridCol w="2117090"/>
              </a:tblGrid>
              <a:tr h="4811395">
                <a:tc>
                  <a:txBody>
                    <a:bodyPr/>
                    <a:lstStyle/>
                    <a:p>
                      <a:pPr marL="36830" marR="1102995" indent="9525">
                        <a:lnSpc>
                          <a:spcPct val="83600"/>
                        </a:lnSpc>
                        <a:spcBef>
                          <a:spcPts val="484"/>
                        </a:spcBef>
                      </a:pPr>
                      <a:r>
                        <a:rPr dirty="0" sz="5450" spc="-20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Arad </a:t>
                      </a:r>
                      <a:r>
                        <a:rPr dirty="0" sz="5250" spc="10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Bucharest </a:t>
                      </a:r>
                      <a:r>
                        <a:rPr dirty="0" sz="5450" spc="-10">
                          <a:solidFill>
                            <a:srgbClr val="151515"/>
                          </a:solidFill>
                          <a:latin typeface="Times New Roman"/>
                          <a:cs typeface="Times New Roman"/>
                        </a:rPr>
                        <a:t>Craiova </a:t>
                      </a:r>
                      <a:r>
                        <a:rPr dirty="0" sz="5400" spc="-1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Drobeta </a:t>
                      </a:r>
                      <a:r>
                        <a:rPr dirty="0" sz="5300" spc="105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Efori</a:t>
                      </a:r>
                      <a:r>
                        <a:rPr dirty="0" baseline="-1048" sz="7950" spc="157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5400" spc="80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Fagaras</a:t>
                      </a:r>
                      <a:endParaRPr sz="54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ts val="4960"/>
                        </a:lnSpc>
                      </a:pPr>
                      <a:r>
                        <a:rPr dirty="0" baseline="-1048" sz="7950" spc="-15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dirty="0" sz="5300" spc="-1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iurgiu</a:t>
                      </a:r>
                      <a:endParaRPr sz="5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/>
                </a:tc>
                <a:tc>
                  <a:txBody>
                    <a:bodyPr/>
                    <a:lstStyle/>
                    <a:p>
                      <a:pPr algn="r" marR="1078230">
                        <a:lnSpc>
                          <a:spcPts val="5475"/>
                        </a:lnSpc>
                      </a:pPr>
                      <a:r>
                        <a:rPr dirty="0" sz="5500" spc="-25">
                          <a:solidFill>
                            <a:srgbClr val="1C1C1C"/>
                          </a:solidFill>
                          <a:latin typeface="Times New Roman"/>
                          <a:cs typeface="Times New Roman"/>
                        </a:rPr>
                        <a:t>366</a:t>
                      </a:r>
                      <a:endParaRPr sz="5500">
                        <a:latin typeface="Times New Roman"/>
                        <a:cs typeface="Times New Roman"/>
                      </a:endParaRPr>
                    </a:p>
                    <a:p>
                      <a:pPr algn="r" marR="1074420">
                        <a:lnSpc>
                          <a:spcPts val="5250"/>
                        </a:lnSpc>
                      </a:pPr>
                      <a:r>
                        <a:rPr dirty="0" sz="5350" spc="-50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  <a:p>
                      <a:pPr algn="r" marR="1082040">
                        <a:lnSpc>
                          <a:spcPts val="5630"/>
                        </a:lnSpc>
                      </a:pPr>
                      <a:r>
                        <a:rPr dirty="0" sz="5700" spc="-25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i60</a:t>
                      </a:r>
                      <a:endParaRPr sz="5700">
                        <a:latin typeface="Times New Roman"/>
                        <a:cs typeface="Times New Roman"/>
                      </a:endParaRPr>
                    </a:p>
                    <a:p>
                      <a:pPr algn="r" marR="1069975">
                        <a:lnSpc>
                          <a:spcPts val="5335"/>
                        </a:lnSpc>
                      </a:pPr>
                      <a:r>
                        <a:rPr dirty="0" sz="5350" spc="-25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242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  <a:p>
                      <a:pPr algn="r" marR="1082040">
                        <a:lnSpc>
                          <a:spcPts val="5430"/>
                        </a:lnSpc>
                      </a:pPr>
                      <a:r>
                        <a:rPr dirty="0" sz="5450" spc="-25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161</a:t>
                      </a:r>
                      <a:endParaRPr sz="5450">
                        <a:latin typeface="Times New Roman"/>
                        <a:cs typeface="Times New Roman"/>
                      </a:endParaRPr>
                    </a:p>
                    <a:p>
                      <a:pPr algn="r" marR="1076960">
                        <a:lnSpc>
                          <a:spcPts val="5340"/>
                        </a:lnSpc>
                      </a:pPr>
                      <a:r>
                        <a:rPr dirty="0" sz="5300" spc="-25">
                          <a:solidFill>
                            <a:srgbClr val="1D1D1D"/>
                          </a:solidFill>
                          <a:latin typeface="Times New Roman"/>
                          <a:cs typeface="Times New Roman"/>
                        </a:rPr>
                        <a:t>176</a:t>
                      </a:r>
                      <a:endParaRPr sz="5300">
                        <a:latin typeface="Times New Roman"/>
                        <a:cs typeface="Times New Roman"/>
                      </a:endParaRPr>
                    </a:p>
                    <a:p>
                      <a:pPr algn="r" marR="1087120">
                        <a:lnSpc>
                          <a:spcPts val="5335"/>
                        </a:lnSpc>
                      </a:pPr>
                      <a:r>
                        <a:rPr dirty="0" sz="5350" spc="-25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77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4740" marR="2960370" indent="3810">
                        <a:lnSpc>
                          <a:spcPct val="82400"/>
                        </a:lnSpc>
                        <a:spcBef>
                          <a:spcPts val="560"/>
                        </a:spcBef>
                      </a:pPr>
                      <a:r>
                        <a:rPr dirty="0" sz="5500" spc="-1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Mehadia </a:t>
                      </a:r>
                      <a:r>
                        <a:rPr dirty="0" sz="5350" spc="-1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Neamt </a:t>
                      </a:r>
                      <a:r>
                        <a:rPr dirty="0" sz="5700" spc="-10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Oradea </a:t>
                      </a:r>
                      <a:r>
                        <a:rPr dirty="0" sz="5350" spc="-1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Pitesti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  <a:p>
                      <a:pPr marL="1098550">
                        <a:lnSpc>
                          <a:spcPts val="5570"/>
                        </a:lnSpc>
                      </a:pPr>
                      <a:r>
                        <a:rPr dirty="0" baseline="1019" sz="8175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Rimni</a:t>
                      </a:r>
                      <a:r>
                        <a:rPr dirty="0" sz="545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cu</a:t>
                      </a:r>
                      <a:r>
                        <a:rPr dirty="0" sz="5450" spc="25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450" spc="-10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Vilcea</a:t>
                      </a:r>
                      <a:endParaRPr sz="5450">
                        <a:latin typeface="Times New Roman"/>
                        <a:cs typeface="Times New Roman"/>
                      </a:endParaRPr>
                    </a:p>
                    <a:p>
                      <a:pPr marL="1099185">
                        <a:lnSpc>
                          <a:spcPts val="5765"/>
                        </a:lnSpc>
                        <a:spcBef>
                          <a:spcPts val="4250"/>
                        </a:spcBef>
                      </a:pPr>
                      <a:r>
                        <a:rPr dirty="0" sz="5350" spc="-10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Timisoara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/>
                </a:tc>
                <a:tc>
                  <a:txBody>
                    <a:bodyPr/>
                    <a:lstStyle/>
                    <a:p>
                      <a:pPr marL="1104265">
                        <a:lnSpc>
                          <a:spcPts val="5775"/>
                        </a:lnSpc>
                        <a:spcBef>
                          <a:spcPts val="4950"/>
                        </a:spcBef>
                      </a:pPr>
                      <a:r>
                        <a:rPr dirty="0" sz="5350" spc="-4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234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  <a:p>
                      <a:pPr marL="1098550">
                        <a:lnSpc>
                          <a:spcPts val="5630"/>
                        </a:lnSpc>
                      </a:pPr>
                      <a:r>
                        <a:rPr dirty="0" sz="5700" spc="-340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380</a:t>
                      </a:r>
                      <a:endParaRPr sz="5700">
                        <a:latin typeface="Times New Roman"/>
                        <a:cs typeface="Times New Roman"/>
                      </a:endParaRPr>
                    </a:p>
                    <a:p>
                      <a:pPr marL="1105535">
                        <a:lnSpc>
                          <a:spcPts val="5485"/>
                        </a:lnSpc>
                      </a:pPr>
                      <a:r>
                        <a:rPr dirty="0" sz="5350" spc="-45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  <a:p>
                      <a:pPr marL="1165225">
                        <a:lnSpc>
                          <a:spcPts val="6165"/>
                        </a:lnSpc>
                      </a:pPr>
                      <a:r>
                        <a:rPr dirty="0" sz="5450" spc="65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i93</a:t>
                      </a:r>
                      <a:endParaRPr sz="5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0"/>
                </a:tc>
              </a:tr>
              <a:tr h="699770">
                <a:tc>
                  <a:txBody>
                    <a:bodyPr/>
                    <a:lstStyle/>
                    <a:p>
                      <a:pPr marL="40640">
                        <a:lnSpc>
                          <a:spcPts val="5410"/>
                        </a:lnSpc>
                      </a:pPr>
                      <a:r>
                        <a:rPr dirty="0" sz="5300" spc="55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Hirsova</a:t>
                      </a:r>
                      <a:endParaRPr sz="5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0770">
                        <a:lnSpc>
                          <a:spcPts val="5410"/>
                        </a:lnSpc>
                      </a:pPr>
                      <a:r>
                        <a:rPr dirty="0" sz="540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151</a:t>
                      </a:r>
                      <a:endParaRPr sz="5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6330">
                        <a:lnSpc>
                          <a:spcPts val="5410"/>
                        </a:lnSpc>
                      </a:pPr>
                      <a:r>
                        <a:rPr dirty="0" sz="5400" spc="-10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Urziceni</a:t>
                      </a:r>
                      <a:endParaRPr sz="5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ts val="5410"/>
                        </a:lnSpc>
                      </a:pPr>
                      <a:r>
                        <a:rPr dirty="0" sz="5200" spc="-25">
                          <a:solidFill>
                            <a:srgbClr val="0A0A0A"/>
                          </a:solidFill>
                          <a:latin typeface="Times New Roman"/>
                          <a:cs typeface="Times New Roman"/>
                        </a:rPr>
                        <a:t>80</a:t>
                      </a:r>
                      <a:endParaRPr sz="5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747395">
                <a:tc>
                  <a:txBody>
                    <a:bodyPr/>
                    <a:lstStyle/>
                    <a:p>
                      <a:pPr marL="31750">
                        <a:lnSpc>
                          <a:spcPts val="5585"/>
                        </a:lnSpc>
                      </a:pPr>
                      <a:r>
                        <a:rPr dirty="0" sz="5550" spc="5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lasi</a:t>
                      </a:r>
                      <a:endParaRPr sz="5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0770">
                        <a:lnSpc>
                          <a:spcPts val="5695"/>
                        </a:lnSpc>
                      </a:pPr>
                      <a:r>
                        <a:rPr dirty="0" sz="5350" spc="-25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226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3790">
                        <a:lnSpc>
                          <a:spcPts val="5695"/>
                        </a:lnSpc>
                      </a:pPr>
                      <a:r>
                        <a:rPr dirty="0" sz="5350" spc="-10">
                          <a:latin typeface="Times New Roman"/>
                          <a:cs typeface="Times New Roman"/>
                        </a:rPr>
                        <a:t>Vaslui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180">
                        <a:lnSpc>
                          <a:spcPts val="5785"/>
                        </a:lnSpc>
                      </a:pPr>
                      <a:r>
                        <a:rPr dirty="0" sz="5300" spc="-25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199</a:t>
                      </a:r>
                      <a:endParaRPr sz="5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16486669" y="7324725"/>
            <a:ext cx="996950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-25">
                <a:solidFill>
                  <a:srgbClr val="111111"/>
                </a:solidFill>
                <a:latin typeface="Times New Roman"/>
                <a:cs typeface="Times New Roman"/>
              </a:rPr>
              <a:t>374</a:t>
            </a:r>
            <a:endParaRPr sz="5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6775" y="4762500"/>
            <a:ext cx="13192125" cy="2171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1700" y="3314700"/>
            <a:ext cx="2085975" cy="5524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4925" y="6515100"/>
            <a:ext cx="866775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2000" y="7077075"/>
            <a:ext cx="476250" cy="228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27200" y="3224212"/>
            <a:ext cx="3357879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>
                <a:solidFill>
                  <a:srgbClr val="1A1A1A"/>
                </a:solidFill>
                <a:latin typeface="Times New Roman"/>
                <a:cs typeface="Times New Roman"/>
              </a:rPr>
              <a:t>(a)</a:t>
            </a:r>
            <a:r>
              <a:rPr dirty="0" sz="3350" spc="9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181818"/>
                </a:solidFill>
                <a:latin typeface="Times New Roman"/>
                <a:cs typeface="Times New Roman"/>
              </a:rPr>
              <a:t>The</a:t>
            </a:r>
            <a:r>
              <a:rPr dirty="0" sz="3350" spc="9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111111"/>
                </a:solidFill>
                <a:latin typeface="Times New Roman"/>
                <a:cs typeface="Times New Roman"/>
              </a:rPr>
              <a:t>initial</a:t>
            </a:r>
            <a:r>
              <a:rPr dirty="0" sz="33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350" spc="80">
                <a:solidFill>
                  <a:srgbClr val="0F0F0F"/>
                </a:solidFill>
                <a:latin typeface="Times New Roman"/>
                <a:cs typeface="Times New Roman"/>
              </a:rPr>
              <a:t>state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26679" y="4640262"/>
            <a:ext cx="449707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>
                <a:solidFill>
                  <a:srgbClr val="1A1A1A"/>
                </a:solidFill>
                <a:latin typeface="Times New Roman"/>
                <a:cs typeface="Times New Roman"/>
              </a:rPr>
              <a:t>(b)</a:t>
            </a:r>
            <a:r>
              <a:rPr dirty="0" sz="3450" spc="-17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131313"/>
                </a:solidFill>
                <a:latin typeface="Times New Roman"/>
                <a:cs typeface="Times New Roman"/>
              </a:rPr>
              <a:t>After</a:t>
            </a:r>
            <a:r>
              <a:rPr dirty="0" sz="3450" spc="-8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0A0A0A"/>
                </a:solidFill>
                <a:latin typeface="Times New Roman"/>
                <a:cs typeface="Times New Roman"/>
              </a:rPr>
              <a:t>expanding</a:t>
            </a:r>
            <a:r>
              <a:rPr dirty="0" sz="3450" spc="-2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3450" spc="-20">
                <a:solidFill>
                  <a:srgbClr val="181818"/>
                </a:solidFill>
                <a:latin typeface="Times New Roman"/>
                <a:cs typeface="Times New Roman"/>
              </a:rPr>
              <a:t>Arad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90766" y="6269672"/>
            <a:ext cx="68643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4400"/>
              </a:lnSpc>
              <a:spcBef>
                <a:spcPts val="100"/>
              </a:spcBef>
            </a:pPr>
            <a:r>
              <a:rPr dirty="0" sz="2650" spc="-95">
                <a:solidFill>
                  <a:srgbClr val="1A1A1A"/>
                </a:solidFill>
                <a:latin typeface="Times New Roman"/>
                <a:cs typeface="Times New Roman"/>
              </a:rPr>
              <a:t>Sibiu </a:t>
            </a:r>
            <a:r>
              <a:rPr dirty="0" sz="2650" spc="-25">
                <a:solidFill>
                  <a:srgbClr val="414141"/>
                </a:solidFill>
                <a:latin typeface="Times New Roman"/>
                <a:cs typeface="Times New Roman"/>
              </a:rPr>
              <a:t>i5J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547896" y="3360737"/>
            <a:ext cx="66484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60">
                <a:solidFill>
                  <a:srgbClr val="161616"/>
                </a:solidFill>
                <a:latin typeface="Times New Roman"/>
                <a:cs typeface="Times New Roman"/>
              </a:rPr>
              <a:t>Arad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719385" y="6970712"/>
            <a:ext cx="5162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2A2A2A"/>
                </a:solidFill>
                <a:latin typeface="Times New Roman"/>
                <a:cs typeface="Times New Roman"/>
              </a:rPr>
              <a:t>374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225" y="4905375"/>
            <a:ext cx="15544800" cy="521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6900" y="228600"/>
            <a:ext cx="15506700" cy="37052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50504" y="115887"/>
            <a:ext cx="4286250" cy="551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-105">
                <a:solidFill>
                  <a:srgbClr val="0C0C0C"/>
                </a:solidFill>
                <a:latin typeface="Times New Roman"/>
                <a:cs typeface="Times New Roman"/>
              </a:rPr>
              <a:t>(c)</a:t>
            </a:r>
            <a:r>
              <a:rPr dirty="0" sz="3450" spc="-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450" spc="-40">
                <a:solidFill>
                  <a:srgbClr val="131313"/>
                </a:solidFill>
                <a:latin typeface="Times New Roman"/>
                <a:cs typeface="Times New Roman"/>
              </a:rPr>
              <a:t>After</a:t>
            </a:r>
            <a:r>
              <a:rPr dirty="0" sz="3450" spc="-10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450" spc="-95">
                <a:solidFill>
                  <a:srgbClr val="131313"/>
                </a:solidFill>
                <a:latin typeface="Times New Roman"/>
                <a:cs typeface="Times New Roman"/>
              </a:rPr>
              <a:t>expanding</a:t>
            </a:r>
            <a:r>
              <a:rPr dirty="0" sz="3450" spc="-12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0F0F0F"/>
                </a:solidFill>
                <a:latin typeface="Times New Roman"/>
                <a:cs typeface="Times New Roman"/>
              </a:rPr>
              <a:t>Sibiu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50673" y="3906837"/>
            <a:ext cx="497205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30">
                <a:solidFill>
                  <a:srgbClr val="4F4F4F"/>
                </a:solidFill>
                <a:latin typeface="Times New Roman"/>
                <a:cs typeface="Times New Roman"/>
              </a:rPr>
              <a:t>3d6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13844" y="10133012"/>
            <a:ext cx="49530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75">
                <a:solidFill>
                  <a:srgbClr val="343434"/>
                </a:solidFill>
                <a:latin typeface="Times New Roman"/>
                <a:cs typeface="Times New Roman"/>
              </a:rPr>
              <a:t>253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87382" y="3266757"/>
            <a:ext cx="1002030" cy="1054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4480" marR="5080" indent="-272415">
              <a:lnSpc>
                <a:spcPct val="132400"/>
              </a:lnSpc>
              <a:spcBef>
                <a:spcPts val="95"/>
              </a:spcBef>
            </a:pPr>
            <a:r>
              <a:rPr dirty="0" sz="2550" spc="-50">
                <a:solidFill>
                  <a:srgbClr val="242424"/>
                </a:solidFill>
                <a:latin typeface="Times New Roman"/>
                <a:cs typeface="Times New Roman"/>
              </a:rPr>
              <a:t>Fagaras </a:t>
            </a:r>
            <a:r>
              <a:rPr dirty="0" sz="2550" spc="-25">
                <a:solidFill>
                  <a:srgbClr val="161616"/>
                </a:solidFill>
                <a:latin typeface="Times New Roman"/>
                <a:cs typeface="Times New Roman"/>
              </a:rPr>
              <a:t>176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62540" y="10113962"/>
            <a:ext cx="2260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484848"/>
                </a:solidFill>
                <a:latin typeface="Courier New"/>
                <a:cs typeface="Courier New"/>
              </a:rPr>
              <a:t>0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43141" y="3906837"/>
            <a:ext cx="52197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80">
                <a:solidFill>
                  <a:srgbClr val="131313"/>
                </a:solidFill>
                <a:latin typeface="Consolas"/>
                <a:cs typeface="Consolas"/>
              </a:rPr>
              <a:t>380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617842" y="3913187"/>
            <a:ext cx="501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262626"/>
                </a:solidFill>
                <a:latin typeface="Times New Roman"/>
                <a:cs typeface="Times New Roman"/>
              </a:rPr>
              <a:t>193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626623" y="8583612"/>
            <a:ext cx="511175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25">
                <a:latin typeface="Times New Roman"/>
                <a:cs typeface="Times New Roman"/>
              </a:rPr>
              <a:t>193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890206" y="2351087"/>
            <a:ext cx="501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363636"/>
                </a:solidFill>
                <a:latin typeface="Times New Roman"/>
                <a:cs typeface="Times New Roman"/>
              </a:rPr>
              <a:t>329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890206" y="6999287"/>
            <a:ext cx="501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solidFill>
                  <a:srgbClr val="2F2F2F"/>
                </a:solidFill>
                <a:latin typeface="Times New Roman"/>
                <a:cs typeface="Times New Roman"/>
              </a:rPr>
              <a:t>329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242360" y="2332037"/>
            <a:ext cx="49530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75">
                <a:solidFill>
                  <a:srgbClr val="1D1D1D"/>
                </a:solidFill>
                <a:latin typeface="Times New Roman"/>
                <a:cs typeface="Times New Roman"/>
              </a:rPr>
              <a:t>374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242614" y="6991350"/>
            <a:ext cx="49593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5">
                <a:solidFill>
                  <a:srgbClr val="2F2F2F"/>
                </a:solidFill>
                <a:latin typeface="Times New Roman"/>
                <a:cs typeface="Times New Roman"/>
              </a:rPr>
              <a:t>374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59352" y="9706356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 h="0">
                <a:moveTo>
                  <a:pt x="0" y="0"/>
                </a:moveTo>
                <a:lnTo>
                  <a:pt x="411480" y="0"/>
                </a:lnTo>
              </a:path>
            </a:pathLst>
          </a:custGeom>
          <a:ln w="21336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0212" rIns="0" bIns="0" rtlCol="0" vert="horz">
            <a:spAutoFit/>
          </a:bodyPr>
          <a:lstStyle/>
          <a:p>
            <a:pPr marL="831850">
              <a:lnSpc>
                <a:spcPct val="100000"/>
              </a:lnSpc>
              <a:spcBef>
                <a:spcPts val="100"/>
              </a:spcBef>
            </a:pPr>
            <a:r>
              <a:rPr dirty="0" sz="5750" spc="-85"/>
              <a:t>Greedy</a:t>
            </a:r>
            <a:r>
              <a:rPr dirty="0" sz="5750" spc="75"/>
              <a:t> </a:t>
            </a:r>
            <a:r>
              <a:rPr dirty="0" sz="5750" spc="-10"/>
              <a:t>best-</a:t>
            </a:r>
            <a:r>
              <a:rPr dirty="0" sz="5750"/>
              <a:t>lrst</a:t>
            </a:r>
            <a:r>
              <a:rPr dirty="0" sz="5750" spc="75"/>
              <a:t> </a:t>
            </a:r>
            <a:r>
              <a:rPr dirty="0" sz="5750" spc="-90"/>
              <a:t>search</a:t>
            </a:r>
            <a:endParaRPr sz="5750"/>
          </a:p>
        </p:txBody>
      </p:sp>
      <p:sp>
        <p:nvSpPr>
          <p:cNvPr id="4" name="object 4" descr=""/>
          <p:cNvSpPr txBox="1"/>
          <p:nvPr/>
        </p:nvSpPr>
        <p:spPr>
          <a:xfrm>
            <a:off x="1421323" y="1966912"/>
            <a:ext cx="16608425" cy="364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7990" indent="-389890">
              <a:lnSpc>
                <a:spcPts val="5140"/>
              </a:lnSpc>
              <a:spcBef>
                <a:spcPts val="100"/>
              </a:spcBef>
              <a:buChar char="•"/>
              <a:tabLst>
                <a:tab pos="427990" algn="l"/>
              </a:tabLst>
            </a:pPr>
            <a:r>
              <a:rPr dirty="0" sz="4550" spc="-50">
                <a:latin typeface="Calibri"/>
                <a:cs typeface="Calibri"/>
              </a:rPr>
              <a:t>Greedy</a:t>
            </a:r>
            <a:r>
              <a:rPr dirty="0" sz="4550" spc="-35">
                <a:latin typeface="Calibri"/>
                <a:cs typeface="Calibri"/>
              </a:rPr>
              <a:t> </a:t>
            </a:r>
            <a:r>
              <a:rPr dirty="0" sz="4550" spc="-105">
                <a:latin typeface="Calibri"/>
                <a:cs typeface="Calibri"/>
              </a:rPr>
              <a:t>best-</a:t>
            </a:r>
            <a:r>
              <a:rPr dirty="0" sz="4550">
                <a:latin typeface="Calibri"/>
                <a:cs typeface="Calibri"/>
              </a:rPr>
              <a:t>first</a:t>
            </a:r>
            <a:r>
              <a:rPr dirty="0" sz="4550" spc="2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search</a:t>
            </a:r>
            <a:r>
              <a:rPr dirty="0" sz="4550" spc="-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tries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expand</a:t>
            </a:r>
            <a:r>
              <a:rPr dirty="0" sz="4550" spc="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node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that</a:t>
            </a:r>
            <a:r>
              <a:rPr dirty="0" sz="4550" spc="-1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-2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closest</a:t>
            </a:r>
            <a:r>
              <a:rPr dirty="0" sz="4550" spc="-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-21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the</a:t>
            </a:r>
            <a:endParaRPr sz="4550">
              <a:latin typeface="Calibri"/>
              <a:cs typeface="Calibri"/>
            </a:endParaRPr>
          </a:p>
          <a:p>
            <a:pPr marL="429895">
              <a:lnSpc>
                <a:spcPts val="5205"/>
              </a:lnSpc>
            </a:pPr>
            <a:r>
              <a:rPr dirty="0" sz="4600" spc="-35">
                <a:latin typeface="Calibri"/>
                <a:cs typeface="Calibri"/>
              </a:rPr>
              <a:t>goal,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 spc="-75">
                <a:latin typeface="Calibri"/>
                <a:cs typeface="Calibri"/>
              </a:rPr>
              <a:t>grounds</a:t>
            </a:r>
            <a:r>
              <a:rPr dirty="0" sz="4600" spc="80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that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this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likely</a:t>
            </a:r>
            <a:r>
              <a:rPr dirty="0" sz="4600" spc="-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lead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soluñon</a:t>
            </a:r>
            <a:r>
              <a:rPr dirty="0" sz="4600" spc="-12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quickly.</a:t>
            </a:r>
            <a:endParaRPr sz="4600">
              <a:latin typeface="Calibri"/>
              <a:cs typeface="Calibri"/>
            </a:endParaRPr>
          </a:p>
          <a:p>
            <a:pPr marL="431165" indent="-393065">
              <a:lnSpc>
                <a:spcPts val="5135"/>
              </a:lnSpc>
              <a:spcBef>
                <a:spcPts val="855"/>
              </a:spcBef>
              <a:buChar char="•"/>
              <a:tabLst>
                <a:tab pos="431165" algn="l"/>
                <a:tab pos="1854835" algn="l"/>
                <a:tab pos="4754245" algn="l"/>
                <a:tab pos="6344920" algn="l"/>
                <a:tab pos="8505825" algn="l"/>
                <a:tab pos="9541510" algn="l"/>
                <a:tab pos="10507345" algn="l"/>
                <a:tab pos="12683490" algn="l"/>
                <a:tab pos="14951710" algn="l"/>
                <a:tab pos="16085185" algn="l"/>
              </a:tabLst>
            </a:pPr>
            <a:r>
              <a:rPr dirty="0" sz="4600" spc="-10">
                <a:latin typeface="Calibri"/>
                <a:cs typeface="Calibri"/>
              </a:rPr>
              <a:t>Thus,</a:t>
            </a:r>
            <a:r>
              <a:rPr dirty="0" sz="4600">
                <a:latin typeface="Calibri"/>
                <a:cs typeface="Calibri"/>
              </a:rPr>
              <a:t>	it</a:t>
            </a:r>
            <a:r>
              <a:rPr dirty="0" sz="4600" spc="42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evaluates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nodes</a:t>
            </a:r>
            <a:r>
              <a:rPr dirty="0" sz="4600">
                <a:latin typeface="Calibri"/>
                <a:cs typeface="Calibri"/>
              </a:rPr>
              <a:t>	by</a:t>
            </a:r>
            <a:r>
              <a:rPr dirty="0" sz="4600" spc="26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using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just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heuristic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funcñon;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that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is,</a:t>
            </a:r>
            <a:endParaRPr sz="4600">
              <a:latin typeface="Calibri"/>
              <a:cs typeface="Calibri"/>
            </a:endParaRPr>
          </a:p>
          <a:p>
            <a:pPr marL="424815">
              <a:lnSpc>
                <a:spcPts val="5195"/>
              </a:lnSpc>
            </a:pPr>
            <a:r>
              <a:rPr dirty="0" sz="4650" spc="-30">
                <a:latin typeface="Calibri"/>
                <a:cs typeface="Calibri"/>
              </a:rPr>
              <a:t>f(n)</a:t>
            </a:r>
            <a:r>
              <a:rPr dirty="0" sz="4650" spc="-13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=</a:t>
            </a:r>
            <a:r>
              <a:rPr dirty="0" sz="4650" spc="-225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h(n)</a:t>
            </a:r>
            <a:endParaRPr sz="4650">
              <a:latin typeface="Calibri"/>
              <a:cs typeface="Calibri"/>
            </a:endParaRPr>
          </a:p>
          <a:p>
            <a:pPr marL="419100" indent="-380365">
              <a:lnSpc>
                <a:spcPct val="100000"/>
              </a:lnSpc>
              <a:spcBef>
                <a:spcPts val="1545"/>
              </a:spcBef>
              <a:buChar char="•"/>
              <a:tabLst>
                <a:tab pos="419100" algn="l"/>
              </a:tabLst>
            </a:pPr>
            <a:r>
              <a:rPr dirty="0" sz="4500">
                <a:latin typeface="Calibri"/>
                <a:cs typeface="Calibri"/>
              </a:rPr>
              <a:t>we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use</a:t>
            </a:r>
            <a:r>
              <a:rPr dirty="0" sz="4500" spc="-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straight</a:t>
            </a:r>
            <a:r>
              <a:rPr dirty="0" sz="4500" spc="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line</a:t>
            </a:r>
            <a:r>
              <a:rPr dirty="0" sz="4500" spc="-1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distance</a:t>
            </a:r>
            <a:r>
              <a:rPr dirty="0" sz="4500" spc="110">
                <a:latin typeface="Calibri"/>
                <a:cs typeface="Calibri"/>
              </a:rPr>
              <a:t> </a:t>
            </a:r>
            <a:r>
              <a:rPr dirty="0" sz="4500" spc="-35">
                <a:latin typeface="Calibri"/>
                <a:cs typeface="Calibri"/>
              </a:rPr>
              <a:t>heuristic,</a:t>
            </a:r>
            <a:r>
              <a:rPr dirty="0" sz="4500" spc="1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which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we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will</a:t>
            </a:r>
            <a:r>
              <a:rPr dirty="0" sz="4500" spc="-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call</a:t>
            </a:r>
            <a:r>
              <a:rPr dirty="0" sz="4500" spc="-14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h</a:t>
            </a:r>
            <a:r>
              <a:rPr dirty="0" baseline="-25555" sz="3750" spc="-30">
                <a:latin typeface="Calibri"/>
                <a:cs typeface="Calibri"/>
              </a:rPr>
              <a:t>S</a:t>
            </a:r>
            <a:r>
              <a:rPr dirty="0" baseline="-24109" sz="3975" spc="-30">
                <a:latin typeface="Calibri"/>
                <a:cs typeface="Calibri"/>
              </a:rPr>
              <a:t>L</a:t>
            </a:r>
            <a:r>
              <a:rPr dirty="0" baseline="-22817" sz="4200" spc="-30">
                <a:latin typeface="Calibri"/>
                <a:cs typeface="Calibri"/>
              </a:rPr>
              <a:t>D</a:t>
            </a:r>
            <a:endParaRPr baseline="-22817" sz="4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50313" y="5827712"/>
            <a:ext cx="7717790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100"/>
              </a:spcBef>
              <a:buClr>
                <a:srgbClr val="017BBD"/>
              </a:buClr>
              <a:buChar char="•"/>
              <a:tabLst>
                <a:tab pos="411480" algn="l"/>
                <a:tab pos="2308860" algn="l"/>
                <a:tab pos="4671060" algn="l"/>
                <a:tab pos="6501130" algn="l"/>
              </a:tabLst>
            </a:pPr>
            <a:r>
              <a:rPr dirty="0" sz="4300" spc="-10">
                <a:solidFill>
                  <a:srgbClr val="136B9C"/>
                </a:solidFill>
                <a:latin typeface="Calibri"/>
                <a:cs typeface="Calibri"/>
              </a:rPr>
              <a:t>greedy</a:t>
            </a:r>
            <a:r>
              <a:rPr dirty="0" sz="4300">
                <a:solidFill>
                  <a:srgbClr val="136B9C"/>
                </a:solidFill>
                <a:latin typeface="Calibri"/>
                <a:cs typeface="Calibri"/>
              </a:rPr>
              <a:t>	</a:t>
            </a:r>
            <a:r>
              <a:rPr dirty="0" sz="4300" spc="-30">
                <a:solidFill>
                  <a:srgbClr val="005EA3"/>
                </a:solidFill>
                <a:latin typeface="Calibri"/>
                <a:cs typeface="Calibri"/>
              </a:rPr>
              <a:t>best-</a:t>
            </a:r>
            <a:r>
              <a:rPr dirty="0" sz="4300" spc="-20">
                <a:solidFill>
                  <a:srgbClr val="005EA3"/>
                </a:solidFill>
                <a:latin typeface="Calibri"/>
                <a:cs typeface="Calibri"/>
              </a:rPr>
              <a:t>first</a:t>
            </a:r>
            <a:r>
              <a:rPr dirty="0" sz="4300">
                <a:solidFill>
                  <a:srgbClr val="005EA3"/>
                </a:solidFill>
                <a:latin typeface="Calibri"/>
                <a:cs typeface="Calibri"/>
              </a:rPr>
              <a:t>	</a:t>
            </a:r>
            <a:r>
              <a:rPr dirty="0" sz="4300" spc="-10">
                <a:solidFill>
                  <a:srgbClr val="21699C"/>
                </a:solidFill>
                <a:latin typeface="Calibri"/>
                <a:cs typeface="Calibri"/>
              </a:rPr>
              <a:t>search</a:t>
            </a:r>
            <a:r>
              <a:rPr dirty="0" sz="4300">
                <a:solidFill>
                  <a:srgbClr val="21699C"/>
                </a:solidFill>
                <a:latin typeface="Calibri"/>
                <a:cs typeface="Calibri"/>
              </a:rPr>
              <a:t>	</a:t>
            </a:r>
            <a:r>
              <a:rPr dirty="0" sz="4300" spc="-10">
                <a:latin typeface="Calibri"/>
                <a:cs typeface="Calibri"/>
              </a:rPr>
              <a:t>using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465154" y="5970587"/>
            <a:ext cx="90233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4211" sz="6450" spc="60">
                <a:latin typeface="Calibri"/>
                <a:cs typeface="Calibri"/>
              </a:rPr>
              <a:t>h</a:t>
            </a:r>
            <a:r>
              <a:rPr dirty="0" sz="2500" spc="40">
                <a:latin typeface="Calibri"/>
                <a:cs typeface="Calibri"/>
              </a:rPr>
              <a:t>SL</a:t>
            </a:r>
            <a:r>
              <a:rPr dirty="0" sz="2800" spc="40">
                <a:latin typeface="Calibri"/>
                <a:cs typeface="Calibri"/>
              </a:rPr>
              <a:t>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07336" y="5827712"/>
            <a:ext cx="740092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310" algn="l"/>
                <a:tab pos="2067560" algn="l"/>
                <a:tab pos="4246880" algn="l"/>
                <a:tab pos="6388735" algn="l"/>
              </a:tabLst>
            </a:pPr>
            <a:r>
              <a:rPr dirty="0" sz="4300" spc="-10">
                <a:latin typeface="Calibri"/>
                <a:cs typeface="Calibri"/>
              </a:rPr>
              <a:t>finds</a:t>
            </a:r>
            <a:r>
              <a:rPr dirty="0" sz="4300">
                <a:latin typeface="Calibri"/>
                <a:cs typeface="Calibri"/>
              </a:rPr>
              <a:t>	a	</a:t>
            </a:r>
            <a:r>
              <a:rPr dirty="0" sz="4300" spc="45">
                <a:latin typeface="Calibri"/>
                <a:cs typeface="Calibri"/>
              </a:rPr>
              <a:t>soluñon</a:t>
            </a:r>
            <a:r>
              <a:rPr dirty="0" sz="4300">
                <a:latin typeface="Calibri"/>
                <a:cs typeface="Calibri"/>
              </a:rPr>
              <a:t>	</a:t>
            </a:r>
            <a:r>
              <a:rPr dirty="0" sz="4300" spc="40">
                <a:latin typeface="Calibri"/>
                <a:cs typeface="Calibri"/>
              </a:rPr>
              <a:t>without</a:t>
            </a:r>
            <a:r>
              <a:rPr dirty="0" sz="4300">
                <a:latin typeface="Calibri"/>
                <a:cs typeface="Calibri"/>
              </a:rPr>
              <a:t>	</a:t>
            </a:r>
            <a:r>
              <a:rPr dirty="0" sz="4300" spc="-20">
                <a:latin typeface="Calibri"/>
                <a:cs typeface="Calibri"/>
              </a:rPr>
              <a:t>ever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46723" y="6437312"/>
            <a:ext cx="16560165" cy="356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860">
              <a:lnSpc>
                <a:spcPts val="5120"/>
              </a:lnSpc>
              <a:spcBef>
                <a:spcPts val="100"/>
              </a:spcBef>
              <a:tabLst>
                <a:tab pos="2966085" algn="l"/>
                <a:tab pos="4792345" algn="l"/>
                <a:tab pos="7424420" algn="l"/>
                <a:tab pos="11207750" algn="l"/>
                <a:tab pos="12598400" algn="l"/>
                <a:tab pos="14317980" algn="l"/>
                <a:tab pos="15066010" algn="l"/>
              </a:tabLst>
            </a:pPr>
            <a:r>
              <a:rPr dirty="0" sz="4450" spc="-10">
                <a:latin typeface="Calibri"/>
                <a:cs typeface="Calibri"/>
              </a:rPr>
              <a:t>expanding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85">
                <a:latin typeface="Calibri"/>
                <a:cs typeface="Calibri"/>
              </a:rPr>
              <a:t>a</a:t>
            </a:r>
            <a:r>
              <a:rPr dirty="0" sz="4450" spc="370">
                <a:latin typeface="Calibri"/>
                <a:cs typeface="Calibri"/>
              </a:rPr>
              <a:t> </a:t>
            </a:r>
            <a:r>
              <a:rPr dirty="0" sz="4450" spc="-20">
                <a:latin typeface="Calibri"/>
                <a:cs typeface="Calibri"/>
              </a:rPr>
              <a:t>node</a:t>
            </a:r>
            <a:r>
              <a:rPr dirty="0" sz="4450">
                <a:latin typeface="Calibri"/>
                <a:cs typeface="Calibri"/>
              </a:rPr>
              <a:t>	that</a:t>
            </a:r>
            <a:r>
              <a:rPr dirty="0" sz="4450" spc="39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is</a:t>
            </a:r>
            <a:r>
              <a:rPr dirty="0" sz="4450" spc="434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not</a:t>
            </a:r>
            <a:r>
              <a:rPr dirty="0" sz="4450">
                <a:latin typeface="Calibri"/>
                <a:cs typeface="Calibri"/>
              </a:rPr>
              <a:t>	on</a:t>
            </a:r>
            <a:r>
              <a:rPr dirty="0" sz="4450" spc="4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420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solution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path;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hence,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its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30">
                <a:solidFill>
                  <a:srgbClr val="F20F1C"/>
                </a:solidFill>
                <a:latin typeface="Calibri"/>
                <a:cs typeface="Calibri"/>
              </a:rPr>
              <a:t>search</a:t>
            </a:r>
            <a:endParaRPr sz="4450">
              <a:latin typeface="Calibri"/>
              <a:cs typeface="Calibri"/>
            </a:endParaRPr>
          </a:p>
          <a:p>
            <a:pPr marL="405130">
              <a:lnSpc>
                <a:spcPts val="5000"/>
              </a:lnSpc>
            </a:pPr>
            <a:r>
              <a:rPr dirty="0" sz="4350">
                <a:solidFill>
                  <a:srgbClr val="F90A0E"/>
                </a:solidFill>
                <a:latin typeface="Calibri"/>
                <a:cs typeface="Calibri"/>
              </a:rPr>
              <a:t>cost</a:t>
            </a:r>
            <a:r>
              <a:rPr dirty="0" sz="4350" spc="200">
                <a:solidFill>
                  <a:srgbClr val="F90A0E"/>
                </a:solidFill>
                <a:latin typeface="Calibri"/>
                <a:cs typeface="Calibri"/>
              </a:rPr>
              <a:t> </a:t>
            </a:r>
            <a:r>
              <a:rPr dirty="0" sz="4350">
                <a:solidFill>
                  <a:srgbClr val="E60007"/>
                </a:solidFill>
                <a:latin typeface="Calibri"/>
                <a:cs typeface="Calibri"/>
              </a:rPr>
              <a:t>is</a:t>
            </a:r>
            <a:r>
              <a:rPr dirty="0" sz="4350" spc="50">
                <a:solidFill>
                  <a:srgbClr val="E60007"/>
                </a:solidFill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minimal.</a:t>
            </a:r>
            <a:r>
              <a:rPr dirty="0" sz="4350" spc="30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It</a:t>
            </a:r>
            <a:r>
              <a:rPr dirty="0" sz="4350" spc="-30">
                <a:latin typeface="Calibri"/>
                <a:cs typeface="Calibri"/>
              </a:rPr>
              <a:t> </a:t>
            </a:r>
            <a:r>
              <a:rPr dirty="0" sz="4350" spc="50">
                <a:latin typeface="Calibri"/>
                <a:cs typeface="Calibri"/>
              </a:rPr>
              <a:t>is</a:t>
            </a:r>
            <a:r>
              <a:rPr dirty="0" sz="4350" spc="-3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not</a:t>
            </a:r>
            <a:r>
              <a:rPr dirty="0" sz="4350" spc="-105">
                <a:latin typeface="Calibri"/>
                <a:cs typeface="Calibri"/>
              </a:rPr>
              <a:t> </a:t>
            </a:r>
            <a:r>
              <a:rPr dirty="0" sz="4350" spc="-70">
                <a:latin typeface="Calibri"/>
                <a:cs typeface="Calibri"/>
              </a:rPr>
              <a:t>egt1+eat</a:t>
            </a:r>
            <a:endParaRPr sz="4350">
              <a:latin typeface="Calibri"/>
              <a:cs typeface="Calibri"/>
            </a:endParaRPr>
          </a:p>
          <a:p>
            <a:pPr marL="400685" marR="5080" indent="-388620">
              <a:lnSpc>
                <a:spcPts val="4800"/>
              </a:lnSpc>
              <a:spcBef>
                <a:spcPts val="1739"/>
              </a:spcBef>
              <a:buChar char="•"/>
              <a:tabLst>
                <a:tab pos="400685" algn="l"/>
                <a:tab pos="408305" algn="l"/>
                <a:tab pos="1185545" algn="l"/>
                <a:tab pos="3843020" algn="l"/>
                <a:tab pos="4782185" algn="l"/>
                <a:tab pos="5544185" algn="l"/>
                <a:tab pos="6647815" algn="l"/>
                <a:tab pos="8603615" algn="l"/>
                <a:tab pos="9121140" algn="l"/>
                <a:tab pos="9896475" algn="l"/>
                <a:tab pos="10398125" algn="l"/>
                <a:tab pos="11480165" algn="l"/>
                <a:tab pos="11991975" algn="l"/>
                <a:tab pos="13240385" algn="l"/>
                <a:tab pos="14516735" algn="l"/>
                <a:tab pos="15501619" algn="l"/>
              </a:tabLst>
            </a:pP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32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kilometers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longer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(Via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Fagaras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0">
                <a:latin typeface="Calibri"/>
                <a:cs typeface="Calibri"/>
              </a:rPr>
              <a:t>=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99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0">
                <a:latin typeface="Calibri"/>
                <a:cs typeface="Calibri"/>
              </a:rPr>
              <a:t>+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211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0">
                <a:latin typeface="Calibri"/>
                <a:cs typeface="Calibri"/>
              </a:rPr>
              <a:t>=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310)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than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the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0">
                <a:latin typeface="Calibri"/>
                <a:cs typeface="Calibri"/>
              </a:rPr>
              <a:t>path </a:t>
            </a:r>
            <a:r>
              <a:rPr dirty="0" sz="4600" spc="-60">
                <a:latin typeface="Calibri"/>
                <a:cs typeface="Calibri"/>
              </a:rPr>
              <a:t>through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Rimnicu</a:t>
            </a:r>
            <a:r>
              <a:rPr dirty="0" sz="4600" spc="-19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-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Vilcea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 spc="-2290">
                <a:latin typeface="Calibri"/>
                <a:cs typeface="Calibri"/>
              </a:rPr>
              <a:t>—</a:t>
            </a:r>
            <a:r>
              <a:rPr dirty="0" sz="4600" spc="254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Pitesti</a:t>
            </a:r>
            <a:r>
              <a:rPr dirty="0" sz="4600" spc="15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(80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 spc="90">
                <a:latin typeface="Calibri"/>
                <a:cs typeface="Calibri"/>
              </a:rPr>
              <a:t>+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 spc="-75">
                <a:latin typeface="Calibri"/>
                <a:cs typeface="Calibri"/>
              </a:rPr>
              <a:t>97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+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101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=278)</a:t>
            </a:r>
            <a:endParaRPr sz="4600">
              <a:latin typeface="Calibri"/>
              <a:cs typeface="Calibri"/>
            </a:endParaRPr>
          </a:p>
          <a:p>
            <a:pPr marL="418465" indent="-405765">
              <a:lnSpc>
                <a:spcPct val="100000"/>
              </a:lnSpc>
              <a:spcBef>
                <a:spcPts val="890"/>
              </a:spcBef>
              <a:buChar char="•"/>
              <a:tabLst>
                <a:tab pos="418465" algn="l"/>
                <a:tab pos="2974975" algn="l"/>
              </a:tabLst>
            </a:pPr>
            <a:r>
              <a:rPr dirty="0" sz="4600" spc="-10">
                <a:latin typeface="Calibri"/>
                <a:cs typeface="Calibri"/>
              </a:rPr>
              <a:t>“greedy”</a:t>
            </a:r>
            <a:r>
              <a:rPr dirty="0" sz="4600">
                <a:latin typeface="Calibri"/>
                <a:cs typeface="Calibri"/>
              </a:rPr>
              <a:t>	at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each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step</a:t>
            </a:r>
            <a:r>
              <a:rPr dirty="0" sz="4600" spc="-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</a:t>
            </a:r>
            <a:r>
              <a:rPr dirty="0" sz="4600" spc="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tries</a:t>
            </a:r>
            <a:r>
              <a:rPr dirty="0" sz="4600" spc="-55">
                <a:latin typeface="Calibri"/>
                <a:cs typeface="Calibri"/>
              </a:rPr>
              <a:t> </a:t>
            </a:r>
            <a:r>
              <a:rPr dirty="0" sz="4600" spc="-90">
                <a:latin typeface="Calibri"/>
                <a:cs typeface="Calibri"/>
              </a:rPr>
              <a:t>to</a:t>
            </a:r>
            <a:r>
              <a:rPr dirty="0" sz="4600" spc="-245">
                <a:latin typeface="Calibri"/>
                <a:cs typeface="Calibri"/>
              </a:rPr>
              <a:t> </a:t>
            </a:r>
            <a:r>
              <a:rPr dirty="0" sz="4600" spc="95">
                <a:latin typeface="Calibri"/>
                <a:cs typeface="Calibri"/>
              </a:rPr>
              <a:t>get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55" i="1">
                <a:latin typeface="Calibri"/>
                <a:cs typeface="Calibri"/>
              </a:rPr>
              <a:t>as</a:t>
            </a:r>
            <a:r>
              <a:rPr dirty="0" sz="4600" spc="-240" i="1">
                <a:latin typeface="Calibri"/>
                <a:cs typeface="Calibri"/>
              </a:rPr>
              <a:t> </a:t>
            </a:r>
            <a:r>
              <a:rPr dirty="0" sz="4600" i="1">
                <a:latin typeface="Calibri"/>
                <a:cs typeface="Calibri"/>
              </a:rPr>
              <a:t>close</a:t>
            </a:r>
            <a:r>
              <a:rPr dirty="0" sz="4600" spc="55" i="1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95">
                <a:latin typeface="Calibri"/>
                <a:cs typeface="Calibri"/>
              </a:rPr>
              <a:t> </a:t>
            </a:r>
            <a:r>
              <a:rPr dirty="0" sz="4600" spc="-90">
                <a:latin typeface="Calibri"/>
                <a:cs typeface="Calibri"/>
              </a:rPr>
              <a:t>the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goof</a:t>
            </a:r>
            <a:r>
              <a:rPr dirty="0" sz="4600" spc="-15">
                <a:latin typeface="Calibri"/>
                <a:cs typeface="Calibri"/>
              </a:rPr>
              <a:t> </a:t>
            </a:r>
            <a:r>
              <a:rPr dirty="0" sz="4600" spc="55" i="1">
                <a:latin typeface="Calibri"/>
                <a:cs typeface="Calibri"/>
              </a:rPr>
              <a:t>as</a:t>
            </a:r>
            <a:r>
              <a:rPr dirty="0" sz="4600" spc="-260" i="1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can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3850" y="6153150"/>
            <a:ext cx="1057275" cy="266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39550" y="10553700"/>
            <a:ext cx="400050" cy="2095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16225" y="9753600"/>
            <a:ext cx="285750" cy="2095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02175" y="4991100"/>
            <a:ext cx="457200" cy="2190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72950" y="8462962"/>
            <a:ext cx="2009775" cy="38576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963775" y="10687050"/>
            <a:ext cx="1323975" cy="21431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621250" y="8286750"/>
            <a:ext cx="400050" cy="2095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164300" y="9615487"/>
            <a:ext cx="342900" cy="9763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6562" rIns="0" bIns="0" rtlCol="0" vert="horz">
            <a:spAutoFit/>
          </a:bodyPr>
          <a:lstStyle/>
          <a:p>
            <a:pPr marL="832485">
              <a:lnSpc>
                <a:spcPct val="100000"/>
              </a:lnSpc>
              <a:spcBef>
                <a:spcPts val="100"/>
              </a:spcBef>
            </a:pPr>
            <a:r>
              <a:rPr dirty="0" sz="5700" spc="-85"/>
              <a:t>Greedy</a:t>
            </a:r>
            <a:r>
              <a:rPr dirty="0" sz="5700" spc="135"/>
              <a:t> </a:t>
            </a:r>
            <a:r>
              <a:rPr dirty="0" sz="5700"/>
              <a:t>best-lrst</a:t>
            </a:r>
            <a:r>
              <a:rPr dirty="0" sz="5700" spc="215"/>
              <a:t> </a:t>
            </a:r>
            <a:r>
              <a:rPr dirty="0" sz="5700" spc="-65"/>
              <a:t>search</a:t>
            </a:r>
            <a:endParaRPr sz="5700"/>
          </a:p>
        </p:txBody>
      </p:sp>
      <p:sp>
        <p:nvSpPr>
          <p:cNvPr id="11" name="object 11" descr=""/>
          <p:cNvSpPr txBox="1"/>
          <p:nvPr/>
        </p:nvSpPr>
        <p:spPr>
          <a:xfrm>
            <a:off x="1447321" y="1966912"/>
            <a:ext cx="16552544" cy="1336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2590" indent="-389890">
              <a:lnSpc>
                <a:spcPts val="5100"/>
              </a:lnSpc>
              <a:spcBef>
                <a:spcPts val="100"/>
              </a:spcBef>
              <a:buChar char="•"/>
              <a:tabLst>
                <a:tab pos="402590" algn="l"/>
              </a:tabLst>
            </a:pPr>
            <a:r>
              <a:rPr dirty="0" sz="4550" spc="-50">
                <a:latin typeface="Calibri"/>
                <a:cs typeface="Calibri"/>
              </a:rPr>
              <a:t>Greedy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 spc="-125">
                <a:latin typeface="Calibri"/>
                <a:cs typeface="Calibri"/>
              </a:rPr>
              <a:t>best-</a:t>
            </a:r>
            <a:r>
              <a:rPr dirty="0" sz="4550">
                <a:latin typeface="Calibri"/>
                <a:cs typeface="Calibri"/>
              </a:rPr>
              <a:t>first</a:t>
            </a:r>
            <a:r>
              <a:rPr dirty="0" sz="4550" spc="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tree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search</a:t>
            </a:r>
            <a:r>
              <a:rPr dirty="0" sz="4550" spc="-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-250">
                <a:latin typeface="Calibri"/>
                <a:cs typeface="Calibri"/>
              </a:rPr>
              <a:t> </a:t>
            </a:r>
            <a:r>
              <a:rPr dirty="0" sz="4550" spc="-65">
                <a:latin typeface="Calibri"/>
                <a:cs typeface="Calibri"/>
              </a:rPr>
              <a:t>incomplete</a:t>
            </a:r>
            <a:r>
              <a:rPr dirty="0" sz="4550" spc="14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even</a:t>
            </a:r>
            <a:r>
              <a:rPr dirty="0" sz="4550" spc="-229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 spc="65">
                <a:latin typeface="Calibri"/>
                <a:cs typeface="Calibri"/>
              </a:rPr>
              <a:t>a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finite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state</a:t>
            </a:r>
            <a:r>
              <a:rPr dirty="0" sz="4550" spc="-12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space,</a:t>
            </a:r>
            <a:endParaRPr sz="4550">
              <a:latin typeface="Calibri"/>
              <a:cs typeface="Calibri"/>
            </a:endParaRPr>
          </a:p>
          <a:p>
            <a:pPr marL="403860">
              <a:lnSpc>
                <a:spcPts val="5220"/>
              </a:lnSpc>
            </a:pPr>
            <a:r>
              <a:rPr dirty="0" sz="4650" spc="-90">
                <a:latin typeface="Calibri"/>
                <a:cs typeface="Calibri"/>
              </a:rPr>
              <a:t>much</a:t>
            </a:r>
            <a:r>
              <a:rPr dirty="0" sz="4650" spc="-175">
                <a:latin typeface="Calibri"/>
                <a:cs typeface="Calibri"/>
              </a:rPr>
              <a:t> </a:t>
            </a:r>
            <a:r>
              <a:rPr dirty="0" sz="4650" spc="-65">
                <a:latin typeface="Calibri"/>
                <a:cs typeface="Calibri"/>
              </a:rPr>
              <a:t>like</a:t>
            </a:r>
            <a:r>
              <a:rPr dirty="0" sz="4650" spc="-195">
                <a:latin typeface="Calibri"/>
                <a:cs typeface="Calibri"/>
              </a:rPr>
              <a:t> </a:t>
            </a:r>
            <a:r>
              <a:rPr dirty="0" sz="4650" spc="-160">
                <a:latin typeface="Calibri"/>
                <a:cs typeface="Calibri"/>
              </a:rPr>
              <a:t>depth-</a:t>
            </a:r>
            <a:r>
              <a:rPr dirty="0" sz="4650" spc="-10">
                <a:latin typeface="Calibri"/>
                <a:cs typeface="Calibri"/>
              </a:rPr>
              <a:t>first search.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47321" y="3277580"/>
            <a:ext cx="13532485" cy="165735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1030"/>
              </a:spcBef>
              <a:buChar char="•"/>
              <a:tabLst>
                <a:tab pos="391160" algn="l"/>
                <a:tab pos="13105130" algn="l"/>
              </a:tabLst>
            </a:pPr>
            <a:r>
              <a:rPr dirty="0" sz="4550" spc="-10">
                <a:latin typeface="Calibri"/>
                <a:cs typeface="Calibri"/>
              </a:rPr>
              <a:t>Consider</a:t>
            </a:r>
            <a:r>
              <a:rPr dirty="0" sz="4550" spc="-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 spc="-60">
                <a:latin typeface="Calibri"/>
                <a:cs typeface="Calibri"/>
              </a:rPr>
              <a:t>problem</a:t>
            </a:r>
            <a:r>
              <a:rPr dirty="0" sz="4550" spc="-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75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getting</a:t>
            </a:r>
            <a:r>
              <a:rPr dirty="0" sz="4550" spc="-15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from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solidFill>
                  <a:srgbClr val="0C0C0C"/>
                </a:solidFill>
                <a:latin typeface="Calibri"/>
                <a:cs typeface="Calibri"/>
              </a:rPr>
              <a:t>"°</a:t>
            </a:r>
            <a:endParaRPr sz="4550">
              <a:latin typeface="Calibri"/>
              <a:cs typeface="Calibri"/>
            </a:endParaRPr>
          </a:p>
          <a:p>
            <a:pPr marL="4947920">
              <a:lnSpc>
                <a:spcPct val="100000"/>
              </a:lnSpc>
              <a:spcBef>
                <a:spcPts val="940"/>
              </a:spcBef>
            </a:pPr>
            <a:r>
              <a:rPr dirty="0" sz="4600" spc="55">
                <a:latin typeface="Calibri"/>
                <a:cs typeface="Calibri"/>
              </a:rPr>
              <a:t>lasi</a:t>
            </a:r>
            <a:r>
              <a:rPr dirty="0" sz="4600" spc="-11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to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Fagaras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12255" y="5849937"/>
            <a:ext cx="8211184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110">
                <a:latin typeface="Calibri"/>
                <a:cs typeface="Calibri"/>
              </a:rPr>
              <a:t>The</a:t>
            </a:r>
            <a:r>
              <a:rPr dirty="0" sz="4050" spc="-120">
                <a:latin typeface="Calibri"/>
                <a:cs typeface="Calibri"/>
              </a:rPr>
              <a:t> </a:t>
            </a:r>
            <a:r>
              <a:rPr dirty="0" sz="4050" spc="-110">
                <a:latin typeface="Calibri"/>
                <a:cs typeface="Calibri"/>
              </a:rPr>
              <a:t>algorithm</a:t>
            </a:r>
            <a:r>
              <a:rPr dirty="0" sz="4050" spc="-105">
                <a:latin typeface="Calibri"/>
                <a:cs typeface="Calibri"/>
              </a:rPr>
              <a:t> </a:t>
            </a:r>
            <a:r>
              <a:rPr dirty="0" sz="4050" spc="-50">
                <a:latin typeface="Calibri"/>
                <a:cs typeface="Calibri"/>
              </a:rPr>
              <a:t>will</a:t>
            </a:r>
            <a:r>
              <a:rPr dirty="0" sz="4050" spc="-180">
                <a:latin typeface="Calibri"/>
                <a:cs typeface="Calibri"/>
              </a:rPr>
              <a:t> </a:t>
            </a:r>
            <a:r>
              <a:rPr dirty="0" sz="4050" spc="-90">
                <a:latin typeface="Calibri"/>
                <a:cs typeface="Calibri"/>
              </a:rPr>
              <a:t>never</a:t>
            </a:r>
            <a:r>
              <a:rPr dirty="0" sz="4050" spc="-85">
                <a:latin typeface="Calibri"/>
                <a:cs typeface="Calibri"/>
              </a:rPr>
              <a:t> </a:t>
            </a:r>
            <a:r>
              <a:rPr dirty="0" sz="4050" spc="-50">
                <a:latin typeface="Calibri"/>
                <a:cs typeface="Calibri"/>
              </a:rPr>
              <a:t>find</a:t>
            </a:r>
            <a:r>
              <a:rPr dirty="0" sz="4050" spc="-140">
                <a:latin typeface="Calibri"/>
                <a:cs typeface="Calibri"/>
              </a:rPr>
              <a:t> </a:t>
            </a:r>
            <a:r>
              <a:rPr dirty="0" sz="4050" spc="-95">
                <a:latin typeface="Calibri"/>
                <a:cs typeface="Calibri"/>
              </a:rPr>
              <a:t>this</a:t>
            </a:r>
            <a:r>
              <a:rPr dirty="0" sz="4050" spc="-135">
                <a:latin typeface="Calibri"/>
                <a:cs typeface="Calibri"/>
              </a:rPr>
              <a:t> </a:t>
            </a:r>
            <a:r>
              <a:rPr dirty="0" sz="4050" spc="-75">
                <a:latin typeface="Calibri"/>
                <a:cs typeface="Calibri"/>
              </a:rPr>
              <a:t>solution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185229" y="9783762"/>
            <a:ext cx="4051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2D2D2D"/>
                </a:solidFill>
                <a:latin typeface="Calibri"/>
                <a:cs typeface="Calibri"/>
              </a:rPr>
              <a:t>lit</a:t>
            </a:r>
            <a:r>
              <a:rPr dirty="0" sz="2400" spc="1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F1F1F"/>
                </a:solidFill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096157" y="4183062"/>
            <a:ext cx="350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363636"/>
                </a:solidFill>
                <a:latin typeface="Consolas"/>
                <a:cs typeface="Consolas"/>
              </a:rPr>
              <a:t>57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431133" y="9863137"/>
            <a:ext cx="11303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29">
                <a:solidFill>
                  <a:srgbClr val="161616"/>
                </a:solidFill>
                <a:latin typeface="Times New Roman"/>
                <a:cs typeface="Times New Roman"/>
              </a:rPr>
              <a:t>L</a:t>
            </a:r>
            <a:r>
              <a:rPr dirty="0" sz="2300" spc="8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2300" spc="65">
                <a:solidFill>
                  <a:srgbClr val="161616"/>
                </a:solidFill>
                <a:latin typeface="Times New Roman"/>
                <a:cs typeface="Times New Roman"/>
              </a:rPr>
              <a:t>rzieeni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146" y="554037"/>
            <a:ext cx="15397480" cy="8712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52210" algn="l"/>
              </a:tabLst>
            </a:pPr>
            <a:r>
              <a:rPr dirty="0" sz="5550" spc="-690"/>
              <a:t>A*</a:t>
            </a:r>
            <a:r>
              <a:rPr dirty="0" sz="5550" spc="95"/>
              <a:t> </a:t>
            </a:r>
            <a:r>
              <a:rPr dirty="0" sz="5550" spc="-40"/>
              <a:t>search:</a:t>
            </a:r>
            <a:r>
              <a:rPr dirty="0" sz="5550" spc="-50"/>
              <a:t> </a:t>
            </a:r>
            <a:r>
              <a:rPr dirty="0" sz="5550" spc="-10"/>
              <a:t>Minimizing</a:t>
            </a:r>
            <a:r>
              <a:rPr dirty="0" sz="5550"/>
              <a:t>	the</a:t>
            </a:r>
            <a:r>
              <a:rPr dirty="0" sz="5550" spc="-240"/>
              <a:t> </a:t>
            </a:r>
            <a:r>
              <a:rPr dirty="0" sz="5550" spc="-35"/>
              <a:t>total</a:t>
            </a:r>
            <a:r>
              <a:rPr dirty="0" sz="5550" spc="-215"/>
              <a:t> </a:t>
            </a:r>
            <a:r>
              <a:rPr dirty="0" sz="5550" spc="-50"/>
              <a:t>esñmated</a:t>
            </a:r>
            <a:r>
              <a:rPr dirty="0" sz="5550" spc="-60"/>
              <a:t> </a:t>
            </a:r>
            <a:r>
              <a:rPr dirty="0" sz="5550"/>
              <a:t>soluñon</a:t>
            </a:r>
            <a:r>
              <a:rPr dirty="0" sz="5550" spc="-40"/>
              <a:t> </a:t>
            </a:r>
            <a:r>
              <a:rPr dirty="0" sz="5550" spc="-20"/>
              <a:t>cost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1448518" y="1830618"/>
            <a:ext cx="14200505" cy="248285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403225" indent="-390525">
              <a:lnSpc>
                <a:spcPct val="100000"/>
              </a:lnSpc>
              <a:spcBef>
                <a:spcPts val="1270"/>
              </a:spcBef>
              <a:buChar char="•"/>
              <a:tabLst>
                <a:tab pos="403225" algn="l"/>
              </a:tabLst>
            </a:pP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most</a:t>
            </a:r>
            <a:r>
              <a:rPr dirty="0" sz="4450" spc="-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widely</a:t>
            </a:r>
            <a:r>
              <a:rPr dirty="0" sz="4450" spc="-7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known</a:t>
            </a:r>
            <a:r>
              <a:rPr dirty="0" sz="4450" spc="-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form</a:t>
            </a:r>
            <a:r>
              <a:rPr dirty="0" sz="4450" spc="-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10">
                <a:latin typeface="Calibri"/>
                <a:cs typeface="Calibri"/>
              </a:rPr>
              <a:t> </a:t>
            </a:r>
            <a:r>
              <a:rPr dirty="0" sz="4450" spc="-65">
                <a:latin typeface="Calibri"/>
                <a:cs typeface="Calibri"/>
              </a:rPr>
              <a:t>best-</a:t>
            </a:r>
            <a:r>
              <a:rPr dirty="0" sz="4450">
                <a:latin typeface="Calibri"/>
                <a:cs typeface="Calibri"/>
              </a:rPr>
              <a:t>first</a:t>
            </a:r>
            <a:r>
              <a:rPr dirty="0" sz="4450" spc="1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search</a:t>
            </a:r>
            <a:r>
              <a:rPr dirty="0" sz="4450" spc="-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is</a:t>
            </a:r>
            <a:r>
              <a:rPr dirty="0" sz="4450" spc="-18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called</a:t>
            </a:r>
            <a:r>
              <a:rPr dirty="0" sz="4450" spc="40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AY</a:t>
            </a:r>
            <a:endParaRPr sz="4450">
              <a:latin typeface="Calibri"/>
              <a:cs typeface="Calibri"/>
            </a:endParaRPr>
          </a:p>
          <a:p>
            <a:pPr marL="400050" indent="-387350">
              <a:lnSpc>
                <a:spcPct val="100000"/>
              </a:lnSpc>
              <a:spcBef>
                <a:spcPts val="1160"/>
              </a:spcBef>
              <a:buChar char="•"/>
              <a:tabLst>
                <a:tab pos="400050" algn="l"/>
              </a:tabLst>
            </a:pPr>
            <a:r>
              <a:rPr dirty="0" sz="4400" spc="75">
                <a:latin typeface="Calibri"/>
                <a:cs typeface="Calibri"/>
              </a:rPr>
              <a:t>It</a:t>
            </a:r>
            <a:r>
              <a:rPr dirty="0" sz="4400" spc="-24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evaluates</a:t>
            </a:r>
            <a:r>
              <a:rPr dirty="0" sz="4400" spc="17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nodes</a:t>
            </a:r>
            <a:r>
              <a:rPr dirty="0" sz="4400" spc="8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by</a:t>
            </a:r>
            <a:r>
              <a:rPr dirty="0" sz="4400" spc="-10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combining</a:t>
            </a:r>
            <a:endParaRPr sz="4400">
              <a:latin typeface="Calibri"/>
              <a:cs typeface="Calibri"/>
            </a:endParaRPr>
          </a:p>
          <a:p>
            <a:pPr marL="1851025">
              <a:lnSpc>
                <a:spcPct val="100000"/>
              </a:lnSpc>
              <a:spcBef>
                <a:spcPts val="994"/>
              </a:spcBef>
            </a:pPr>
            <a:r>
              <a:rPr dirty="0" sz="4500">
                <a:latin typeface="Calibri"/>
                <a:cs typeface="Calibri"/>
              </a:rPr>
              <a:t>g(n),</a:t>
            </a:r>
            <a:r>
              <a:rPr dirty="0" sz="4500" spc="-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90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B50305"/>
                </a:solidFill>
                <a:latin typeface="Calibri"/>
                <a:cs typeface="Calibri"/>
              </a:rPr>
              <a:t>cost</a:t>
            </a:r>
            <a:r>
              <a:rPr dirty="0" sz="4500" spc="-105">
                <a:solidFill>
                  <a:srgbClr val="B50305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B50C0C"/>
                </a:solidFill>
                <a:latin typeface="Calibri"/>
                <a:cs typeface="Calibri"/>
              </a:rPr>
              <a:t>to</a:t>
            </a:r>
            <a:r>
              <a:rPr dirty="0" sz="4500" spc="-245">
                <a:solidFill>
                  <a:srgbClr val="B50C0C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B80C23"/>
                </a:solidFill>
                <a:latin typeface="Calibri"/>
                <a:cs typeface="Calibri"/>
              </a:rPr>
              <a:t>reach</a:t>
            </a:r>
            <a:r>
              <a:rPr dirty="0" sz="4500" spc="-65">
                <a:solidFill>
                  <a:srgbClr val="B80C23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BD0807"/>
                </a:solidFill>
                <a:latin typeface="Calibri"/>
                <a:cs typeface="Calibri"/>
              </a:rPr>
              <a:t>the</a:t>
            </a:r>
            <a:r>
              <a:rPr dirty="0" sz="4500" spc="-185">
                <a:solidFill>
                  <a:srgbClr val="BD0807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node,</a:t>
            </a:r>
            <a:r>
              <a:rPr dirty="0" sz="4500" spc="-2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and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66947" y="1979612"/>
            <a:ext cx="149987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40">
                <a:latin typeface="Calibri"/>
                <a:cs typeface="Calibri"/>
              </a:rPr>
              <a:t>search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49116" y="4278543"/>
            <a:ext cx="16407130" cy="309943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842135">
              <a:lnSpc>
                <a:spcPct val="100000"/>
              </a:lnSpc>
              <a:spcBef>
                <a:spcPts val="1270"/>
              </a:spcBef>
            </a:pPr>
            <a:r>
              <a:rPr dirty="0" sz="4450">
                <a:latin typeface="Calibri"/>
                <a:cs typeface="Calibri"/>
              </a:rPr>
              <a:t>h(n),</a:t>
            </a:r>
            <a:r>
              <a:rPr dirty="0" sz="4450" spc="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125">
                <a:latin typeface="Calibri"/>
                <a:cs typeface="Calibri"/>
              </a:rPr>
              <a:t> </a:t>
            </a:r>
            <a:r>
              <a:rPr dirty="0" sz="4450" spc="-30">
                <a:latin typeface="Calibri"/>
                <a:cs typeface="Calibri"/>
              </a:rPr>
              <a:t>ESTIMATED</a:t>
            </a:r>
            <a:r>
              <a:rPr dirty="0" sz="4450" spc="1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cost</a:t>
            </a:r>
            <a:r>
              <a:rPr dirty="0" sz="4450" spc="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to</a:t>
            </a:r>
            <a:r>
              <a:rPr dirty="0" sz="4450" spc="-10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get</a:t>
            </a:r>
            <a:r>
              <a:rPr dirty="0" sz="4450" spc="-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from</a:t>
            </a:r>
            <a:r>
              <a:rPr dirty="0" sz="4450" spc="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node</a:t>
            </a:r>
            <a:r>
              <a:rPr dirty="0" sz="4450" spc="-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to</a:t>
            </a:r>
            <a:r>
              <a:rPr dirty="0" sz="4450" spc="-1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25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goal:</a:t>
            </a:r>
            <a:endParaRPr sz="4450">
              <a:latin typeface="Calibri"/>
              <a:cs typeface="Calibri"/>
            </a:endParaRPr>
          </a:p>
          <a:p>
            <a:pPr marL="36195">
              <a:lnSpc>
                <a:spcPct val="100000"/>
              </a:lnSpc>
              <a:spcBef>
                <a:spcPts val="1160"/>
              </a:spcBef>
              <a:tabLst>
                <a:tab pos="1039494" algn="l"/>
                <a:tab pos="1508125" algn="l"/>
                <a:tab pos="4215765" algn="l"/>
                <a:tab pos="4506595" algn="l"/>
                <a:tab pos="6993890" algn="l"/>
                <a:tab pos="8127365" algn="l"/>
                <a:tab pos="8790305" algn="l"/>
                <a:tab pos="9746615" algn="l"/>
                <a:tab pos="12016105" algn="l"/>
                <a:tab pos="14057630" algn="l"/>
                <a:tab pos="16082644" algn="l"/>
              </a:tabLst>
            </a:pPr>
            <a:r>
              <a:rPr dirty="0" sz="4400" spc="-20">
                <a:latin typeface="Calibri"/>
                <a:cs typeface="Calibri"/>
              </a:rPr>
              <a:t>f(n)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50">
                <a:latin typeface="Calibri"/>
                <a:cs typeface="Calibri"/>
              </a:rPr>
              <a:t>=</a:t>
            </a:r>
            <a:r>
              <a:rPr dirty="0" sz="4400">
                <a:latin typeface="Calibri"/>
                <a:cs typeface="Calibri"/>
              </a:rPr>
              <a:t>	g(n)</a:t>
            </a:r>
            <a:r>
              <a:rPr dirty="0" sz="4400" spc="425">
                <a:latin typeface="Calibri"/>
                <a:cs typeface="Calibri"/>
              </a:rPr>
              <a:t> </a:t>
            </a:r>
            <a:r>
              <a:rPr dirty="0" sz="4400" spc="195">
                <a:latin typeface="Calibri"/>
                <a:cs typeface="Calibri"/>
              </a:rPr>
              <a:t>+</a:t>
            </a:r>
            <a:r>
              <a:rPr dirty="0" sz="4400" spc="295">
                <a:latin typeface="Calibri"/>
                <a:cs typeface="Calibri"/>
              </a:rPr>
              <a:t> </a:t>
            </a:r>
            <a:r>
              <a:rPr dirty="0" sz="4400" spc="-20">
                <a:latin typeface="Calibri"/>
                <a:cs typeface="Calibri"/>
              </a:rPr>
              <a:t>h(n)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370">
                <a:latin typeface="Calibri"/>
                <a:cs typeface="Calibri"/>
              </a:rPr>
              <a:t>,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esñmated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0">
                <a:latin typeface="Calibri"/>
                <a:cs typeface="Calibri"/>
              </a:rPr>
              <a:t>cost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of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the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solidFill>
                  <a:srgbClr val="0C64AA"/>
                </a:solidFill>
                <a:latin typeface="Calibri"/>
                <a:cs typeface="Calibri"/>
              </a:rPr>
              <a:t>cheapest</a:t>
            </a:r>
            <a:r>
              <a:rPr dirty="0" sz="4400">
                <a:solidFill>
                  <a:srgbClr val="0C64AA"/>
                </a:solidFill>
                <a:latin typeface="Calibri"/>
                <a:cs typeface="Calibri"/>
              </a:rPr>
              <a:t>	</a:t>
            </a:r>
            <a:r>
              <a:rPr dirty="0" sz="4400" spc="-10">
                <a:solidFill>
                  <a:srgbClr val="0866A8"/>
                </a:solidFill>
                <a:latin typeface="Calibri"/>
                <a:cs typeface="Calibri"/>
              </a:rPr>
              <a:t>solution</a:t>
            </a:r>
            <a:r>
              <a:rPr dirty="0" sz="4400">
                <a:solidFill>
                  <a:srgbClr val="0866A8"/>
                </a:solidFill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through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65">
                <a:solidFill>
                  <a:srgbClr val="1A70AC"/>
                </a:solidFill>
                <a:latin typeface="Calibri"/>
                <a:cs typeface="Calibri"/>
              </a:rPr>
              <a:t>n</a:t>
            </a:r>
            <a:endParaRPr sz="4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4400">
              <a:latin typeface="Calibri"/>
              <a:cs typeface="Calibri"/>
            </a:endParaRPr>
          </a:p>
          <a:p>
            <a:pPr marL="398780" indent="-386080">
              <a:lnSpc>
                <a:spcPct val="100000"/>
              </a:lnSpc>
              <a:buChar char="•"/>
              <a:tabLst>
                <a:tab pos="398780" algn="l"/>
                <a:tab pos="1338580" algn="l"/>
              </a:tabLst>
            </a:pPr>
            <a:r>
              <a:rPr dirty="0" sz="4400" spc="-484">
                <a:latin typeface="Calibri"/>
                <a:cs typeface="Calibri"/>
              </a:rPr>
              <a:t>A4</a:t>
            </a:r>
            <a:r>
              <a:rPr dirty="0" sz="4400">
                <a:latin typeface="Calibri"/>
                <a:cs typeface="Calibri"/>
              </a:rPr>
              <a:t>	search is</a:t>
            </a:r>
            <a:r>
              <a:rPr dirty="0" sz="4400" spc="-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both</a:t>
            </a:r>
            <a:r>
              <a:rPr dirty="0" sz="4400" spc="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complete</a:t>
            </a:r>
            <a:r>
              <a:rPr dirty="0" sz="4400" spc="1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and</a:t>
            </a:r>
            <a:r>
              <a:rPr dirty="0" sz="4400" spc="10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opñmal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3400" rIns="0" bIns="0" rtlCol="0" vert="horz">
            <a:spAutoFit/>
          </a:bodyPr>
          <a:lstStyle/>
          <a:p>
            <a:pPr marL="827405">
              <a:lnSpc>
                <a:spcPct val="100000"/>
              </a:lnSpc>
              <a:spcBef>
                <a:spcPts val="100"/>
              </a:spcBef>
              <a:tabLst>
                <a:tab pos="6892925" algn="l"/>
                <a:tab pos="9953625" algn="l"/>
              </a:tabLst>
            </a:pPr>
            <a:r>
              <a:rPr dirty="0" sz="4600" spc="-40"/>
              <a:t>Conditions</a:t>
            </a:r>
            <a:r>
              <a:rPr dirty="0" sz="4600" spc="-20"/>
              <a:t> </a:t>
            </a:r>
            <a:r>
              <a:rPr dirty="0" sz="4600"/>
              <a:t>for</a:t>
            </a:r>
            <a:r>
              <a:rPr dirty="0" sz="4600" spc="-210"/>
              <a:t> </a:t>
            </a:r>
            <a:r>
              <a:rPr dirty="0" sz="4600" spc="-10"/>
              <a:t>optimality:</a:t>
            </a:r>
            <a:r>
              <a:rPr dirty="0" sz="4600"/>
              <a:t>	</a:t>
            </a:r>
            <a:r>
              <a:rPr dirty="0" sz="4600" spc="-10"/>
              <a:t>Admissibility</a:t>
            </a:r>
            <a:r>
              <a:rPr dirty="0" sz="4600"/>
              <a:t>	and</a:t>
            </a:r>
            <a:r>
              <a:rPr dirty="0" sz="4600" spc="-140"/>
              <a:t> </a:t>
            </a:r>
            <a:r>
              <a:rPr dirty="0" sz="4600" spc="-45"/>
              <a:t>consistency</a:t>
            </a:r>
            <a:r>
              <a:rPr dirty="0" sz="4600" spc="-20"/>
              <a:t> </a:t>
            </a:r>
            <a:r>
              <a:rPr dirty="0" sz="4600" spc="-40"/>
              <a:t>(Monotonicity)</a:t>
            </a:r>
            <a:endParaRPr sz="4600"/>
          </a:p>
        </p:txBody>
      </p:sp>
      <p:sp>
        <p:nvSpPr>
          <p:cNvPr id="3" name="object 3" descr=""/>
          <p:cNvSpPr txBox="1"/>
          <p:nvPr/>
        </p:nvSpPr>
        <p:spPr>
          <a:xfrm>
            <a:off x="1409820" y="1985962"/>
            <a:ext cx="16668115" cy="773175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just" marL="433705" marR="62230" indent="-382270">
              <a:lnSpc>
                <a:spcPts val="4840"/>
              </a:lnSpc>
              <a:spcBef>
                <a:spcPts val="625"/>
              </a:spcBef>
              <a:buChar char="•"/>
              <a:tabLst>
                <a:tab pos="433705" algn="l"/>
                <a:tab pos="437515" algn="l"/>
              </a:tabLst>
            </a:pPr>
            <a:r>
              <a:rPr dirty="0" sz="4400">
                <a:latin typeface="Calibri"/>
                <a:cs typeface="Calibri"/>
              </a:rPr>
              <a:t>	An</a:t>
            </a:r>
            <a:r>
              <a:rPr dirty="0" sz="4400" spc="685"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0175CF"/>
                </a:solidFill>
                <a:latin typeface="Calibri"/>
                <a:cs typeface="Calibri"/>
              </a:rPr>
              <a:t>admissible</a:t>
            </a:r>
            <a:r>
              <a:rPr dirty="0" sz="4400" spc="915">
                <a:solidFill>
                  <a:srgbClr val="0175CF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0067A8"/>
                </a:solidFill>
                <a:latin typeface="Calibri"/>
                <a:cs typeface="Calibri"/>
              </a:rPr>
              <a:t>heurisñc</a:t>
            </a:r>
            <a:r>
              <a:rPr dirty="0" sz="4400" spc="850">
                <a:solidFill>
                  <a:srgbClr val="0067A8"/>
                </a:solidFill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is</a:t>
            </a:r>
            <a:r>
              <a:rPr dirty="0" sz="4400" spc="6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one</a:t>
            </a:r>
            <a:r>
              <a:rPr dirty="0" sz="4400" spc="7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that</a:t>
            </a:r>
            <a:r>
              <a:rPr dirty="0" sz="4400" spc="6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never</a:t>
            </a:r>
            <a:r>
              <a:rPr dirty="0" sz="4400" spc="7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overesñmates</a:t>
            </a:r>
            <a:r>
              <a:rPr dirty="0" sz="4400" spc="10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6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cost</a:t>
            </a:r>
            <a:r>
              <a:rPr dirty="0" sz="4400" spc="840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to </a:t>
            </a:r>
            <a:r>
              <a:rPr dirty="0" sz="4450">
                <a:latin typeface="Calibri"/>
                <a:cs typeface="Calibri"/>
              </a:rPr>
              <a:t>reach</a:t>
            </a:r>
            <a:r>
              <a:rPr dirty="0" sz="4450" spc="2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2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goal,</a:t>
            </a:r>
            <a:r>
              <a:rPr dirty="0" sz="4450" spc="2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thus</a:t>
            </a:r>
            <a:r>
              <a:rPr dirty="0" sz="4450" spc="229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making</a:t>
            </a:r>
            <a:r>
              <a:rPr dirty="0" sz="4450" spc="28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f(n)</a:t>
            </a:r>
            <a:r>
              <a:rPr dirty="0" sz="4450" spc="30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such</a:t>
            </a:r>
            <a:r>
              <a:rPr dirty="0" sz="4450" spc="2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that</a:t>
            </a:r>
            <a:r>
              <a:rPr dirty="0" sz="4450" spc="2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it</a:t>
            </a:r>
            <a:r>
              <a:rPr dirty="0" sz="4450" spc="1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never</a:t>
            </a:r>
            <a:r>
              <a:rPr dirty="0" sz="4450" spc="3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overesñmates</a:t>
            </a:r>
            <a:r>
              <a:rPr dirty="0" sz="4450" spc="445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the </a:t>
            </a:r>
            <a:r>
              <a:rPr dirty="0" sz="4500">
                <a:latin typeface="Calibri"/>
                <a:cs typeface="Calibri"/>
              </a:rPr>
              <a:t>true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cost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-2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soluñon</a:t>
            </a:r>
            <a:r>
              <a:rPr dirty="0" sz="4500" spc="-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along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04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current </a:t>
            </a:r>
            <a:r>
              <a:rPr dirty="0" sz="4500">
                <a:latin typeface="Calibri"/>
                <a:cs typeface="Calibri"/>
              </a:rPr>
              <a:t>path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 spc="-30">
                <a:latin typeface="Calibri"/>
                <a:cs typeface="Calibri"/>
              </a:rPr>
              <a:t>through</a:t>
            </a:r>
            <a:r>
              <a:rPr dirty="0" sz="4500" spc="-5">
                <a:latin typeface="Calibri"/>
                <a:cs typeface="Calibri"/>
              </a:rPr>
              <a:t> </a:t>
            </a:r>
            <a:r>
              <a:rPr dirty="0" sz="4500" spc="40">
                <a:latin typeface="Calibri"/>
                <a:cs typeface="Calibri"/>
              </a:rPr>
              <a:t>n</a:t>
            </a:r>
            <a:endParaRPr sz="4500">
              <a:latin typeface="Calibri"/>
              <a:cs typeface="Calibri"/>
            </a:endParaRPr>
          </a:p>
          <a:p>
            <a:pPr algn="just" marL="436245" indent="-385445">
              <a:lnSpc>
                <a:spcPct val="100000"/>
              </a:lnSpc>
              <a:spcBef>
                <a:spcPts val="940"/>
              </a:spcBef>
              <a:buChar char="•"/>
              <a:tabLst>
                <a:tab pos="436245" algn="l"/>
              </a:tabLst>
            </a:pPr>
            <a:r>
              <a:rPr dirty="0" sz="4500" spc="-10">
                <a:latin typeface="Calibri"/>
                <a:cs typeface="Calibri"/>
              </a:rPr>
              <a:t>Admissible</a:t>
            </a:r>
            <a:r>
              <a:rPr dirty="0" sz="4500" spc="20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heurisñcs</a:t>
            </a:r>
            <a:r>
              <a:rPr dirty="0" sz="4500" spc="2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</a:t>
            </a:r>
            <a:r>
              <a:rPr dirty="0" sz="4500" spc="-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by</a:t>
            </a:r>
            <a:r>
              <a:rPr dirty="0" sz="4500" spc="-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nature</a:t>
            </a:r>
            <a:r>
              <a:rPr dirty="0" sz="4500" spc="200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D80000"/>
                </a:solidFill>
                <a:latin typeface="Calibri"/>
                <a:cs typeface="Calibri"/>
              </a:rPr>
              <a:t>opñmisñc</a:t>
            </a:r>
            <a:r>
              <a:rPr dirty="0" sz="4500" spc="200">
                <a:solidFill>
                  <a:srgbClr val="D80000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because</a:t>
            </a:r>
            <a:r>
              <a:rPr dirty="0" sz="4500" spc="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they</a:t>
            </a:r>
            <a:r>
              <a:rPr dirty="0" sz="4500" spc="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think</a:t>
            </a:r>
            <a:r>
              <a:rPr dirty="0" sz="4500" spc="28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</a:t>
            </a:r>
            <a:endParaRPr sz="4500">
              <a:latin typeface="Calibri"/>
              <a:cs typeface="Calibri"/>
            </a:endParaRPr>
          </a:p>
          <a:p>
            <a:pPr algn="just" marL="436245">
              <a:lnSpc>
                <a:spcPct val="100000"/>
              </a:lnSpc>
              <a:spcBef>
                <a:spcPts val="65"/>
              </a:spcBef>
            </a:pPr>
            <a:r>
              <a:rPr dirty="0" sz="4400" i="1">
                <a:latin typeface="Calibri"/>
                <a:cs typeface="Calibri"/>
              </a:rPr>
              <a:t>cost</a:t>
            </a:r>
            <a:r>
              <a:rPr dirty="0" sz="4400" spc="75" i="1">
                <a:latin typeface="Calibri"/>
                <a:cs typeface="Calibri"/>
              </a:rPr>
              <a:t> </a:t>
            </a:r>
            <a:r>
              <a:rPr dirty="0" sz="4400" spc="170" i="1">
                <a:latin typeface="Calibri"/>
                <a:cs typeface="Calibri"/>
              </a:rPr>
              <a:t>o(solving</a:t>
            </a:r>
            <a:r>
              <a:rPr dirty="0" sz="4400" spc="335" i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45">
                <a:latin typeface="Calibri"/>
                <a:cs typeface="Calibri"/>
              </a:rPr>
              <a:t> </a:t>
            </a:r>
            <a:r>
              <a:rPr dirty="0" sz="4400" i="1">
                <a:latin typeface="Calibri"/>
                <a:cs typeface="Calibri"/>
              </a:rPr>
              <a:t>problem</a:t>
            </a:r>
            <a:r>
              <a:rPr dirty="0" sz="4400" spc="335" i="1">
                <a:latin typeface="Calibri"/>
                <a:cs typeface="Calibri"/>
              </a:rPr>
              <a:t> </a:t>
            </a:r>
            <a:r>
              <a:rPr dirty="0" sz="4400" spc="75" i="1">
                <a:latin typeface="Calibri"/>
                <a:cs typeface="Calibri"/>
              </a:rPr>
              <a:t>is</a:t>
            </a:r>
            <a:r>
              <a:rPr dirty="0" sz="4400" i="1">
                <a:latin typeface="Calibri"/>
                <a:cs typeface="Calibri"/>
              </a:rPr>
              <a:t> less</a:t>
            </a:r>
            <a:r>
              <a:rPr dirty="0" sz="4400" spc="229" i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thon</a:t>
            </a:r>
            <a:r>
              <a:rPr dirty="0" sz="4400" spc="-1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it</a:t>
            </a:r>
            <a:r>
              <a:rPr dirty="0" sz="4400" spc="200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actuo/fy</a:t>
            </a:r>
            <a:r>
              <a:rPr dirty="0" sz="4400" spc="110">
                <a:latin typeface="Calibri"/>
                <a:cs typeface="Calibri"/>
              </a:rPr>
              <a:t> </a:t>
            </a:r>
            <a:r>
              <a:rPr dirty="0" sz="4400" spc="75" i="1">
                <a:latin typeface="Calibri"/>
                <a:cs typeface="Calibri"/>
              </a:rPr>
              <a:t>is</a:t>
            </a:r>
            <a:r>
              <a:rPr dirty="0" sz="4400" spc="-15" i="1">
                <a:latin typeface="Calibri"/>
                <a:cs typeface="Calibri"/>
              </a:rPr>
              <a:t> </a:t>
            </a:r>
            <a:r>
              <a:rPr dirty="0" sz="4400" i="1">
                <a:latin typeface="Calibri"/>
                <a:cs typeface="Calibri"/>
              </a:rPr>
              <a:t>-</a:t>
            </a:r>
            <a:r>
              <a:rPr dirty="0" sz="4400" spc="1030" i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Ex:</a:t>
            </a:r>
            <a:r>
              <a:rPr dirty="0" sz="4400" spc="25">
                <a:latin typeface="Calibri"/>
                <a:cs typeface="Calibri"/>
              </a:rPr>
              <a:t> </a:t>
            </a:r>
            <a:r>
              <a:rPr dirty="0" sz="4400" spc="-20">
                <a:latin typeface="Calibri"/>
                <a:cs typeface="Calibri"/>
              </a:rPr>
              <a:t>h</a:t>
            </a:r>
            <a:r>
              <a:rPr dirty="0" baseline="-25555" sz="3750" spc="-30">
                <a:latin typeface="Calibri"/>
                <a:cs typeface="Calibri"/>
              </a:rPr>
              <a:t>S</a:t>
            </a:r>
            <a:r>
              <a:rPr dirty="0" baseline="-22012" sz="3975" spc="-30">
                <a:latin typeface="Calibri"/>
                <a:cs typeface="Calibri"/>
              </a:rPr>
              <a:t>L</a:t>
            </a:r>
            <a:r>
              <a:rPr dirty="0" baseline="-22817" sz="4200" spc="-30">
                <a:latin typeface="Calibri"/>
                <a:cs typeface="Calibri"/>
              </a:rPr>
              <a:t>D</a:t>
            </a:r>
            <a:endParaRPr baseline="-22817" sz="4200">
              <a:latin typeface="Calibri"/>
              <a:cs typeface="Calibri"/>
            </a:endParaRPr>
          </a:p>
          <a:p>
            <a:pPr algn="just" marL="435609" marR="73025" indent="-385445">
              <a:lnSpc>
                <a:spcPct val="90500"/>
              </a:lnSpc>
              <a:spcBef>
                <a:spcPts val="1695"/>
              </a:spcBef>
              <a:buChar char="•"/>
              <a:tabLst>
                <a:tab pos="440055" algn="l"/>
              </a:tabLst>
            </a:pPr>
            <a:r>
              <a:rPr dirty="0" sz="4500" spc="50">
                <a:latin typeface="Calibri"/>
                <a:cs typeface="Calibri"/>
              </a:rPr>
              <a:t>A</a:t>
            </a:r>
            <a:r>
              <a:rPr dirty="0" sz="4500" spc="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heurisñc</a:t>
            </a:r>
            <a:r>
              <a:rPr dirty="0" sz="4500" spc="2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h(n)</a:t>
            </a:r>
            <a:r>
              <a:rPr dirty="0" sz="4500" spc="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-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consistent</a:t>
            </a:r>
            <a:r>
              <a:rPr dirty="0" sz="4500" spc="3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if,</a:t>
            </a:r>
            <a:r>
              <a:rPr dirty="0" sz="4500" spc="10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11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every</a:t>
            </a:r>
            <a:r>
              <a:rPr dirty="0" sz="4500" spc="2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</a:t>
            </a:r>
            <a:r>
              <a:rPr dirty="0" sz="4500" spc="140">
                <a:latin typeface="Calibri"/>
                <a:cs typeface="Calibri"/>
              </a:rPr>
              <a:t> </a:t>
            </a:r>
            <a:r>
              <a:rPr dirty="0" sz="4500" spc="90">
                <a:latin typeface="Calibri"/>
                <a:cs typeface="Calibri"/>
              </a:rPr>
              <a:t>n</a:t>
            </a:r>
            <a:r>
              <a:rPr dirty="0" sz="4500" spc="-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every</a:t>
            </a:r>
            <a:r>
              <a:rPr dirty="0" sz="4500" spc="229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successor </a:t>
            </a:r>
            <a:r>
              <a:rPr dirty="0" sz="4500" spc="-10">
                <a:latin typeface="Calibri"/>
                <a:cs typeface="Calibri"/>
              </a:rPr>
              <a:t>	</a:t>
            </a:r>
            <a:r>
              <a:rPr dirty="0" sz="4400">
                <a:latin typeface="Calibri"/>
                <a:cs typeface="Calibri"/>
              </a:rPr>
              <a:t>n’</a:t>
            </a:r>
            <a:r>
              <a:rPr dirty="0" sz="4400" spc="1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</a:t>
            </a:r>
            <a:r>
              <a:rPr dirty="0" sz="4400" spc="370">
                <a:latin typeface="Calibri"/>
                <a:cs typeface="Calibri"/>
              </a:rPr>
              <a:t> </a:t>
            </a:r>
            <a:r>
              <a:rPr dirty="0" sz="4400" spc="114">
                <a:latin typeface="Calibri"/>
                <a:cs typeface="Calibri"/>
              </a:rPr>
              <a:t>n</a:t>
            </a:r>
            <a:r>
              <a:rPr dirty="0" sz="4400" spc="14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generated</a:t>
            </a:r>
            <a:r>
              <a:rPr dirty="0" sz="4400" spc="4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by</a:t>
            </a:r>
            <a:r>
              <a:rPr dirty="0" sz="4400" spc="3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any</a:t>
            </a:r>
            <a:r>
              <a:rPr dirty="0" sz="4400" spc="3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acñon</a:t>
            </a:r>
            <a:r>
              <a:rPr dirty="0" sz="4400" spc="3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a,</a:t>
            </a:r>
            <a:r>
              <a:rPr dirty="0" sz="4400" spc="2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254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esñmated</a:t>
            </a:r>
            <a:r>
              <a:rPr dirty="0" sz="4400" spc="5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cost</a:t>
            </a:r>
            <a:r>
              <a:rPr dirty="0" sz="4400" spc="3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</a:t>
            </a:r>
            <a:r>
              <a:rPr dirty="0" sz="4400" spc="2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reaching</a:t>
            </a:r>
            <a:r>
              <a:rPr dirty="0" sz="4400" spc="455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the </a:t>
            </a:r>
            <a:r>
              <a:rPr dirty="0" sz="4400" spc="-25">
                <a:latin typeface="Calibri"/>
                <a:cs typeface="Calibri"/>
              </a:rPr>
              <a:t>	</a:t>
            </a:r>
            <a:r>
              <a:rPr dirty="0" sz="4400">
                <a:latin typeface="Calibri"/>
                <a:cs typeface="Calibri"/>
              </a:rPr>
              <a:t>goal</a:t>
            </a:r>
            <a:r>
              <a:rPr dirty="0" sz="4400" spc="44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from</a:t>
            </a:r>
            <a:r>
              <a:rPr dirty="0" sz="4400" spc="480">
                <a:latin typeface="Calibri"/>
                <a:cs typeface="Calibri"/>
              </a:rPr>
              <a:t> </a:t>
            </a:r>
            <a:r>
              <a:rPr dirty="0" sz="4400" spc="114">
                <a:latin typeface="Calibri"/>
                <a:cs typeface="Calibri"/>
              </a:rPr>
              <a:t>n</a:t>
            </a:r>
            <a:r>
              <a:rPr dirty="0" sz="4400" spc="1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is</a:t>
            </a:r>
            <a:r>
              <a:rPr dirty="0" sz="4400" spc="3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no</a:t>
            </a:r>
            <a:r>
              <a:rPr dirty="0" sz="4400" spc="4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greater</a:t>
            </a:r>
            <a:r>
              <a:rPr dirty="0" sz="4400" spc="5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than</a:t>
            </a:r>
            <a:r>
              <a:rPr dirty="0" sz="4400" spc="3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3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step</a:t>
            </a:r>
            <a:r>
              <a:rPr dirty="0" sz="4400" spc="2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cost</a:t>
            </a:r>
            <a:r>
              <a:rPr dirty="0" sz="4400" spc="4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</a:t>
            </a:r>
            <a:r>
              <a:rPr dirty="0" sz="4400" spc="5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getting</a:t>
            </a:r>
            <a:r>
              <a:rPr dirty="0" sz="4400" spc="5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to</a:t>
            </a:r>
            <a:r>
              <a:rPr dirty="0" sz="4400" spc="34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n’</a:t>
            </a:r>
            <a:r>
              <a:rPr dirty="0" sz="4400" spc="28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plus</a:t>
            </a:r>
            <a:r>
              <a:rPr dirty="0" sz="4400" spc="375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the </a:t>
            </a:r>
            <a:r>
              <a:rPr dirty="0" sz="4400" spc="-25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esñmated</a:t>
            </a:r>
            <a:r>
              <a:rPr dirty="0" sz="4500" spc="-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cost</a:t>
            </a:r>
            <a:r>
              <a:rPr dirty="0" sz="4500" spc="-22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reaching</a:t>
            </a:r>
            <a:r>
              <a:rPr dirty="0" sz="4500" spc="-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goal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from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 spc="-295">
                <a:latin typeface="Calibri"/>
                <a:cs typeface="Calibri"/>
              </a:rPr>
              <a:t>n".</a:t>
            </a:r>
            <a:endParaRPr sz="4500">
              <a:latin typeface="Calibri"/>
              <a:cs typeface="Calibri"/>
            </a:endParaRPr>
          </a:p>
          <a:p>
            <a:pPr algn="just" marL="2917825">
              <a:lnSpc>
                <a:spcPct val="100000"/>
              </a:lnSpc>
              <a:spcBef>
                <a:spcPts val="900"/>
              </a:spcBef>
            </a:pPr>
            <a:r>
              <a:rPr dirty="0" sz="4650" spc="-25">
                <a:latin typeface="Calibri"/>
                <a:cs typeface="Calibri"/>
              </a:rPr>
              <a:t>h(n)</a:t>
            </a:r>
            <a:r>
              <a:rPr dirty="0" sz="4650" spc="-5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s</a:t>
            </a:r>
            <a:r>
              <a:rPr dirty="0" sz="4650" spc="9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c(n,</a:t>
            </a:r>
            <a:r>
              <a:rPr dirty="0" sz="4650" spc="-16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a,</a:t>
            </a:r>
            <a:r>
              <a:rPr dirty="0" sz="4650" spc="-25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n’)</a:t>
            </a:r>
            <a:r>
              <a:rPr dirty="0" sz="4650" spc="-16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+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h(n’)</a:t>
            </a:r>
            <a:endParaRPr sz="4650">
              <a:latin typeface="Calibri"/>
              <a:cs typeface="Calibri"/>
            </a:endParaRPr>
          </a:p>
          <a:p>
            <a:pPr algn="just" marL="66675">
              <a:lnSpc>
                <a:spcPct val="100000"/>
              </a:lnSpc>
              <a:spcBef>
                <a:spcPts val="869"/>
              </a:spcBef>
            </a:pPr>
            <a:r>
              <a:rPr dirty="0" sz="4650" spc="-40">
                <a:solidFill>
                  <a:srgbClr val="006EAF"/>
                </a:solidFill>
                <a:latin typeface="Calibri"/>
                <a:cs typeface="Calibri"/>
              </a:rPr>
              <a:t>Consistency</a:t>
            </a:r>
            <a:r>
              <a:rPr dirty="0" sz="4650" spc="85">
                <a:solidFill>
                  <a:srgbClr val="006EAF"/>
                </a:solidFill>
                <a:latin typeface="Calibri"/>
                <a:cs typeface="Calibri"/>
              </a:rPr>
              <a:t>  </a:t>
            </a:r>
            <a:r>
              <a:rPr dirty="0" sz="4650">
                <a:latin typeface="Calibri"/>
                <a:cs typeface="Calibri"/>
              </a:rPr>
              <a:t>is</a:t>
            </a:r>
            <a:r>
              <a:rPr dirty="0" sz="4650" spc="844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therefore</a:t>
            </a:r>
            <a:r>
              <a:rPr dirty="0" sz="4650" spc="1015">
                <a:latin typeface="Calibri"/>
                <a:cs typeface="Calibri"/>
              </a:rPr>
              <a:t> </a:t>
            </a:r>
            <a:r>
              <a:rPr dirty="0" sz="4650" spc="110">
                <a:latin typeface="Calibri"/>
                <a:cs typeface="Calibri"/>
              </a:rPr>
              <a:t>a</a:t>
            </a:r>
            <a:r>
              <a:rPr dirty="0" sz="4650" spc="84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stricter</a:t>
            </a:r>
            <a:r>
              <a:rPr dirty="0" sz="4650" spc="1040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requirement</a:t>
            </a:r>
            <a:r>
              <a:rPr dirty="0" sz="4650" spc="70">
                <a:latin typeface="Calibri"/>
                <a:cs typeface="Calibri"/>
              </a:rPr>
              <a:t>  </a:t>
            </a:r>
            <a:r>
              <a:rPr dirty="0" sz="4650">
                <a:latin typeface="Calibri"/>
                <a:cs typeface="Calibri"/>
              </a:rPr>
              <a:t>than</a:t>
            </a:r>
            <a:r>
              <a:rPr dirty="0" sz="4650" spc="96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admissibility</a:t>
            </a:r>
            <a:endParaRPr sz="4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1225" y="5810250"/>
            <a:ext cx="14620875" cy="294322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9650" y="2943225"/>
            <a:ext cx="11982450" cy="17240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7375" y="1571625"/>
            <a:ext cx="1885950" cy="5143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0625" y="4314825"/>
            <a:ext cx="1752600" cy="71913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72800" y="4781550"/>
            <a:ext cx="1781175" cy="2381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72800" y="7162800"/>
            <a:ext cx="1781175" cy="7334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73325" y="7634287"/>
            <a:ext cx="1619250" cy="2571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83452" y="592137"/>
            <a:ext cx="686308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latin typeface="Arial MT"/>
                <a:cs typeface="Arial MT"/>
              </a:rPr>
              <a:t>A*</a:t>
            </a:r>
            <a:r>
              <a:rPr dirty="0" sz="3900" spc="-155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in</a:t>
            </a:r>
            <a:r>
              <a:rPr dirty="0" sz="3900" spc="-80">
                <a:latin typeface="Arial MT"/>
                <a:cs typeface="Arial MT"/>
              </a:rPr>
              <a:t> </a:t>
            </a:r>
            <a:r>
              <a:rPr dirty="0" sz="3900" spc="-135">
                <a:latin typeface="Arial MT"/>
                <a:cs typeface="Arial MT"/>
              </a:rPr>
              <a:t>Action</a:t>
            </a:r>
            <a:r>
              <a:rPr dirty="0" sz="3900" spc="-85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for</a:t>
            </a:r>
            <a:r>
              <a:rPr dirty="0" sz="3900" spc="-65">
                <a:latin typeface="Arial MT"/>
                <a:cs typeface="Arial MT"/>
              </a:rPr>
              <a:t> </a:t>
            </a:r>
            <a:r>
              <a:rPr dirty="0" sz="3900" spc="-275">
                <a:latin typeface="Arial MT"/>
                <a:cs typeface="Arial MT"/>
              </a:rPr>
              <a:t>Arad</a:t>
            </a:r>
            <a:r>
              <a:rPr dirty="0" sz="3900" spc="-10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to</a:t>
            </a:r>
            <a:r>
              <a:rPr dirty="0" sz="3900" spc="-195">
                <a:latin typeface="Arial MT"/>
                <a:cs typeface="Arial MT"/>
              </a:rPr>
              <a:t> </a:t>
            </a:r>
            <a:r>
              <a:rPr dirty="0" sz="3900" spc="-270">
                <a:latin typeface="Arial MT"/>
                <a:cs typeface="Arial MT"/>
              </a:rPr>
              <a:t>Bucharest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15616" y="1401762"/>
            <a:ext cx="369824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>
                <a:solidFill>
                  <a:srgbClr val="161616"/>
                </a:solidFill>
                <a:latin typeface="Times New Roman"/>
                <a:cs typeface="Times New Roman"/>
              </a:rPr>
              <a:t>(a)</a:t>
            </a:r>
            <a:r>
              <a:rPr dirty="0" sz="3750" spc="10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dirty="0" sz="3750" spc="1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0F0F0F"/>
                </a:solidFill>
                <a:latin typeface="Times New Roman"/>
                <a:cs typeface="Times New Roman"/>
              </a:rPr>
              <a:t>initial</a:t>
            </a:r>
            <a:r>
              <a:rPr dirty="0" sz="37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750" spc="50">
                <a:solidFill>
                  <a:srgbClr val="111111"/>
                </a:solidFill>
                <a:latin typeface="Times New Roman"/>
                <a:cs typeface="Times New Roman"/>
              </a:rPr>
              <a:t>state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88952" y="2811462"/>
            <a:ext cx="429450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100">
                <a:solidFill>
                  <a:srgbClr val="0F0F0F"/>
                </a:solidFill>
                <a:latin typeface="Times New Roman"/>
                <a:cs typeface="Times New Roman"/>
              </a:rPr>
              <a:t>After</a:t>
            </a:r>
            <a:r>
              <a:rPr dirty="0" sz="34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450" spc="140">
                <a:solidFill>
                  <a:srgbClr val="0F0F0F"/>
                </a:solidFill>
                <a:latin typeface="Times New Roman"/>
                <a:cs typeface="Times New Roman"/>
              </a:rPr>
              <a:t>expanding</a:t>
            </a:r>
            <a:r>
              <a:rPr dirty="0" sz="3450" spc="4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450" spc="135">
                <a:solidFill>
                  <a:srgbClr val="131313"/>
                </a:solidFill>
                <a:latin typeface="Times New Roman"/>
                <a:cs typeface="Times New Roman"/>
              </a:rPr>
              <a:t>Arad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15876" y="5637212"/>
            <a:ext cx="492252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>
                <a:solidFill>
                  <a:srgbClr val="131313"/>
                </a:solidFill>
                <a:latin typeface="Times New Roman"/>
                <a:cs typeface="Times New Roman"/>
              </a:rPr>
              <a:t>(c)</a:t>
            </a:r>
            <a:r>
              <a:rPr dirty="0" sz="3700" spc="114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700">
                <a:solidFill>
                  <a:srgbClr val="151515"/>
                </a:solidFill>
                <a:latin typeface="Times New Roman"/>
                <a:cs typeface="Times New Roman"/>
              </a:rPr>
              <a:t>After</a:t>
            </a:r>
            <a:r>
              <a:rPr dirty="0" sz="3700" spc="18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3700">
                <a:solidFill>
                  <a:srgbClr val="151515"/>
                </a:solidFill>
                <a:latin typeface="Times New Roman"/>
                <a:cs typeface="Times New Roman"/>
              </a:rPr>
              <a:t>expanding</a:t>
            </a:r>
            <a:r>
              <a:rPr dirty="0" sz="3700" spc="235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3700" spc="-10">
                <a:solidFill>
                  <a:srgbClr val="131313"/>
                </a:solidFill>
                <a:latin typeface="Times New Roman"/>
                <a:cs typeface="Times New Roman"/>
              </a:rPr>
              <a:t>Sibiu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68001" y="8161337"/>
            <a:ext cx="5621655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93090">
              <a:lnSpc>
                <a:spcPct val="127499"/>
              </a:lnSpc>
              <a:spcBef>
                <a:spcPts val="100"/>
              </a:spcBef>
              <a:tabLst>
                <a:tab pos="1936750" algn="l"/>
                <a:tab pos="2346325" algn="l"/>
                <a:tab pos="4273550" algn="l"/>
              </a:tabLst>
            </a:pPr>
            <a:r>
              <a:rPr dirty="0" sz="2500" spc="-280">
                <a:solidFill>
                  <a:srgbClr val="212121"/>
                </a:solidFill>
                <a:latin typeface="Times New Roman"/>
                <a:cs typeface="Times New Roman"/>
              </a:rPr>
              <a:t>Amid</a:t>
            </a:r>
            <a:r>
              <a:rPr dirty="0" sz="2500">
                <a:solidFill>
                  <a:srgbClr val="212121"/>
                </a:solidFill>
                <a:latin typeface="Times New Roman"/>
                <a:cs typeface="Times New Roman"/>
              </a:rPr>
              <a:t>		</a:t>
            </a:r>
            <a:r>
              <a:rPr dirty="0" sz="2500" spc="-10">
                <a:solidFill>
                  <a:srgbClr val="161616"/>
                </a:solidFill>
                <a:latin typeface="Times New Roman"/>
                <a:cs typeface="Times New Roman"/>
              </a:rPr>
              <a:t>Fa•ai</a:t>
            </a:r>
            <a:r>
              <a:rPr dirty="0" sz="2500" spc="-17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2500" spc="-25">
                <a:solidFill>
                  <a:srgbClr val="161616"/>
                </a:solidFill>
                <a:latin typeface="Times New Roman"/>
                <a:cs typeface="Times New Roman"/>
              </a:rPr>
              <a:t>as</a:t>
            </a:r>
            <a:r>
              <a:rPr dirty="0" sz="2500">
                <a:solidFill>
                  <a:srgbClr val="161616"/>
                </a:solidFill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Oradc‹i </a:t>
            </a:r>
            <a:r>
              <a:rPr dirty="0" sz="2500" spc="-10">
                <a:solidFill>
                  <a:srgbClr val="161616"/>
                </a:solidFill>
                <a:latin typeface="Times New Roman"/>
                <a:cs typeface="Times New Roman"/>
              </a:rPr>
              <a:t>M6=28t)+366</a:t>
            </a:r>
            <a:r>
              <a:rPr dirty="0" sz="2500">
                <a:solidFill>
                  <a:srgbClr val="161616"/>
                </a:solidFill>
                <a:latin typeface="Times New Roman"/>
                <a:cs typeface="Times New Roman"/>
              </a:rPr>
              <a:t>	</a:t>
            </a:r>
            <a:r>
              <a:rPr dirty="0" sz="2500" spc="-25">
                <a:solidFill>
                  <a:srgbClr val="282828"/>
                </a:solidFill>
                <a:latin typeface="Times New Roman"/>
                <a:cs typeface="Times New Roman"/>
              </a:rPr>
              <a:t>4</a:t>
            </a:r>
            <a:r>
              <a:rPr dirty="0" sz="2500" spc="-24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2500" spc="-260">
                <a:solidFill>
                  <a:srgbClr val="282828"/>
                </a:solidFill>
                <a:latin typeface="Times New Roman"/>
                <a:cs typeface="Times New Roman"/>
              </a:rPr>
              <a:t>l</a:t>
            </a:r>
            <a:r>
              <a:rPr dirty="0" sz="2500" spc="-24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2500" spc="-50">
                <a:solidFill>
                  <a:srgbClr val="1C1C1C"/>
                </a:solidFill>
                <a:latin typeface="Times New Roman"/>
                <a:cs typeface="Times New Roman"/>
              </a:rPr>
              <a:t>1=239+</a:t>
            </a:r>
            <a:r>
              <a:rPr dirty="0" sz="2500" spc="-254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500" spc="-550">
                <a:solidFill>
                  <a:srgbClr val="262626"/>
                </a:solidFill>
                <a:latin typeface="Times New Roman"/>
                <a:cs typeface="Times New Roman"/>
              </a:rPr>
              <a:t>1</a:t>
            </a:r>
            <a:r>
              <a:rPr dirty="0" sz="2500" spc="-15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343434"/>
                </a:solidFill>
                <a:latin typeface="Times New Roman"/>
                <a:cs typeface="Times New Roman"/>
              </a:rPr>
              <a:t>76</a:t>
            </a:r>
            <a:r>
              <a:rPr dirty="0" sz="2500" spc="28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2500" spc="-130">
                <a:solidFill>
                  <a:srgbClr val="2F2F2F"/>
                </a:solidFill>
                <a:latin typeface="Times New Roman"/>
                <a:cs typeface="Times New Roman"/>
              </a:rPr>
              <a:t>67</a:t>
            </a:r>
            <a:r>
              <a:rPr dirty="0" sz="2500" spc="-130">
                <a:solidFill>
                  <a:srgbClr val="212121"/>
                </a:solidFill>
                <a:latin typeface="Times New Roman"/>
                <a:cs typeface="Times New Roman"/>
              </a:rPr>
              <a:t>1</a:t>
            </a:r>
            <a:r>
              <a:rPr dirty="0" sz="2500" spc="-1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2500" spc="-625">
                <a:solidFill>
                  <a:srgbClr val="1F1F1F"/>
                </a:solidFill>
                <a:latin typeface="Times New Roman"/>
                <a:cs typeface="Times New Roman"/>
              </a:rPr>
              <a:t>—</a:t>
            </a:r>
            <a:r>
              <a:rPr dirty="0" sz="2500" spc="-315">
                <a:solidFill>
                  <a:srgbClr val="1F1F1F"/>
                </a:solidFill>
                <a:latin typeface="Times New Roman"/>
                <a:cs typeface="Times New Roman"/>
              </a:rPr>
              <a:t>291</a:t>
            </a:r>
            <a:r>
              <a:rPr dirty="0" sz="2500" spc="-2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2500" spc="-155">
                <a:solidFill>
                  <a:srgbClr val="131313"/>
                </a:solidFill>
                <a:latin typeface="Times New Roman"/>
                <a:cs typeface="Times New Roman"/>
              </a:rPr>
              <a:t>+3S(I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8564" y="8751887"/>
            <a:ext cx="18078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solidFill>
                  <a:srgbClr val="232323"/>
                </a:solidFill>
                <a:latin typeface="Times New Roman"/>
                <a:cs typeface="Times New Roman"/>
              </a:rPr>
              <a:t>413=220+</a:t>
            </a:r>
            <a:r>
              <a:rPr dirty="0" sz="2500" spc="-20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2500" spc="-25">
                <a:solidFill>
                  <a:srgbClr val="1C1C1C"/>
                </a:solidFill>
                <a:latin typeface="Times New Roman"/>
                <a:cs typeface="Times New Roman"/>
              </a:rPr>
              <a:t>193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800691" y="1483254"/>
            <a:ext cx="1465580" cy="100901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930"/>
              </a:spcBef>
            </a:pPr>
            <a:r>
              <a:rPr dirty="0" sz="2500" spc="-20">
                <a:solidFill>
                  <a:srgbClr val="181818"/>
                </a:solidFill>
                <a:latin typeface="Consolas"/>
                <a:cs typeface="Consolas"/>
              </a:rPr>
              <a:t>AraU</a:t>
            </a:r>
            <a:endParaRPr sz="25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2550" spc="-130">
                <a:solidFill>
                  <a:srgbClr val="1A1A1A"/>
                </a:solidFill>
                <a:latin typeface="Consolas"/>
                <a:cs typeface="Consolas"/>
              </a:rPr>
              <a:t>366=O+566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155659" y="4084993"/>
            <a:ext cx="1636395" cy="991869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2400" spc="-10">
                <a:solidFill>
                  <a:srgbClr val="212121"/>
                </a:solidFill>
                <a:latin typeface="Times New Roman"/>
                <a:cs typeface="Times New Roman"/>
              </a:rPr>
              <a:t>Zerind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2500" spc="-10">
                <a:solidFill>
                  <a:srgbClr val="1C1C1C"/>
                </a:solidFill>
                <a:latin typeface="Times New Roman"/>
                <a:cs typeface="Times New Roman"/>
              </a:rPr>
              <a:t>449=7ii+J74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556724" y="7053262"/>
            <a:ext cx="829944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30">
                <a:solidFill>
                  <a:srgbClr val="0C0C0C"/>
                </a:solidFill>
                <a:latin typeface="Times New Roman"/>
                <a:cs typeface="Times New Roman"/>
              </a:rPr>
              <a:t>Zerind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575" y="5981700"/>
            <a:ext cx="15087600" cy="42481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300" y="533400"/>
            <a:ext cx="14935200" cy="42862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49100" y="7419975"/>
            <a:ext cx="962025" cy="1524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68675" y="1924050"/>
            <a:ext cx="847725" cy="2190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38375" y="8586787"/>
            <a:ext cx="1809750" cy="75723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38875" y="9082087"/>
            <a:ext cx="1809750" cy="25241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5810" y="311150"/>
            <a:ext cx="713105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111111"/>
                </a:solidFill>
                <a:latin typeface="Times New Roman"/>
                <a:cs typeface="Times New Roman"/>
              </a:rPr>
              <a:t>(d)</a:t>
            </a:r>
            <a:r>
              <a:rPr dirty="0" sz="3900" spc="-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900">
                <a:solidFill>
                  <a:srgbClr val="151515"/>
                </a:solidFill>
                <a:latin typeface="Times New Roman"/>
                <a:cs typeface="Times New Roman"/>
              </a:rPr>
              <a:t>After</a:t>
            </a:r>
            <a:r>
              <a:rPr dirty="0" sz="3900" spc="-7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3900">
                <a:solidFill>
                  <a:srgbClr val="0C0C0C"/>
                </a:solidFill>
                <a:latin typeface="Times New Roman"/>
                <a:cs typeface="Times New Roman"/>
              </a:rPr>
              <a:t>expanding</a:t>
            </a:r>
            <a:r>
              <a:rPr dirty="0" sz="390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3900">
                <a:solidFill>
                  <a:srgbClr val="0E0E0E"/>
                </a:solidFill>
                <a:latin typeface="Times New Roman"/>
                <a:cs typeface="Times New Roman"/>
              </a:rPr>
              <a:t>Rimnicu</a:t>
            </a:r>
            <a:r>
              <a:rPr dirty="0" sz="3900" spc="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3900" spc="-65">
                <a:solidFill>
                  <a:srgbClr val="161616"/>
                </a:solidFill>
                <a:latin typeface="Times New Roman"/>
                <a:cs typeface="Times New Roman"/>
              </a:rPr>
              <a:t>Vilcea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78434" y="2940616"/>
            <a:ext cx="5735955" cy="1014094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614045">
              <a:lnSpc>
                <a:spcPct val="100000"/>
              </a:lnSpc>
              <a:spcBef>
                <a:spcPts val="905"/>
              </a:spcBef>
              <a:tabLst>
                <a:tab pos="2402205" algn="l"/>
              </a:tabLst>
            </a:pPr>
            <a:r>
              <a:rPr dirty="0" sz="2600" spc="-20">
                <a:latin typeface="Times New Roman"/>
                <a:cs typeface="Times New Roman"/>
              </a:rPr>
              <a:t>Aiad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Fagaras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1983105" algn="l"/>
                <a:tab pos="3936365" algn="l"/>
              </a:tabLst>
            </a:pPr>
            <a:r>
              <a:rPr dirty="0" sz="2550" spc="-10">
                <a:latin typeface="Times New Roman"/>
                <a:cs typeface="Times New Roman"/>
              </a:rPr>
              <a:t>646=2S0+366</a:t>
            </a:r>
            <a:r>
              <a:rPr dirty="0" sz="2550">
                <a:latin typeface="Times New Roman"/>
                <a:cs typeface="Times New Roman"/>
              </a:rPr>
              <a:t>	</a:t>
            </a:r>
            <a:r>
              <a:rPr dirty="0" sz="2550" spc="-40">
                <a:latin typeface="Times New Roman"/>
                <a:cs typeface="Times New Roman"/>
              </a:rPr>
              <a:t>415=239+</a:t>
            </a:r>
            <a:r>
              <a:rPr dirty="0" sz="2550" spc="-180">
                <a:latin typeface="Times New Roman"/>
                <a:cs typeface="Times New Roman"/>
              </a:rPr>
              <a:t> </a:t>
            </a:r>
            <a:r>
              <a:rPr dirty="0" sz="2550" spc="-310">
                <a:solidFill>
                  <a:srgbClr val="131313"/>
                </a:solidFill>
                <a:latin typeface="Times New Roman"/>
                <a:cs typeface="Times New Roman"/>
              </a:rPr>
              <a:t>17A</a:t>
            </a:r>
            <a:r>
              <a:rPr dirty="0" sz="2550">
                <a:solidFill>
                  <a:srgbClr val="131313"/>
                </a:solidFill>
                <a:latin typeface="Times New Roman"/>
                <a:cs typeface="Times New Roman"/>
              </a:rPr>
              <a:t>	</a:t>
            </a:r>
            <a:r>
              <a:rPr dirty="0" sz="2550" spc="-30">
                <a:latin typeface="Times New Roman"/>
                <a:cs typeface="Times New Roman"/>
              </a:rPr>
              <a:t>671=291+380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96330" y="5753100"/>
            <a:ext cx="561340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>
                <a:solidFill>
                  <a:srgbClr val="161616"/>
                </a:solidFill>
                <a:latin typeface="Times New Roman"/>
                <a:cs typeface="Times New Roman"/>
              </a:rPr>
              <a:t>(e)</a:t>
            </a:r>
            <a:r>
              <a:rPr dirty="0" sz="3800" spc="20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31313"/>
                </a:solidFill>
                <a:latin typeface="Times New Roman"/>
                <a:cs typeface="Times New Roman"/>
              </a:rPr>
              <a:t>After</a:t>
            </a:r>
            <a:r>
              <a:rPr dirty="0" sz="3800" spc="17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800">
                <a:solidFill>
                  <a:srgbClr val="161616"/>
                </a:solidFill>
                <a:latin typeface="Times New Roman"/>
                <a:cs typeface="Times New Roman"/>
              </a:rPr>
              <a:t>expanding</a:t>
            </a:r>
            <a:r>
              <a:rPr dirty="0" sz="3800" spc="2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800" spc="65">
                <a:solidFill>
                  <a:srgbClr val="0E0E0E"/>
                </a:solidFill>
                <a:latin typeface="Times New Roman"/>
                <a:cs typeface="Times New Roman"/>
              </a:rPr>
              <a:t>Fagaras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364516" y="2300287"/>
            <a:ext cx="184150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65">
                <a:latin typeface="Times New Roman"/>
                <a:cs typeface="Times New Roman"/>
              </a:rPr>
              <a:t>447=</a:t>
            </a:r>
            <a:r>
              <a:rPr dirty="0" sz="2600" spc="-190">
                <a:latin typeface="Times New Roman"/>
                <a:cs typeface="Times New Roman"/>
              </a:rPr>
              <a:t> </a:t>
            </a:r>
            <a:r>
              <a:rPr dirty="0" sz="2600" spc="-355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z="260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600" spc="-355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z="2600" spc="-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600" spc="-30">
                <a:latin typeface="Times New Roman"/>
                <a:cs typeface="Times New Roman"/>
              </a:rPr>
              <a:t>8+329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53725" y="4224175"/>
            <a:ext cx="3755390" cy="100203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ctr" marR="50165">
              <a:lnSpc>
                <a:spcPct val="100000"/>
              </a:lnSpc>
              <a:spcBef>
                <a:spcPts val="925"/>
              </a:spcBef>
              <a:tabLst>
                <a:tab pos="2674620" algn="l"/>
              </a:tabLst>
            </a:pPr>
            <a:r>
              <a:rPr dirty="0" sz="2450" spc="-10">
                <a:solidFill>
                  <a:srgbClr val="1A1A1A"/>
                </a:solidFill>
                <a:latin typeface="Times New Roman"/>
                <a:cs typeface="Times New Roman"/>
              </a:rPr>
              <a:t>Craiova</a:t>
            </a:r>
            <a:r>
              <a:rPr dirty="0" sz="2450">
                <a:solidFill>
                  <a:srgbClr val="1A1A1A"/>
                </a:solidFill>
                <a:latin typeface="Times New Roman"/>
                <a:cs typeface="Times New Roman"/>
              </a:rPr>
              <a:t>	</a:t>
            </a:r>
            <a:r>
              <a:rPr dirty="0" sz="2450" spc="-25">
                <a:latin typeface="Times New Roman"/>
                <a:cs typeface="Times New Roman"/>
              </a:rPr>
              <a:t>ti</a:t>
            </a:r>
            <a:endParaRPr sz="2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  <a:tabLst>
                <a:tab pos="1943735" algn="l"/>
              </a:tabLst>
            </a:pPr>
            <a:r>
              <a:rPr dirty="0" sz="2550" spc="-10">
                <a:solidFill>
                  <a:srgbClr val="0F0F0F"/>
                </a:solidFill>
                <a:latin typeface="Times New Roman"/>
                <a:cs typeface="Times New Roman"/>
              </a:rPr>
              <a:t>526=366+160</a:t>
            </a:r>
            <a:r>
              <a:rPr dirty="0" sz="25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2550" spc="-10">
                <a:latin typeface="Times New Roman"/>
                <a:cs typeface="Times New Roman"/>
              </a:rPr>
              <a:t>4l7=317+100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86877" y="4224175"/>
            <a:ext cx="1793875" cy="100203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ctr" marR="13970">
              <a:lnSpc>
                <a:spcPct val="100000"/>
              </a:lnSpc>
              <a:spcBef>
                <a:spcPts val="925"/>
              </a:spcBef>
            </a:pPr>
            <a:r>
              <a:rPr dirty="0" sz="2450" spc="-10">
                <a:solidFill>
                  <a:srgbClr val="131313"/>
                </a:solidFill>
                <a:latin typeface="Times New Roman"/>
                <a:cs typeface="Times New Roman"/>
              </a:rPr>
              <a:t>Sibiu</a:t>
            </a:r>
            <a:endParaRPr sz="2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dirty="0" sz="2550" spc="-25">
                <a:solidFill>
                  <a:srgbClr val="0A0A0A"/>
                </a:solidFill>
                <a:latin typeface="Times New Roman"/>
                <a:cs typeface="Times New Roman"/>
              </a:rPr>
              <a:t>ñ53=300+2ñ3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364190" y="7720012"/>
            <a:ext cx="18453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solidFill>
                  <a:srgbClr val="111111"/>
                </a:solidFill>
                <a:latin typeface="Times New Roman"/>
                <a:cs typeface="Times New Roman"/>
              </a:rPr>
              <a:t>M7=</a:t>
            </a:r>
            <a:r>
              <a:rPr dirty="0" sz="2600" spc="-10">
                <a:solidFill>
                  <a:srgbClr val="0A0A0A"/>
                </a:solidFill>
                <a:latin typeface="Times New Roman"/>
                <a:cs typeface="Times New Roman"/>
              </a:rPr>
              <a:t>11</a:t>
            </a:r>
            <a:r>
              <a:rPr dirty="0" sz="2600" spc="-10">
                <a:latin typeface="Times New Roman"/>
                <a:cs typeface="Times New Roman"/>
              </a:rPr>
              <a:t>S+J?9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48096" y="9649374"/>
            <a:ext cx="1827530" cy="99314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830"/>
              </a:spcBef>
            </a:pPr>
            <a:r>
              <a:rPr dirty="0" sz="2500" spc="-10">
                <a:solidFill>
                  <a:srgbClr val="1C1C1C"/>
                </a:solidFill>
                <a:latin typeface="Times New Roman"/>
                <a:cs typeface="Times New Roman"/>
              </a:rPr>
              <a:t>Sibiu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2600" spc="-45">
                <a:solidFill>
                  <a:srgbClr val="161616"/>
                </a:solidFill>
                <a:latin typeface="Times New Roman"/>
                <a:cs typeface="Times New Roman"/>
              </a:rPr>
              <a:t>591=33S+253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44716" y="10220325"/>
            <a:ext cx="14928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5">
                <a:solidFill>
                  <a:srgbClr val="0F0F0F"/>
                </a:solidFill>
                <a:latin typeface="Times New Roman"/>
                <a:cs typeface="Times New Roman"/>
              </a:rPr>
              <a:t>450=450+0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753422" y="9649374"/>
            <a:ext cx="3830954" cy="99314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 marR="74295">
              <a:lnSpc>
                <a:spcPct val="100000"/>
              </a:lnSpc>
              <a:spcBef>
                <a:spcPts val="830"/>
              </a:spcBef>
              <a:tabLst>
                <a:tab pos="2129790" algn="l"/>
              </a:tabLst>
            </a:pPr>
            <a:r>
              <a:rPr dirty="0" sz="2500" spc="-10">
                <a:solidFill>
                  <a:srgbClr val="0E0E0E"/>
                </a:solidFill>
                <a:latin typeface="Times New Roman"/>
                <a:cs typeface="Times New Roman"/>
              </a:rPr>
              <a:t>Ci‘aiova</a:t>
            </a:r>
            <a:r>
              <a:rPr dirty="0" sz="250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2500" spc="-10">
                <a:solidFill>
                  <a:srgbClr val="111111"/>
                </a:solidFill>
                <a:latin typeface="Times New Roman"/>
                <a:cs typeface="Times New Roman"/>
              </a:rPr>
              <a:t>Pitesti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  <a:tabLst>
                <a:tab pos="2019935" algn="l"/>
              </a:tabLst>
            </a:pPr>
            <a:r>
              <a:rPr dirty="0" sz="2600" spc="-65">
                <a:latin typeface="Times New Roman"/>
                <a:cs typeface="Times New Roman"/>
              </a:rPr>
              <a:t>526=366+</a:t>
            </a:r>
            <a:r>
              <a:rPr dirty="0" sz="2600" spc="-265"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1D1D1D"/>
                </a:solidFill>
                <a:latin typeface="Times New Roman"/>
                <a:cs typeface="Times New Roman"/>
              </a:rPr>
              <a:t>160</a:t>
            </a:r>
            <a:r>
              <a:rPr dirty="0" sz="2600">
                <a:solidFill>
                  <a:srgbClr val="1D1D1D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solidFill>
                  <a:srgbClr val="111111"/>
                </a:solidFill>
                <a:latin typeface="Times New Roman"/>
                <a:cs typeface="Times New Roman"/>
              </a:rPr>
              <a:t>417=3l7+100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782497" y="9649374"/>
            <a:ext cx="1829435" cy="99314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830"/>
              </a:spcBef>
            </a:pPr>
            <a:r>
              <a:rPr dirty="0" sz="2500" spc="-10">
                <a:solidFill>
                  <a:srgbClr val="111111"/>
                </a:solidFill>
                <a:latin typeface="Times New Roman"/>
                <a:cs typeface="Times New Roman"/>
              </a:rPr>
              <a:t>Sibiu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2600" spc="-10">
                <a:latin typeface="Times New Roman"/>
                <a:cs typeface="Times New Roman"/>
              </a:rPr>
              <a:t>55s=300+253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650768" y="2300287"/>
            <a:ext cx="165036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40">
                <a:latin typeface="Times New Roman"/>
                <a:cs typeface="Times New Roman"/>
              </a:rPr>
              <a:t>449=7?+374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709214" y="7125652"/>
            <a:ext cx="1668780" cy="101600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880"/>
              </a:spcBef>
            </a:pPr>
            <a:r>
              <a:rPr dirty="0" sz="2600" spc="-10">
                <a:solidFill>
                  <a:srgbClr val="0A0A0A"/>
                </a:solidFill>
                <a:latin typeface="Times New Roman"/>
                <a:cs typeface="Times New Roman"/>
              </a:rPr>
              <a:t>Zerind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2600" spc="-50">
                <a:solidFill>
                  <a:srgbClr val="161616"/>
                </a:solidFill>
                <a:latin typeface="Times New Roman"/>
                <a:cs typeface="Times New Roman"/>
              </a:rPr>
              <a:t>-</a:t>
            </a:r>
            <a:r>
              <a:rPr dirty="0" sz="2600" spc="-55">
                <a:solidFill>
                  <a:srgbClr val="161616"/>
                </a:solidFill>
                <a:latin typeface="Times New Roman"/>
                <a:cs typeface="Times New Roman"/>
              </a:rPr>
              <a:t>l49=75+374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7075" y="2533650"/>
            <a:ext cx="13039725" cy="48387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191232" y="8487156"/>
            <a:ext cx="259079" cy="0"/>
          </a:xfrm>
          <a:custGeom>
            <a:avLst/>
            <a:gdLst/>
            <a:ahLst/>
            <a:cxnLst/>
            <a:rect l="l" t="t" r="r" b="b"/>
            <a:pathLst>
              <a:path w="259080" h="0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21336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191232" y="8410956"/>
            <a:ext cx="259079" cy="0"/>
          </a:xfrm>
          <a:custGeom>
            <a:avLst/>
            <a:gdLst/>
            <a:ahLst/>
            <a:cxnLst/>
            <a:rect l="l" t="t" r="r" b="b"/>
            <a:pathLst>
              <a:path w="259080" h="0">
                <a:moveTo>
                  <a:pt x="0" y="0"/>
                </a:moveTo>
                <a:lnTo>
                  <a:pt x="259079" y="0"/>
                </a:lnTo>
              </a:path>
            </a:pathLst>
          </a:custGeom>
          <a:ln w="21336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923288" y="7933943"/>
            <a:ext cx="15669894" cy="70485"/>
            <a:chOff x="1923288" y="7933943"/>
            <a:chExt cx="15669894" cy="70485"/>
          </a:xfrm>
        </p:grpSpPr>
        <p:sp>
          <p:nvSpPr>
            <p:cNvPr id="6" name="object 6" descr=""/>
            <p:cNvSpPr/>
            <p:nvPr/>
          </p:nvSpPr>
          <p:spPr>
            <a:xfrm>
              <a:off x="1923288" y="7993379"/>
              <a:ext cx="15669894" cy="0"/>
            </a:xfrm>
            <a:custGeom>
              <a:avLst/>
              <a:gdLst/>
              <a:ahLst/>
              <a:cxnLst/>
              <a:rect l="l" t="t" r="r" b="b"/>
              <a:pathLst>
                <a:path w="15669894" h="0">
                  <a:moveTo>
                    <a:pt x="0" y="0"/>
                  </a:moveTo>
                  <a:lnTo>
                    <a:pt x="15669767" y="0"/>
                  </a:lnTo>
                </a:path>
              </a:pathLst>
            </a:custGeom>
            <a:ln w="2133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23288" y="7944611"/>
              <a:ext cx="15669894" cy="0"/>
            </a:xfrm>
            <a:custGeom>
              <a:avLst/>
              <a:gdLst/>
              <a:ahLst/>
              <a:cxnLst/>
              <a:rect l="l" t="t" r="r" b="b"/>
              <a:pathLst>
                <a:path w="15669894" h="0">
                  <a:moveTo>
                    <a:pt x="0" y="0"/>
                  </a:moveTo>
                  <a:lnTo>
                    <a:pt x="15669767" y="0"/>
                  </a:lnTo>
                </a:path>
              </a:pathLst>
            </a:custGeom>
            <a:ln w="2133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2950" y="5943600"/>
            <a:ext cx="571500" cy="2000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4275" y="4838700"/>
            <a:ext cx="542925" cy="21431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0400" y="5272087"/>
            <a:ext cx="1590675" cy="23336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6550" y="5272087"/>
            <a:ext cx="1590675" cy="23336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0300" y="5929312"/>
            <a:ext cx="933450" cy="24288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9575" y="5943600"/>
            <a:ext cx="1581150" cy="6572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77625" y="5943600"/>
            <a:ext cx="1571625" cy="62865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39950" y="4176712"/>
            <a:ext cx="1447800" cy="23336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951956" y="2357437"/>
            <a:ext cx="45675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161616"/>
                </a:solidFill>
                <a:latin typeface="Times New Roman"/>
                <a:cs typeface="Times New Roman"/>
              </a:rPr>
              <a:t>(f)</a:t>
            </a:r>
            <a:r>
              <a:rPr dirty="0" sz="3200" spc="14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200" spc="65">
                <a:solidFill>
                  <a:srgbClr val="1A1A1A"/>
                </a:solidFill>
                <a:latin typeface="Times New Roman"/>
                <a:cs typeface="Times New Roman"/>
              </a:rPr>
              <a:t>After</a:t>
            </a:r>
            <a:r>
              <a:rPr dirty="0" sz="3200" spc="18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200" spc="70">
                <a:solidFill>
                  <a:srgbClr val="161616"/>
                </a:solidFill>
                <a:latin typeface="Times New Roman"/>
                <a:cs typeface="Times New Roman"/>
              </a:rPr>
              <a:t>expanding</a:t>
            </a:r>
            <a:r>
              <a:rPr dirty="0" sz="3200" spc="28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200" spc="40">
                <a:solidFill>
                  <a:srgbClr val="0E0E0E"/>
                </a:solidFill>
                <a:latin typeface="Times New Roman"/>
                <a:cs typeface="Times New Roman"/>
              </a:rPr>
              <a:t>Pitesti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193858" y="4084637"/>
            <a:ext cx="161163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1D1D1D"/>
                </a:solidFill>
                <a:latin typeface="Times New Roman"/>
                <a:cs typeface="Times New Roman"/>
              </a:rPr>
              <a:t>447=</a:t>
            </a:r>
            <a:r>
              <a:rPr dirty="0" sz="2200" spc="-10">
                <a:solidFill>
                  <a:srgbClr val="1C1C1C"/>
                </a:solidFill>
                <a:latin typeface="Times New Roman"/>
                <a:cs typeface="Times New Roman"/>
              </a:rPr>
              <a:t>118+329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115796" y="7275512"/>
            <a:ext cx="496189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2580" algn="l"/>
                <a:tab pos="3381375" algn="l"/>
              </a:tabLst>
            </a:pPr>
            <a:r>
              <a:rPr dirty="0" sz="2950" spc="-434">
                <a:latin typeface="Times New Roman"/>
                <a:cs typeface="Times New Roman"/>
              </a:rPr>
              <a:t>4iS—</a:t>
            </a:r>
            <a:r>
              <a:rPr dirty="0" sz="2950" spc="-340">
                <a:latin typeface="Times New Roman"/>
                <a:cs typeface="Times New Roman"/>
              </a:rPr>
              <a:t>4is+o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-10">
                <a:solidFill>
                  <a:srgbClr val="0E0E0E"/>
                </a:solidFill>
                <a:latin typeface="Times New Roman"/>
                <a:cs typeface="Times New Roman"/>
              </a:rPr>
              <a:t>6is=4ss+lto</a:t>
            </a:r>
            <a:r>
              <a:rPr dirty="0" sz="295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2950" spc="-325">
                <a:solidFill>
                  <a:srgbClr val="161616"/>
                </a:solidFill>
                <a:latin typeface="Times New Roman"/>
                <a:cs typeface="Times New Roman"/>
              </a:rPr>
              <a:t>s07=414+i93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33325" y="8132762"/>
            <a:ext cx="1234948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2555240" algn="l"/>
                <a:tab pos="8463915" algn="l"/>
                <a:tab pos="8672830" algn="l"/>
              </a:tabLst>
            </a:pPr>
            <a:r>
              <a:rPr dirty="0" sz="3250" spc="50">
                <a:latin typeface="Times New Roman"/>
                <a:cs typeface="Times New Roman"/>
              </a:rPr>
              <a:t>Figure</a:t>
            </a:r>
            <a:r>
              <a:rPr dirty="0" sz="3250" spc="-30">
                <a:latin typeface="Times New Roman"/>
                <a:cs typeface="Times New Roman"/>
              </a:rPr>
              <a:t> </a:t>
            </a:r>
            <a:r>
              <a:rPr dirty="0" sz="3250" spc="-20">
                <a:latin typeface="Times New Roman"/>
                <a:cs typeface="Times New Roman"/>
              </a:rPr>
              <a:t>3.24</a:t>
            </a:r>
            <a:r>
              <a:rPr dirty="0" sz="3250">
                <a:latin typeface="Times New Roman"/>
                <a:cs typeface="Times New Roman"/>
              </a:rPr>
              <a:t>	Stages</a:t>
            </a:r>
            <a:r>
              <a:rPr dirty="0" sz="3250" spc="-19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in</a:t>
            </a:r>
            <a:r>
              <a:rPr dirty="0" sz="3250" spc="-1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an</a:t>
            </a:r>
            <a:r>
              <a:rPr dirty="0" sz="3250" spc="-15">
                <a:latin typeface="Times New Roman"/>
                <a:cs typeface="Times New Roman"/>
              </a:rPr>
              <a:t> </a:t>
            </a:r>
            <a:r>
              <a:rPr dirty="0" sz="3250" spc="-560">
                <a:latin typeface="Times New Roman"/>
                <a:cs typeface="Times New Roman"/>
              </a:rPr>
              <a:t>A*</a:t>
            </a:r>
            <a:r>
              <a:rPr dirty="0" sz="3250" spc="200">
                <a:latin typeface="Times New Roman"/>
                <a:cs typeface="Times New Roman"/>
              </a:rPr>
              <a:t> </a:t>
            </a:r>
            <a:r>
              <a:rPr dirty="0" sz="3250" spc="-10">
                <a:latin typeface="Times New Roman"/>
                <a:cs typeface="Times New Roman"/>
              </a:rPr>
              <a:t>search</a:t>
            </a:r>
            <a:r>
              <a:rPr dirty="0" sz="3250" spc="-8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for</a:t>
            </a:r>
            <a:r>
              <a:rPr dirty="0" sz="3250" spc="-120">
                <a:latin typeface="Times New Roman"/>
                <a:cs typeface="Times New Roman"/>
              </a:rPr>
              <a:t> </a:t>
            </a:r>
            <a:r>
              <a:rPr dirty="0" sz="3250" spc="-10">
                <a:latin typeface="Times New Roman"/>
                <a:cs typeface="Times New Roman"/>
              </a:rPr>
              <a:t>Bucharest.</a:t>
            </a:r>
            <a:r>
              <a:rPr dirty="0" sz="3250">
                <a:latin typeface="Times New Roman"/>
                <a:cs typeface="Times New Roman"/>
              </a:rPr>
              <a:t>	</a:t>
            </a:r>
            <a:r>
              <a:rPr dirty="0" sz="3250" spc="-50">
                <a:latin typeface="Times New Roman"/>
                <a:cs typeface="Times New Roman"/>
              </a:rPr>
              <a:t>Nodes</a:t>
            </a:r>
            <a:r>
              <a:rPr dirty="0" sz="3250" spc="-15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are</a:t>
            </a:r>
            <a:r>
              <a:rPr dirty="0" sz="3250" spc="-190">
                <a:latin typeface="Times New Roman"/>
                <a:cs typeface="Times New Roman"/>
              </a:rPr>
              <a:t> </a:t>
            </a:r>
            <a:r>
              <a:rPr dirty="0" sz="3250" spc="-10">
                <a:latin typeface="Times New Roman"/>
                <a:cs typeface="Times New Roman"/>
              </a:rPr>
              <a:t>labeled</a:t>
            </a:r>
            <a:r>
              <a:rPr dirty="0" sz="3250" spc="-45">
                <a:latin typeface="Times New Roman"/>
                <a:cs typeface="Times New Roman"/>
              </a:rPr>
              <a:t> </a:t>
            </a:r>
            <a:r>
              <a:rPr dirty="0" sz="3250" spc="-90">
                <a:latin typeface="Times New Roman"/>
                <a:cs typeface="Times New Roman"/>
              </a:rPr>
              <a:t>with </a:t>
            </a:r>
            <a:r>
              <a:rPr dirty="0" sz="3250">
                <a:solidFill>
                  <a:srgbClr val="111111"/>
                </a:solidFill>
                <a:latin typeface="Times New Roman"/>
                <a:cs typeface="Times New Roman"/>
              </a:rPr>
              <a:t>fi</a:t>
            </a:r>
            <a:r>
              <a:rPr dirty="0" sz="32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250" spc="-25">
                <a:latin typeface="Times New Roman"/>
                <a:cs typeface="Times New Roman"/>
              </a:rPr>
              <a:t>values</a:t>
            </a:r>
            <a:r>
              <a:rPr dirty="0" sz="3250" spc="-12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are</a:t>
            </a:r>
            <a:r>
              <a:rPr dirty="0" sz="3250" spc="-7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the</a:t>
            </a:r>
            <a:r>
              <a:rPr dirty="0" sz="3250" spc="-19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straight-</a:t>
            </a:r>
            <a:r>
              <a:rPr dirty="0" sz="3250">
                <a:latin typeface="Times New Roman"/>
                <a:cs typeface="Times New Roman"/>
              </a:rPr>
              <a:t>line</a:t>
            </a:r>
            <a:r>
              <a:rPr dirty="0" sz="3250" spc="-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distances</a:t>
            </a:r>
            <a:r>
              <a:rPr dirty="0" sz="3250" spc="-1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to</a:t>
            </a:r>
            <a:r>
              <a:rPr dirty="0" sz="3250" spc="-140">
                <a:latin typeface="Times New Roman"/>
                <a:cs typeface="Times New Roman"/>
              </a:rPr>
              <a:t> </a:t>
            </a:r>
            <a:r>
              <a:rPr dirty="0" sz="3250" spc="-10">
                <a:latin typeface="Times New Roman"/>
                <a:cs typeface="Times New Roman"/>
              </a:rPr>
              <a:t>Bucharest</a:t>
            </a:r>
            <a:r>
              <a:rPr dirty="0" sz="3250">
                <a:latin typeface="Times New Roman"/>
                <a:cs typeface="Times New Roman"/>
              </a:rPr>
              <a:t>	</a:t>
            </a:r>
            <a:r>
              <a:rPr dirty="0" sz="3250" spc="-25">
                <a:latin typeface="Times New Roman"/>
                <a:cs typeface="Times New Roman"/>
              </a:rPr>
              <a:t>taken</a:t>
            </a:r>
            <a:r>
              <a:rPr dirty="0" sz="3250" spc="-13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from</a:t>
            </a:r>
            <a:r>
              <a:rPr dirty="0" sz="3250" spc="-80">
                <a:latin typeface="Times New Roman"/>
                <a:cs typeface="Times New Roman"/>
              </a:rPr>
              <a:t> </a:t>
            </a:r>
            <a:r>
              <a:rPr dirty="0" sz="3250" spc="-40">
                <a:latin typeface="Times New Roman"/>
                <a:cs typeface="Times New Roman"/>
              </a:rPr>
              <a:t>Figure</a:t>
            </a:r>
            <a:r>
              <a:rPr dirty="0" sz="3250" spc="-125">
                <a:latin typeface="Times New Roman"/>
                <a:cs typeface="Times New Roman"/>
              </a:rPr>
              <a:t> </a:t>
            </a:r>
            <a:r>
              <a:rPr dirty="0" sz="3250" spc="-10">
                <a:latin typeface="Times New Roman"/>
                <a:cs typeface="Times New Roman"/>
              </a:rPr>
              <a:t>3.22.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581134" y="8132762"/>
            <a:ext cx="175387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>
                <a:latin typeface="Times New Roman"/>
                <a:cs typeface="Times New Roman"/>
              </a:rPr>
              <a:t>p</a:t>
            </a:r>
            <a:r>
              <a:rPr dirty="0" sz="3250" spc="-204">
                <a:latin typeface="Times New Roman"/>
                <a:cs typeface="Times New Roman"/>
              </a:rPr>
              <a:t> </a:t>
            </a:r>
            <a:r>
              <a:rPr dirty="0" sz="3250">
                <a:solidFill>
                  <a:srgbClr val="4D4D4D"/>
                </a:solidFill>
                <a:latin typeface="Times New Roman"/>
                <a:cs typeface="Times New Roman"/>
              </a:rPr>
              <a:t>+</a:t>
            </a:r>
            <a:r>
              <a:rPr dirty="0" sz="3250" spc="14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fi.</a:t>
            </a:r>
            <a:r>
              <a:rPr dirty="0" sz="3250" spc="-15">
                <a:latin typeface="Times New Roman"/>
                <a:cs typeface="Times New Roman"/>
              </a:rPr>
              <a:t> </a:t>
            </a:r>
            <a:r>
              <a:rPr dirty="0" sz="3250" spc="-25">
                <a:latin typeface="Times New Roman"/>
                <a:cs typeface="Times New Roman"/>
              </a:rPr>
              <a:t>The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6534150"/>
            <a:ext cx="5057775" cy="61912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0325" y="6534150"/>
            <a:ext cx="6486525" cy="6191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44500" y="6591300"/>
            <a:ext cx="5210175" cy="5619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1962" rIns="0" bIns="0" rtlCol="0" vert="horz">
            <a:spAutoFit/>
          </a:bodyPr>
          <a:lstStyle/>
          <a:p>
            <a:pPr marL="830580">
              <a:lnSpc>
                <a:spcPct val="100000"/>
              </a:lnSpc>
              <a:spcBef>
                <a:spcPts val="100"/>
              </a:spcBef>
            </a:pPr>
            <a:r>
              <a:rPr dirty="0" sz="5500"/>
              <a:t>Opñmality</a:t>
            </a:r>
            <a:r>
              <a:rPr dirty="0" sz="5500" spc="370"/>
              <a:t> </a:t>
            </a:r>
            <a:r>
              <a:rPr dirty="0" sz="5500"/>
              <a:t>of</a:t>
            </a:r>
            <a:r>
              <a:rPr dirty="0" sz="5500" spc="-65"/>
              <a:t> </a:t>
            </a:r>
            <a:r>
              <a:rPr dirty="0" sz="5500" spc="-25"/>
              <a:t>A'</a:t>
            </a:r>
            <a:endParaRPr sz="5500"/>
          </a:p>
        </p:txBody>
      </p:sp>
      <p:sp>
        <p:nvSpPr>
          <p:cNvPr id="6" name="object 6" descr=""/>
          <p:cNvSpPr txBox="1"/>
          <p:nvPr/>
        </p:nvSpPr>
        <p:spPr>
          <a:xfrm>
            <a:off x="1447920" y="1973262"/>
            <a:ext cx="16567150" cy="41871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403225" marR="5080" indent="-391160">
              <a:lnSpc>
                <a:spcPts val="4840"/>
              </a:lnSpc>
              <a:spcBef>
                <a:spcPts val="725"/>
              </a:spcBef>
              <a:buChar char="•"/>
              <a:tabLst>
                <a:tab pos="413384" algn="l"/>
              </a:tabLst>
            </a:pP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55">
                <a:latin typeface="Calibri"/>
                <a:cs typeface="Calibri"/>
              </a:rPr>
              <a:t> </a:t>
            </a:r>
            <a:r>
              <a:rPr dirty="0" sz="4500" spc="-85">
                <a:solidFill>
                  <a:srgbClr val="0564BA"/>
                </a:solidFill>
                <a:latin typeface="Calibri"/>
                <a:cs typeface="Calibri"/>
              </a:rPr>
              <a:t>tree-</a:t>
            </a:r>
            <a:r>
              <a:rPr dirty="0" sz="4500">
                <a:solidFill>
                  <a:srgbClr val="0564BA"/>
                </a:solidFill>
                <a:latin typeface="Calibri"/>
                <a:cs typeface="Calibri"/>
              </a:rPr>
              <a:t>search</a:t>
            </a:r>
            <a:r>
              <a:rPr dirty="0" sz="4500" spc="180">
                <a:solidFill>
                  <a:srgbClr val="0564BA"/>
                </a:solidFill>
                <a:latin typeface="Calibri"/>
                <a:cs typeface="Calibri"/>
              </a:rPr>
              <a:t> </a:t>
            </a:r>
            <a:r>
              <a:rPr dirty="0" sz="4500" spc="-40">
                <a:solidFill>
                  <a:srgbClr val="087ED4"/>
                </a:solidFill>
                <a:latin typeface="Calibri"/>
                <a:cs typeface="Calibri"/>
              </a:rPr>
              <a:t>version</a:t>
            </a:r>
            <a:r>
              <a:rPr dirty="0" sz="4500" spc="105">
                <a:solidFill>
                  <a:srgbClr val="087ED4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A*</a:t>
            </a:r>
            <a:r>
              <a:rPr dirty="0" sz="4500" spc="-1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-20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opñmal</a:t>
            </a:r>
            <a:r>
              <a:rPr dirty="0" sz="4500" spc="-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if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h(n)</a:t>
            </a:r>
            <a:r>
              <a:rPr dirty="0" sz="4500" spc="-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-150">
                <a:latin typeface="Calibri"/>
                <a:cs typeface="Calibri"/>
              </a:rPr>
              <a:t> </a:t>
            </a:r>
            <a:r>
              <a:rPr dirty="0" sz="4500" spc="-40">
                <a:latin typeface="Calibri"/>
                <a:cs typeface="Calibri"/>
              </a:rPr>
              <a:t>admissible,</a:t>
            </a:r>
            <a:r>
              <a:rPr dirty="0" sz="4500" spc="2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while</a:t>
            </a:r>
            <a:r>
              <a:rPr dirty="0" sz="4500" spc="-9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 </a:t>
            </a:r>
            <a:r>
              <a:rPr dirty="0" sz="4500" spc="-25">
                <a:latin typeface="Calibri"/>
                <a:cs typeface="Calibri"/>
              </a:rPr>
              <a:t>	</a:t>
            </a:r>
            <a:r>
              <a:rPr dirty="0" sz="4500" spc="-70">
                <a:solidFill>
                  <a:srgbClr val="1364A3"/>
                </a:solidFill>
                <a:latin typeface="Calibri"/>
                <a:cs typeface="Calibri"/>
              </a:rPr>
              <a:t>graph-</a:t>
            </a:r>
            <a:r>
              <a:rPr dirty="0" sz="4500">
                <a:solidFill>
                  <a:srgbClr val="1364A3"/>
                </a:solidFill>
                <a:latin typeface="Calibri"/>
                <a:cs typeface="Calibri"/>
              </a:rPr>
              <a:t>search</a:t>
            </a:r>
            <a:r>
              <a:rPr dirty="0" sz="4500" spc="100">
                <a:solidFill>
                  <a:srgbClr val="1364A3"/>
                </a:solidFill>
                <a:latin typeface="Calibri"/>
                <a:cs typeface="Calibri"/>
              </a:rPr>
              <a:t> </a:t>
            </a:r>
            <a:r>
              <a:rPr dirty="0" sz="4500" spc="-35">
                <a:solidFill>
                  <a:srgbClr val="0C77C4"/>
                </a:solidFill>
                <a:latin typeface="Calibri"/>
                <a:cs typeface="Calibri"/>
              </a:rPr>
              <a:t>version</a:t>
            </a:r>
            <a:r>
              <a:rPr dirty="0" sz="4500" spc="-75">
                <a:solidFill>
                  <a:srgbClr val="0C77C4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-2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opñmal</a:t>
            </a:r>
            <a:r>
              <a:rPr dirty="0" sz="4500" spc="-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if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h(n)</a:t>
            </a:r>
            <a:r>
              <a:rPr dirty="0" sz="4500" spc="-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-170"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AA0003"/>
                </a:solidFill>
                <a:latin typeface="Calibri"/>
                <a:cs typeface="Calibri"/>
              </a:rPr>
              <a:t>consistent</a:t>
            </a:r>
            <a:endParaRPr sz="4500">
              <a:latin typeface="Calibri"/>
              <a:cs typeface="Calibri"/>
            </a:endParaRPr>
          </a:p>
          <a:p>
            <a:pPr algn="just" marL="853440" marR="10160" indent="-832485">
              <a:lnSpc>
                <a:spcPts val="4840"/>
              </a:lnSpc>
              <a:spcBef>
                <a:spcPts val="1570"/>
              </a:spcBef>
            </a:pPr>
            <a:r>
              <a:rPr dirty="0" sz="4400" i="1">
                <a:latin typeface="Arial"/>
                <a:cs typeface="Arial"/>
              </a:rPr>
              <a:t>1.</a:t>
            </a:r>
            <a:r>
              <a:rPr dirty="0" sz="4400" spc="65" i="1">
                <a:latin typeface="Arial"/>
                <a:cs typeface="Arial"/>
              </a:rPr>
              <a:t>  </a:t>
            </a:r>
            <a:r>
              <a:rPr dirty="0" sz="4400" i="1">
                <a:latin typeface="Arial"/>
                <a:cs typeface="Arial"/>
              </a:rPr>
              <a:t>i(</a:t>
            </a:r>
            <a:r>
              <a:rPr dirty="0" sz="4400" spc="595" i="1">
                <a:latin typeface="Arial"/>
                <a:cs typeface="Arial"/>
              </a:rPr>
              <a:t> </a:t>
            </a:r>
            <a:r>
              <a:rPr dirty="0" sz="4400">
                <a:latin typeface="Arial MT"/>
                <a:cs typeface="Arial MT"/>
              </a:rPr>
              <a:t>h(n)</a:t>
            </a:r>
            <a:r>
              <a:rPr dirty="0" sz="4400" spc="775">
                <a:latin typeface="Arial MT"/>
                <a:cs typeface="Arial MT"/>
              </a:rPr>
              <a:t> </a:t>
            </a:r>
            <a:r>
              <a:rPr dirty="0" sz="4400" spc="-335" i="1">
                <a:latin typeface="Arial"/>
                <a:cs typeface="Arial"/>
              </a:rPr>
              <a:t>is</a:t>
            </a:r>
            <a:r>
              <a:rPr dirty="0" sz="4400" spc="515" i="1">
                <a:latin typeface="Arial"/>
                <a:cs typeface="Arial"/>
              </a:rPr>
              <a:t> </a:t>
            </a:r>
            <a:r>
              <a:rPr dirty="0" sz="4400" spc="-60">
                <a:latin typeface="Arial MT"/>
                <a:cs typeface="Arial MT"/>
              </a:rPr>
              <a:t>consistent,</a:t>
            </a:r>
            <a:r>
              <a:rPr dirty="0" sz="4400" spc="960">
                <a:latin typeface="Arial MT"/>
                <a:cs typeface="Arial MT"/>
              </a:rPr>
              <a:t> </a:t>
            </a:r>
            <a:r>
              <a:rPr dirty="0" sz="4400">
                <a:latin typeface="Arial MT"/>
                <a:cs typeface="Arial MT"/>
              </a:rPr>
              <a:t>then</a:t>
            </a:r>
            <a:r>
              <a:rPr dirty="0" sz="4400" spc="625">
                <a:latin typeface="Arial MT"/>
                <a:cs typeface="Arial MT"/>
              </a:rPr>
              <a:t> </a:t>
            </a:r>
            <a:r>
              <a:rPr dirty="0" sz="4400">
                <a:latin typeface="Arial MT"/>
                <a:cs typeface="Arial MT"/>
              </a:rPr>
              <a:t>the</a:t>
            </a:r>
            <a:r>
              <a:rPr dirty="0" sz="4400" spc="385">
                <a:latin typeface="Arial MT"/>
                <a:cs typeface="Arial MT"/>
              </a:rPr>
              <a:t> </a:t>
            </a:r>
            <a:r>
              <a:rPr dirty="0" sz="4400" spc="-254" i="1">
                <a:latin typeface="Arial"/>
                <a:cs typeface="Arial"/>
              </a:rPr>
              <a:t>values</a:t>
            </a:r>
            <a:r>
              <a:rPr dirty="0" sz="4400" spc="630" i="1">
                <a:latin typeface="Arial"/>
                <a:cs typeface="Arial"/>
              </a:rPr>
              <a:t> </a:t>
            </a:r>
            <a:r>
              <a:rPr dirty="0" sz="4400" i="1">
                <a:latin typeface="Arial"/>
                <a:cs typeface="Arial"/>
              </a:rPr>
              <a:t>o(</a:t>
            </a:r>
            <a:r>
              <a:rPr dirty="0" sz="4400" spc="630" i="1">
                <a:latin typeface="Arial"/>
                <a:cs typeface="Arial"/>
              </a:rPr>
              <a:t> </a:t>
            </a:r>
            <a:r>
              <a:rPr dirty="0" sz="4400">
                <a:solidFill>
                  <a:srgbClr val="FF050A"/>
                </a:solidFill>
                <a:latin typeface="Arial MT"/>
                <a:cs typeface="Arial MT"/>
              </a:rPr>
              <a:t>f(n)</a:t>
            </a:r>
            <a:r>
              <a:rPr dirty="0" sz="4400" spc="585">
                <a:solidFill>
                  <a:srgbClr val="FF050A"/>
                </a:solidFill>
                <a:latin typeface="Arial MT"/>
                <a:cs typeface="Arial MT"/>
              </a:rPr>
              <a:t> </a:t>
            </a:r>
            <a:r>
              <a:rPr dirty="0" sz="4400" i="1">
                <a:latin typeface="Arial"/>
                <a:cs typeface="Arial"/>
              </a:rPr>
              <a:t>along</a:t>
            </a:r>
            <a:r>
              <a:rPr dirty="0" sz="4400" spc="615" i="1">
                <a:latin typeface="Arial"/>
                <a:cs typeface="Arial"/>
              </a:rPr>
              <a:t> </a:t>
            </a:r>
            <a:r>
              <a:rPr dirty="0" sz="4400" spc="-285" i="1">
                <a:latin typeface="Arial"/>
                <a:cs typeface="Arial"/>
              </a:rPr>
              <a:t>any</a:t>
            </a:r>
            <a:r>
              <a:rPr dirty="0" sz="4400" spc="490" i="1">
                <a:latin typeface="Arial"/>
                <a:cs typeface="Arial"/>
              </a:rPr>
              <a:t> </a:t>
            </a:r>
            <a:r>
              <a:rPr dirty="0" sz="4400">
                <a:latin typeface="Arial MT"/>
                <a:cs typeface="Arial MT"/>
              </a:rPr>
              <a:t>path</a:t>
            </a:r>
            <a:r>
              <a:rPr dirty="0" sz="4400" spc="465">
                <a:latin typeface="Arial MT"/>
                <a:cs typeface="Arial MT"/>
              </a:rPr>
              <a:t> </a:t>
            </a:r>
            <a:r>
              <a:rPr dirty="0" sz="4400" spc="-25" i="1">
                <a:latin typeface="Arial"/>
                <a:cs typeface="Arial"/>
              </a:rPr>
              <a:t>are </a:t>
            </a:r>
            <a:r>
              <a:rPr dirty="0" sz="4450" spc="-20" i="1">
                <a:latin typeface="Arial"/>
                <a:cs typeface="Arial"/>
              </a:rPr>
              <a:t>Increasing.</a:t>
            </a:r>
            <a:r>
              <a:rPr dirty="0" sz="4450" spc="55" i="1">
                <a:latin typeface="Arial"/>
                <a:cs typeface="Arial"/>
              </a:rPr>
              <a:t>  </a:t>
            </a:r>
            <a:r>
              <a:rPr dirty="0" sz="4450" spc="-340">
                <a:latin typeface="Arial MT"/>
                <a:cs typeface="Arial MT"/>
              </a:rPr>
              <a:t>The</a:t>
            </a:r>
            <a:r>
              <a:rPr dirty="0" sz="4450" spc="-15">
                <a:latin typeface="Arial MT"/>
                <a:cs typeface="Arial MT"/>
              </a:rPr>
              <a:t>  </a:t>
            </a:r>
            <a:r>
              <a:rPr dirty="0" sz="4450">
                <a:latin typeface="Arial MT"/>
                <a:cs typeface="Arial MT"/>
              </a:rPr>
              <a:t>proof</a:t>
            </a:r>
            <a:r>
              <a:rPr dirty="0" sz="4450" spc="75">
                <a:latin typeface="Arial MT"/>
                <a:cs typeface="Arial MT"/>
              </a:rPr>
              <a:t>  </a:t>
            </a:r>
            <a:r>
              <a:rPr dirty="0" sz="4450">
                <a:latin typeface="Arial MT"/>
                <a:cs typeface="Arial MT"/>
              </a:rPr>
              <a:t>follows</a:t>
            </a:r>
            <a:r>
              <a:rPr dirty="0" sz="4450" spc="25">
                <a:latin typeface="Arial MT"/>
                <a:cs typeface="Arial MT"/>
              </a:rPr>
              <a:t>  </a:t>
            </a:r>
            <a:r>
              <a:rPr dirty="0" sz="4450">
                <a:latin typeface="Arial MT"/>
                <a:cs typeface="Arial MT"/>
              </a:rPr>
              <a:t>directly</a:t>
            </a:r>
            <a:r>
              <a:rPr dirty="0" sz="4450" spc="25">
                <a:latin typeface="Arial MT"/>
                <a:cs typeface="Arial MT"/>
              </a:rPr>
              <a:t>  </a:t>
            </a:r>
            <a:r>
              <a:rPr dirty="0" sz="4450">
                <a:latin typeface="Arial MT"/>
                <a:cs typeface="Arial MT"/>
              </a:rPr>
              <a:t>from</a:t>
            </a:r>
            <a:r>
              <a:rPr dirty="0" sz="4450" spc="-45">
                <a:latin typeface="Arial MT"/>
                <a:cs typeface="Arial MT"/>
              </a:rPr>
              <a:t>  </a:t>
            </a:r>
            <a:r>
              <a:rPr dirty="0" sz="4450">
                <a:latin typeface="Arial MT"/>
                <a:cs typeface="Arial MT"/>
              </a:rPr>
              <a:t>the</a:t>
            </a:r>
            <a:r>
              <a:rPr dirty="0" sz="4450" spc="-25">
                <a:latin typeface="Arial MT"/>
                <a:cs typeface="Arial MT"/>
              </a:rPr>
              <a:t>  </a:t>
            </a:r>
            <a:r>
              <a:rPr dirty="0" sz="4450">
                <a:latin typeface="Arial MT"/>
                <a:cs typeface="Arial MT"/>
              </a:rPr>
              <a:t>definiñon</a:t>
            </a:r>
            <a:r>
              <a:rPr dirty="0" sz="4450" spc="45">
                <a:latin typeface="Arial MT"/>
                <a:cs typeface="Arial MT"/>
              </a:rPr>
              <a:t>  </a:t>
            </a:r>
            <a:r>
              <a:rPr dirty="0" sz="4450" spc="-25">
                <a:latin typeface="Arial MT"/>
                <a:cs typeface="Arial MT"/>
              </a:rPr>
              <a:t>of </a:t>
            </a:r>
            <a:r>
              <a:rPr dirty="0" sz="4500" spc="-295">
                <a:latin typeface="Arial MT"/>
                <a:cs typeface="Arial MT"/>
              </a:rPr>
              <a:t>consistency.</a:t>
            </a:r>
            <a:r>
              <a:rPr dirty="0" sz="4500" spc="204">
                <a:latin typeface="Arial MT"/>
                <a:cs typeface="Arial MT"/>
              </a:rPr>
              <a:t> </a:t>
            </a:r>
            <a:r>
              <a:rPr dirty="0" sz="4500" spc="-385">
                <a:latin typeface="Arial MT"/>
                <a:cs typeface="Arial MT"/>
              </a:rPr>
              <a:t>Suppose</a:t>
            </a:r>
            <a:r>
              <a:rPr dirty="0" sz="4500" spc="85">
                <a:latin typeface="Arial MT"/>
                <a:cs typeface="Arial MT"/>
              </a:rPr>
              <a:t> </a:t>
            </a:r>
            <a:r>
              <a:rPr dirty="0" sz="4500" spc="-30">
                <a:latin typeface="Arial MT"/>
                <a:cs typeface="Arial MT"/>
              </a:rPr>
              <a:t>n’</a:t>
            </a:r>
            <a:r>
              <a:rPr dirty="0" sz="4500" spc="-220">
                <a:latin typeface="Arial MT"/>
                <a:cs typeface="Arial MT"/>
              </a:rPr>
              <a:t> </a:t>
            </a:r>
            <a:r>
              <a:rPr dirty="0" sz="4500" spc="-310">
                <a:latin typeface="Arial MT"/>
                <a:cs typeface="Arial MT"/>
              </a:rPr>
              <a:t>is</a:t>
            </a:r>
            <a:r>
              <a:rPr dirty="0" sz="4500" spc="-105">
                <a:latin typeface="Arial MT"/>
                <a:cs typeface="Arial MT"/>
              </a:rPr>
              <a:t> </a:t>
            </a:r>
            <a:r>
              <a:rPr dirty="0" sz="4500" spc="-550">
                <a:latin typeface="Arial MT"/>
                <a:cs typeface="Arial MT"/>
              </a:rPr>
              <a:t>a</a:t>
            </a:r>
            <a:r>
              <a:rPr dirty="0" sz="4500" spc="-30">
                <a:latin typeface="Arial MT"/>
                <a:cs typeface="Arial MT"/>
              </a:rPr>
              <a:t> </a:t>
            </a:r>
            <a:r>
              <a:rPr dirty="0" sz="4500" spc="-360">
                <a:latin typeface="Arial MT"/>
                <a:cs typeface="Arial MT"/>
              </a:rPr>
              <a:t>successor</a:t>
            </a:r>
            <a:r>
              <a:rPr dirty="0" sz="4500" spc="195">
                <a:latin typeface="Arial MT"/>
                <a:cs typeface="Arial MT"/>
              </a:rPr>
              <a:t> </a:t>
            </a:r>
            <a:r>
              <a:rPr dirty="0" sz="4500">
                <a:latin typeface="Arial MT"/>
                <a:cs typeface="Arial MT"/>
              </a:rPr>
              <a:t>of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25">
                <a:latin typeface="Arial MT"/>
                <a:cs typeface="Arial MT"/>
              </a:rPr>
              <a:t>n;</a:t>
            </a:r>
            <a:endParaRPr sz="4500">
              <a:latin typeface="Arial MT"/>
              <a:cs typeface="Arial MT"/>
            </a:endParaRPr>
          </a:p>
          <a:p>
            <a:pPr marL="1456690">
              <a:lnSpc>
                <a:spcPct val="100000"/>
              </a:lnSpc>
              <a:spcBef>
                <a:spcPts val="790"/>
              </a:spcBef>
            </a:pPr>
            <a:r>
              <a:rPr dirty="0" sz="4650" spc="-30">
                <a:latin typeface="Calibri"/>
                <a:cs typeface="Calibri"/>
              </a:rPr>
              <a:t>then</a:t>
            </a:r>
            <a:r>
              <a:rPr dirty="0" sz="4650" spc="-235">
                <a:latin typeface="Calibri"/>
                <a:cs typeface="Calibri"/>
              </a:rPr>
              <a:t> </a:t>
            </a:r>
            <a:r>
              <a:rPr dirty="0" sz="4650" spc="-65">
                <a:latin typeface="Calibri"/>
                <a:cs typeface="Calibri"/>
              </a:rPr>
              <a:t>g(n’)</a:t>
            </a:r>
            <a:r>
              <a:rPr dirty="0" sz="4650" spc="-19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=</a:t>
            </a:r>
            <a:r>
              <a:rPr dirty="0" sz="4650" spc="-250">
                <a:latin typeface="Calibri"/>
                <a:cs typeface="Calibri"/>
              </a:rPr>
              <a:t> </a:t>
            </a:r>
            <a:r>
              <a:rPr dirty="0" sz="4650" spc="-75">
                <a:latin typeface="Calibri"/>
                <a:cs typeface="Calibri"/>
              </a:rPr>
              <a:t>g(n)</a:t>
            </a:r>
            <a:r>
              <a:rPr dirty="0" sz="4650" spc="-165">
                <a:latin typeface="Calibri"/>
                <a:cs typeface="Calibri"/>
              </a:rPr>
              <a:t> </a:t>
            </a:r>
            <a:r>
              <a:rPr dirty="0" sz="4650" spc="65">
                <a:latin typeface="Calibri"/>
                <a:cs typeface="Calibri"/>
              </a:rPr>
              <a:t>+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c(n,</a:t>
            </a:r>
            <a:r>
              <a:rPr dirty="0" sz="4650" spc="-195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a,n’)</a:t>
            </a:r>
            <a:r>
              <a:rPr dirty="0" sz="4650" spc="-140">
                <a:latin typeface="Calibri"/>
                <a:cs typeface="Calibri"/>
              </a:rPr>
              <a:t> </a:t>
            </a:r>
            <a:r>
              <a:rPr dirty="0" sz="4650" spc="-80">
                <a:latin typeface="Calibri"/>
                <a:cs typeface="Calibri"/>
              </a:rPr>
              <a:t>for</a:t>
            </a:r>
            <a:r>
              <a:rPr dirty="0" sz="4650" spc="-155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some</a:t>
            </a:r>
            <a:r>
              <a:rPr dirty="0" sz="4650" spc="-15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acñon</a:t>
            </a:r>
            <a:r>
              <a:rPr dirty="0" sz="4650" spc="-8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a,</a:t>
            </a:r>
            <a:r>
              <a:rPr dirty="0" sz="4650" spc="-225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and</a:t>
            </a:r>
            <a:r>
              <a:rPr dirty="0" sz="4650" spc="-170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we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have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9958" y="7893050"/>
            <a:ext cx="16550640" cy="132588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837565" marR="5080" indent="-825500">
              <a:lnSpc>
                <a:spcPts val="4840"/>
              </a:lnSpc>
              <a:spcBef>
                <a:spcPts val="725"/>
              </a:spcBef>
              <a:tabLst>
                <a:tab pos="840105" algn="l"/>
                <a:tab pos="1915795" algn="l"/>
                <a:tab pos="3155315" algn="l"/>
                <a:tab pos="4350385" algn="l"/>
                <a:tab pos="4940300" algn="l"/>
                <a:tab pos="5640070" algn="l"/>
                <a:tab pos="7188200" algn="l"/>
                <a:tab pos="8344534" algn="l"/>
                <a:tab pos="10873740" algn="l"/>
                <a:tab pos="13458190" algn="l"/>
                <a:tab pos="13955394" algn="l"/>
                <a:tab pos="15355569" algn="l"/>
                <a:tab pos="15883255" algn="l"/>
              </a:tabLst>
            </a:pPr>
            <a:r>
              <a:rPr dirty="0" sz="4500" spc="-25">
                <a:latin typeface="Calibri"/>
                <a:cs typeface="Calibri"/>
              </a:rPr>
              <a:t>2.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25">
                <a:latin typeface="Calibri"/>
                <a:cs typeface="Calibri"/>
              </a:rPr>
              <a:t>The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next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step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to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prove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that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whenever</a:t>
            </a:r>
            <a:r>
              <a:rPr dirty="0" sz="4500">
                <a:latin typeface="Calibri"/>
                <a:cs typeface="Calibri"/>
              </a:rPr>
              <a:t>	A*</a:t>
            </a:r>
            <a:r>
              <a:rPr dirty="0" sz="4500" spc="33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selects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0">
                <a:latin typeface="Calibri"/>
                <a:cs typeface="Calibri"/>
              </a:rPr>
              <a:t>a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node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135">
                <a:latin typeface="Calibri"/>
                <a:cs typeface="Calibri"/>
              </a:rPr>
              <a:t>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80">
                <a:latin typeface="Calibri"/>
                <a:cs typeface="Calibri"/>
              </a:rPr>
              <a:t>for </a:t>
            </a:r>
            <a:r>
              <a:rPr dirty="0" sz="4500" spc="-40">
                <a:latin typeface="Calibri"/>
                <a:cs typeface="Calibri"/>
              </a:rPr>
              <a:t>expansion,</a:t>
            </a:r>
            <a:r>
              <a:rPr dirty="0" sz="4500" spc="1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4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optimal </a:t>
            </a:r>
            <a:r>
              <a:rPr dirty="0" sz="4500">
                <a:latin typeface="Calibri"/>
                <a:cs typeface="Calibri"/>
              </a:rPr>
              <a:t>path</a:t>
            </a:r>
            <a:r>
              <a:rPr dirty="0" sz="4500" spc="-1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14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that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has</a:t>
            </a:r>
            <a:r>
              <a:rPr dirty="0" sz="4500" spc="-1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been</a:t>
            </a:r>
            <a:r>
              <a:rPr dirty="0" sz="4500" spc="-17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found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246120" y="10459211"/>
            <a:ext cx="335280" cy="0"/>
          </a:xfrm>
          <a:custGeom>
            <a:avLst/>
            <a:gdLst/>
            <a:ahLst/>
            <a:cxnLst/>
            <a:rect l="l" t="t" r="r" b="b"/>
            <a:pathLst>
              <a:path w="335279" h="0">
                <a:moveTo>
                  <a:pt x="0" y="0"/>
                </a:moveTo>
                <a:lnTo>
                  <a:pt x="335280" y="0"/>
                </a:lnTo>
              </a:path>
            </a:pathLst>
          </a:custGeom>
          <a:ln w="21336">
            <a:solidFill>
              <a:srgbClr val="38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46120" y="10341864"/>
            <a:ext cx="335280" cy="30480"/>
          </a:xfrm>
          <a:custGeom>
            <a:avLst/>
            <a:gdLst/>
            <a:ahLst/>
            <a:cxnLst/>
            <a:rect l="l" t="t" r="r" b="b"/>
            <a:pathLst>
              <a:path w="335279" h="30479">
                <a:moveTo>
                  <a:pt x="335280" y="0"/>
                </a:moveTo>
                <a:lnTo>
                  <a:pt x="9144" y="0"/>
                </a:lnTo>
                <a:lnTo>
                  <a:pt x="9144" y="9144"/>
                </a:lnTo>
                <a:lnTo>
                  <a:pt x="0" y="9144"/>
                </a:lnTo>
                <a:lnTo>
                  <a:pt x="0" y="30480"/>
                </a:lnTo>
                <a:lnTo>
                  <a:pt x="335280" y="30480"/>
                </a:lnTo>
                <a:lnTo>
                  <a:pt x="335280" y="21336"/>
                </a:lnTo>
                <a:lnTo>
                  <a:pt x="335280" y="9144"/>
                </a:lnTo>
                <a:lnTo>
                  <a:pt x="335280" y="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6475" y="4829175"/>
            <a:ext cx="1704975" cy="24193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1750" y="3876675"/>
            <a:ext cx="1333500" cy="1333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7512" rIns="0" bIns="0" rtlCol="0" vert="horz">
            <a:spAutoFit/>
          </a:bodyPr>
          <a:lstStyle/>
          <a:p>
            <a:pPr marL="828675">
              <a:lnSpc>
                <a:spcPct val="100000"/>
              </a:lnSpc>
              <a:spcBef>
                <a:spcPts val="100"/>
              </a:spcBef>
            </a:pPr>
            <a:r>
              <a:rPr dirty="0" sz="5850" spc="-135"/>
              <a:t>Opñmality</a:t>
            </a:r>
            <a:r>
              <a:rPr dirty="0" sz="5850" spc="-60"/>
              <a:t> of</a:t>
            </a:r>
            <a:r>
              <a:rPr dirty="0" sz="5850" spc="-275"/>
              <a:t> </a:t>
            </a:r>
            <a:r>
              <a:rPr dirty="0" sz="5850" spc="110"/>
              <a:t>A'</a:t>
            </a:r>
            <a:endParaRPr sz="5850"/>
          </a:p>
        </p:txBody>
      </p:sp>
      <p:sp>
        <p:nvSpPr>
          <p:cNvPr id="7" name="object 7" descr=""/>
          <p:cNvSpPr txBox="1"/>
          <p:nvPr/>
        </p:nvSpPr>
        <p:spPr>
          <a:xfrm>
            <a:off x="1447321" y="1966912"/>
            <a:ext cx="16557625" cy="25571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91160" marR="5080" indent="-379095">
              <a:lnSpc>
                <a:spcPct val="87700"/>
              </a:lnSpc>
              <a:spcBef>
                <a:spcPts val="770"/>
              </a:spcBef>
              <a:buChar char="•"/>
              <a:tabLst>
                <a:tab pos="394970" algn="l"/>
              </a:tabLst>
            </a:pPr>
            <a:r>
              <a:rPr dirty="0" sz="4550" spc="-20">
                <a:latin typeface="Calibri"/>
                <a:cs typeface="Calibri"/>
              </a:rPr>
              <a:t>Were</a:t>
            </a:r>
            <a:r>
              <a:rPr dirty="0" sz="4550" spc="-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this</a:t>
            </a:r>
            <a:r>
              <a:rPr dirty="0" sz="4550" spc="-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not</a:t>
            </a:r>
            <a:r>
              <a:rPr dirty="0" sz="4550" spc="-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case,</a:t>
            </a:r>
            <a:r>
              <a:rPr dirty="0" sz="4550" spc="-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there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would</a:t>
            </a:r>
            <a:r>
              <a:rPr dirty="0" sz="4550" spc="-1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have</a:t>
            </a:r>
            <a:r>
              <a:rPr dirty="0" sz="4550" spc="-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be</a:t>
            </a:r>
            <a:r>
              <a:rPr dirty="0" sz="4550" spc="-1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another</a:t>
            </a:r>
            <a:r>
              <a:rPr dirty="0" sz="4550" spc="40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frontier</a:t>
            </a:r>
            <a:r>
              <a:rPr dirty="0" sz="4550" spc="85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node </a:t>
            </a:r>
            <a:r>
              <a:rPr dirty="0" sz="4550" spc="-20">
                <a:latin typeface="Calibri"/>
                <a:cs typeface="Calibri"/>
              </a:rPr>
              <a:t>	</a:t>
            </a:r>
            <a:r>
              <a:rPr dirty="0" sz="4600" spc="65">
                <a:latin typeface="Calibri"/>
                <a:cs typeface="Calibri"/>
              </a:rPr>
              <a:t>n’</a:t>
            </a:r>
            <a:r>
              <a:rPr dirty="0" sz="4600" spc="9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</a:t>
            </a:r>
            <a:r>
              <a:rPr dirty="0" sz="4600" spc="10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0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optimal</a:t>
            </a:r>
            <a:r>
              <a:rPr dirty="0" sz="4600" spc="6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path</a:t>
            </a:r>
            <a:r>
              <a:rPr dirty="0" sz="4600" spc="10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from</a:t>
            </a:r>
            <a:r>
              <a:rPr dirty="0" sz="4600" spc="1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start</a:t>
            </a:r>
            <a:r>
              <a:rPr dirty="0" sz="4600" spc="10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</a:t>
            </a:r>
            <a:r>
              <a:rPr dirty="0" sz="4600" spc="10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9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n,</a:t>
            </a:r>
            <a:r>
              <a:rPr dirty="0" sz="4600" spc="94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by</a:t>
            </a:r>
            <a:r>
              <a:rPr dirty="0" sz="4600" spc="10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105">
                <a:latin typeface="Calibri"/>
                <a:cs typeface="Calibri"/>
              </a:rPr>
              <a:t> </a:t>
            </a:r>
            <a:r>
              <a:rPr dirty="0" sz="4600" spc="-70">
                <a:solidFill>
                  <a:srgbClr val="EF000C"/>
                </a:solidFill>
                <a:latin typeface="Calibri"/>
                <a:cs typeface="Calibri"/>
              </a:rPr>
              <a:t>graph </a:t>
            </a:r>
            <a:r>
              <a:rPr dirty="0" sz="4600" spc="-70">
                <a:solidFill>
                  <a:srgbClr val="EF000C"/>
                </a:solidFill>
                <a:latin typeface="Calibri"/>
                <a:cs typeface="Calibri"/>
              </a:rPr>
              <a:t>	</a:t>
            </a:r>
            <a:r>
              <a:rPr dirty="0" sz="4600" spc="-45">
                <a:solidFill>
                  <a:srgbClr val="E20A15"/>
                </a:solidFill>
                <a:latin typeface="Calibri"/>
                <a:cs typeface="Calibri"/>
              </a:rPr>
              <a:t>separation</a:t>
            </a:r>
            <a:r>
              <a:rPr dirty="0" sz="4600" spc="-25">
                <a:solidFill>
                  <a:srgbClr val="E20A15"/>
                </a:solidFill>
                <a:latin typeface="Calibri"/>
                <a:cs typeface="Calibri"/>
              </a:rPr>
              <a:t> </a:t>
            </a:r>
            <a:r>
              <a:rPr dirty="0" sz="4600" spc="-20">
                <a:solidFill>
                  <a:srgbClr val="CF1313"/>
                </a:solidFill>
                <a:latin typeface="Calibri"/>
                <a:cs typeface="Calibri"/>
              </a:rPr>
              <a:t>property</a:t>
            </a:r>
            <a:r>
              <a:rPr dirty="0" sz="4600" spc="25">
                <a:solidFill>
                  <a:srgbClr val="CF1313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</a:t>
            </a:r>
            <a:r>
              <a:rPr dirty="0" sz="4600" spc="-1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nondecreasing</a:t>
            </a:r>
            <a:r>
              <a:rPr dirty="0" sz="4600" spc="2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along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any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path,</a:t>
            </a:r>
            <a:r>
              <a:rPr dirty="0" sz="4600" spc="-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n’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would</a:t>
            </a:r>
            <a:r>
              <a:rPr dirty="0" sz="4600" spc="-35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have </a:t>
            </a:r>
            <a:r>
              <a:rPr dirty="0" sz="4600" spc="-55">
                <a:latin typeface="Calibri"/>
                <a:cs typeface="Calibri"/>
              </a:rPr>
              <a:t>	</a:t>
            </a:r>
            <a:r>
              <a:rPr dirty="0" sz="4550">
                <a:latin typeface="Calibri"/>
                <a:cs typeface="Calibri"/>
              </a:rPr>
              <a:t>low</a:t>
            </a:r>
            <a:r>
              <a:rPr dirty="0" sz="4550" spc="965">
                <a:latin typeface="Calibri"/>
                <a:cs typeface="Calibri"/>
              </a:rPr>
              <a:t>  </a:t>
            </a:r>
            <a:r>
              <a:rPr dirty="0" sz="4550" spc="-80">
                <a:latin typeface="Calibri"/>
                <a:cs typeface="Calibri"/>
              </a:rPr>
              <a:t>f-</a:t>
            </a:r>
            <a:r>
              <a:rPr dirty="0" sz="4550">
                <a:latin typeface="Calibri"/>
                <a:cs typeface="Calibri"/>
              </a:rPr>
              <a:t>cost </a:t>
            </a:r>
            <a:r>
              <a:rPr dirty="0" sz="4550" spc="-10">
                <a:latin typeface="Calibri"/>
                <a:cs typeface="Calibri"/>
              </a:rPr>
              <a:t>than</a:t>
            </a:r>
            <a:r>
              <a:rPr dirty="0" sz="4550" spc="-1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</a:t>
            </a:r>
            <a:r>
              <a:rPr dirty="0" sz="4550" spc="-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and</a:t>
            </a:r>
            <a:r>
              <a:rPr dirty="0" sz="4550" spc="-9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would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have</a:t>
            </a:r>
            <a:r>
              <a:rPr dirty="0" sz="4550" spc="-1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been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selected</a:t>
            </a:r>
            <a:r>
              <a:rPr dirty="0" sz="4550" spc="-5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first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8235" y="5351462"/>
            <a:ext cx="9462135" cy="18053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just" marL="12700" marR="5080" indent="8890">
              <a:lnSpc>
                <a:spcPct val="97800"/>
              </a:lnSpc>
              <a:spcBef>
                <a:spcPts val="204"/>
              </a:spcBef>
            </a:pPr>
            <a:r>
              <a:rPr dirty="0" sz="4000" spc="-50">
                <a:latin typeface="Calibri"/>
                <a:cs typeface="Calibri"/>
              </a:rPr>
              <a:t>The</a:t>
            </a:r>
            <a:r>
              <a:rPr dirty="0" sz="4000" spc="-175">
                <a:latin typeface="Calibri"/>
                <a:cs typeface="Calibri"/>
              </a:rPr>
              <a:t> </a:t>
            </a:r>
            <a:r>
              <a:rPr dirty="0" sz="4000" spc="-80">
                <a:latin typeface="Calibri"/>
                <a:cs typeface="Calibri"/>
              </a:rPr>
              <a:t>fronñer</a:t>
            </a:r>
            <a:r>
              <a:rPr dirty="0" sz="4000" spc="-125">
                <a:latin typeface="Calibri"/>
                <a:cs typeface="Calibri"/>
              </a:rPr>
              <a:t> </a:t>
            </a:r>
            <a:r>
              <a:rPr dirty="0" sz="4000" spc="-65">
                <a:latin typeface="Calibri"/>
                <a:cs typeface="Calibri"/>
              </a:rPr>
              <a:t>(white</a:t>
            </a:r>
            <a:r>
              <a:rPr dirty="0" sz="4000" spc="-130">
                <a:latin typeface="Calibri"/>
                <a:cs typeface="Calibri"/>
              </a:rPr>
              <a:t> </a:t>
            </a:r>
            <a:r>
              <a:rPr dirty="0" sz="4000" spc="-60">
                <a:latin typeface="Calibri"/>
                <a:cs typeface="Calibri"/>
              </a:rPr>
              <a:t>nodes)</a:t>
            </a:r>
            <a:r>
              <a:rPr dirty="0" sz="4000" spc="-90">
                <a:latin typeface="Calibri"/>
                <a:cs typeface="Calibri"/>
              </a:rPr>
              <a:t> always</a:t>
            </a:r>
            <a:r>
              <a:rPr dirty="0" sz="4000" spc="-125">
                <a:latin typeface="Calibri"/>
                <a:cs typeface="Calibri"/>
              </a:rPr>
              <a:t> </a:t>
            </a:r>
            <a:r>
              <a:rPr dirty="0" sz="4000" spc="-90">
                <a:latin typeface="Calibri"/>
                <a:cs typeface="Calibri"/>
              </a:rPr>
              <a:t>separates</a:t>
            </a:r>
            <a:r>
              <a:rPr dirty="0" sz="4000" spc="-40">
                <a:latin typeface="Calibri"/>
                <a:cs typeface="Calibri"/>
              </a:rPr>
              <a:t> </a:t>
            </a:r>
            <a:r>
              <a:rPr dirty="0" sz="4000" spc="-25">
                <a:latin typeface="Calibri"/>
                <a:cs typeface="Calibri"/>
              </a:rPr>
              <a:t>the </a:t>
            </a:r>
            <a:r>
              <a:rPr dirty="0" sz="3900" spc="-45">
                <a:latin typeface="Calibri"/>
                <a:cs typeface="Calibri"/>
              </a:rPr>
              <a:t>explored</a:t>
            </a:r>
            <a:r>
              <a:rPr dirty="0" sz="3900" spc="-114">
                <a:latin typeface="Calibri"/>
                <a:cs typeface="Calibri"/>
              </a:rPr>
              <a:t> </a:t>
            </a:r>
            <a:r>
              <a:rPr dirty="0" sz="3900" spc="-20">
                <a:latin typeface="Calibri"/>
                <a:cs typeface="Calibri"/>
              </a:rPr>
              <a:t>region</a:t>
            </a:r>
            <a:r>
              <a:rPr dirty="0" sz="3900" spc="-14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of</a:t>
            </a:r>
            <a:r>
              <a:rPr dirty="0" sz="3900" spc="-18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the</a:t>
            </a:r>
            <a:r>
              <a:rPr dirty="0" sz="3900" spc="-220">
                <a:latin typeface="Calibri"/>
                <a:cs typeface="Calibri"/>
              </a:rPr>
              <a:t> </a:t>
            </a:r>
            <a:r>
              <a:rPr dirty="0" sz="3900" spc="-40">
                <a:latin typeface="Calibri"/>
                <a:cs typeface="Calibri"/>
              </a:rPr>
              <a:t>state</a:t>
            </a:r>
            <a:r>
              <a:rPr dirty="0" sz="3900" spc="-18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space</a:t>
            </a:r>
            <a:r>
              <a:rPr dirty="0" sz="3900" spc="-114">
                <a:latin typeface="Calibri"/>
                <a:cs typeface="Calibri"/>
              </a:rPr>
              <a:t> </a:t>
            </a:r>
            <a:r>
              <a:rPr dirty="0" sz="3900" spc="-25">
                <a:latin typeface="Calibri"/>
                <a:cs typeface="Calibri"/>
              </a:rPr>
              <a:t>(black</a:t>
            </a:r>
            <a:r>
              <a:rPr dirty="0" sz="3900" spc="-114">
                <a:latin typeface="Calibri"/>
                <a:cs typeface="Calibri"/>
              </a:rPr>
              <a:t> </a:t>
            </a:r>
            <a:r>
              <a:rPr dirty="0" sz="3900" spc="-10">
                <a:latin typeface="Calibri"/>
                <a:cs typeface="Calibri"/>
              </a:rPr>
              <a:t>nodes) </a:t>
            </a:r>
            <a:r>
              <a:rPr dirty="0" sz="3950" spc="-40">
                <a:latin typeface="Calibri"/>
                <a:cs typeface="Calibri"/>
              </a:rPr>
              <a:t>from</a:t>
            </a:r>
            <a:r>
              <a:rPr dirty="0" sz="3950" spc="-18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the</a:t>
            </a:r>
            <a:r>
              <a:rPr dirty="0" sz="3950" spc="-220">
                <a:latin typeface="Calibri"/>
                <a:cs typeface="Calibri"/>
              </a:rPr>
              <a:t> </a:t>
            </a:r>
            <a:r>
              <a:rPr dirty="0" sz="3950" spc="-80">
                <a:latin typeface="Calibri"/>
                <a:cs typeface="Calibri"/>
              </a:rPr>
              <a:t>unexplored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45">
                <a:latin typeface="Calibri"/>
                <a:cs typeface="Calibri"/>
              </a:rPr>
              <a:t>region</a:t>
            </a:r>
            <a:r>
              <a:rPr dirty="0" sz="3950" spc="-150">
                <a:latin typeface="Calibri"/>
                <a:cs typeface="Calibri"/>
              </a:rPr>
              <a:t> </a:t>
            </a:r>
            <a:r>
              <a:rPr dirty="0" sz="3950" spc="-65">
                <a:latin typeface="Calibri"/>
                <a:cs typeface="Calibri"/>
              </a:rPr>
              <a:t>(gray</a:t>
            </a:r>
            <a:r>
              <a:rPr dirty="0" sz="3950" spc="-15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nodes)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292551" y="6529387"/>
            <a:ext cx="166370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595">
                <a:solidFill>
                  <a:srgbClr val="4666CF"/>
                </a:solidFill>
                <a:latin typeface="Calibri"/>
                <a:cs typeface="Calibri"/>
              </a:rPr>
              <a:t>”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1590" y="8080375"/>
            <a:ext cx="19188430" cy="2588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01420">
              <a:lnSpc>
                <a:spcPct val="100000"/>
              </a:lnSpc>
              <a:spcBef>
                <a:spcPts val="100"/>
              </a:spcBef>
            </a:pPr>
            <a:r>
              <a:rPr dirty="0" sz="4150" spc="-10">
                <a:latin typeface="Times New Roman"/>
                <a:cs typeface="Times New Roman"/>
              </a:rPr>
              <a:t>From</a:t>
            </a:r>
            <a:r>
              <a:rPr dirty="0" sz="4150" spc="10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4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two</a:t>
            </a:r>
            <a:r>
              <a:rPr dirty="0" sz="4150" spc="20">
                <a:latin typeface="Times New Roman"/>
                <a:cs typeface="Times New Roman"/>
              </a:rPr>
              <a:t> </a:t>
            </a:r>
            <a:r>
              <a:rPr dirty="0" sz="4150" spc="-35">
                <a:latin typeface="Times New Roman"/>
                <a:cs typeface="Times New Roman"/>
              </a:rPr>
              <a:t>preceding</a:t>
            </a:r>
            <a:r>
              <a:rPr dirty="0" sz="4150" spc="160">
                <a:latin typeface="Times New Roman"/>
                <a:cs typeface="Times New Roman"/>
              </a:rPr>
              <a:t> </a:t>
            </a:r>
            <a:r>
              <a:rPr dirty="0" sz="4150" spc="-40">
                <a:latin typeface="Times New Roman"/>
                <a:cs typeface="Times New Roman"/>
              </a:rPr>
              <a:t>observations,</a:t>
            </a:r>
            <a:r>
              <a:rPr dirty="0" sz="4150" spc="42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it</a:t>
            </a:r>
            <a:r>
              <a:rPr dirty="0" sz="4150" spc="-114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follows</a:t>
            </a:r>
            <a:r>
              <a:rPr dirty="0" sz="4150" spc="9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that</a:t>
            </a:r>
            <a:r>
              <a:rPr dirty="0" sz="4150" spc="8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40">
                <a:latin typeface="Times New Roman"/>
                <a:cs typeface="Times New Roman"/>
              </a:rPr>
              <a:t> </a:t>
            </a:r>
            <a:r>
              <a:rPr dirty="0" sz="4150" spc="-10">
                <a:latin typeface="Times New Roman"/>
                <a:cs typeface="Times New Roman"/>
              </a:rPr>
              <a:t>sequence</a:t>
            </a:r>
            <a:r>
              <a:rPr dirty="0" sz="4150" spc="26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of</a:t>
            </a:r>
            <a:r>
              <a:rPr dirty="0" sz="4150" spc="18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nodes</a:t>
            </a:r>
            <a:r>
              <a:rPr dirty="0" sz="4150" spc="50">
                <a:latin typeface="Times New Roman"/>
                <a:cs typeface="Times New Roman"/>
              </a:rPr>
              <a:t> </a:t>
            </a:r>
            <a:r>
              <a:rPr dirty="0" sz="4150" spc="-25">
                <a:latin typeface="Times New Roman"/>
                <a:cs typeface="Times New Roman"/>
              </a:rPr>
              <a:t>expanded</a:t>
            </a:r>
            <a:endParaRPr sz="4150">
              <a:latin typeface="Times New Roman"/>
              <a:cs typeface="Times New Roman"/>
            </a:endParaRPr>
          </a:p>
          <a:p>
            <a:pPr algn="just" marL="12700" marR="5080" indent="7620">
              <a:lnSpc>
                <a:spcPct val="101499"/>
              </a:lnSpc>
              <a:spcBef>
                <a:spcPts val="160"/>
              </a:spcBef>
            </a:pPr>
            <a:r>
              <a:rPr dirty="0" sz="4000">
                <a:latin typeface="Times New Roman"/>
                <a:cs typeface="Times New Roman"/>
              </a:rPr>
              <a:t>by</a:t>
            </a:r>
            <a:r>
              <a:rPr dirty="0" sz="4000" spc="12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A‘</a:t>
            </a:r>
            <a:r>
              <a:rPr dirty="0" sz="4000" spc="21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using</a:t>
            </a:r>
            <a:r>
              <a:rPr dirty="0" sz="4000" spc="240">
                <a:latin typeface="Times New Roman"/>
                <a:cs typeface="Times New Roman"/>
              </a:rPr>
              <a:t> </a:t>
            </a:r>
            <a:r>
              <a:rPr dirty="0" sz="4000" spc="-210">
                <a:latin typeface="Times New Roman"/>
                <a:cs typeface="Times New Roman"/>
              </a:rPr>
              <a:t>GRAPH-</a:t>
            </a:r>
            <a:r>
              <a:rPr dirty="0" sz="4000" spc="-20">
                <a:latin typeface="Times New Roman"/>
                <a:cs typeface="Times New Roman"/>
              </a:rPr>
              <a:t>3EARCH</a:t>
            </a:r>
            <a:r>
              <a:rPr dirty="0" sz="4000" spc="59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is in</a:t>
            </a:r>
            <a:r>
              <a:rPr dirty="0" sz="4000" spc="5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nondecreasing</a:t>
            </a:r>
            <a:r>
              <a:rPr dirty="0" sz="4000" spc="51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order</a:t>
            </a:r>
            <a:r>
              <a:rPr dirty="0" sz="4000" spc="15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of</a:t>
            </a:r>
            <a:r>
              <a:rPr dirty="0" sz="4000" spc="420">
                <a:latin typeface="Times New Roman"/>
                <a:cs typeface="Times New Roman"/>
              </a:rPr>
              <a:t> </a:t>
            </a:r>
            <a:r>
              <a:rPr dirty="0" sz="4000" spc="335">
                <a:latin typeface="Times New Roman"/>
                <a:cs typeface="Times New Roman"/>
              </a:rPr>
              <a:t>J(n).</a:t>
            </a:r>
            <a:r>
              <a:rPr dirty="0" sz="4000" spc="40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Hence,</a:t>
            </a:r>
            <a:r>
              <a:rPr dirty="0" sz="4000" spc="22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the</a:t>
            </a:r>
            <a:r>
              <a:rPr dirty="0" sz="4000" spc="9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first</a:t>
            </a:r>
            <a:r>
              <a:rPr dirty="0" sz="4000" spc="114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goal</a:t>
            </a:r>
            <a:r>
              <a:rPr dirty="0" sz="4000" spc="200">
                <a:latin typeface="Times New Roman"/>
                <a:cs typeface="Times New Roman"/>
              </a:rPr>
              <a:t> </a:t>
            </a:r>
            <a:r>
              <a:rPr dirty="0" sz="4000" spc="-20">
                <a:latin typeface="Times New Roman"/>
                <a:cs typeface="Times New Roman"/>
              </a:rPr>
              <a:t>node </a:t>
            </a:r>
            <a:r>
              <a:rPr dirty="0" sz="4150">
                <a:latin typeface="Times New Roman"/>
                <a:cs typeface="Times New Roman"/>
              </a:rPr>
              <a:t>selected</a:t>
            </a:r>
            <a:r>
              <a:rPr dirty="0" sz="4150" spc="4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for</a:t>
            </a:r>
            <a:r>
              <a:rPr dirty="0" sz="4150" spc="-26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expansion</a:t>
            </a:r>
            <a:r>
              <a:rPr dirty="0" sz="4150" spc="16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must</a:t>
            </a:r>
            <a:r>
              <a:rPr dirty="0" sz="4150" spc="7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be</a:t>
            </a:r>
            <a:r>
              <a:rPr dirty="0" sz="4150" spc="-13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an</a:t>
            </a:r>
            <a:r>
              <a:rPr dirty="0" sz="4150" spc="-6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optimal</a:t>
            </a:r>
            <a:r>
              <a:rPr dirty="0" sz="4150" spc="8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solution</a:t>
            </a:r>
            <a:r>
              <a:rPr dirty="0" sz="4150" spc="17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because</a:t>
            </a:r>
            <a:r>
              <a:rPr dirty="0" sz="4150" spc="18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J</a:t>
            </a:r>
            <a:r>
              <a:rPr dirty="0" sz="4150" spc="31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is</a:t>
            </a:r>
            <a:r>
              <a:rPr dirty="0" sz="4150" spc="-10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-9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true</a:t>
            </a:r>
            <a:r>
              <a:rPr dirty="0" sz="4150" spc="-12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cost</a:t>
            </a:r>
            <a:r>
              <a:rPr dirty="0" sz="4150" spc="-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for</a:t>
            </a:r>
            <a:r>
              <a:rPr dirty="0" sz="4150" spc="-17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goal</a:t>
            </a:r>
            <a:r>
              <a:rPr dirty="0" sz="4150" spc="40">
                <a:latin typeface="Times New Roman"/>
                <a:cs typeface="Times New Roman"/>
              </a:rPr>
              <a:t> </a:t>
            </a:r>
            <a:r>
              <a:rPr dirty="0" sz="4150" spc="-35">
                <a:latin typeface="Times New Roman"/>
                <a:cs typeface="Times New Roman"/>
              </a:rPr>
              <a:t>nodes </a:t>
            </a:r>
            <a:r>
              <a:rPr dirty="0" sz="4200" spc="-45">
                <a:latin typeface="Times New Roman"/>
                <a:cs typeface="Times New Roman"/>
              </a:rPr>
              <a:t>(which</a:t>
            </a:r>
            <a:r>
              <a:rPr dirty="0" sz="4200" spc="35">
                <a:latin typeface="Times New Roman"/>
                <a:cs typeface="Times New Roman"/>
              </a:rPr>
              <a:t> </a:t>
            </a:r>
            <a:r>
              <a:rPr dirty="0" sz="4200" spc="-45">
                <a:latin typeface="Times New Roman"/>
                <a:cs typeface="Times New Roman"/>
              </a:rPr>
              <a:t>have</a:t>
            </a:r>
            <a:r>
              <a:rPr dirty="0" sz="4200" spc="60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/i</a:t>
            </a:r>
            <a:r>
              <a:rPr dirty="0" sz="4200" spc="730">
                <a:latin typeface="Times New Roman"/>
                <a:cs typeface="Times New Roman"/>
              </a:rPr>
              <a:t>  </a:t>
            </a:r>
            <a:r>
              <a:rPr dirty="0" sz="4200">
                <a:latin typeface="Times New Roman"/>
                <a:cs typeface="Times New Roman"/>
              </a:rPr>
              <a:t>0)</a:t>
            </a:r>
            <a:r>
              <a:rPr dirty="0" sz="4200" spc="-19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and</a:t>
            </a:r>
            <a:r>
              <a:rPr dirty="0" sz="4200" spc="-12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all</a:t>
            </a:r>
            <a:r>
              <a:rPr dirty="0" sz="4200" spc="-165">
                <a:latin typeface="Times New Roman"/>
                <a:cs typeface="Times New Roman"/>
              </a:rPr>
              <a:t> </a:t>
            </a:r>
            <a:r>
              <a:rPr dirty="0" sz="4200" spc="-25">
                <a:latin typeface="Times New Roman"/>
                <a:cs typeface="Times New Roman"/>
              </a:rPr>
              <a:t>later</a:t>
            </a:r>
            <a:r>
              <a:rPr dirty="0" sz="4200" spc="-210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goal</a:t>
            </a:r>
            <a:r>
              <a:rPr dirty="0" sz="4200" spc="-75">
                <a:latin typeface="Times New Roman"/>
                <a:cs typeface="Times New Roman"/>
              </a:rPr>
              <a:t> </a:t>
            </a:r>
            <a:r>
              <a:rPr dirty="0" sz="4200" spc="-50">
                <a:latin typeface="Times New Roman"/>
                <a:cs typeface="Times New Roman"/>
              </a:rPr>
              <a:t>nodes</a:t>
            </a:r>
            <a:r>
              <a:rPr dirty="0" sz="4200" spc="65">
                <a:latin typeface="Times New Roman"/>
                <a:cs typeface="Times New Roman"/>
              </a:rPr>
              <a:t> </a:t>
            </a:r>
            <a:r>
              <a:rPr dirty="0" sz="4200" spc="-10">
                <a:latin typeface="Times New Roman"/>
                <a:cs typeface="Times New Roman"/>
              </a:rPr>
              <a:t>will</a:t>
            </a:r>
            <a:r>
              <a:rPr dirty="0" sz="4200" spc="-90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be</a:t>
            </a:r>
            <a:r>
              <a:rPr dirty="0" sz="4200" spc="-13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at</a:t>
            </a:r>
            <a:r>
              <a:rPr dirty="0" sz="4200" spc="-170">
                <a:latin typeface="Times New Roman"/>
                <a:cs typeface="Times New Roman"/>
              </a:rPr>
              <a:t> </a:t>
            </a:r>
            <a:r>
              <a:rPr dirty="0" sz="4200" spc="-25">
                <a:latin typeface="Times New Roman"/>
                <a:cs typeface="Times New Roman"/>
              </a:rPr>
              <a:t>least</a:t>
            </a:r>
            <a:r>
              <a:rPr dirty="0" sz="4200" spc="1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as</a:t>
            </a:r>
            <a:r>
              <a:rPr dirty="0" sz="4200" spc="-229">
                <a:latin typeface="Times New Roman"/>
                <a:cs typeface="Times New Roman"/>
              </a:rPr>
              <a:t> </a:t>
            </a:r>
            <a:r>
              <a:rPr dirty="0" sz="4200" spc="-10">
                <a:latin typeface="Times New Roman"/>
                <a:cs typeface="Times New Roman"/>
              </a:rPr>
              <a:t>expensive.</a:t>
            </a:r>
            <a:endParaRPr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062" rIns="0" bIns="0" rtlCol="0" vert="horz">
            <a:spAutoFit/>
          </a:bodyPr>
          <a:lstStyle/>
          <a:p>
            <a:pPr marL="831215">
              <a:lnSpc>
                <a:spcPct val="100000"/>
              </a:lnSpc>
              <a:spcBef>
                <a:spcPts val="100"/>
              </a:spcBef>
            </a:pPr>
            <a:r>
              <a:rPr dirty="0" sz="5200" spc="-60">
                <a:latin typeface="Arial MT"/>
                <a:cs typeface="Arial MT"/>
              </a:rPr>
              <a:t>Contours</a:t>
            </a:r>
            <a:r>
              <a:rPr dirty="0" sz="5200" spc="35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in</a:t>
            </a:r>
            <a:r>
              <a:rPr dirty="0" sz="5200" spc="-180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the</a:t>
            </a:r>
            <a:r>
              <a:rPr dirty="0" sz="5200" spc="-200">
                <a:latin typeface="Arial MT"/>
                <a:cs typeface="Arial MT"/>
              </a:rPr>
              <a:t> </a:t>
            </a:r>
            <a:r>
              <a:rPr dirty="0" sz="5200" spc="-125">
                <a:latin typeface="Arial MT"/>
                <a:cs typeface="Arial MT"/>
              </a:rPr>
              <a:t>State</a:t>
            </a:r>
            <a:r>
              <a:rPr dirty="0" sz="5200" spc="-114">
                <a:latin typeface="Arial MT"/>
                <a:cs typeface="Arial MT"/>
              </a:rPr>
              <a:t> </a:t>
            </a:r>
            <a:r>
              <a:rPr dirty="0" sz="5200" spc="-370">
                <a:latin typeface="Arial MT"/>
                <a:cs typeface="Arial MT"/>
              </a:rPr>
              <a:t>Space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46723" y="1960562"/>
            <a:ext cx="16584930" cy="480758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400685" marR="5080" indent="-388620">
              <a:lnSpc>
                <a:spcPts val="4840"/>
              </a:lnSpc>
              <a:spcBef>
                <a:spcPts val="825"/>
              </a:spcBef>
              <a:buChar char="•"/>
              <a:tabLst>
                <a:tab pos="400685" algn="l"/>
                <a:tab pos="405130" algn="l"/>
              </a:tabLst>
            </a:pPr>
            <a:r>
              <a:rPr dirty="0" sz="4600">
                <a:latin typeface="Calibri"/>
                <a:cs typeface="Calibri"/>
              </a:rPr>
              <a:t>	The</a:t>
            </a:r>
            <a:r>
              <a:rPr dirty="0" sz="4600" spc="3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fact</a:t>
            </a:r>
            <a:r>
              <a:rPr dirty="0" sz="4600" spc="43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that</a:t>
            </a:r>
            <a:r>
              <a:rPr dirty="0" sz="4600" spc="385">
                <a:latin typeface="Calibri"/>
                <a:cs typeface="Calibri"/>
              </a:rPr>
              <a:t> </a:t>
            </a:r>
            <a:r>
              <a:rPr dirty="0" sz="4600" spc="-95">
                <a:latin typeface="Calibri"/>
                <a:cs typeface="Calibri"/>
              </a:rPr>
              <a:t>f-</a:t>
            </a:r>
            <a:r>
              <a:rPr dirty="0" sz="4600">
                <a:latin typeface="Calibri"/>
                <a:cs typeface="Calibri"/>
              </a:rPr>
              <a:t>costs</a:t>
            </a:r>
            <a:r>
              <a:rPr dirty="0" sz="4600" spc="3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3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nondecreasing</a:t>
            </a:r>
            <a:r>
              <a:rPr dirty="0" sz="4600" spc="7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along</a:t>
            </a:r>
            <a:r>
              <a:rPr dirty="0" sz="4600" spc="4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any</a:t>
            </a:r>
            <a:r>
              <a:rPr dirty="0" sz="4600" spc="3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path</a:t>
            </a:r>
            <a:r>
              <a:rPr dirty="0" sz="4600" spc="3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also</a:t>
            </a:r>
            <a:r>
              <a:rPr dirty="0" sz="4600" spc="33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means </a:t>
            </a:r>
            <a:r>
              <a:rPr dirty="0" sz="4600">
                <a:latin typeface="Calibri"/>
                <a:cs typeface="Calibri"/>
              </a:rPr>
              <a:t>that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we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can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draw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contours</a:t>
            </a:r>
            <a:r>
              <a:rPr dirty="0" sz="4600" spc="-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state</a:t>
            </a:r>
            <a:r>
              <a:rPr dirty="0" sz="4600" spc="-9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space,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just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like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contours</a:t>
            </a:r>
            <a:r>
              <a:rPr dirty="0" sz="4600" spc="-3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in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29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topographic</a:t>
            </a:r>
            <a:r>
              <a:rPr dirty="0" sz="4600" spc="12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map</a:t>
            </a:r>
            <a:endParaRPr sz="4600">
              <a:latin typeface="Calibri"/>
              <a:cs typeface="Calibri"/>
            </a:endParaRPr>
          </a:p>
          <a:p>
            <a:pPr algn="just" marL="391795" marR="13970" indent="-379730">
              <a:lnSpc>
                <a:spcPts val="4840"/>
              </a:lnSpc>
              <a:spcBef>
                <a:spcPts val="1570"/>
              </a:spcBef>
              <a:buChar char="•"/>
              <a:tabLst>
                <a:tab pos="404495" algn="l"/>
              </a:tabLst>
            </a:pPr>
            <a:r>
              <a:rPr dirty="0" sz="4600">
                <a:latin typeface="Calibri"/>
                <a:cs typeface="Calibri"/>
              </a:rPr>
              <a:t>With</a:t>
            </a:r>
            <a:r>
              <a:rPr dirty="0" sz="4600" spc="175">
                <a:latin typeface="Calibri"/>
                <a:cs typeface="Calibri"/>
              </a:rPr>
              <a:t> </a:t>
            </a:r>
            <a:r>
              <a:rPr dirty="0" sz="4600" spc="-114">
                <a:solidFill>
                  <a:srgbClr val="0064A7"/>
                </a:solidFill>
                <a:latin typeface="Calibri"/>
                <a:cs typeface="Calibri"/>
              </a:rPr>
              <a:t>uniform-</a:t>
            </a:r>
            <a:r>
              <a:rPr dirty="0" sz="4600">
                <a:solidFill>
                  <a:srgbClr val="0064A7"/>
                </a:solidFill>
                <a:latin typeface="Calibri"/>
                <a:cs typeface="Calibri"/>
              </a:rPr>
              <a:t>cost</a:t>
            </a:r>
            <a:r>
              <a:rPr dirty="0" sz="4600" spc="495">
                <a:solidFill>
                  <a:srgbClr val="0064A7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F6EAC"/>
                </a:solidFill>
                <a:latin typeface="Calibri"/>
                <a:cs typeface="Calibri"/>
              </a:rPr>
              <a:t>search</a:t>
            </a:r>
            <a:r>
              <a:rPr dirty="0" sz="4600" spc="325">
                <a:solidFill>
                  <a:srgbClr val="0F6EAC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(AY</a:t>
            </a:r>
            <a:r>
              <a:rPr dirty="0" sz="4600" spc="22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search</a:t>
            </a:r>
            <a:r>
              <a:rPr dirty="0" sz="4600" spc="2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using</a:t>
            </a:r>
            <a:r>
              <a:rPr dirty="0" sz="4600" spc="30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31709E"/>
                </a:solidFill>
                <a:latin typeface="Calibri"/>
                <a:cs typeface="Calibri"/>
              </a:rPr>
              <a:t>h(n)</a:t>
            </a:r>
            <a:r>
              <a:rPr dirty="0" sz="4600" spc="265">
                <a:solidFill>
                  <a:srgbClr val="31709E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23779A"/>
                </a:solidFill>
                <a:latin typeface="Calibri"/>
                <a:cs typeface="Calibri"/>
              </a:rPr>
              <a:t>=</a:t>
            </a:r>
            <a:r>
              <a:rPr dirty="0" sz="4600" spc="185">
                <a:solidFill>
                  <a:srgbClr val="23779A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0),</a:t>
            </a:r>
            <a:r>
              <a:rPr dirty="0" sz="4600" spc="2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bands</a:t>
            </a:r>
            <a:r>
              <a:rPr dirty="0" sz="4600" spc="24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will </a:t>
            </a:r>
            <a:r>
              <a:rPr dirty="0" sz="4600" spc="-20">
                <a:latin typeface="Calibri"/>
                <a:cs typeface="Calibri"/>
              </a:rPr>
              <a:t>	</a:t>
            </a:r>
            <a:r>
              <a:rPr dirty="0" sz="4600">
                <a:latin typeface="Calibri"/>
                <a:cs typeface="Calibri"/>
              </a:rPr>
              <a:t>be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“circular”</a:t>
            </a:r>
            <a:r>
              <a:rPr dirty="0" sz="4600" spc="1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around</a:t>
            </a:r>
            <a:r>
              <a:rPr dirty="0" sz="4600" spc="-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start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state.</a:t>
            </a:r>
            <a:endParaRPr sz="4600">
              <a:latin typeface="Calibri"/>
              <a:cs typeface="Calibri"/>
            </a:endParaRPr>
          </a:p>
          <a:p>
            <a:pPr algn="just" marL="391795" indent="-379095">
              <a:lnSpc>
                <a:spcPts val="5225"/>
              </a:lnSpc>
              <a:spcBef>
                <a:spcPts val="890"/>
              </a:spcBef>
              <a:buChar char="•"/>
              <a:tabLst>
                <a:tab pos="391795" algn="l"/>
              </a:tabLst>
            </a:pPr>
            <a:r>
              <a:rPr dirty="0" sz="4550">
                <a:latin typeface="Calibri"/>
                <a:cs typeface="Calibri"/>
              </a:rPr>
              <a:t>With</a:t>
            </a:r>
            <a:r>
              <a:rPr dirty="0" sz="4550" spc="-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more</a:t>
            </a:r>
            <a:r>
              <a:rPr dirty="0" sz="4550" spc="-20">
                <a:latin typeface="Calibri"/>
                <a:cs typeface="Calibri"/>
              </a:rPr>
              <a:t> </a:t>
            </a:r>
            <a:r>
              <a:rPr dirty="0" sz="4550" spc="-30">
                <a:solidFill>
                  <a:srgbClr val="087BBD"/>
                </a:solidFill>
                <a:latin typeface="Calibri"/>
                <a:cs typeface="Calibri"/>
              </a:rPr>
              <a:t>accurate</a:t>
            </a:r>
            <a:r>
              <a:rPr dirty="0" sz="4550" spc="30">
                <a:solidFill>
                  <a:srgbClr val="087BBD"/>
                </a:solidFill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heurisñcs,</a:t>
            </a:r>
            <a:r>
              <a:rPr dirty="0" sz="4550" spc="1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bands</a:t>
            </a:r>
            <a:r>
              <a:rPr dirty="0" sz="4550" spc="-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will</a:t>
            </a:r>
            <a:r>
              <a:rPr dirty="0" sz="4550" spc="-35">
                <a:latin typeface="Calibri"/>
                <a:cs typeface="Calibri"/>
              </a:rPr>
              <a:t> </a:t>
            </a:r>
            <a:r>
              <a:rPr dirty="0" sz="4550" spc="-30">
                <a:solidFill>
                  <a:srgbClr val="F0130E"/>
                </a:solidFill>
                <a:latin typeface="Calibri"/>
                <a:cs typeface="Calibri"/>
              </a:rPr>
              <a:t>stretch</a:t>
            </a:r>
            <a:r>
              <a:rPr dirty="0" sz="4550" spc="85">
                <a:solidFill>
                  <a:srgbClr val="F0130E"/>
                </a:solidFill>
                <a:latin typeface="Calibri"/>
                <a:cs typeface="Calibri"/>
              </a:rPr>
              <a:t> </a:t>
            </a:r>
            <a:r>
              <a:rPr dirty="0" sz="4550" spc="-35">
                <a:solidFill>
                  <a:srgbClr val="EB0011"/>
                </a:solidFill>
                <a:latin typeface="Calibri"/>
                <a:cs typeface="Calibri"/>
              </a:rPr>
              <a:t>toward</a:t>
            </a:r>
            <a:r>
              <a:rPr dirty="0" sz="4550" spc="95">
                <a:solidFill>
                  <a:srgbClr val="EB0011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FD0C0F"/>
                </a:solidFill>
                <a:latin typeface="Calibri"/>
                <a:cs typeface="Calibri"/>
              </a:rPr>
              <a:t>the</a:t>
            </a:r>
            <a:r>
              <a:rPr dirty="0" sz="4550" spc="-5">
                <a:solidFill>
                  <a:srgbClr val="FD0C0F"/>
                </a:solidFill>
                <a:latin typeface="Calibri"/>
                <a:cs typeface="Calibri"/>
              </a:rPr>
              <a:t> </a:t>
            </a:r>
            <a:r>
              <a:rPr dirty="0" sz="4550" spc="-20">
                <a:solidFill>
                  <a:srgbClr val="E60516"/>
                </a:solidFill>
                <a:latin typeface="Calibri"/>
                <a:cs typeface="Calibri"/>
              </a:rPr>
              <a:t>goal</a:t>
            </a:r>
            <a:endParaRPr sz="4550">
              <a:latin typeface="Calibri"/>
              <a:cs typeface="Calibri"/>
            </a:endParaRPr>
          </a:p>
          <a:p>
            <a:pPr algn="just" marL="407034">
              <a:lnSpc>
                <a:spcPts val="5045"/>
              </a:lnSpc>
            </a:pPr>
            <a:r>
              <a:rPr dirty="0" sz="4400">
                <a:latin typeface="Calibri"/>
                <a:cs typeface="Calibri"/>
              </a:rPr>
              <a:t>state</a:t>
            </a:r>
            <a:r>
              <a:rPr dirty="0" sz="4400" spc="-1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and</a:t>
            </a:r>
            <a:r>
              <a:rPr dirty="0" sz="4400" spc="-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become</a:t>
            </a:r>
            <a:r>
              <a:rPr dirty="0" sz="4400" spc="1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more</a:t>
            </a:r>
            <a:r>
              <a:rPr dirty="0" sz="4400" spc="-1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narrowly</a:t>
            </a:r>
            <a:r>
              <a:rPr dirty="0" sz="4400" spc="6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focused</a:t>
            </a:r>
            <a:r>
              <a:rPr dirty="0" sz="4400" spc="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around</a:t>
            </a:r>
            <a:r>
              <a:rPr dirty="0" sz="4400" spc="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opñmal</a:t>
            </a:r>
            <a:r>
              <a:rPr dirty="0" sz="4400" spc="45">
                <a:latin typeface="Calibri"/>
                <a:cs typeface="Calibri"/>
              </a:rPr>
              <a:t> </a:t>
            </a:r>
            <a:r>
              <a:rPr dirty="0" sz="4400" spc="-20">
                <a:latin typeface="Calibri"/>
                <a:cs typeface="Calibri"/>
              </a:rPr>
              <a:t>path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3700" y="1228725"/>
            <a:ext cx="14878050" cy="93249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7975" y="400050"/>
            <a:ext cx="266700" cy="4857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96800" y="409575"/>
            <a:ext cx="257175" cy="4762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92400" y="409575"/>
            <a:ext cx="257175" cy="47625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0933176" y="667512"/>
            <a:ext cx="335280" cy="40005"/>
            <a:chOff x="10933176" y="667512"/>
            <a:chExt cx="335280" cy="40005"/>
          </a:xfrm>
        </p:grpSpPr>
        <p:sp>
          <p:nvSpPr>
            <p:cNvPr id="7" name="object 7" descr=""/>
            <p:cNvSpPr/>
            <p:nvPr/>
          </p:nvSpPr>
          <p:spPr>
            <a:xfrm>
              <a:off x="10951464" y="696468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 h="0">
                  <a:moveTo>
                    <a:pt x="0" y="0"/>
                  </a:moveTo>
                  <a:lnTo>
                    <a:pt x="316992" y="0"/>
                  </a:lnTo>
                </a:path>
              </a:pathLst>
            </a:custGeom>
            <a:ln w="21336">
              <a:solidFill>
                <a:srgbClr val="4444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933176" y="667511"/>
              <a:ext cx="326390" cy="30480"/>
            </a:xfrm>
            <a:custGeom>
              <a:avLst/>
              <a:gdLst/>
              <a:ahLst/>
              <a:cxnLst/>
              <a:rect l="l" t="t" r="r" b="b"/>
              <a:pathLst>
                <a:path w="326390" h="30479">
                  <a:moveTo>
                    <a:pt x="326136" y="0"/>
                  </a:moveTo>
                  <a:lnTo>
                    <a:pt x="9144" y="0"/>
                  </a:lnTo>
                  <a:lnTo>
                    <a:pt x="9144" y="9144"/>
                  </a:lnTo>
                  <a:lnTo>
                    <a:pt x="0" y="9144"/>
                  </a:lnTo>
                  <a:lnTo>
                    <a:pt x="0" y="30480"/>
                  </a:lnTo>
                  <a:lnTo>
                    <a:pt x="326136" y="30480"/>
                  </a:lnTo>
                  <a:lnTo>
                    <a:pt x="326136" y="21336"/>
                  </a:lnTo>
                  <a:lnTo>
                    <a:pt x="326136" y="9144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4444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10933176" y="583691"/>
            <a:ext cx="335280" cy="0"/>
          </a:xfrm>
          <a:custGeom>
            <a:avLst/>
            <a:gdLst/>
            <a:ahLst/>
            <a:cxnLst/>
            <a:rect l="l" t="t" r="r" b="b"/>
            <a:pathLst>
              <a:path w="335279" h="0">
                <a:moveTo>
                  <a:pt x="0" y="0"/>
                </a:moveTo>
                <a:lnTo>
                  <a:pt x="335280" y="0"/>
                </a:lnTo>
              </a:path>
            </a:pathLst>
          </a:custGeom>
          <a:ln w="21336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2960096" y="667511"/>
            <a:ext cx="326390" cy="40005"/>
          </a:xfrm>
          <a:custGeom>
            <a:avLst/>
            <a:gdLst/>
            <a:ahLst/>
            <a:cxnLst/>
            <a:rect l="l" t="t" r="r" b="b"/>
            <a:pathLst>
              <a:path w="326390" h="40004">
                <a:moveTo>
                  <a:pt x="326136" y="0"/>
                </a:moveTo>
                <a:lnTo>
                  <a:pt x="0" y="0"/>
                </a:lnTo>
                <a:lnTo>
                  <a:pt x="0" y="9144"/>
                </a:lnTo>
                <a:lnTo>
                  <a:pt x="0" y="18288"/>
                </a:lnTo>
                <a:lnTo>
                  <a:pt x="0" y="21336"/>
                </a:lnTo>
                <a:lnTo>
                  <a:pt x="0" y="30480"/>
                </a:lnTo>
                <a:lnTo>
                  <a:pt x="0" y="39624"/>
                </a:lnTo>
                <a:lnTo>
                  <a:pt x="326136" y="39624"/>
                </a:lnTo>
                <a:lnTo>
                  <a:pt x="326136" y="30480"/>
                </a:lnTo>
                <a:lnTo>
                  <a:pt x="326136" y="21336"/>
                </a:lnTo>
                <a:lnTo>
                  <a:pt x="326136" y="18288"/>
                </a:lnTo>
                <a:lnTo>
                  <a:pt x="326136" y="9144"/>
                </a:lnTo>
                <a:lnTo>
                  <a:pt x="326136" y="0"/>
                </a:lnTo>
                <a:close/>
              </a:path>
            </a:pathLst>
          </a:custGeom>
          <a:solidFill>
            <a:srgbClr val="4848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950952" y="582167"/>
            <a:ext cx="335280" cy="21590"/>
          </a:xfrm>
          <a:custGeom>
            <a:avLst/>
            <a:gdLst/>
            <a:ahLst/>
            <a:cxnLst/>
            <a:rect l="l" t="t" r="r" b="b"/>
            <a:pathLst>
              <a:path w="335280" h="21590">
                <a:moveTo>
                  <a:pt x="335280" y="0"/>
                </a:moveTo>
                <a:lnTo>
                  <a:pt x="9144" y="0"/>
                </a:ln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335280" y="21336"/>
                </a:lnTo>
                <a:lnTo>
                  <a:pt x="335280" y="0"/>
                </a:lnTo>
                <a:close/>
              </a:path>
            </a:pathLst>
          </a:custGeom>
          <a:solidFill>
            <a:srgbClr val="03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5855697" y="667511"/>
            <a:ext cx="335280" cy="40005"/>
          </a:xfrm>
          <a:custGeom>
            <a:avLst/>
            <a:gdLst/>
            <a:ahLst/>
            <a:cxnLst/>
            <a:rect l="l" t="t" r="r" b="b"/>
            <a:pathLst>
              <a:path w="335280" h="40004">
                <a:moveTo>
                  <a:pt x="335280" y="18288"/>
                </a:moveTo>
                <a:lnTo>
                  <a:pt x="326136" y="18288"/>
                </a:lnTo>
                <a:lnTo>
                  <a:pt x="326136" y="9144"/>
                </a:lnTo>
                <a:lnTo>
                  <a:pt x="326136" y="0"/>
                </a:lnTo>
                <a:lnTo>
                  <a:pt x="0" y="0"/>
                </a:lnTo>
                <a:lnTo>
                  <a:pt x="0" y="9144"/>
                </a:lnTo>
                <a:lnTo>
                  <a:pt x="0" y="18288"/>
                </a:lnTo>
                <a:lnTo>
                  <a:pt x="0" y="21336"/>
                </a:lnTo>
                <a:lnTo>
                  <a:pt x="0" y="30480"/>
                </a:lnTo>
                <a:lnTo>
                  <a:pt x="0" y="39624"/>
                </a:lnTo>
                <a:lnTo>
                  <a:pt x="335280" y="39624"/>
                </a:lnTo>
                <a:lnTo>
                  <a:pt x="335280" y="18288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5855695" y="573023"/>
            <a:ext cx="335280" cy="30480"/>
            <a:chOff x="15855695" y="573023"/>
            <a:chExt cx="335280" cy="30480"/>
          </a:xfrm>
        </p:grpSpPr>
        <p:sp>
          <p:nvSpPr>
            <p:cNvPr id="14" name="object 14" descr=""/>
            <p:cNvSpPr/>
            <p:nvPr/>
          </p:nvSpPr>
          <p:spPr>
            <a:xfrm>
              <a:off x="15883127" y="592835"/>
              <a:ext cx="307975" cy="0"/>
            </a:xfrm>
            <a:custGeom>
              <a:avLst/>
              <a:gdLst/>
              <a:ahLst/>
              <a:cxnLst/>
              <a:rect l="l" t="t" r="r" b="b"/>
              <a:pathLst>
                <a:path w="307975" h="0">
                  <a:moveTo>
                    <a:pt x="0" y="0"/>
                  </a:moveTo>
                  <a:lnTo>
                    <a:pt x="307848" y="0"/>
                  </a:lnTo>
                </a:path>
              </a:pathLst>
            </a:custGeom>
            <a:ln w="21336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855695" y="583691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 h="0">
                  <a:moveTo>
                    <a:pt x="0" y="0"/>
                  </a:moveTo>
                  <a:lnTo>
                    <a:pt x="316992" y="0"/>
                  </a:lnTo>
                </a:path>
              </a:pathLst>
            </a:custGeom>
            <a:ln w="21336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569451" y="242887"/>
            <a:ext cx="774065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20">
                <a:latin typeface="Times New Roman"/>
                <a:cs typeface="Times New Roman"/>
              </a:rPr>
              <a:t>Map</a:t>
            </a:r>
            <a:r>
              <a:rPr dirty="0" sz="4100" spc="-240">
                <a:latin typeface="Times New Roman"/>
                <a:cs typeface="Times New Roman"/>
              </a:rPr>
              <a:t> </a:t>
            </a:r>
            <a:r>
              <a:rPr dirty="0" sz="4100">
                <a:latin typeface="Times New Roman"/>
                <a:cs typeface="Times New Roman"/>
              </a:rPr>
              <a:t>of</a:t>
            </a:r>
            <a:r>
              <a:rPr dirty="0" sz="4100" spc="-160">
                <a:latin typeface="Times New Roman"/>
                <a:cs typeface="Times New Roman"/>
              </a:rPr>
              <a:t> </a:t>
            </a:r>
            <a:r>
              <a:rPr dirty="0" sz="4100" spc="-10">
                <a:latin typeface="Times New Roman"/>
                <a:cs typeface="Times New Roman"/>
              </a:rPr>
              <a:t>Romania</a:t>
            </a:r>
            <a:r>
              <a:rPr dirty="0" sz="4100" spc="-135">
                <a:latin typeface="Times New Roman"/>
                <a:cs typeface="Times New Roman"/>
              </a:rPr>
              <a:t> </a:t>
            </a:r>
            <a:r>
              <a:rPr dirty="0" sz="4100" spc="-45">
                <a:latin typeface="Times New Roman"/>
                <a:cs typeface="Times New Roman"/>
              </a:rPr>
              <a:t>showing</a:t>
            </a:r>
            <a:r>
              <a:rPr dirty="0" sz="4100" spc="-215">
                <a:latin typeface="Times New Roman"/>
                <a:cs typeface="Times New Roman"/>
              </a:rPr>
              <a:t> </a:t>
            </a:r>
            <a:r>
              <a:rPr dirty="0" sz="4100" spc="-25">
                <a:latin typeface="Times New Roman"/>
                <a:cs typeface="Times New Roman"/>
              </a:rPr>
              <a:t>contours</a:t>
            </a:r>
            <a:r>
              <a:rPr dirty="0" sz="4100" spc="-65">
                <a:latin typeface="Times New Roman"/>
                <a:cs typeface="Times New Roman"/>
              </a:rPr>
              <a:t> </a:t>
            </a:r>
            <a:r>
              <a:rPr dirty="0" sz="4100" spc="-25">
                <a:latin typeface="Times New Roman"/>
                <a:cs typeface="Times New Roman"/>
              </a:rPr>
              <a:t>at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424770" y="242887"/>
            <a:ext cx="909319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>
                <a:latin typeface="Times New Roman"/>
                <a:cs typeface="Times New Roman"/>
              </a:rPr>
              <a:t>380,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447509" y="247650"/>
            <a:ext cx="1790064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55" sz="6150">
                <a:latin typeface="Times New Roman"/>
                <a:cs typeface="Times New Roman"/>
              </a:rPr>
              <a:t>4</a:t>
            </a:r>
            <a:r>
              <a:rPr dirty="0" sz="4100">
                <a:latin typeface="Times New Roman"/>
                <a:cs typeface="Times New Roman"/>
              </a:rPr>
              <a:t>00,</a:t>
            </a:r>
            <a:r>
              <a:rPr dirty="0" sz="4100" spc="-114">
                <a:latin typeface="Times New Roman"/>
                <a:cs typeface="Times New Roman"/>
              </a:rPr>
              <a:t> </a:t>
            </a:r>
            <a:r>
              <a:rPr dirty="0" sz="4100" spc="-30">
                <a:latin typeface="Times New Roman"/>
                <a:cs typeface="Times New Roman"/>
              </a:rPr>
              <a:t>and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365973" y="3986212"/>
            <a:ext cx="81915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50" spc="-25">
                <a:solidFill>
                  <a:srgbClr val="161616"/>
                </a:solidFill>
                <a:latin typeface="Times New Roman"/>
                <a:cs typeface="Times New Roman"/>
              </a:rPr>
              <a:t>380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474916" y="5238750"/>
            <a:ext cx="77851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50" spc="-140">
                <a:solidFill>
                  <a:srgbClr val="181818"/>
                </a:solidFill>
                <a:latin typeface="Times New Roman"/>
                <a:cs typeface="Times New Roman"/>
              </a:rPr>
              <a:t>400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314803" y="3894137"/>
            <a:ext cx="74676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25">
                <a:latin typeface="Times New Roman"/>
                <a:cs typeface="Times New Roman"/>
              </a:rPr>
              <a:t>S‘•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722967" y="8751887"/>
            <a:ext cx="1875789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120">
                <a:solidFill>
                  <a:srgbClr val="0F0F0F"/>
                </a:solidFill>
                <a:latin typeface="Times New Roman"/>
                <a:cs typeface="Times New Roman"/>
              </a:rPr>
              <a:t>420**-</a:t>
            </a:r>
            <a:r>
              <a:rPr dirty="0" sz="4300" spc="35">
                <a:solidFill>
                  <a:srgbClr val="0F0F0F"/>
                </a:solidFill>
                <a:latin typeface="Times New Roman"/>
                <a:cs typeface="Times New Roman"/>
              </a:rPr>
              <a:t>-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1125" y="4438650"/>
            <a:ext cx="3714750" cy="8667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5" y="4438650"/>
            <a:ext cx="4752975" cy="866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36526" y="3571811"/>
            <a:ext cx="6489700" cy="2795905"/>
          </a:xfrm>
          <a:prstGeom prst="rect"/>
        </p:spPr>
        <p:txBody>
          <a:bodyPr wrap="square" lIns="0" tIns="541020" rIns="0" bIns="0" rtlCol="0" vert="horz">
            <a:spAutoFit/>
          </a:bodyPr>
          <a:lstStyle/>
          <a:p>
            <a:pPr algn="ctr" marL="722630">
              <a:lnSpc>
                <a:spcPct val="100000"/>
              </a:lnSpc>
              <a:spcBef>
                <a:spcPts val="4260"/>
              </a:spcBef>
              <a:tabLst>
                <a:tab pos="4434205" algn="l"/>
              </a:tabLst>
            </a:pPr>
            <a:r>
              <a:rPr dirty="0" sz="9200" spc="-25"/>
              <a:t>em</a:t>
            </a:r>
            <a:r>
              <a:rPr dirty="0" sz="9200"/>
              <a:t>	</a:t>
            </a:r>
            <a:r>
              <a:rPr dirty="0" sz="9200" spc="-25"/>
              <a:t>uc</a:t>
            </a:r>
            <a:endParaRPr sz="9200"/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4000" spc="-140"/>
              <a:t>AND-</a:t>
            </a:r>
            <a:r>
              <a:rPr dirty="0" sz="4000"/>
              <a:t>OR</a:t>
            </a:r>
            <a:r>
              <a:rPr dirty="0" sz="4000" spc="-180"/>
              <a:t> </a:t>
            </a:r>
            <a:r>
              <a:rPr dirty="0" sz="4000" spc="-100"/>
              <a:t>Graphs,</a:t>
            </a:r>
            <a:r>
              <a:rPr dirty="0" sz="4000" spc="-125"/>
              <a:t> </a:t>
            </a:r>
            <a:r>
              <a:rPr dirty="0" sz="4000"/>
              <a:t>AO”</a:t>
            </a:r>
            <a:r>
              <a:rPr dirty="0" sz="4000" spc="-105"/>
              <a:t> </a:t>
            </a:r>
            <a:r>
              <a:rPr dirty="0" sz="4000" spc="-55"/>
              <a:t>Algorithms</a:t>
            </a:r>
            <a:endParaRPr sz="4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426695" y="9517380"/>
            <a:ext cx="3575685" cy="0"/>
          </a:xfrm>
          <a:custGeom>
            <a:avLst/>
            <a:gdLst/>
            <a:ahLst/>
            <a:cxnLst/>
            <a:rect l="l" t="t" r="r" b="b"/>
            <a:pathLst>
              <a:path w="3575684" h="0">
                <a:moveTo>
                  <a:pt x="0" y="0"/>
                </a:moveTo>
                <a:lnTo>
                  <a:pt x="3575304" y="0"/>
                </a:lnTo>
              </a:path>
            </a:pathLst>
          </a:custGeom>
          <a:ln w="21336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04376" y="1068324"/>
            <a:ext cx="353695" cy="0"/>
          </a:xfrm>
          <a:custGeom>
            <a:avLst/>
            <a:gdLst/>
            <a:ahLst/>
            <a:cxnLst/>
            <a:rect l="l" t="t" r="r" b="b"/>
            <a:pathLst>
              <a:path w="353695" h="0">
                <a:moveTo>
                  <a:pt x="0" y="0"/>
                </a:moveTo>
                <a:lnTo>
                  <a:pt x="353568" y="0"/>
                </a:lnTo>
              </a:path>
            </a:pathLst>
          </a:custGeom>
          <a:ln w="21336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132319" y="1068324"/>
            <a:ext cx="353695" cy="0"/>
          </a:xfrm>
          <a:custGeom>
            <a:avLst/>
            <a:gdLst/>
            <a:ahLst/>
            <a:cxnLst/>
            <a:rect l="l" t="t" r="r" b="b"/>
            <a:pathLst>
              <a:path w="353695" h="0">
                <a:moveTo>
                  <a:pt x="0" y="0"/>
                </a:moveTo>
                <a:lnTo>
                  <a:pt x="353568" y="0"/>
                </a:lnTo>
              </a:path>
            </a:pathLst>
          </a:custGeom>
          <a:ln w="21336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876675" y="7134225"/>
            <a:ext cx="9906000" cy="2419350"/>
            <a:chOff x="3876675" y="7134225"/>
            <a:chExt cx="9906000" cy="241935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6675" y="8077200"/>
              <a:ext cx="4667250" cy="14763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0" y="7134225"/>
              <a:ext cx="5686425" cy="187642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80679" y="558800"/>
            <a:ext cx="10980420" cy="8712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65215" algn="l"/>
                <a:tab pos="7971790" algn="l"/>
              </a:tabLst>
            </a:pPr>
            <a:r>
              <a:rPr dirty="0" sz="5550"/>
              <a:t>Problem</a:t>
            </a:r>
            <a:r>
              <a:rPr dirty="0" sz="5550" spc="-125"/>
              <a:t> </a:t>
            </a:r>
            <a:r>
              <a:rPr dirty="0" sz="5550" spc="-10"/>
              <a:t>Reducñon</a:t>
            </a:r>
            <a:r>
              <a:rPr dirty="0" sz="5550"/>
              <a:t>	</a:t>
            </a:r>
            <a:r>
              <a:rPr dirty="0" sz="5550" spc="-25"/>
              <a:t>AND</a:t>
            </a:r>
            <a:r>
              <a:rPr dirty="0" sz="5550"/>
              <a:t>	OR</a:t>
            </a:r>
            <a:r>
              <a:rPr dirty="0" sz="5550" spc="10"/>
              <a:t> </a:t>
            </a:r>
            <a:r>
              <a:rPr dirty="0" sz="5550" spc="-75"/>
              <a:t>Graphs</a:t>
            </a:r>
            <a:endParaRPr sz="5550"/>
          </a:p>
        </p:txBody>
      </p:sp>
      <p:sp>
        <p:nvSpPr>
          <p:cNvPr id="9" name="object 9" descr=""/>
          <p:cNvSpPr txBox="1"/>
          <p:nvPr/>
        </p:nvSpPr>
        <p:spPr>
          <a:xfrm>
            <a:off x="1447920" y="1973262"/>
            <a:ext cx="16543019" cy="132588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97510" marR="5080" indent="-385445">
              <a:lnSpc>
                <a:spcPts val="4840"/>
              </a:lnSpc>
              <a:spcBef>
                <a:spcPts val="725"/>
              </a:spcBef>
              <a:buClr>
                <a:srgbClr val="ED0800"/>
              </a:buClr>
              <a:buChar char="•"/>
              <a:tabLst>
                <a:tab pos="400050" algn="l"/>
                <a:tab pos="1651000" algn="l"/>
                <a:tab pos="2566035" algn="l"/>
                <a:tab pos="2776220" algn="l"/>
                <a:tab pos="3682365" algn="l"/>
                <a:tab pos="4144010" algn="l"/>
                <a:tab pos="4749165" algn="l"/>
                <a:tab pos="5471795" algn="l"/>
                <a:tab pos="6335395" algn="l"/>
                <a:tab pos="6409055" algn="l"/>
                <a:tab pos="7319645" algn="l"/>
                <a:tab pos="9744075" algn="l"/>
                <a:tab pos="10515600" algn="l"/>
                <a:tab pos="11268710" algn="l"/>
                <a:tab pos="11540490" algn="l"/>
                <a:tab pos="12499340" algn="l"/>
                <a:tab pos="13093065" algn="l"/>
                <a:tab pos="13652500" algn="l"/>
                <a:tab pos="14090650" algn="l"/>
                <a:tab pos="14396719" algn="l"/>
                <a:tab pos="14883765" algn="l"/>
              </a:tabLst>
            </a:pPr>
            <a:r>
              <a:rPr dirty="0" sz="4500" spc="-60">
                <a:solidFill>
                  <a:srgbClr val="FF0A24"/>
                </a:solidFill>
                <a:latin typeface="Calibri"/>
                <a:cs typeface="Calibri"/>
              </a:rPr>
              <a:t>AND-</a:t>
            </a:r>
            <a:r>
              <a:rPr dirty="0" sz="4500" spc="-25">
                <a:solidFill>
                  <a:srgbClr val="FF0A24"/>
                </a:solidFill>
                <a:latin typeface="Calibri"/>
                <a:cs typeface="Calibri"/>
              </a:rPr>
              <a:t>OR</a:t>
            </a:r>
            <a:r>
              <a:rPr dirty="0" sz="4500">
                <a:solidFill>
                  <a:srgbClr val="FF0A24"/>
                </a:solidFill>
                <a:latin typeface="Calibri"/>
                <a:cs typeface="Calibri"/>
              </a:rPr>
              <a:t>	</a:t>
            </a:r>
            <a:r>
              <a:rPr dirty="0" sz="4500" spc="-10">
                <a:solidFill>
                  <a:srgbClr val="E41313"/>
                </a:solidFill>
                <a:latin typeface="Calibri"/>
                <a:cs typeface="Calibri"/>
              </a:rPr>
              <a:t>graph</a:t>
            </a:r>
            <a:r>
              <a:rPr dirty="0" sz="4500">
                <a:solidFill>
                  <a:srgbClr val="E41313"/>
                </a:solidFill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useful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25">
                <a:latin typeface="Calibri"/>
                <a:cs typeface="Calibri"/>
              </a:rPr>
              <a:t>for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represenñng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the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soluñon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of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75">
                <a:solidFill>
                  <a:srgbClr val="1A72AF"/>
                </a:solidFill>
                <a:latin typeface="Calibri"/>
                <a:cs typeface="Calibri"/>
              </a:rPr>
              <a:t>problems </a:t>
            </a:r>
            <a:r>
              <a:rPr dirty="0" sz="4500" spc="-75">
                <a:solidFill>
                  <a:srgbClr val="1A72AF"/>
                </a:solidFill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that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can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25">
                <a:latin typeface="Calibri"/>
                <a:cs typeface="Calibri"/>
              </a:rPr>
              <a:t>be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solidFill>
                  <a:srgbClr val="137CCA"/>
                </a:solidFill>
                <a:latin typeface="Calibri"/>
                <a:cs typeface="Calibri"/>
              </a:rPr>
              <a:t>solved</a:t>
            </a:r>
            <a:r>
              <a:rPr dirty="0" sz="4500">
                <a:solidFill>
                  <a:srgbClr val="137CCA"/>
                </a:solidFill>
                <a:latin typeface="Calibri"/>
                <a:cs typeface="Calibri"/>
              </a:rPr>
              <a:t>	</a:t>
            </a:r>
            <a:r>
              <a:rPr dirty="0" sz="4500" spc="-25">
                <a:solidFill>
                  <a:srgbClr val="0C6BAC"/>
                </a:solidFill>
                <a:latin typeface="Calibri"/>
                <a:cs typeface="Calibri"/>
              </a:rPr>
              <a:t>by</a:t>
            </a:r>
            <a:r>
              <a:rPr dirty="0" sz="4500">
                <a:solidFill>
                  <a:srgbClr val="0C6BAC"/>
                </a:solidFill>
                <a:latin typeface="Calibri"/>
                <a:cs typeface="Calibri"/>
              </a:rPr>
              <a:t>	</a:t>
            </a:r>
            <a:r>
              <a:rPr dirty="0" sz="4500" spc="-10">
                <a:solidFill>
                  <a:srgbClr val="006BB8"/>
                </a:solidFill>
                <a:latin typeface="Calibri"/>
                <a:cs typeface="Calibri"/>
              </a:rPr>
              <a:t>decomposing</a:t>
            </a:r>
            <a:r>
              <a:rPr dirty="0" sz="4500">
                <a:solidFill>
                  <a:srgbClr val="006BB8"/>
                </a:solidFill>
                <a:latin typeface="Calibri"/>
                <a:cs typeface="Calibri"/>
              </a:rPr>
              <a:t>	</a:t>
            </a:r>
            <a:r>
              <a:rPr dirty="0" sz="4500" spc="-20">
                <a:solidFill>
                  <a:srgbClr val="0A6BB6"/>
                </a:solidFill>
                <a:latin typeface="Calibri"/>
                <a:cs typeface="Calibri"/>
              </a:rPr>
              <a:t>them</a:t>
            </a:r>
            <a:r>
              <a:rPr dirty="0" sz="4500">
                <a:solidFill>
                  <a:srgbClr val="0A6BB6"/>
                </a:solidFill>
                <a:latin typeface="Calibri"/>
                <a:cs typeface="Calibri"/>
              </a:rPr>
              <a:t>	</a:t>
            </a:r>
            <a:r>
              <a:rPr dirty="0" sz="4500" spc="-20">
                <a:solidFill>
                  <a:srgbClr val="0570BC"/>
                </a:solidFill>
                <a:latin typeface="Calibri"/>
                <a:cs typeface="Calibri"/>
              </a:rPr>
              <a:t>into</a:t>
            </a:r>
            <a:r>
              <a:rPr dirty="0" sz="4500">
                <a:solidFill>
                  <a:srgbClr val="0570BC"/>
                </a:solidFill>
                <a:latin typeface="Calibri"/>
                <a:cs typeface="Calibri"/>
              </a:rPr>
              <a:t>	</a:t>
            </a:r>
            <a:r>
              <a:rPr dirty="0" sz="4500" spc="-50">
                <a:solidFill>
                  <a:srgbClr val="0F79CD"/>
                </a:solidFill>
                <a:latin typeface="Calibri"/>
                <a:cs typeface="Calibri"/>
              </a:rPr>
              <a:t>a</a:t>
            </a:r>
            <a:r>
              <a:rPr dirty="0" sz="4500">
                <a:solidFill>
                  <a:srgbClr val="0F79CD"/>
                </a:solidFill>
                <a:latin typeface="Calibri"/>
                <a:cs typeface="Calibri"/>
              </a:rPr>
              <a:t>	</a:t>
            </a:r>
            <a:r>
              <a:rPr dirty="0" sz="4500" spc="-25">
                <a:solidFill>
                  <a:srgbClr val="18669A"/>
                </a:solidFill>
                <a:latin typeface="Calibri"/>
                <a:cs typeface="Calibri"/>
              </a:rPr>
              <a:t>set</a:t>
            </a:r>
            <a:r>
              <a:rPr dirty="0" sz="4500">
                <a:solidFill>
                  <a:srgbClr val="18669A"/>
                </a:solidFill>
                <a:latin typeface="Calibri"/>
                <a:cs typeface="Calibri"/>
              </a:rPr>
              <a:t>	</a:t>
            </a:r>
            <a:r>
              <a:rPr dirty="0" sz="4500" spc="-25">
                <a:solidFill>
                  <a:srgbClr val="1169A1"/>
                </a:solidFill>
                <a:latin typeface="Calibri"/>
                <a:cs typeface="Calibri"/>
              </a:rPr>
              <a:t>of</a:t>
            </a:r>
            <a:r>
              <a:rPr dirty="0" sz="4500">
                <a:solidFill>
                  <a:srgbClr val="1169A1"/>
                </a:solidFill>
                <a:latin typeface="Calibri"/>
                <a:cs typeface="Calibri"/>
              </a:rPr>
              <a:t>	</a:t>
            </a:r>
            <a:r>
              <a:rPr dirty="0" sz="4500" spc="-75">
                <a:solidFill>
                  <a:srgbClr val="076B87"/>
                </a:solidFill>
                <a:latin typeface="Calibri"/>
                <a:cs typeface="Calibri"/>
              </a:rPr>
              <a:t>smaller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7920" y="3073400"/>
            <a:ext cx="16578580" cy="456819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94970">
              <a:lnSpc>
                <a:spcPct val="100000"/>
              </a:lnSpc>
              <a:spcBef>
                <a:spcPts val="1110"/>
              </a:spcBef>
            </a:pPr>
            <a:r>
              <a:rPr dirty="0" sz="4500" spc="-40">
                <a:latin typeface="Calibri"/>
                <a:cs typeface="Calibri"/>
              </a:rPr>
              <a:t>problems,</a:t>
            </a:r>
            <a:r>
              <a:rPr dirty="0" sz="4500" spc="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all</a:t>
            </a:r>
            <a:r>
              <a:rPr dirty="0" sz="4500" spc="-2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which</a:t>
            </a:r>
            <a:r>
              <a:rPr dirty="0" sz="4500" spc="-1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must</a:t>
            </a:r>
            <a:r>
              <a:rPr dirty="0" sz="4500" spc="-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then</a:t>
            </a:r>
            <a:r>
              <a:rPr dirty="0" sz="4500" spc="-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solved</a:t>
            </a:r>
            <a:endParaRPr sz="4500">
              <a:latin typeface="Calibri"/>
              <a:cs typeface="Calibri"/>
            </a:endParaRPr>
          </a:p>
          <a:p>
            <a:pPr marL="394335" marR="22860" indent="-382270">
              <a:lnSpc>
                <a:spcPts val="4840"/>
              </a:lnSpc>
              <a:spcBef>
                <a:spcPts val="1639"/>
              </a:spcBef>
              <a:buChar char="•"/>
              <a:tabLst>
                <a:tab pos="394335" algn="l"/>
                <a:tab pos="398780" algn="l"/>
                <a:tab pos="1599565" algn="l"/>
                <a:tab pos="2888615" algn="l"/>
                <a:tab pos="3833495" algn="l"/>
                <a:tab pos="5043170" algn="l"/>
                <a:tab pos="6496050" algn="l"/>
                <a:tab pos="7222490" algn="l"/>
                <a:tab pos="8281670" algn="l"/>
                <a:tab pos="10347325" algn="l"/>
                <a:tab pos="11073765" algn="l"/>
                <a:tab pos="13539469" algn="l"/>
                <a:tab pos="15318740" algn="l"/>
                <a:tab pos="16090900" algn="l"/>
              </a:tabLst>
            </a:pP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One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solidFill>
                  <a:srgbClr val="0C75C1"/>
                </a:solidFill>
                <a:latin typeface="Calibri"/>
                <a:cs typeface="Calibri"/>
              </a:rPr>
              <a:t>AND</a:t>
            </a:r>
            <a:r>
              <a:rPr dirty="0" sz="4500">
                <a:solidFill>
                  <a:srgbClr val="0C75C1"/>
                </a:solidFill>
                <a:latin typeface="Calibri"/>
                <a:cs typeface="Calibri"/>
              </a:rPr>
              <a:t>	</a:t>
            </a:r>
            <a:r>
              <a:rPr dirty="0" sz="4500" spc="-25">
                <a:solidFill>
                  <a:srgbClr val="1D72AA"/>
                </a:solidFill>
                <a:latin typeface="Calibri"/>
                <a:cs typeface="Calibri"/>
              </a:rPr>
              <a:t>arc</a:t>
            </a:r>
            <a:r>
              <a:rPr dirty="0" sz="4500">
                <a:solidFill>
                  <a:srgbClr val="1D72AA"/>
                </a:solidFill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may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point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to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any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number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of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solidFill>
                  <a:srgbClr val="EF0005"/>
                </a:solidFill>
                <a:latin typeface="Calibri"/>
                <a:cs typeface="Calibri"/>
              </a:rPr>
              <a:t>successor</a:t>
            </a:r>
            <a:r>
              <a:rPr dirty="0" sz="4500">
                <a:solidFill>
                  <a:srgbClr val="EF0005"/>
                </a:solidFill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nodes,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solidFill>
                  <a:srgbClr val="FB1300"/>
                </a:solidFill>
                <a:latin typeface="Calibri"/>
                <a:cs typeface="Calibri"/>
              </a:rPr>
              <a:t>all</a:t>
            </a:r>
            <a:r>
              <a:rPr dirty="0" sz="4500">
                <a:solidFill>
                  <a:srgbClr val="FB1300"/>
                </a:solidFill>
                <a:latin typeface="Calibri"/>
                <a:cs typeface="Calibri"/>
              </a:rPr>
              <a:t>	</a:t>
            </a:r>
            <a:r>
              <a:rPr dirty="0" sz="4500" spc="-95">
                <a:latin typeface="Calibri"/>
                <a:cs typeface="Calibri"/>
              </a:rPr>
              <a:t>of </a:t>
            </a:r>
            <a:r>
              <a:rPr dirty="0" sz="4500">
                <a:latin typeface="Calibri"/>
                <a:cs typeface="Calibri"/>
              </a:rPr>
              <a:t>which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E80A0F"/>
                </a:solidFill>
                <a:latin typeface="Calibri"/>
                <a:cs typeface="Calibri"/>
              </a:rPr>
              <a:t>must</a:t>
            </a:r>
            <a:r>
              <a:rPr dirty="0" sz="4500" spc="-110">
                <a:solidFill>
                  <a:srgbClr val="E80A0F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F00C07"/>
                </a:solidFill>
                <a:latin typeface="Calibri"/>
                <a:cs typeface="Calibri"/>
              </a:rPr>
              <a:t>be</a:t>
            </a:r>
            <a:r>
              <a:rPr dirty="0" sz="4500" spc="-160">
                <a:solidFill>
                  <a:srgbClr val="F00C07"/>
                </a:solidFill>
                <a:latin typeface="Calibri"/>
                <a:cs typeface="Calibri"/>
              </a:rPr>
              <a:t> </a:t>
            </a:r>
            <a:r>
              <a:rPr dirty="0" sz="4500" spc="-20">
                <a:solidFill>
                  <a:srgbClr val="F4011A"/>
                </a:solidFill>
                <a:latin typeface="Calibri"/>
                <a:cs typeface="Calibri"/>
              </a:rPr>
              <a:t>solved</a:t>
            </a:r>
            <a:r>
              <a:rPr dirty="0" sz="4500" spc="-30">
                <a:solidFill>
                  <a:srgbClr val="F4011A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-2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order</a:t>
            </a:r>
            <a:r>
              <a:rPr dirty="0" sz="4500" spc="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-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2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arc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point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175">
                <a:latin typeface="Calibri"/>
                <a:cs typeface="Calibri"/>
              </a:rPr>
              <a:t> 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soluñon</a:t>
            </a:r>
            <a:endParaRPr sz="4500">
              <a:latin typeface="Calibri"/>
              <a:cs typeface="Calibri"/>
            </a:endParaRPr>
          </a:p>
          <a:p>
            <a:pPr marL="399415" marR="5080" indent="-387350">
              <a:lnSpc>
                <a:spcPts val="4840"/>
              </a:lnSpc>
              <a:spcBef>
                <a:spcPts val="1570"/>
              </a:spcBef>
              <a:buChar char="•"/>
              <a:tabLst>
                <a:tab pos="399415" algn="l"/>
                <a:tab pos="1289685" algn="l"/>
                <a:tab pos="2279650" algn="l"/>
                <a:tab pos="2948940" algn="l"/>
                <a:tab pos="3051810" algn="l"/>
                <a:tab pos="4496435" algn="l"/>
                <a:tab pos="4765040" algn="l"/>
                <a:tab pos="5223510" algn="l"/>
                <a:tab pos="5890895" algn="l"/>
                <a:tab pos="6905625" algn="l"/>
                <a:tab pos="7059930" algn="l"/>
                <a:tab pos="7975600" algn="l"/>
                <a:tab pos="9018905" algn="l"/>
                <a:tab pos="10005695" algn="l"/>
                <a:tab pos="10327640" algn="l"/>
                <a:tab pos="12253595" algn="l"/>
                <a:tab pos="12329795" algn="l"/>
                <a:tab pos="13840460" algn="l"/>
                <a:tab pos="13891894" algn="l"/>
                <a:tab pos="14778990" algn="l"/>
                <a:tab pos="16280765" algn="l"/>
              </a:tabLst>
            </a:pPr>
            <a:r>
              <a:rPr dirty="0" sz="4500" spc="-25">
                <a:latin typeface="Calibri"/>
                <a:cs typeface="Calibri"/>
              </a:rPr>
              <a:t>OR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graph,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several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arcs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may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10">
                <a:latin typeface="Calibri"/>
                <a:cs typeface="Calibri"/>
              </a:rPr>
              <a:t>emerge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from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 spc="44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single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10">
                <a:latin typeface="Calibri"/>
                <a:cs typeface="Calibri"/>
              </a:rPr>
              <a:t>node,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indicañng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35">
                <a:latin typeface="Calibri"/>
                <a:cs typeface="Calibri"/>
              </a:rPr>
              <a:t>a </a:t>
            </a:r>
            <a:r>
              <a:rPr dirty="0" sz="4500" spc="-10">
                <a:latin typeface="Calibri"/>
                <a:cs typeface="Calibri"/>
              </a:rPr>
              <a:t>variety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of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20">
                <a:latin typeface="Calibri"/>
                <a:cs typeface="Calibri"/>
              </a:rPr>
              <a:t>ways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which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the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original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problem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might</a:t>
            </a:r>
            <a:r>
              <a:rPr dirty="0" sz="4500">
                <a:latin typeface="Calibri"/>
                <a:cs typeface="Calibri"/>
              </a:rPr>
              <a:t>		</a:t>
            </a:r>
            <a:r>
              <a:rPr dirty="0" sz="4500" spc="-25">
                <a:latin typeface="Calibri"/>
                <a:cs typeface="Calibri"/>
              </a:rPr>
              <a:t>be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solved</a:t>
            </a:r>
            <a:endParaRPr sz="4500">
              <a:latin typeface="Calibri"/>
              <a:cs typeface="Calibri"/>
            </a:endParaRPr>
          </a:p>
          <a:p>
            <a:pPr algn="ctr" marL="358775">
              <a:lnSpc>
                <a:spcPct val="100000"/>
              </a:lnSpc>
              <a:spcBef>
                <a:spcPts val="3005"/>
              </a:spcBef>
            </a:pPr>
            <a:r>
              <a:rPr dirty="0" sz="3150">
                <a:latin typeface="Calibri"/>
                <a:cs typeface="Calibri"/>
              </a:rPr>
              <a:t>Goal:</a:t>
            </a:r>
            <a:r>
              <a:rPr dirty="0" sz="3150" spc="-45">
                <a:latin typeface="Calibri"/>
                <a:cs typeface="Calibri"/>
              </a:rPr>
              <a:t> Acquire</a:t>
            </a:r>
            <a:r>
              <a:rPr dirty="0" sz="3150" spc="110">
                <a:latin typeface="Calibri"/>
                <a:cs typeface="Calibri"/>
              </a:rPr>
              <a:t> </a:t>
            </a:r>
            <a:r>
              <a:rPr dirty="0" sz="3150">
                <a:latin typeface="Calibri"/>
                <a:cs typeface="Calibri"/>
              </a:rPr>
              <a:t>TV</a:t>
            </a:r>
            <a:r>
              <a:rPr dirty="0" sz="3150" spc="-165">
                <a:latin typeface="Calibri"/>
                <a:cs typeface="Calibri"/>
              </a:rPr>
              <a:t> </a:t>
            </a:r>
            <a:r>
              <a:rPr dirty="0" sz="3150" spc="-25">
                <a:latin typeface="Calibri"/>
                <a:cs typeface="Calibri"/>
              </a:rPr>
              <a:t>set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47376" y="8975725"/>
            <a:ext cx="288417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>
                <a:latin typeface="Calibri"/>
                <a:cs typeface="Calibri"/>
              </a:rPr>
              <a:t>Goal:</a:t>
            </a:r>
            <a:r>
              <a:rPr dirty="0" sz="2950" spc="170">
                <a:latin typeface="Calibri"/>
                <a:cs typeface="Calibri"/>
              </a:rPr>
              <a:t> </a:t>
            </a:r>
            <a:r>
              <a:rPr dirty="0" sz="2950" spc="75">
                <a:latin typeface="Calibri"/>
                <a:cs typeface="Calibri"/>
              </a:rPr>
              <a:t>Steal</a:t>
            </a:r>
            <a:r>
              <a:rPr dirty="0" sz="2950" spc="240">
                <a:latin typeface="Calibri"/>
                <a:cs typeface="Calibri"/>
              </a:rPr>
              <a:t> </a:t>
            </a:r>
            <a:r>
              <a:rPr dirty="0" sz="2950" spc="90">
                <a:latin typeface="Calibri"/>
                <a:cs typeface="Calibri"/>
              </a:rPr>
              <a:t>TV</a:t>
            </a:r>
            <a:r>
              <a:rPr dirty="0" sz="2950" spc="350">
                <a:latin typeface="Calibri"/>
                <a:cs typeface="Calibri"/>
              </a:rPr>
              <a:t> </a:t>
            </a:r>
            <a:r>
              <a:rPr dirty="0" sz="2950" spc="40">
                <a:latin typeface="Calibri"/>
                <a:cs typeface="Calibri"/>
              </a:rPr>
              <a:t>set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867500" y="8975725"/>
            <a:ext cx="143573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55">
                <a:latin typeface="Calibri"/>
                <a:cs typeface="Calibri"/>
              </a:rPr>
              <a:t>Goal:</a:t>
            </a:r>
            <a:r>
              <a:rPr dirty="0" sz="2950" spc="-125">
                <a:latin typeface="Calibri"/>
                <a:cs typeface="Calibri"/>
              </a:rPr>
              <a:t> </a:t>
            </a:r>
            <a:r>
              <a:rPr dirty="0" sz="2950" spc="30">
                <a:latin typeface="Calibri"/>
                <a:cs typeface="Calibri"/>
              </a:rPr>
              <a:t>yet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954692" y="8975725"/>
            <a:ext cx="8064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605">
                <a:solidFill>
                  <a:srgbClr val="484848"/>
                </a:solidFill>
                <a:latin typeface="Calibri"/>
                <a:cs typeface="Calibri"/>
              </a:rPr>
              <a:t>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049293" y="9715500"/>
            <a:ext cx="13557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130">
                <a:latin typeface="Calibri"/>
                <a:cs typeface="Calibri"/>
              </a:rPr>
              <a:t>Ftg.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60">
                <a:latin typeface="Calibri"/>
                <a:cs typeface="Calibri"/>
              </a:rPr>
              <a:t>3.6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770340" y="9715500"/>
            <a:ext cx="39808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1">
                <a:latin typeface="Calibri"/>
                <a:cs typeface="Calibri"/>
              </a:rPr>
              <a:t>A</a:t>
            </a:r>
            <a:r>
              <a:rPr dirty="0" sz="3200" spc="-5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Simple</a:t>
            </a:r>
            <a:r>
              <a:rPr dirty="0" sz="3200" spc="125" i="1">
                <a:latin typeface="Calibri"/>
                <a:cs typeface="Calibri"/>
              </a:rPr>
              <a:t> </a:t>
            </a:r>
            <a:r>
              <a:rPr dirty="0" sz="3200" spc="-45" i="1">
                <a:latin typeface="Calibri"/>
                <a:cs typeface="Calibri"/>
              </a:rPr>
              <a:t>AND-</a:t>
            </a:r>
            <a:r>
              <a:rPr dirty="0" sz="3200" i="1">
                <a:latin typeface="Calibri"/>
                <a:cs typeface="Calibri"/>
              </a:rPr>
              <a:t>DR</a:t>
            </a:r>
            <a:r>
              <a:rPr dirty="0" sz="3200" spc="35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Craph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982200" y="4791075"/>
            <a:ext cx="7496175" cy="3571875"/>
            <a:chOff x="9982200" y="4791075"/>
            <a:chExt cx="7496175" cy="35718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82200" y="4791075"/>
              <a:ext cx="7496175" cy="357187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58725" y="5781675"/>
              <a:ext cx="2200275" cy="2581275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2895600" y="4791075"/>
            <a:ext cx="5305425" cy="2752725"/>
            <a:chOff x="2895600" y="4791075"/>
            <a:chExt cx="5305425" cy="275272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5850" y="5800725"/>
              <a:ext cx="1571625" cy="17430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5600" y="4791075"/>
              <a:ext cx="5305425" cy="2124075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91850" y="6438900"/>
            <a:ext cx="266700" cy="3143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87400" y="7343775"/>
            <a:ext cx="3743325" cy="10001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67350" y="6438900"/>
            <a:ext cx="285750" cy="3524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81650" y="5772150"/>
            <a:ext cx="742950" cy="4191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868400" y="5715000"/>
            <a:ext cx="723900" cy="4191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57825" y="7038975"/>
            <a:ext cx="352425" cy="40957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0850" rIns="0" bIns="0" rtlCol="0" vert="horz">
            <a:spAutoFit/>
          </a:bodyPr>
          <a:lstStyle/>
          <a:p>
            <a:pPr marL="833755">
              <a:lnSpc>
                <a:spcPct val="100000"/>
              </a:lnSpc>
              <a:spcBef>
                <a:spcPts val="100"/>
              </a:spcBef>
            </a:pPr>
            <a:r>
              <a:rPr dirty="0" sz="5550"/>
              <a:t>Why</a:t>
            </a:r>
            <a:r>
              <a:rPr dirty="0" sz="5550" spc="-20"/>
              <a:t> </a:t>
            </a:r>
            <a:r>
              <a:rPr dirty="0" sz="5550"/>
              <a:t>best-lrst</a:t>
            </a:r>
            <a:r>
              <a:rPr dirty="0" sz="5550" spc="80"/>
              <a:t> </a:t>
            </a:r>
            <a:r>
              <a:rPr dirty="0" sz="5550" spc="-10"/>
              <a:t>search</a:t>
            </a:r>
            <a:r>
              <a:rPr dirty="0" sz="5550" spc="40"/>
              <a:t> </a:t>
            </a:r>
            <a:r>
              <a:rPr dirty="0" sz="5550" spc="-60"/>
              <a:t>algorithm</a:t>
            </a:r>
            <a:r>
              <a:rPr dirty="0" sz="5550" spc="240"/>
              <a:t> </a:t>
            </a:r>
            <a:r>
              <a:rPr dirty="0" sz="5550"/>
              <a:t>is</a:t>
            </a:r>
            <a:r>
              <a:rPr dirty="0" sz="5550" spc="-195"/>
              <a:t> </a:t>
            </a:r>
            <a:r>
              <a:rPr dirty="0" sz="5550"/>
              <a:t>not</a:t>
            </a:r>
            <a:r>
              <a:rPr dirty="0" sz="5550" spc="-60"/>
              <a:t> </a:t>
            </a:r>
            <a:r>
              <a:rPr dirty="0" sz="5550" spc="-10"/>
              <a:t>adequate?</a:t>
            </a:r>
            <a:endParaRPr sz="5550"/>
          </a:p>
        </p:txBody>
      </p:sp>
      <p:sp>
        <p:nvSpPr>
          <p:cNvPr id="15" name="object 15" descr=""/>
          <p:cNvSpPr txBox="1"/>
          <p:nvPr/>
        </p:nvSpPr>
        <p:spPr>
          <a:xfrm>
            <a:off x="1447920" y="1973262"/>
            <a:ext cx="16560165" cy="19399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394970" marR="5080" indent="-382905">
              <a:lnSpc>
                <a:spcPts val="4840"/>
              </a:lnSpc>
              <a:spcBef>
                <a:spcPts val="725"/>
              </a:spcBef>
              <a:buChar char="•"/>
              <a:tabLst>
                <a:tab pos="394970" algn="l"/>
                <a:tab pos="403225" algn="l"/>
              </a:tabLst>
            </a:pPr>
            <a:r>
              <a:rPr dirty="0" sz="4500">
                <a:latin typeface="Calibri"/>
                <a:cs typeface="Calibri"/>
              </a:rPr>
              <a:t>	The</a:t>
            </a:r>
            <a:r>
              <a:rPr dirty="0" sz="4500" spc="40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problem</a:t>
            </a:r>
            <a:r>
              <a:rPr dirty="0" sz="4500" spc="5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3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4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3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choice</a:t>
            </a:r>
            <a:r>
              <a:rPr dirty="0" sz="4500" spc="4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4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which</a:t>
            </a:r>
            <a:r>
              <a:rPr dirty="0" sz="4500" spc="43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</a:t>
            </a:r>
            <a:r>
              <a:rPr dirty="0" sz="4500" spc="43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3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expand</a:t>
            </a:r>
            <a:r>
              <a:rPr dirty="0" sz="4500" spc="5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next</a:t>
            </a:r>
            <a:r>
              <a:rPr dirty="0" sz="4500" spc="459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must </a:t>
            </a:r>
            <a:r>
              <a:rPr dirty="0" sz="4500">
                <a:latin typeface="Calibri"/>
                <a:cs typeface="Calibri"/>
              </a:rPr>
              <a:t>depend</a:t>
            </a:r>
            <a:r>
              <a:rPr dirty="0" sz="4500" spc="-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not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only</a:t>
            </a:r>
            <a:r>
              <a:rPr dirty="0" sz="4500" spc="-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on</a:t>
            </a:r>
            <a:r>
              <a:rPr dirty="0" sz="4500" spc="-1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1375A3"/>
                </a:solidFill>
                <a:latin typeface="Calibri"/>
                <a:cs typeface="Calibri"/>
              </a:rPr>
              <a:t>f'</a:t>
            </a:r>
            <a:r>
              <a:rPr dirty="0" sz="4500" spc="-70">
                <a:solidFill>
                  <a:srgbClr val="1375A3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2175B8"/>
                </a:solidFill>
                <a:latin typeface="Calibri"/>
                <a:cs typeface="Calibri"/>
              </a:rPr>
              <a:t>value</a:t>
            </a:r>
            <a:r>
              <a:rPr dirty="0" sz="4500" spc="-15">
                <a:solidFill>
                  <a:srgbClr val="2175B8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1174CA"/>
                </a:solidFill>
                <a:latin typeface="Calibri"/>
                <a:cs typeface="Calibri"/>
              </a:rPr>
              <a:t>of</a:t>
            </a:r>
            <a:r>
              <a:rPr dirty="0" sz="4500" spc="5">
                <a:solidFill>
                  <a:srgbClr val="1174CA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0864B5"/>
                </a:solidFill>
                <a:latin typeface="Calibri"/>
                <a:cs typeface="Calibri"/>
              </a:rPr>
              <a:t>that</a:t>
            </a:r>
            <a:r>
              <a:rPr dirty="0" sz="4500" spc="30">
                <a:solidFill>
                  <a:srgbClr val="0864B5"/>
                </a:solidFill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0C679C"/>
                </a:solidFill>
                <a:latin typeface="Calibri"/>
                <a:cs typeface="Calibri"/>
              </a:rPr>
              <a:t>node</a:t>
            </a:r>
            <a:r>
              <a:rPr dirty="0" sz="4500" spc="-40">
                <a:solidFill>
                  <a:srgbClr val="0C679C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but</a:t>
            </a:r>
            <a:r>
              <a:rPr dirty="0" sz="4500" spc="-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also</a:t>
            </a:r>
            <a:r>
              <a:rPr dirty="0" sz="4500" spc="-7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on</a:t>
            </a:r>
            <a:r>
              <a:rPr dirty="0" sz="4500" spc="-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whether</a:t>
            </a:r>
            <a:r>
              <a:rPr dirty="0" sz="4500" spc="35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that </a:t>
            </a:r>
            <a:r>
              <a:rPr dirty="0" sz="4500">
                <a:latin typeface="Calibri"/>
                <a:cs typeface="Calibri"/>
              </a:rPr>
              <a:t>node</a:t>
            </a:r>
            <a:r>
              <a:rPr dirty="0" sz="4500" spc="33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29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part</a:t>
            </a:r>
            <a:r>
              <a:rPr dirty="0" sz="4500" spc="34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37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31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current</a:t>
            </a:r>
            <a:r>
              <a:rPr dirty="0" sz="4500" spc="35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best</a:t>
            </a:r>
            <a:r>
              <a:rPr dirty="0" sz="4500" spc="32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path</a:t>
            </a:r>
            <a:r>
              <a:rPr dirty="0" sz="4500" spc="38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from</a:t>
            </a:r>
            <a:r>
              <a:rPr dirty="0" sz="4500" spc="38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35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iniñal</a:t>
            </a:r>
            <a:r>
              <a:rPr dirty="0" sz="4500" spc="370">
                <a:latin typeface="Calibri"/>
                <a:cs typeface="Calibri"/>
              </a:rPr>
              <a:t>  </a:t>
            </a:r>
            <a:r>
              <a:rPr dirty="0" sz="4500" spc="-20">
                <a:latin typeface="Calibri"/>
                <a:cs typeface="Calibri"/>
              </a:rPr>
              <a:t>node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926184" y="5986462"/>
            <a:ext cx="706755" cy="1543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570">
              <a:lnSpc>
                <a:spcPts val="5975"/>
              </a:lnSpc>
              <a:spcBef>
                <a:spcPts val="100"/>
              </a:spcBef>
            </a:pPr>
            <a:r>
              <a:rPr dirty="0" sz="5900" spc="-825">
                <a:latin typeface="Calibri"/>
                <a:cs typeface="Calibri"/>
              </a:rPr>
              <a:t>B</a:t>
            </a:r>
            <a:endParaRPr sz="5900">
              <a:latin typeface="Calibri"/>
              <a:cs typeface="Calibri"/>
            </a:endParaRPr>
          </a:p>
          <a:p>
            <a:pPr marL="12700">
              <a:lnSpc>
                <a:spcPts val="5980"/>
              </a:lnSpc>
            </a:pPr>
            <a:r>
              <a:rPr dirty="0" sz="5900" spc="-365">
                <a:latin typeface="Calibri"/>
                <a:cs typeface="Calibri"/>
              </a:rPr>
              <a:t>‹s</a:t>
            </a:r>
            <a:r>
              <a:rPr dirty="0" baseline="-4237" sz="8850" spc="-547">
                <a:latin typeface="Calibri"/>
                <a:cs typeface="Calibri"/>
              </a:rPr>
              <a:t>›</a:t>
            </a:r>
            <a:endParaRPr baseline="-4237" sz="88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715510" y="6332537"/>
            <a:ext cx="24130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 spc="-370">
                <a:latin typeface="Calibri"/>
                <a:cs typeface="Calibri"/>
              </a:rPr>
              <a:t>D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70381" y="6910387"/>
            <a:ext cx="43180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180">
                <a:latin typeface="Calibri"/>
                <a:cs typeface="Calibri"/>
              </a:rPr>
              <a:t>{4)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723252" y="7204075"/>
            <a:ext cx="787400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spc="-75">
                <a:latin typeface="Arial MT"/>
                <a:cs typeface="Arial MT"/>
              </a:rPr>
              <a:t>(17)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644753" y="6313487"/>
            <a:ext cx="25590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>
                <a:latin typeface="Calibri"/>
                <a:cs typeface="Calibri"/>
              </a:rPr>
              <a:t>C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201682" y="6221412"/>
            <a:ext cx="38036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30">
                <a:latin typeface="Calibri"/>
                <a:cs typeface="Calibri"/>
              </a:rPr>
              <a:t>D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980687" y="7761287"/>
            <a:ext cx="554355" cy="1103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dirty="0" sz="3550" spc="65">
                <a:latin typeface="Arial MT"/>
                <a:cs typeface="Arial MT"/>
              </a:rPr>
              <a:t>E</a:t>
            </a:r>
            <a:endParaRPr sz="3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3500" spc="-20">
                <a:latin typeface="Arial MT"/>
                <a:cs typeface="Arial MT"/>
              </a:rPr>
              <a:t>(fi)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514212" y="7714270"/>
            <a:ext cx="1684655" cy="11938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88290">
              <a:lnSpc>
                <a:spcPct val="100000"/>
              </a:lnSpc>
              <a:spcBef>
                <a:spcPts val="470"/>
              </a:spcBef>
              <a:tabLst>
                <a:tab pos="1291590" algn="l"/>
              </a:tabLst>
            </a:pPr>
            <a:r>
              <a:rPr dirty="0" sz="3550" spc="10">
                <a:latin typeface="Arial MT"/>
                <a:cs typeface="Arial MT"/>
              </a:rPr>
              <a:t>F</a:t>
            </a:r>
            <a:r>
              <a:rPr dirty="0" sz="3550">
                <a:latin typeface="Arial MT"/>
                <a:cs typeface="Arial MT"/>
              </a:rPr>
              <a:t>	</a:t>
            </a:r>
            <a:r>
              <a:rPr dirty="0" sz="3550" spc="-50">
                <a:latin typeface="Arial MT"/>
                <a:cs typeface="Arial MT"/>
              </a:rPr>
              <a:t>G</a:t>
            </a:r>
            <a:endParaRPr sz="3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155065" algn="l"/>
              </a:tabLst>
            </a:pPr>
            <a:r>
              <a:rPr dirty="0" sz="3500" spc="-20">
                <a:latin typeface="Arial MT"/>
                <a:cs typeface="Arial MT"/>
              </a:rPr>
              <a:t>(10)</a:t>
            </a:r>
            <a:r>
              <a:rPr dirty="0" sz="3500">
                <a:latin typeface="Arial MT"/>
                <a:cs typeface="Arial MT"/>
              </a:rPr>
              <a:t>	</a:t>
            </a:r>
            <a:r>
              <a:rPr dirty="0" sz="3500" spc="-60">
                <a:latin typeface="Arial MT"/>
                <a:cs typeface="Arial MT"/>
              </a:rPr>
              <a:t>(6)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257413" y="8348662"/>
            <a:ext cx="59309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0">
                <a:latin typeface="Arial MT"/>
                <a:cs typeface="Arial MT"/>
              </a:rPr>
              <a:t>(’*)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5257538" y="8348662"/>
            <a:ext cx="80835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0">
                <a:latin typeface="Arial MT"/>
                <a:cs typeface="Arial MT"/>
              </a:rPr>
              <a:t>(15)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810113" y="8348662"/>
            <a:ext cx="80835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20">
                <a:latin typeface="Arial MT"/>
                <a:cs typeface="Arial MT"/>
              </a:rPr>
              <a:t>(10)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629710" y="9728200"/>
            <a:ext cx="1617345" cy="65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 spc="95">
                <a:latin typeface="Calibri"/>
                <a:cs typeface="Calibri"/>
              </a:rPr>
              <a:t>Fig.</a:t>
            </a:r>
            <a:r>
              <a:rPr dirty="0" sz="4150" spc="90">
                <a:latin typeface="Calibri"/>
                <a:cs typeface="Calibri"/>
              </a:rPr>
              <a:t> </a:t>
            </a:r>
            <a:r>
              <a:rPr dirty="0" sz="4150" spc="-25">
                <a:latin typeface="Calibri"/>
                <a:cs typeface="Calibri"/>
              </a:rPr>
              <a:t>3.7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668048" y="9728200"/>
            <a:ext cx="3217545" cy="65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 spc="-75" i="1">
                <a:latin typeface="Calibri"/>
                <a:cs typeface="Calibri"/>
              </a:rPr>
              <a:t>4ND-</a:t>
            </a:r>
            <a:r>
              <a:rPr dirty="0" sz="4150" i="1">
                <a:latin typeface="Calibri"/>
                <a:cs typeface="Calibri"/>
              </a:rPr>
              <a:t>DR</a:t>
            </a:r>
            <a:r>
              <a:rPr dirty="0" sz="4150" spc="220" i="1">
                <a:latin typeface="Calibri"/>
                <a:cs typeface="Calibri"/>
              </a:rPr>
              <a:t> </a:t>
            </a:r>
            <a:r>
              <a:rPr dirty="0" sz="4150" spc="-114" i="1">
                <a:latin typeface="Calibri"/>
                <a:cs typeface="Calibri"/>
              </a:rPr>
              <a:t>€raphs</a:t>
            </a:r>
            <a:endParaRPr sz="4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1800" rIns="0" bIns="0" rtlCol="0" vert="horz">
            <a:spAutoFit/>
          </a:bodyPr>
          <a:lstStyle/>
          <a:p>
            <a:pPr marL="831850">
              <a:lnSpc>
                <a:spcPct val="100000"/>
              </a:lnSpc>
              <a:spcBef>
                <a:spcPts val="100"/>
              </a:spcBef>
            </a:pPr>
            <a:r>
              <a:rPr dirty="0" sz="5700" spc="-130"/>
              <a:t>FUTILITY</a:t>
            </a:r>
            <a:endParaRPr sz="5700"/>
          </a:p>
        </p:txBody>
      </p:sp>
      <p:sp>
        <p:nvSpPr>
          <p:cNvPr id="3" name="object 3" descr=""/>
          <p:cNvSpPr txBox="1"/>
          <p:nvPr/>
        </p:nvSpPr>
        <p:spPr>
          <a:xfrm>
            <a:off x="1436737" y="1966912"/>
            <a:ext cx="16593185" cy="3377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08940" indent="-386080">
              <a:lnSpc>
                <a:spcPts val="5100"/>
              </a:lnSpc>
              <a:spcBef>
                <a:spcPts val="100"/>
              </a:spcBef>
              <a:buChar char="•"/>
              <a:tabLst>
                <a:tab pos="408940" algn="l"/>
              </a:tabLst>
            </a:pPr>
            <a:r>
              <a:rPr dirty="0" sz="4550">
                <a:latin typeface="Calibri"/>
                <a:cs typeface="Calibri"/>
              </a:rPr>
              <a:t>If</a:t>
            </a:r>
            <a:r>
              <a:rPr dirty="0" sz="4550" spc="1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40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estimated</a:t>
            </a:r>
            <a:r>
              <a:rPr dirty="0" sz="4550" spc="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cost</a:t>
            </a:r>
            <a:r>
              <a:rPr dirty="0" sz="4550" spc="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85">
                <a:latin typeface="Calibri"/>
                <a:cs typeface="Calibri"/>
              </a:rPr>
              <a:t> </a:t>
            </a:r>
            <a:r>
              <a:rPr dirty="0" sz="4550" spc="65">
                <a:latin typeface="Calibri"/>
                <a:cs typeface="Calibri"/>
              </a:rPr>
              <a:t>a</a:t>
            </a:r>
            <a:r>
              <a:rPr dirty="0" sz="4550" spc="-70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solution</a:t>
            </a:r>
            <a:r>
              <a:rPr dirty="0" sz="4550" spc="5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becomes</a:t>
            </a:r>
            <a:r>
              <a:rPr dirty="0" sz="4550" spc="125">
                <a:latin typeface="Calibri"/>
                <a:cs typeface="Calibri"/>
              </a:rPr>
              <a:t> </a:t>
            </a:r>
            <a:r>
              <a:rPr dirty="0" sz="4550" spc="-30">
                <a:latin typeface="Calibri"/>
                <a:cs typeface="Calibri"/>
              </a:rPr>
              <a:t>greater</a:t>
            </a:r>
            <a:r>
              <a:rPr dirty="0" sz="4550" spc="2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than</a:t>
            </a:r>
            <a:r>
              <a:rPr dirty="0" sz="4550" spc="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value</a:t>
            </a:r>
            <a:r>
              <a:rPr dirty="0" sz="4550" spc="50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of</a:t>
            </a:r>
            <a:endParaRPr sz="4550">
              <a:latin typeface="Calibri"/>
              <a:cs typeface="Calibri"/>
            </a:endParaRPr>
          </a:p>
          <a:p>
            <a:pPr algn="just" marL="415290">
              <a:lnSpc>
                <a:spcPts val="5220"/>
              </a:lnSpc>
            </a:pPr>
            <a:r>
              <a:rPr dirty="0" sz="4650" spc="-114" i="1">
                <a:latin typeface="Calibri"/>
                <a:cs typeface="Calibri"/>
              </a:rPr>
              <a:t>FUTILITY,</a:t>
            </a:r>
            <a:r>
              <a:rPr dirty="0" sz="4650" spc="-150" i="1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then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we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abandon</a:t>
            </a:r>
            <a:r>
              <a:rPr dirty="0" sz="4650" spc="-140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the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search.</a:t>
            </a:r>
            <a:endParaRPr sz="4650">
              <a:latin typeface="Calibri"/>
              <a:cs typeface="Calibri"/>
            </a:endParaRPr>
          </a:p>
          <a:p>
            <a:pPr algn="just" marL="403860" marR="5080" indent="-391795">
              <a:lnSpc>
                <a:spcPct val="87600"/>
              </a:lnSpc>
              <a:spcBef>
                <a:spcPts val="1565"/>
              </a:spcBef>
              <a:buChar char="•"/>
              <a:tabLst>
                <a:tab pos="403860" algn="l"/>
                <a:tab pos="414655" algn="l"/>
              </a:tabLst>
            </a:pPr>
            <a:r>
              <a:rPr dirty="0" sz="4600" i="1">
                <a:latin typeface="Calibri"/>
                <a:cs typeface="Calibri"/>
              </a:rPr>
              <a:t>	</a:t>
            </a:r>
            <a:r>
              <a:rPr dirty="0" sz="4600" spc="-40" i="1">
                <a:latin typeface="Calibri"/>
                <a:cs typeface="Calibri"/>
              </a:rPr>
              <a:t>FUTILITY</a:t>
            </a:r>
            <a:r>
              <a:rPr dirty="0" sz="4600" spc="-95" i="1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should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chosen</a:t>
            </a:r>
            <a:r>
              <a:rPr dirty="0" sz="4600" spc="-1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correspond</a:t>
            </a:r>
            <a:r>
              <a:rPr dirty="0" sz="4600" spc="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threshold</a:t>
            </a:r>
            <a:r>
              <a:rPr dirty="0" sz="4600" spc="-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such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that</a:t>
            </a:r>
            <a:r>
              <a:rPr dirty="0" sz="4600" spc="-20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any </a:t>
            </a:r>
            <a:r>
              <a:rPr dirty="0" sz="4600" spc="-35">
                <a:latin typeface="Calibri"/>
                <a:cs typeface="Calibri"/>
              </a:rPr>
              <a:t>solution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with</a:t>
            </a:r>
            <a:r>
              <a:rPr dirty="0" sz="4600" spc="-1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cost</a:t>
            </a:r>
            <a:r>
              <a:rPr dirty="0" sz="4600" spc="-7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above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too</a:t>
            </a:r>
            <a:r>
              <a:rPr dirty="0" sz="4600" spc="-80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expensive</a:t>
            </a:r>
            <a:r>
              <a:rPr dirty="0" sz="4600" spc="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be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practical,</a:t>
            </a:r>
            <a:r>
              <a:rPr dirty="0" sz="4600" spc="9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even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if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it </a:t>
            </a:r>
            <a:r>
              <a:rPr dirty="0" sz="4600" spc="-30">
                <a:latin typeface="Calibri"/>
                <a:cs typeface="Calibri"/>
              </a:rPr>
              <a:t>could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ever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found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0050" rIns="0" bIns="0" rtlCol="0" vert="horz">
            <a:spAutoFit/>
          </a:bodyPr>
          <a:lstStyle/>
          <a:p>
            <a:pPr marL="817880">
              <a:lnSpc>
                <a:spcPct val="100000"/>
              </a:lnSpc>
              <a:spcBef>
                <a:spcPts val="100"/>
              </a:spcBef>
            </a:pPr>
            <a:r>
              <a:rPr dirty="0" sz="6100" spc="-270" i="1">
                <a:latin typeface="Calibri"/>
                <a:cs typeface="Calibri"/>
              </a:rPr>
              <a:t>Algorithm:</a:t>
            </a:r>
            <a:r>
              <a:rPr dirty="0" sz="6100" spc="140" i="1">
                <a:latin typeface="Calibri"/>
                <a:cs typeface="Calibri"/>
              </a:rPr>
              <a:t> </a:t>
            </a:r>
            <a:r>
              <a:rPr dirty="0" sz="6100" spc="-330" i="1">
                <a:latin typeface="Calibri"/>
                <a:cs typeface="Calibri"/>
              </a:rPr>
              <a:t>Problem</a:t>
            </a:r>
            <a:r>
              <a:rPr dirty="0" sz="6100" spc="285" i="1">
                <a:latin typeface="Calibri"/>
                <a:cs typeface="Calibri"/>
              </a:rPr>
              <a:t> </a:t>
            </a:r>
            <a:r>
              <a:rPr dirty="0" sz="6100" spc="-290" i="1">
                <a:latin typeface="Calibri"/>
                <a:cs typeface="Calibri"/>
              </a:rPr>
              <a:t>ReducTon</a:t>
            </a:r>
            <a:endParaRPr sz="6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7183" y="1842452"/>
            <a:ext cx="16590644" cy="757872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836294" indent="-810260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836294" algn="l"/>
              </a:tabLst>
            </a:pPr>
            <a:r>
              <a:rPr dirty="0" sz="4600" spc="-45">
                <a:latin typeface="Calibri"/>
                <a:cs typeface="Calibri"/>
              </a:rPr>
              <a:t>Initialize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graph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starting</a:t>
            </a:r>
            <a:r>
              <a:rPr dirty="0" sz="4600" spc="-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node,</a:t>
            </a:r>
            <a:endParaRPr sz="4600">
              <a:latin typeface="Calibri"/>
              <a:cs typeface="Calibri"/>
            </a:endParaRPr>
          </a:p>
          <a:p>
            <a:pPr marL="826769" marR="53975" indent="-812165">
              <a:lnSpc>
                <a:spcPts val="4800"/>
              </a:lnSpc>
              <a:spcBef>
                <a:spcPts val="1690"/>
              </a:spcBef>
              <a:buAutoNum type="arabicPeriod"/>
              <a:tabLst>
                <a:tab pos="840105" algn="l"/>
                <a:tab pos="9894570" algn="l"/>
                <a:tab pos="11812905" algn="l"/>
              </a:tabLst>
            </a:pPr>
            <a:r>
              <a:rPr dirty="0" sz="4600">
                <a:latin typeface="Calibri"/>
                <a:cs typeface="Calibri"/>
              </a:rPr>
              <a:t>Loop</a:t>
            </a:r>
            <a:r>
              <a:rPr dirty="0" sz="4600" spc="-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until the</a:t>
            </a:r>
            <a:r>
              <a:rPr dirty="0" sz="4600" spc="-15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starting</a:t>
            </a:r>
            <a:r>
              <a:rPr dirty="0" sz="4600" spc="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</a:t>
            </a:r>
            <a:r>
              <a:rPr dirty="0" sz="4600" spc="-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7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labeled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355" i="1">
                <a:latin typeface="Calibri"/>
                <a:cs typeface="Calibri"/>
              </a:rPr>
              <a:t>SOL'VED</a:t>
            </a:r>
            <a:r>
              <a:rPr dirty="0" sz="4600" i="1">
                <a:latin typeface="Calibri"/>
                <a:cs typeface="Calibri"/>
              </a:rPr>
              <a:t>	</a:t>
            </a:r>
            <a:r>
              <a:rPr dirty="0" sz="4600">
                <a:latin typeface="Calibri"/>
                <a:cs typeface="Calibri"/>
              </a:rPr>
              <a:t>or</a:t>
            </a:r>
            <a:r>
              <a:rPr dirty="0" sz="4600" spc="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until</a:t>
            </a:r>
            <a:r>
              <a:rPr dirty="0" sz="4600" spc="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its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cost</a:t>
            </a:r>
            <a:r>
              <a:rPr dirty="0" sz="4600" spc="55">
                <a:latin typeface="Calibri"/>
                <a:cs typeface="Calibri"/>
              </a:rPr>
              <a:t> </a:t>
            </a:r>
            <a:r>
              <a:rPr dirty="0" sz="4600" spc="-85">
                <a:latin typeface="Calibri"/>
                <a:cs typeface="Calibri"/>
              </a:rPr>
              <a:t>goes </a:t>
            </a:r>
            <a:r>
              <a:rPr dirty="0" sz="4600" spc="-85">
                <a:latin typeface="Calibri"/>
                <a:cs typeface="Calibri"/>
              </a:rPr>
              <a:t>	</a:t>
            </a:r>
            <a:r>
              <a:rPr dirty="0" sz="4600" spc="-65">
                <a:latin typeface="Calibri"/>
                <a:cs typeface="Calibri"/>
              </a:rPr>
              <a:t>above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FUTILITY</a:t>
            </a:r>
            <a:endParaRPr sz="4600">
              <a:latin typeface="Calibri"/>
              <a:cs typeface="Calibri"/>
            </a:endParaRPr>
          </a:p>
          <a:p>
            <a:pPr algn="just" lvl="1" marL="12700" marR="63500" indent="2276475">
              <a:lnSpc>
                <a:spcPct val="86700"/>
              </a:lnSpc>
              <a:spcBef>
                <a:spcPts val="1580"/>
              </a:spcBef>
              <a:buAutoNum type="alphaLcParenBoth"/>
              <a:tabLst>
                <a:tab pos="2289175" algn="l"/>
              </a:tabLst>
            </a:pPr>
            <a:r>
              <a:rPr dirty="0" sz="4650" spc="-85">
                <a:latin typeface="Calibri"/>
                <a:cs typeface="Calibri"/>
              </a:rPr>
              <a:t>Traverse</a:t>
            </a:r>
            <a:r>
              <a:rPr dirty="0" sz="4650" spc="10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the</a:t>
            </a:r>
            <a:r>
              <a:rPr dirty="0" sz="4650" spc="2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graph,</a:t>
            </a:r>
            <a:r>
              <a:rPr dirty="0" sz="4650" spc="7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starting</a:t>
            </a:r>
            <a:r>
              <a:rPr dirty="0" sz="4650" spc="7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at</a:t>
            </a:r>
            <a:r>
              <a:rPr dirty="0" sz="4650" spc="-3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the</a:t>
            </a:r>
            <a:r>
              <a:rPr dirty="0" sz="4650" spc="-5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initial</a:t>
            </a:r>
            <a:r>
              <a:rPr dirty="0" sz="4650" spc="-2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node</a:t>
            </a:r>
            <a:r>
              <a:rPr dirty="0" sz="4650" spc="-3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and</a:t>
            </a:r>
            <a:r>
              <a:rPr dirty="0" sz="4650" spc="-20">
                <a:latin typeface="Calibri"/>
                <a:cs typeface="Calibri"/>
              </a:rPr>
              <a:t> </a:t>
            </a:r>
            <a:r>
              <a:rPr dirty="0" sz="4650" spc="-85">
                <a:latin typeface="Calibri"/>
                <a:cs typeface="Calibri"/>
              </a:rPr>
              <a:t>following </a:t>
            </a:r>
            <a:r>
              <a:rPr dirty="0" sz="4650" spc="-20">
                <a:latin typeface="Calibri"/>
                <a:cs typeface="Calibri"/>
              </a:rPr>
              <a:t>the</a:t>
            </a:r>
            <a:r>
              <a:rPr dirty="0" sz="4650" spc="-245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current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best</a:t>
            </a:r>
            <a:r>
              <a:rPr dirty="0" sz="4650" spc="-240">
                <a:latin typeface="Calibri"/>
                <a:cs typeface="Calibri"/>
              </a:rPr>
              <a:t> </a:t>
            </a:r>
            <a:r>
              <a:rPr dirty="0" sz="4650" spc="-40">
                <a:latin typeface="Calibri"/>
                <a:cs typeface="Calibri"/>
              </a:rPr>
              <a:t>path.</a:t>
            </a:r>
            <a:r>
              <a:rPr dirty="0" sz="4650" spc="-22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and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80">
                <a:latin typeface="Calibri"/>
                <a:cs typeface="Calibri"/>
              </a:rPr>
              <a:t>accumulate</a:t>
            </a:r>
            <a:r>
              <a:rPr dirty="0" sz="4650" spc="50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the</a:t>
            </a:r>
            <a:r>
              <a:rPr dirty="0" sz="4650" spc="-21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set</a:t>
            </a:r>
            <a:r>
              <a:rPr dirty="0" sz="4650" spc="-24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of</a:t>
            </a:r>
            <a:r>
              <a:rPr dirty="0" sz="4650" spc="-175">
                <a:latin typeface="Calibri"/>
                <a:cs typeface="Calibri"/>
              </a:rPr>
              <a:t> </a:t>
            </a:r>
            <a:r>
              <a:rPr dirty="0" sz="4650" spc="-40">
                <a:latin typeface="Calibri"/>
                <a:cs typeface="Calibri"/>
              </a:rPr>
              <a:t>nodes</a:t>
            </a:r>
            <a:r>
              <a:rPr dirty="0" sz="4650" spc="-160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that</a:t>
            </a:r>
            <a:r>
              <a:rPr dirty="0" sz="4650" spc="-195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are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on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that </a:t>
            </a:r>
            <a:r>
              <a:rPr dirty="0" sz="4650" spc="-65">
                <a:latin typeface="Calibri"/>
                <a:cs typeface="Calibri"/>
              </a:rPr>
              <a:t>path</a:t>
            </a:r>
            <a:r>
              <a:rPr dirty="0" sz="4650" spc="-200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and</a:t>
            </a:r>
            <a:r>
              <a:rPr dirty="0" sz="4650" spc="-240">
                <a:latin typeface="Calibri"/>
                <a:cs typeface="Calibri"/>
              </a:rPr>
              <a:t> </a:t>
            </a:r>
            <a:r>
              <a:rPr dirty="0" sz="4650" spc="-95">
                <a:latin typeface="Calibri"/>
                <a:cs typeface="Calibri"/>
              </a:rPr>
              <a:t>have</a:t>
            </a:r>
            <a:r>
              <a:rPr dirty="0" sz="4650" spc="-17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not</a:t>
            </a:r>
            <a:r>
              <a:rPr dirty="0" sz="4650" spc="-250">
                <a:latin typeface="Calibri"/>
                <a:cs typeface="Calibri"/>
              </a:rPr>
              <a:t> </a:t>
            </a:r>
            <a:r>
              <a:rPr dirty="0" sz="4650" spc="-40">
                <a:latin typeface="Calibri"/>
                <a:cs typeface="Calibri"/>
              </a:rPr>
              <a:t>yet</a:t>
            </a:r>
            <a:r>
              <a:rPr dirty="0" sz="4650" spc="-225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been</a:t>
            </a:r>
            <a:r>
              <a:rPr dirty="0" sz="4650" spc="-190">
                <a:latin typeface="Calibri"/>
                <a:cs typeface="Calibri"/>
              </a:rPr>
              <a:t> </a:t>
            </a:r>
            <a:r>
              <a:rPr dirty="0" sz="4650" spc="-95">
                <a:latin typeface="Calibri"/>
                <a:cs typeface="Calibri"/>
              </a:rPr>
              <a:t>expanded</a:t>
            </a:r>
            <a:r>
              <a:rPr dirty="0" sz="4650" spc="-7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or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 spc="-65">
                <a:latin typeface="Calibri"/>
                <a:cs typeface="Calibri"/>
              </a:rPr>
              <a:t>labelled</a:t>
            </a:r>
            <a:r>
              <a:rPr dirty="0" sz="4650" spc="-2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as</a:t>
            </a:r>
            <a:r>
              <a:rPr dirty="0" sz="4650" spc="-24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solved.</a:t>
            </a:r>
            <a:endParaRPr sz="4650">
              <a:latin typeface="Calibri"/>
              <a:cs typeface="Calibri"/>
            </a:endParaRPr>
          </a:p>
          <a:p>
            <a:pPr algn="just" lvl="1" marL="18415" marR="5080" indent="2291715">
              <a:lnSpc>
                <a:spcPct val="87300"/>
              </a:lnSpc>
              <a:spcBef>
                <a:spcPts val="1545"/>
              </a:spcBef>
              <a:buAutoNum type="alphaLcParenBoth"/>
              <a:tabLst>
                <a:tab pos="2310130" algn="l"/>
              </a:tabLst>
            </a:pPr>
            <a:r>
              <a:rPr dirty="0" sz="4600">
                <a:latin typeface="Calibri"/>
                <a:cs typeface="Calibri"/>
              </a:rPr>
              <a:t>Pick</a:t>
            </a:r>
            <a:r>
              <a:rPr dirty="0" sz="4600" spc="2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one</a:t>
            </a:r>
            <a:r>
              <a:rPr dirty="0" sz="4600" spc="1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2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these</a:t>
            </a:r>
            <a:r>
              <a:rPr dirty="0" sz="4600" spc="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unexpanded</a:t>
            </a:r>
            <a:r>
              <a:rPr dirty="0" sz="4600" spc="5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nodes</a:t>
            </a:r>
            <a:r>
              <a:rPr dirty="0" sz="4600" spc="2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and</a:t>
            </a:r>
            <a:r>
              <a:rPr dirty="0" sz="4600" spc="1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expand</a:t>
            </a:r>
            <a:r>
              <a:rPr dirty="0" sz="4600" spc="3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</a:t>
            </a:r>
            <a:r>
              <a:rPr dirty="0" sz="4600" spc="1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If</a:t>
            </a:r>
            <a:r>
              <a:rPr dirty="0" sz="4600" spc="22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there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1570AF"/>
                </a:solidFill>
                <a:latin typeface="Calibri"/>
                <a:cs typeface="Calibri"/>
              </a:rPr>
              <a:t>no</a:t>
            </a:r>
            <a:r>
              <a:rPr dirty="0" sz="4600" spc="-250">
                <a:solidFill>
                  <a:srgbClr val="1570AF"/>
                </a:solidFill>
                <a:latin typeface="Calibri"/>
                <a:cs typeface="Calibri"/>
              </a:rPr>
              <a:t> </a:t>
            </a:r>
            <a:r>
              <a:rPr dirty="0" sz="4600" spc="-60">
                <a:solidFill>
                  <a:srgbClr val="0060AC"/>
                </a:solidFill>
                <a:latin typeface="Calibri"/>
                <a:cs typeface="Calibri"/>
              </a:rPr>
              <a:t>successors,</a:t>
            </a:r>
            <a:r>
              <a:rPr dirty="0" sz="4600" spc="20">
                <a:solidFill>
                  <a:srgbClr val="0060AC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F72D8"/>
                </a:solidFill>
                <a:latin typeface="Calibri"/>
                <a:cs typeface="Calibri"/>
              </a:rPr>
              <a:t>assign</a:t>
            </a:r>
            <a:r>
              <a:rPr dirty="0" sz="4600" spc="-160">
                <a:solidFill>
                  <a:srgbClr val="0F72D8"/>
                </a:solidFill>
                <a:latin typeface="Calibri"/>
                <a:cs typeface="Calibri"/>
              </a:rPr>
              <a:t> </a:t>
            </a:r>
            <a:r>
              <a:rPr dirty="0" sz="4600" spc="-20" i="1">
                <a:solidFill>
                  <a:srgbClr val="1F82C3"/>
                </a:solidFill>
                <a:latin typeface="Calibri"/>
                <a:cs typeface="Calibri"/>
              </a:rPr>
              <a:t>FUTILITY</a:t>
            </a:r>
            <a:r>
              <a:rPr dirty="0" sz="4600" spc="35" i="1">
                <a:solidFill>
                  <a:srgbClr val="1F82C3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137BC8"/>
                </a:solidFill>
                <a:latin typeface="Calibri"/>
                <a:cs typeface="Calibri"/>
              </a:rPr>
              <a:t>as</a:t>
            </a:r>
            <a:r>
              <a:rPr dirty="0" sz="4600" spc="-229">
                <a:solidFill>
                  <a:srgbClr val="137BC8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87EDD"/>
                </a:solidFill>
                <a:latin typeface="Calibri"/>
                <a:cs typeface="Calibri"/>
              </a:rPr>
              <a:t>the</a:t>
            </a:r>
            <a:r>
              <a:rPr dirty="0" sz="4600" spc="-160">
                <a:solidFill>
                  <a:srgbClr val="087EDD"/>
                </a:solidFill>
                <a:latin typeface="Calibri"/>
                <a:cs typeface="Calibri"/>
              </a:rPr>
              <a:t> </a:t>
            </a:r>
            <a:r>
              <a:rPr dirty="0" sz="4600" spc="-25">
                <a:solidFill>
                  <a:srgbClr val="116BBA"/>
                </a:solidFill>
                <a:latin typeface="Calibri"/>
                <a:cs typeface="Calibri"/>
              </a:rPr>
              <a:t>value</a:t>
            </a:r>
            <a:r>
              <a:rPr dirty="0" sz="4600" spc="-130">
                <a:solidFill>
                  <a:srgbClr val="116BBA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F67C1"/>
                </a:solidFill>
                <a:latin typeface="Calibri"/>
                <a:cs typeface="Calibri"/>
              </a:rPr>
              <a:t>of</a:t>
            </a:r>
            <a:r>
              <a:rPr dirty="0" sz="4600" spc="-114">
                <a:solidFill>
                  <a:srgbClr val="0F67C1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077CC"/>
                </a:solidFill>
                <a:latin typeface="Calibri"/>
                <a:cs typeface="Calibri"/>
              </a:rPr>
              <a:t>this</a:t>
            </a:r>
            <a:r>
              <a:rPr dirty="0" sz="4600" spc="-200">
                <a:solidFill>
                  <a:srgbClr val="0077CC"/>
                </a:solidFill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node,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Otherwise, </a:t>
            </a:r>
            <a:r>
              <a:rPr dirty="0" sz="4600">
                <a:latin typeface="Calibri"/>
                <a:cs typeface="Calibri"/>
              </a:rPr>
              <a:t>add</a:t>
            </a:r>
            <a:r>
              <a:rPr dirty="0" sz="4600" spc="8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its</a:t>
            </a:r>
            <a:r>
              <a:rPr dirty="0" sz="4600" spc="8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successors</a:t>
            </a:r>
            <a:r>
              <a:rPr dirty="0" sz="4600" spc="10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8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8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graph</a:t>
            </a:r>
            <a:r>
              <a:rPr dirty="0" sz="4600" spc="9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and</a:t>
            </a:r>
            <a:r>
              <a:rPr dirty="0" sz="4600" spc="8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for</a:t>
            </a:r>
            <a:r>
              <a:rPr dirty="0" sz="4600" spc="819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each</a:t>
            </a:r>
            <a:r>
              <a:rPr dirty="0" sz="4600" spc="9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9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them</a:t>
            </a:r>
            <a:r>
              <a:rPr dirty="0" sz="4600" spc="89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compute</a:t>
            </a:r>
            <a:r>
              <a:rPr dirty="0" sz="4600" spc="95">
                <a:latin typeface="Calibri"/>
                <a:cs typeface="Calibri"/>
              </a:rPr>
              <a:t>  </a:t>
            </a:r>
            <a:r>
              <a:rPr dirty="0" sz="4600" spc="-25">
                <a:solidFill>
                  <a:srgbClr val="E20308"/>
                </a:solidFill>
                <a:latin typeface="Calibri"/>
                <a:cs typeface="Calibri"/>
              </a:rPr>
              <a:t>f’ </a:t>
            </a:r>
            <a:r>
              <a:rPr dirty="0" sz="4600">
                <a:latin typeface="Calibri"/>
                <a:cs typeface="Calibri"/>
              </a:rPr>
              <a:t>(use</a:t>
            </a:r>
            <a:r>
              <a:rPr dirty="0" sz="4600" spc="-1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only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h’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and</a:t>
            </a:r>
            <a:r>
              <a:rPr dirty="0" sz="4600" spc="-9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ignore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 spc="130">
                <a:latin typeface="Calibri"/>
                <a:cs typeface="Calibri"/>
              </a:rPr>
              <a:t>g.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for</a:t>
            </a:r>
            <a:r>
              <a:rPr dirty="0" sz="4600" spc="-6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reasons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we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discuss</a:t>
            </a:r>
            <a:r>
              <a:rPr dirty="0" sz="4600" spc="-2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below),</a:t>
            </a:r>
            <a:r>
              <a:rPr dirty="0" sz="4600" spc="-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If</a:t>
            </a:r>
            <a:r>
              <a:rPr dirty="0" sz="4600" spc="-3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F90511"/>
                </a:solidFill>
                <a:latin typeface="Calibri"/>
                <a:cs typeface="Calibri"/>
              </a:rPr>
              <a:t>of</a:t>
            </a:r>
            <a:r>
              <a:rPr dirty="0" sz="4600" spc="-20">
                <a:solidFill>
                  <a:srgbClr val="F90511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F00808"/>
                </a:solidFill>
                <a:latin typeface="Calibri"/>
                <a:cs typeface="Calibri"/>
              </a:rPr>
              <a:t>any</a:t>
            </a:r>
            <a:r>
              <a:rPr dirty="0" sz="4600" spc="-110">
                <a:solidFill>
                  <a:srgbClr val="F00808"/>
                </a:solidFill>
                <a:latin typeface="Calibri"/>
                <a:cs typeface="Calibri"/>
              </a:rPr>
              <a:t> </a:t>
            </a:r>
            <a:r>
              <a:rPr dirty="0" sz="4600" spc="-20">
                <a:solidFill>
                  <a:srgbClr val="E40300"/>
                </a:solidFill>
                <a:latin typeface="Calibri"/>
                <a:cs typeface="Calibri"/>
              </a:rPr>
              <a:t>node </a:t>
            </a:r>
            <a:r>
              <a:rPr dirty="0" sz="4600">
                <a:solidFill>
                  <a:srgbClr val="E80000"/>
                </a:solidFill>
                <a:latin typeface="Calibri"/>
                <a:cs typeface="Calibri"/>
              </a:rPr>
              <a:t>is</a:t>
            </a:r>
            <a:r>
              <a:rPr dirty="0" sz="4600" spc="-250">
                <a:solidFill>
                  <a:srgbClr val="E80000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E80F21"/>
                </a:solidFill>
                <a:latin typeface="Calibri"/>
                <a:cs typeface="Calibri"/>
              </a:rPr>
              <a:t>0,</a:t>
            </a:r>
            <a:r>
              <a:rPr dirty="0" sz="4600" spc="-254">
                <a:solidFill>
                  <a:srgbClr val="E80F21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E60A05"/>
                </a:solidFill>
                <a:latin typeface="Calibri"/>
                <a:cs typeface="Calibri"/>
              </a:rPr>
              <a:t>mark</a:t>
            </a:r>
            <a:r>
              <a:rPr dirty="0" sz="4600" spc="-75">
                <a:solidFill>
                  <a:srgbClr val="E60A05"/>
                </a:solidFill>
                <a:latin typeface="Calibri"/>
                <a:cs typeface="Calibri"/>
              </a:rPr>
              <a:t> </a:t>
            </a:r>
            <a:r>
              <a:rPr dirty="0" sz="4600" spc="-50">
                <a:solidFill>
                  <a:srgbClr val="F6050F"/>
                </a:solidFill>
                <a:latin typeface="Calibri"/>
                <a:cs typeface="Calibri"/>
              </a:rPr>
              <a:t>that</a:t>
            </a:r>
            <a:r>
              <a:rPr dirty="0" sz="4600" spc="-145">
                <a:solidFill>
                  <a:srgbClr val="F6050F"/>
                </a:solidFill>
                <a:latin typeface="Calibri"/>
                <a:cs typeface="Calibri"/>
              </a:rPr>
              <a:t> </a:t>
            </a:r>
            <a:r>
              <a:rPr dirty="0" sz="4600" spc="-10">
                <a:solidFill>
                  <a:srgbClr val="ED0301"/>
                </a:solidFill>
                <a:latin typeface="Calibri"/>
                <a:cs typeface="Calibri"/>
              </a:rPr>
              <a:t>node</a:t>
            </a:r>
            <a:r>
              <a:rPr dirty="0" sz="4600" spc="-175">
                <a:solidFill>
                  <a:srgbClr val="ED0301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FF111D"/>
                </a:solidFill>
                <a:latin typeface="Calibri"/>
                <a:cs typeface="Calibri"/>
              </a:rPr>
              <a:t>as</a:t>
            </a:r>
            <a:r>
              <a:rPr dirty="0" sz="4600" spc="-120">
                <a:solidFill>
                  <a:srgbClr val="FF111D"/>
                </a:solidFill>
                <a:latin typeface="Calibri"/>
                <a:cs typeface="Calibri"/>
              </a:rPr>
              <a:t> </a:t>
            </a:r>
            <a:r>
              <a:rPr dirty="0" sz="4600" spc="-315" i="1">
                <a:latin typeface="Calibri"/>
                <a:cs typeface="Calibri"/>
              </a:rPr>
              <a:t>SOL'VED,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4505" y="509587"/>
            <a:ext cx="8578215" cy="9474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50" spc="-295" i="1">
                <a:latin typeface="Calibri"/>
                <a:cs typeface="Calibri"/>
              </a:rPr>
              <a:t>Algorithm:</a:t>
            </a:r>
            <a:r>
              <a:rPr dirty="0" sz="6050" spc="365" i="1">
                <a:latin typeface="Calibri"/>
                <a:cs typeface="Calibri"/>
              </a:rPr>
              <a:t> </a:t>
            </a:r>
            <a:r>
              <a:rPr dirty="0" sz="6050" spc="-300" i="1">
                <a:latin typeface="Calibri"/>
                <a:cs typeface="Calibri"/>
              </a:rPr>
              <a:t>Problem</a:t>
            </a:r>
            <a:r>
              <a:rPr dirty="0" sz="6050" spc="250" i="1">
                <a:latin typeface="Calibri"/>
                <a:cs typeface="Calibri"/>
              </a:rPr>
              <a:t> </a:t>
            </a:r>
            <a:r>
              <a:rPr dirty="0" sz="6050" spc="-200" i="1">
                <a:latin typeface="Calibri"/>
                <a:cs typeface="Calibri"/>
              </a:rPr>
              <a:t>ReducTon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5900" y="1982787"/>
            <a:ext cx="16562705" cy="806640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just" marL="13335" marR="26670" indent="741680">
              <a:lnSpc>
                <a:spcPts val="4430"/>
              </a:lnSpc>
              <a:spcBef>
                <a:spcPts val="755"/>
              </a:spcBef>
              <a:buAutoNum type="alphaUcParenBoth" startAt="3"/>
              <a:tabLst>
                <a:tab pos="755015" algn="l"/>
              </a:tabLst>
            </a:pPr>
            <a:r>
              <a:rPr dirty="0" sz="4200">
                <a:latin typeface="Calibri"/>
                <a:cs typeface="Calibri"/>
              </a:rPr>
              <a:t>(i)</a:t>
            </a:r>
            <a:r>
              <a:rPr dirty="0" sz="4200" spc="-13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Change</a:t>
            </a:r>
            <a:r>
              <a:rPr dirty="0" sz="4200" spc="7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the</a:t>
            </a:r>
            <a:r>
              <a:rPr dirty="0" sz="4200" spc="-95">
                <a:latin typeface="Calibri"/>
                <a:cs typeface="Calibri"/>
              </a:rPr>
              <a:t> </a:t>
            </a:r>
            <a:r>
              <a:rPr dirty="0" sz="4200" spc="90">
                <a:latin typeface="Calibri"/>
                <a:cs typeface="Calibri"/>
              </a:rPr>
              <a:t>f’</a:t>
            </a:r>
            <a:r>
              <a:rPr dirty="0" sz="4200" spc="-12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esñmate</a:t>
            </a:r>
            <a:r>
              <a:rPr dirty="0" sz="4200" spc="5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of the</a:t>
            </a:r>
            <a:r>
              <a:rPr dirty="0" sz="4200" spc="-10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newly</a:t>
            </a:r>
            <a:r>
              <a:rPr dirty="0" sz="4200" spc="-30">
                <a:latin typeface="Calibri"/>
                <a:cs typeface="Calibri"/>
              </a:rPr>
              <a:t> </a:t>
            </a:r>
            <a:r>
              <a:rPr dirty="0" sz="4200" spc="-20">
                <a:latin typeface="Calibri"/>
                <a:cs typeface="Calibri"/>
              </a:rPr>
              <a:t>expanded</a:t>
            </a:r>
            <a:r>
              <a:rPr dirty="0" sz="4200" spc="5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node</a:t>
            </a:r>
            <a:r>
              <a:rPr dirty="0" sz="4200" spc="-8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to</a:t>
            </a:r>
            <a:r>
              <a:rPr dirty="0" sz="4200" spc="-13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reflect</a:t>
            </a:r>
            <a:r>
              <a:rPr dirty="0" sz="4200" spc="5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the</a:t>
            </a:r>
            <a:r>
              <a:rPr dirty="0" sz="4200" spc="-105">
                <a:latin typeface="Calibri"/>
                <a:cs typeface="Calibri"/>
              </a:rPr>
              <a:t> </a:t>
            </a:r>
            <a:r>
              <a:rPr dirty="0" sz="4200" spc="-25">
                <a:latin typeface="Calibri"/>
                <a:cs typeface="Calibri"/>
              </a:rPr>
              <a:t>new </a:t>
            </a:r>
            <a:r>
              <a:rPr dirty="0" sz="4200" spc="-45">
                <a:latin typeface="Calibri"/>
                <a:cs typeface="Calibri"/>
              </a:rPr>
              <a:t>informañon</a:t>
            </a:r>
            <a:r>
              <a:rPr dirty="0" sz="4200" spc="80">
                <a:latin typeface="Calibri"/>
                <a:cs typeface="Calibri"/>
              </a:rPr>
              <a:t> </a:t>
            </a:r>
            <a:r>
              <a:rPr dirty="0" sz="4200" spc="-55">
                <a:latin typeface="Calibri"/>
                <a:cs typeface="Calibri"/>
              </a:rPr>
              <a:t>provided</a:t>
            </a:r>
            <a:r>
              <a:rPr dirty="0" sz="4200">
                <a:latin typeface="Calibri"/>
                <a:cs typeface="Calibri"/>
              </a:rPr>
              <a:t> by</a:t>
            </a:r>
            <a:r>
              <a:rPr dirty="0" sz="4200" spc="-21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its</a:t>
            </a:r>
            <a:r>
              <a:rPr dirty="0" sz="4200" spc="-215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successors</a:t>
            </a:r>
            <a:endParaRPr sz="4200">
              <a:latin typeface="Calibri"/>
              <a:cs typeface="Calibri"/>
            </a:endParaRPr>
          </a:p>
          <a:p>
            <a:pPr algn="just" lvl="1" marL="12700" marR="21590" indent="2217420">
              <a:lnSpc>
                <a:spcPct val="86800"/>
              </a:lnSpc>
              <a:spcBef>
                <a:spcPts val="1490"/>
              </a:spcBef>
              <a:buAutoNum type="romanLcParenBoth" startAt="2"/>
              <a:tabLst>
                <a:tab pos="2230120" algn="l"/>
              </a:tabLst>
            </a:pPr>
            <a:r>
              <a:rPr dirty="0" sz="4300" spc="-25">
                <a:latin typeface="Calibri"/>
                <a:cs typeface="Calibri"/>
              </a:rPr>
              <a:t>Propagate</a:t>
            </a:r>
            <a:r>
              <a:rPr dirty="0" sz="4300" spc="160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this</a:t>
            </a:r>
            <a:r>
              <a:rPr dirty="0" sz="4300" spc="2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change</a:t>
            </a:r>
            <a:r>
              <a:rPr dirty="0" sz="4300" spc="90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backward</a:t>
            </a:r>
            <a:r>
              <a:rPr dirty="0" sz="4300" spc="19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through</a:t>
            </a:r>
            <a:r>
              <a:rPr dirty="0" sz="4300" spc="19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the</a:t>
            </a:r>
            <a:r>
              <a:rPr dirty="0" sz="4300" spc="60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graph.</a:t>
            </a:r>
            <a:r>
              <a:rPr dirty="0" sz="4300" spc="105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If</a:t>
            </a:r>
            <a:r>
              <a:rPr dirty="0" sz="4300" spc="70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any</a:t>
            </a:r>
            <a:r>
              <a:rPr dirty="0" sz="4300" spc="65">
                <a:latin typeface="Calibri"/>
                <a:cs typeface="Calibri"/>
              </a:rPr>
              <a:t> </a:t>
            </a:r>
            <a:r>
              <a:rPr dirty="0" sz="4300" spc="-20">
                <a:latin typeface="Calibri"/>
                <a:cs typeface="Calibri"/>
              </a:rPr>
              <a:t>node </a:t>
            </a:r>
            <a:r>
              <a:rPr dirty="0" sz="4300" spc="-10">
                <a:latin typeface="Calibri"/>
                <a:cs typeface="Calibri"/>
              </a:rPr>
              <a:t>contains</a:t>
            </a:r>
            <a:r>
              <a:rPr dirty="0" sz="4300" spc="200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a</a:t>
            </a:r>
            <a:r>
              <a:rPr dirty="0" sz="4300" spc="55">
                <a:latin typeface="Calibri"/>
                <a:cs typeface="Calibri"/>
              </a:rPr>
              <a:t> </a:t>
            </a:r>
            <a:r>
              <a:rPr dirty="0" sz="4300" spc="-20">
                <a:latin typeface="Calibri"/>
                <a:cs typeface="Calibri"/>
              </a:rPr>
              <a:t>successor</a:t>
            </a:r>
            <a:r>
              <a:rPr dirty="0" sz="4300" spc="254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arc</a:t>
            </a:r>
            <a:r>
              <a:rPr dirty="0" sz="4300" spc="70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whose</a:t>
            </a:r>
            <a:r>
              <a:rPr dirty="0" sz="4300" spc="175">
                <a:latin typeface="Calibri"/>
                <a:cs typeface="Calibri"/>
              </a:rPr>
              <a:t> </a:t>
            </a:r>
            <a:r>
              <a:rPr dirty="0" sz="4300" spc="-40">
                <a:solidFill>
                  <a:srgbClr val="0577BC"/>
                </a:solidFill>
                <a:latin typeface="Calibri"/>
                <a:cs typeface="Calibri"/>
              </a:rPr>
              <a:t>descendants</a:t>
            </a:r>
            <a:r>
              <a:rPr dirty="0" sz="4300" spc="335">
                <a:solidFill>
                  <a:srgbClr val="0577BC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0C79DB"/>
                </a:solidFill>
                <a:latin typeface="Calibri"/>
                <a:cs typeface="Calibri"/>
              </a:rPr>
              <a:t>are</a:t>
            </a:r>
            <a:r>
              <a:rPr dirty="0" sz="4300" spc="95">
                <a:solidFill>
                  <a:srgbClr val="0C79DB"/>
                </a:solidFill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0875C8"/>
                </a:solidFill>
                <a:latin typeface="Calibri"/>
                <a:cs typeface="Calibri"/>
              </a:rPr>
              <a:t>all</a:t>
            </a:r>
            <a:r>
              <a:rPr dirty="0" sz="4300" spc="100">
                <a:solidFill>
                  <a:srgbClr val="0875C8"/>
                </a:solidFill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solved,</a:t>
            </a:r>
            <a:r>
              <a:rPr dirty="0" sz="4300" spc="180">
                <a:latin typeface="Calibri"/>
                <a:cs typeface="Calibri"/>
              </a:rPr>
              <a:t> </a:t>
            </a:r>
            <a:r>
              <a:rPr dirty="0" sz="4300">
                <a:solidFill>
                  <a:srgbClr val="ED0E0F"/>
                </a:solidFill>
                <a:latin typeface="Calibri"/>
                <a:cs typeface="Calibri"/>
              </a:rPr>
              <a:t>label</a:t>
            </a:r>
            <a:r>
              <a:rPr dirty="0" sz="4300" spc="150">
                <a:solidFill>
                  <a:srgbClr val="ED0E0F"/>
                </a:solidFill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the</a:t>
            </a:r>
            <a:r>
              <a:rPr dirty="0" sz="4300" spc="20"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F41108"/>
                </a:solidFill>
                <a:latin typeface="Calibri"/>
                <a:cs typeface="Calibri"/>
              </a:rPr>
              <a:t>node </a:t>
            </a:r>
            <a:r>
              <a:rPr dirty="0" sz="4300" spc="-40">
                <a:latin typeface="Calibri"/>
                <a:cs typeface="Calibri"/>
              </a:rPr>
              <a:t>itself</a:t>
            </a:r>
            <a:r>
              <a:rPr dirty="0" sz="4300" spc="-150">
                <a:latin typeface="Calibri"/>
                <a:cs typeface="Calibri"/>
              </a:rPr>
              <a:t> </a:t>
            </a:r>
            <a:r>
              <a:rPr dirty="0" sz="4300" spc="-50">
                <a:solidFill>
                  <a:srgbClr val="FF0E26"/>
                </a:solidFill>
                <a:latin typeface="Calibri"/>
                <a:cs typeface="Calibri"/>
              </a:rPr>
              <a:t>as</a:t>
            </a:r>
            <a:r>
              <a:rPr dirty="0" sz="4300" spc="-195">
                <a:solidFill>
                  <a:srgbClr val="FF0E26"/>
                </a:solidFill>
                <a:latin typeface="Calibri"/>
                <a:cs typeface="Calibri"/>
              </a:rPr>
              <a:t> </a:t>
            </a:r>
            <a:r>
              <a:rPr dirty="0" sz="4300" spc="-55">
                <a:latin typeface="Calibri"/>
                <a:cs typeface="Calibri"/>
              </a:rPr>
              <a:t>SOLVEO.</a:t>
            </a:r>
            <a:endParaRPr sz="4300">
              <a:latin typeface="Calibri"/>
              <a:cs typeface="Calibri"/>
            </a:endParaRPr>
          </a:p>
          <a:p>
            <a:pPr algn="just" lvl="1" marL="12700" marR="43180" indent="1664335">
              <a:lnSpc>
                <a:spcPts val="4500"/>
              </a:lnSpc>
              <a:spcBef>
                <a:spcPts val="1500"/>
              </a:spcBef>
              <a:buSzPct val="97701"/>
              <a:buAutoNum type="romanLcParenBoth" startAt="2"/>
              <a:tabLst>
                <a:tab pos="1677035" algn="l"/>
              </a:tabLst>
            </a:pPr>
            <a:r>
              <a:rPr dirty="0" sz="4350" spc="-30">
                <a:latin typeface="Calibri"/>
                <a:cs typeface="Calibri"/>
              </a:rPr>
              <a:t>At</a:t>
            </a:r>
            <a:r>
              <a:rPr dirty="0" sz="4350" spc="-220">
                <a:latin typeface="Calibri"/>
                <a:cs typeface="Calibri"/>
              </a:rPr>
              <a:t> </a:t>
            </a:r>
            <a:r>
              <a:rPr dirty="0" sz="4350" spc="-95">
                <a:latin typeface="Calibri"/>
                <a:cs typeface="Calibri"/>
              </a:rPr>
              <a:t>each</a:t>
            </a:r>
            <a:r>
              <a:rPr dirty="0" sz="4350" spc="-145">
                <a:latin typeface="Calibri"/>
                <a:cs typeface="Calibri"/>
              </a:rPr>
              <a:t> </a:t>
            </a:r>
            <a:r>
              <a:rPr dirty="0" sz="4350" spc="-80">
                <a:latin typeface="Calibri"/>
                <a:cs typeface="Calibri"/>
              </a:rPr>
              <a:t>node</a:t>
            </a:r>
            <a:r>
              <a:rPr dirty="0" sz="4350" spc="-85">
                <a:latin typeface="Calibri"/>
                <a:cs typeface="Calibri"/>
              </a:rPr>
              <a:t> </a:t>
            </a:r>
            <a:r>
              <a:rPr dirty="0" sz="4350" spc="-105">
                <a:latin typeface="Calibri"/>
                <a:cs typeface="Calibri"/>
              </a:rPr>
              <a:t>that</a:t>
            </a:r>
            <a:r>
              <a:rPr dirty="0" sz="4350" spc="-11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is</a:t>
            </a:r>
            <a:r>
              <a:rPr dirty="0" sz="4350" spc="-190">
                <a:latin typeface="Calibri"/>
                <a:cs typeface="Calibri"/>
              </a:rPr>
              <a:t> </a:t>
            </a:r>
            <a:r>
              <a:rPr dirty="0" sz="4350" spc="-100">
                <a:latin typeface="Calibri"/>
                <a:cs typeface="Calibri"/>
              </a:rPr>
              <a:t>visited </a:t>
            </a:r>
            <a:r>
              <a:rPr dirty="0" sz="4350" spc="-75">
                <a:latin typeface="Calibri"/>
                <a:cs typeface="Calibri"/>
              </a:rPr>
              <a:t>while</a:t>
            </a:r>
            <a:r>
              <a:rPr dirty="0" sz="4350" spc="-165">
                <a:latin typeface="Calibri"/>
                <a:cs typeface="Calibri"/>
              </a:rPr>
              <a:t> </a:t>
            </a:r>
            <a:r>
              <a:rPr dirty="0" sz="4350" spc="-114">
                <a:latin typeface="Calibri"/>
                <a:cs typeface="Calibri"/>
              </a:rPr>
              <a:t>going</a:t>
            </a:r>
            <a:r>
              <a:rPr dirty="0" sz="4350" spc="-13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up</a:t>
            </a:r>
            <a:r>
              <a:rPr dirty="0" sz="4350" spc="-180">
                <a:latin typeface="Calibri"/>
                <a:cs typeface="Calibri"/>
              </a:rPr>
              <a:t> </a:t>
            </a:r>
            <a:r>
              <a:rPr dirty="0" sz="4350" spc="-85">
                <a:latin typeface="Calibri"/>
                <a:cs typeface="Calibri"/>
              </a:rPr>
              <a:t>the</a:t>
            </a:r>
            <a:r>
              <a:rPr dirty="0" sz="4350" spc="-165">
                <a:latin typeface="Calibri"/>
                <a:cs typeface="Calibri"/>
              </a:rPr>
              <a:t> </a:t>
            </a:r>
            <a:r>
              <a:rPr dirty="0" sz="4350" spc="-114">
                <a:latin typeface="Calibri"/>
                <a:cs typeface="Calibri"/>
              </a:rPr>
              <a:t>graph,</a:t>
            </a:r>
            <a:r>
              <a:rPr dirty="0" sz="4350" spc="-30">
                <a:latin typeface="Calibri"/>
                <a:cs typeface="Calibri"/>
              </a:rPr>
              <a:t> </a:t>
            </a:r>
            <a:r>
              <a:rPr dirty="0" sz="4350" spc="-110">
                <a:latin typeface="Calibri"/>
                <a:cs typeface="Calibri"/>
              </a:rPr>
              <a:t>decide</a:t>
            </a:r>
            <a:r>
              <a:rPr dirty="0" sz="4350" spc="-140">
                <a:latin typeface="Calibri"/>
                <a:cs typeface="Calibri"/>
              </a:rPr>
              <a:t> </a:t>
            </a:r>
            <a:r>
              <a:rPr dirty="0" sz="4350" spc="-90">
                <a:latin typeface="Calibri"/>
                <a:cs typeface="Calibri"/>
              </a:rPr>
              <a:t>which</a:t>
            </a:r>
            <a:r>
              <a:rPr dirty="0" sz="4350" spc="-155">
                <a:latin typeface="Calibri"/>
                <a:cs typeface="Calibri"/>
              </a:rPr>
              <a:t> </a:t>
            </a:r>
            <a:r>
              <a:rPr dirty="0" sz="4350" spc="-25">
                <a:latin typeface="Calibri"/>
                <a:cs typeface="Calibri"/>
              </a:rPr>
              <a:t>of </a:t>
            </a:r>
            <a:r>
              <a:rPr dirty="0" sz="4350">
                <a:latin typeface="Calibri"/>
                <a:cs typeface="Calibri"/>
              </a:rPr>
              <a:t>its</a:t>
            </a:r>
            <a:r>
              <a:rPr dirty="0" sz="4350" spc="80">
                <a:latin typeface="Calibri"/>
                <a:cs typeface="Calibri"/>
              </a:rPr>
              <a:t> </a:t>
            </a:r>
            <a:r>
              <a:rPr dirty="0" sz="4350" spc="-30">
                <a:latin typeface="Calibri"/>
                <a:cs typeface="Calibri"/>
              </a:rPr>
              <a:t>successor</a:t>
            </a:r>
            <a:r>
              <a:rPr dirty="0" sz="4350" spc="254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arcs</a:t>
            </a:r>
            <a:r>
              <a:rPr dirty="0" sz="4350" spc="8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is</a:t>
            </a:r>
            <a:r>
              <a:rPr dirty="0" sz="4350" spc="2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the</a:t>
            </a:r>
            <a:r>
              <a:rPr dirty="0" sz="4350" spc="10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most</a:t>
            </a:r>
            <a:r>
              <a:rPr dirty="0" sz="4350" spc="140">
                <a:latin typeface="Calibri"/>
                <a:cs typeface="Calibri"/>
              </a:rPr>
              <a:t> </a:t>
            </a:r>
            <a:r>
              <a:rPr dirty="0" sz="4350" spc="-45">
                <a:latin typeface="Calibri"/>
                <a:cs typeface="Calibri"/>
              </a:rPr>
              <a:t>promising</a:t>
            </a:r>
            <a:r>
              <a:rPr dirty="0" sz="4350" spc="31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and</a:t>
            </a:r>
            <a:r>
              <a:rPr dirty="0" sz="4350" spc="10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mark</a:t>
            </a:r>
            <a:r>
              <a:rPr dirty="0" sz="4350" spc="12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it</a:t>
            </a:r>
            <a:r>
              <a:rPr dirty="0" sz="4350" spc="2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as</a:t>
            </a:r>
            <a:r>
              <a:rPr dirty="0" sz="4350" spc="3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part</a:t>
            </a:r>
            <a:r>
              <a:rPr dirty="0" sz="4350" spc="11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of</a:t>
            </a:r>
            <a:r>
              <a:rPr dirty="0" sz="4350" spc="15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the</a:t>
            </a:r>
            <a:r>
              <a:rPr dirty="0" sz="4350" spc="30">
                <a:latin typeface="Calibri"/>
                <a:cs typeface="Calibri"/>
              </a:rPr>
              <a:t> </a:t>
            </a:r>
            <a:r>
              <a:rPr dirty="0" sz="4350" spc="-45">
                <a:latin typeface="Calibri"/>
                <a:cs typeface="Calibri"/>
              </a:rPr>
              <a:t>current </a:t>
            </a:r>
            <a:r>
              <a:rPr dirty="0" sz="4350" spc="-110">
                <a:latin typeface="Calibri"/>
                <a:cs typeface="Calibri"/>
              </a:rPr>
              <a:t>best</a:t>
            </a:r>
            <a:r>
              <a:rPr dirty="0" sz="4350" spc="-140">
                <a:latin typeface="Calibri"/>
                <a:cs typeface="Calibri"/>
              </a:rPr>
              <a:t> </a:t>
            </a:r>
            <a:r>
              <a:rPr dirty="0" sz="4350" spc="-100">
                <a:latin typeface="Calibri"/>
                <a:cs typeface="Calibri"/>
              </a:rPr>
              <a:t>path,</a:t>
            </a:r>
            <a:r>
              <a:rPr dirty="0" sz="4350" spc="-145">
                <a:latin typeface="Calibri"/>
                <a:cs typeface="Calibri"/>
              </a:rPr>
              <a:t> </a:t>
            </a:r>
            <a:r>
              <a:rPr dirty="0" sz="4350" spc="-100">
                <a:latin typeface="Calibri"/>
                <a:cs typeface="Calibri"/>
              </a:rPr>
              <a:t>This</a:t>
            </a:r>
            <a:r>
              <a:rPr dirty="0" sz="4350" spc="-150">
                <a:latin typeface="Calibri"/>
                <a:cs typeface="Calibri"/>
              </a:rPr>
              <a:t> </a:t>
            </a:r>
            <a:r>
              <a:rPr dirty="0" sz="4350" spc="-180">
                <a:latin typeface="Calibri"/>
                <a:cs typeface="Calibri"/>
              </a:rPr>
              <a:t>may</a:t>
            </a:r>
            <a:r>
              <a:rPr dirty="0" sz="4350" spc="-60">
                <a:latin typeface="Calibri"/>
                <a:cs typeface="Calibri"/>
              </a:rPr>
              <a:t> </a:t>
            </a:r>
            <a:r>
              <a:rPr dirty="0" sz="4350" spc="-100">
                <a:latin typeface="Calibri"/>
                <a:cs typeface="Calibri"/>
              </a:rPr>
              <a:t>cause</a:t>
            </a:r>
            <a:r>
              <a:rPr dirty="0" sz="4350" spc="-145">
                <a:latin typeface="Calibri"/>
                <a:cs typeface="Calibri"/>
              </a:rPr>
              <a:t> </a:t>
            </a:r>
            <a:r>
              <a:rPr dirty="0" sz="4350" spc="-120">
                <a:latin typeface="Calibri"/>
                <a:cs typeface="Calibri"/>
              </a:rPr>
              <a:t>the</a:t>
            </a:r>
            <a:r>
              <a:rPr dirty="0" sz="4350" spc="-125">
                <a:latin typeface="Calibri"/>
                <a:cs typeface="Calibri"/>
              </a:rPr>
              <a:t> </a:t>
            </a:r>
            <a:r>
              <a:rPr dirty="0" sz="4350" spc="-105">
                <a:latin typeface="Calibri"/>
                <a:cs typeface="Calibri"/>
              </a:rPr>
              <a:t>current</a:t>
            </a:r>
            <a:r>
              <a:rPr dirty="0" sz="4350" spc="-50">
                <a:latin typeface="Calibri"/>
                <a:cs typeface="Calibri"/>
              </a:rPr>
              <a:t> </a:t>
            </a:r>
            <a:r>
              <a:rPr dirty="0" sz="4350" spc="-85">
                <a:latin typeface="Calibri"/>
                <a:cs typeface="Calibri"/>
              </a:rPr>
              <a:t>best</a:t>
            </a:r>
            <a:r>
              <a:rPr dirty="0" sz="4350" spc="-105">
                <a:latin typeface="Calibri"/>
                <a:cs typeface="Calibri"/>
              </a:rPr>
              <a:t> </a:t>
            </a:r>
            <a:r>
              <a:rPr dirty="0" sz="4350" spc="-130">
                <a:latin typeface="Calibri"/>
                <a:cs typeface="Calibri"/>
              </a:rPr>
              <a:t>path</a:t>
            </a:r>
            <a:r>
              <a:rPr dirty="0" sz="4350" spc="-95">
                <a:latin typeface="Calibri"/>
                <a:cs typeface="Calibri"/>
              </a:rPr>
              <a:t> </a:t>
            </a:r>
            <a:r>
              <a:rPr dirty="0" sz="4350" spc="-85">
                <a:latin typeface="Calibri"/>
                <a:cs typeface="Calibri"/>
              </a:rPr>
              <a:t>to</a:t>
            </a:r>
            <a:r>
              <a:rPr dirty="0" sz="4350" spc="-160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change.</a:t>
            </a:r>
            <a:endParaRPr sz="4350">
              <a:latin typeface="Calibri"/>
              <a:cs typeface="Calibri"/>
            </a:endParaRPr>
          </a:p>
          <a:p>
            <a:pPr algn="just" lvl="1" marL="15875" marR="5080" indent="2093595">
              <a:lnSpc>
                <a:spcPct val="90800"/>
              </a:lnSpc>
              <a:spcBef>
                <a:spcPts val="1375"/>
              </a:spcBef>
              <a:buAutoNum type="romanLcParenBoth" startAt="2"/>
              <a:tabLst>
                <a:tab pos="2109470" algn="l"/>
              </a:tabLst>
            </a:pPr>
            <a:r>
              <a:rPr dirty="0" sz="4150">
                <a:latin typeface="Calibri"/>
                <a:cs typeface="Calibri"/>
              </a:rPr>
              <a:t>This</a:t>
            </a:r>
            <a:r>
              <a:rPr dirty="0" sz="4150" spc="-2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propagañon</a:t>
            </a:r>
            <a:r>
              <a:rPr dirty="0" sz="4150" spc="1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of</a:t>
            </a:r>
            <a:r>
              <a:rPr dirty="0" sz="4150" spc="-6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revised</a:t>
            </a:r>
            <a:r>
              <a:rPr dirty="0" sz="4150" spc="2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cost esñmates</a:t>
            </a:r>
            <a:r>
              <a:rPr dirty="0" sz="4150" spc="12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back</a:t>
            </a:r>
            <a:r>
              <a:rPr dirty="0" sz="4150" spc="1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up</a:t>
            </a:r>
            <a:r>
              <a:rPr dirty="0" sz="4150" spc="-9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-9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tree</a:t>
            </a:r>
            <a:r>
              <a:rPr dirty="0" sz="4150" spc="-9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was</a:t>
            </a:r>
            <a:r>
              <a:rPr dirty="0" sz="4150" spc="-100">
                <a:latin typeface="Calibri"/>
                <a:cs typeface="Calibri"/>
              </a:rPr>
              <a:t> </a:t>
            </a:r>
            <a:r>
              <a:rPr dirty="0" sz="4150" spc="-25">
                <a:latin typeface="Calibri"/>
                <a:cs typeface="Calibri"/>
              </a:rPr>
              <a:t>not </a:t>
            </a:r>
            <a:r>
              <a:rPr dirty="0" sz="4050">
                <a:latin typeface="Calibri"/>
                <a:cs typeface="Calibri"/>
              </a:rPr>
              <a:t>necessary</a:t>
            </a:r>
            <a:r>
              <a:rPr dirty="0" sz="4050" spc="560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in</a:t>
            </a:r>
            <a:r>
              <a:rPr dirty="0" sz="4050" spc="225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the</a:t>
            </a:r>
            <a:r>
              <a:rPr dirty="0" sz="4050" spc="315">
                <a:latin typeface="Calibri"/>
                <a:cs typeface="Calibri"/>
              </a:rPr>
              <a:t> </a:t>
            </a:r>
            <a:r>
              <a:rPr dirty="0" sz="4050" spc="-55">
                <a:latin typeface="Calibri"/>
                <a:cs typeface="Calibri"/>
              </a:rPr>
              <a:t>best-</a:t>
            </a:r>
            <a:r>
              <a:rPr dirty="0" sz="4050">
                <a:latin typeface="Calibri"/>
                <a:cs typeface="Calibri"/>
              </a:rPr>
              <a:t>first</a:t>
            </a:r>
            <a:r>
              <a:rPr dirty="0" sz="4050" spc="505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search</a:t>
            </a:r>
            <a:r>
              <a:rPr dirty="0" sz="4050" spc="390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algorithm</a:t>
            </a:r>
            <a:r>
              <a:rPr dirty="0" sz="4050" spc="445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because</a:t>
            </a:r>
            <a:r>
              <a:rPr dirty="0" sz="4050" spc="380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only</a:t>
            </a:r>
            <a:r>
              <a:rPr dirty="0" sz="4050" spc="325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unexpanded</a:t>
            </a:r>
            <a:r>
              <a:rPr dirty="0" sz="4050" spc="605">
                <a:latin typeface="Calibri"/>
                <a:cs typeface="Calibri"/>
              </a:rPr>
              <a:t> </a:t>
            </a:r>
            <a:r>
              <a:rPr dirty="0" sz="4050" spc="-10">
                <a:latin typeface="Calibri"/>
                <a:cs typeface="Calibri"/>
              </a:rPr>
              <a:t>nodes </a:t>
            </a:r>
            <a:r>
              <a:rPr dirty="0" sz="4100">
                <a:latin typeface="Calibri"/>
                <a:cs typeface="Calibri"/>
              </a:rPr>
              <a:t>were</a:t>
            </a:r>
            <a:r>
              <a:rPr dirty="0" sz="4100" spc="44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examined.</a:t>
            </a:r>
            <a:r>
              <a:rPr dirty="0" sz="4100" spc="65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But</a:t>
            </a:r>
            <a:r>
              <a:rPr dirty="0" sz="4100" spc="45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now</a:t>
            </a:r>
            <a:r>
              <a:rPr dirty="0" sz="4100" spc="475">
                <a:latin typeface="Calibri"/>
                <a:cs typeface="Calibri"/>
              </a:rPr>
              <a:t> </a:t>
            </a:r>
            <a:r>
              <a:rPr dirty="0" sz="4100">
                <a:solidFill>
                  <a:srgbClr val="EF0803"/>
                </a:solidFill>
                <a:latin typeface="Calibri"/>
                <a:cs typeface="Calibri"/>
              </a:rPr>
              <a:t>expanded</a:t>
            </a:r>
            <a:r>
              <a:rPr dirty="0" sz="4100" spc="650">
                <a:solidFill>
                  <a:srgbClr val="EF0803"/>
                </a:solidFill>
                <a:latin typeface="Calibri"/>
                <a:cs typeface="Calibri"/>
              </a:rPr>
              <a:t> </a:t>
            </a:r>
            <a:r>
              <a:rPr dirty="0" sz="4100">
                <a:solidFill>
                  <a:srgbClr val="F20C16"/>
                </a:solidFill>
                <a:latin typeface="Calibri"/>
                <a:cs typeface="Calibri"/>
              </a:rPr>
              <a:t>nodes</a:t>
            </a:r>
            <a:r>
              <a:rPr dirty="0" sz="4100" spc="575">
                <a:solidFill>
                  <a:srgbClr val="F20C16"/>
                </a:solidFill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must</a:t>
            </a:r>
            <a:r>
              <a:rPr dirty="0" sz="4100" spc="40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be</a:t>
            </a:r>
            <a:r>
              <a:rPr dirty="0" sz="4100" spc="400">
                <a:latin typeface="Calibri"/>
                <a:cs typeface="Calibri"/>
              </a:rPr>
              <a:t> </a:t>
            </a:r>
            <a:r>
              <a:rPr dirty="0" sz="4100">
                <a:solidFill>
                  <a:srgbClr val="0C69A3"/>
                </a:solidFill>
                <a:latin typeface="Calibri"/>
                <a:cs typeface="Calibri"/>
              </a:rPr>
              <a:t>reexamined</a:t>
            </a:r>
            <a:r>
              <a:rPr dirty="0" sz="4100" spc="835">
                <a:solidFill>
                  <a:srgbClr val="0C69A3"/>
                </a:solidFill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so</a:t>
            </a:r>
            <a:r>
              <a:rPr dirty="0" sz="4100" spc="44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that</a:t>
            </a:r>
            <a:r>
              <a:rPr dirty="0" sz="4100" spc="505">
                <a:latin typeface="Calibri"/>
                <a:cs typeface="Calibri"/>
              </a:rPr>
              <a:t> </a:t>
            </a:r>
            <a:r>
              <a:rPr dirty="0" sz="4100" spc="-25">
                <a:latin typeface="Calibri"/>
                <a:cs typeface="Calibri"/>
              </a:rPr>
              <a:t>the </a:t>
            </a:r>
            <a:r>
              <a:rPr dirty="0" sz="4150">
                <a:latin typeface="Calibri"/>
                <a:cs typeface="Calibri"/>
              </a:rPr>
              <a:t>best</a:t>
            </a:r>
            <a:r>
              <a:rPr dirty="0" sz="4150" spc="9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current</a:t>
            </a:r>
            <a:r>
              <a:rPr dirty="0" sz="4150" spc="2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path</a:t>
            </a:r>
            <a:r>
              <a:rPr dirty="0" sz="4150" spc="6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can</a:t>
            </a:r>
            <a:r>
              <a:rPr dirty="0" sz="4150" spc="10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be</a:t>
            </a:r>
            <a:r>
              <a:rPr dirty="0" sz="4150" spc="12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selected.</a:t>
            </a:r>
            <a:r>
              <a:rPr dirty="0" sz="4150" spc="22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Thus</a:t>
            </a:r>
            <a:r>
              <a:rPr dirty="0" sz="4150" spc="10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it</a:t>
            </a:r>
            <a:r>
              <a:rPr dirty="0" sz="4150" spc="-3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is</a:t>
            </a:r>
            <a:r>
              <a:rPr dirty="0" sz="4150" spc="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important</a:t>
            </a:r>
            <a:r>
              <a:rPr dirty="0" sz="4150" spc="31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that</a:t>
            </a:r>
            <a:r>
              <a:rPr dirty="0" sz="4150" spc="17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their</a:t>
            </a:r>
            <a:r>
              <a:rPr dirty="0" sz="4150" spc="35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f’</a:t>
            </a:r>
            <a:r>
              <a:rPr dirty="0" sz="4150" spc="-4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values</a:t>
            </a:r>
            <a:r>
              <a:rPr dirty="0" sz="4150" spc="200">
                <a:latin typeface="Calibri"/>
                <a:cs typeface="Calibri"/>
              </a:rPr>
              <a:t> </a:t>
            </a:r>
            <a:r>
              <a:rPr dirty="0" sz="4150" spc="-25">
                <a:latin typeface="Calibri"/>
                <a:cs typeface="Calibri"/>
              </a:rPr>
              <a:t>be </a:t>
            </a:r>
            <a:r>
              <a:rPr dirty="0" sz="4200">
                <a:latin typeface="Calibri"/>
                <a:cs typeface="Calibri"/>
              </a:rPr>
              <a:t>the</a:t>
            </a:r>
            <a:r>
              <a:rPr dirty="0" sz="4200" spc="-240">
                <a:latin typeface="Calibri"/>
                <a:cs typeface="Calibri"/>
              </a:rPr>
              <a:t> </a:t>
            </a:r>
            <a:r>
              <a:rPr dirty="0" sz="4200" spc="-25">
                <a:latin typeface="Calibri"/>
                <a:cs typeface="Calibri"/>
              </a:rPr>
              <a:t>best</a:t>
            </a:r>
            <a:r>
              <a:rPr dirty="0" sz="4200" spc="-210">
                <a:latin typeface="Calibri"/>
                <a:cs typeface="Calibri"/>
              </a:rPr>
              <a:t> </a:t>
            </a:r>
            <a:r>
              <a:rPr dirty="0" sz="4200" spc="-20">
                <a:latin typeface="Calibri"/>
                <a:cs typeface="Calibri"/>
              </a:rPr>
              <a:t>esñmates</a:t>
            </a:r>
            <a:r>
              <a:rPr dirty="0" sz="4200" spc="-65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available</a:t>
            </a:r>
            <a:endParaRPr sz="4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609600"/>
            <a:ext cx="16078200" cy="10210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325" y="10153650"/>
            <a:ext cx="266700" cy="3714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87100" y="10172700"/>
            <a:ext cx="885825" cy="4667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73025" y="10172700"/>
            <a:ext cx="1304925" cy="3524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6500" y="4105275"/>
            <a:ext cx="5895975" cy="548640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0563225" y="4105275"/>
            <a:ext cx="7315200" cy="5686425"/>
            <a:chOff x="10563225" y="4105275"/>
            <a:chExt cx="7315200" cy="5686425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3225" y="4105275"/>
              <a:ext cx="6400800" cy="56864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97200" y="7400925"/>
              <a:ext cx="2181225" cy="352425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9900" y="5705475"/>
            <a:ext cx="447675" cy="52387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90725" y="7239000"/>
            <a:ext cx="1981200" cy="7620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7350" rIns="0" bIns="0" rtlCol="0" vert="horz">
            <a:spAutoFit/>
          </a:bodyPr>
          <a:lstStyle/>
          <a:p>
            <a:pPr marL="820419">
              <a:lnSpc>
                <a:spcPct val="100000"/>
              </a:lnSpc>
              <a:spcBef>
                <a:spcPts val="100"/>
              </a:spcBef>
            </a:pPr>
            <a:r>
              <a:rPr dirty="0" sz="6200" spc="-175" i="1">
                <a:latin typeface="Calibri"/>
                <a:cs typeface="Calibri"/>
              </a:rPr>
              <a:t>Difierencefrom</a:t>
            </a:r>
            <a:r>
              <a:rPr dirty="0" sz="6200" spc="-200" i="1">
                <a:latin typeface="Calibri"/>
                <a:cs typeface="Calibri"/>
              </a:rPr>
              <a:t> </a:t>
            </a:r>
            <a:r>
              <a:rPr dirty="0" sz="6200" spc="-370" i="1">
                <a:latin typeface="Calibri"/>
                <a:cs typeface="Calibri"/>
              </a:rPr>
              <a:t>Best-</a:t>
            </a:r>
            <a:r>
              <a:rPr dirty="0" sz="6200" spc="-325" i="1">
                <a:latin typeface="Calibri"/>
                <a:cs typeface="Calibri"/>
              </a:rPr>
              <a:t>First</a:t>
            </a:r>
            <a:endParaRPr sz="6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68102" y="1979612"/>
            <a:ext cx="10292080" cy="13182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 marR="5080" indent="5080">
              <a:lnSpc>
                <a:spcPts val="4840"/>
              </a:lnSpc>
              <a:spcBef>
                <a:spcPts val="675"/>
              </a:spcBef>
              <a:tabLst>
                <a:tab pos="2851785" algn="l"/>
                <a:tab pos="5383530" algn="l"/>
                <a:tab pos="7799705" algn="l"/>
              </a:tabLst>
            </a:pP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370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desired</a:t>
            </a:r>
            <a:r>
              <a:rPr dirty="0" sz="4450">
                <a:latin typeface="Calibri"/>
                <a:cs typeface="Calibri"/>
              </a:rPr>
              <a:t>	path</a:t>
            </a:r>
            <a:r>
              <a:rPr dirty="0" sz="4450" spc="295">
                <a:latin typeface="Calibri"/>
                <a:cs typeface="Calibri"/>
              </a:rPr>
              <a:t> </a:t>
            </a:r>
            <a:r>
              <a:rPr dirty="0" sz="4450" spc="-20">
                <a:latin typeface="Calibri"/>
                <a:cs typeface="Calibri"/>
              </a:rPr>
              <a:t>from</a:t>
            </a:r>
            <a:r>
              <a:rPr dirty="0" sz="4450">
                <a:latin typeface="Calibri"/>
                <a:cs typeface="Calibri"/>
              </a:rPr>
              <a:t>	one</a:t>
            </a:r>
            <a:r>
              <a:rPr dirty="0" sz="4450" spc="355">
                <a:latin typeface="Calibri"/>
                <a:cs typeface="Calibri"/>
              </a:rPr>
              <a:t> </a:t>
            </a:r>
            <a:r>
              <a:rPr dirty="0" sz="4450" spc="-20">
                <a:latin typeface="Calibri"/>
                <a:cs typeface="Calibri"/>
              </a:rPr>
              <a:t>node</a:t>
            </a:r>
            <a:r>
              <a:rPr dirty="0" sz="4450">
                <a:latin typeface="Calibri"/>
                <a:cs typeface="Calibri"/>
              </a:rPr>
              <a:t>	to</a:t>
            </a:r>
            <a:r>
              <a:rPr dirty="0" sz="4450" spc="375">
                <a:latin typeface="Calibri"/>
                <a:cs typeface="Calibri"/>
              </a:rPr>
              <a:t> </a:t>
            </a:r>
            <a:r>
              <a:rPr dirty="0" sz="4450" spc="-30">
                <a:latin typeface="Calibri"/>
                <a:cs typeface="Calibri"/>
              </a:rPr>
              <a:t>another </a:t>
            </a:r>
            <a:r>
              <a:rPr dirty="0" sz="4450">
                <a:latin typeface="Calibri"/>
                <a:cs typeface="Calibri"/>
              </a:rPr>
              <a:t>with</a:t>
            </a:r>
            <a:r>
              <a:rPr dirty="0" sz="4450" spc="-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45"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1670A1"/>
                </a:solidFill>
                <a:latin typeface="Calibri"/>
                <a:cs typeface="Calibri"/>
              </a:rPr>
              <a:t>lowest</a:t>
            </a:r>
            <a:r>
              <a:rPr dirty="0" sz="4450" spc="114">
                <a:solidFill>
                  <a:srgbClr val="1670A1"/>
                </a:solidFill>
                <a:latin typeface="Calibri"/>
                <a:cs typeface="Calibri"/>
              </a:rPr>
              <a:t> </a:t>
            </a:r>
            <a:r>
              <a:rPr dirty="0" sz="4450" spc="-20">
                <a:solidFill>
                  <a:srgbClr val="0A6BBA"/>
                </a:solidFill>
                <a:latin typeface="Calibri"/>
                <a:cs typeface="Calibri"/>
              </a:rPr>
              <a:t>cost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137081" y="1979612"/>
            <a:ext cx="5880735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5090" algn="l"/>
                <a:tab pos="2324735" algn="l"/>
                <a:tab pos="4046220" algn="l"/>
              </a:tabLst>
            </a:pPr>
            <a:r>
              <a:rPr dirty="0" sz="4450" spc="-20">
                <a:solidFill>
                  <a:srgbClr val="28749C"/>
                </a:solidFill>
                <a:latin typeface="Calibri"/>
                <a:cs typeface="Calibri"/>
              </a:rPr>
              <a:t>need</a:t>
            </a:r>
            <a:r>
              <a:rPr dirty="0" sz="4450">
                <a:solidFill>
                  <a:srgbClr val="28749C"/>
                </a:solidFill>
                <a:latin typeface="Calibri"/>
                <a:cs typeface="Calibri"/>
              </a:rPr>
              <a:t>	</a:t>
            </a:r>
            <a:r>
              <a:rPr dirty="0" sz="4450" spc="-25">
                <a:solidFill>
                  <a:srgbClr val="0F6099"/>
                </a:solidFill>
                <a:latin typeface="Calibri"/>
                <a:cs typeface="Calibri"/>
              </a:rPr>
              <a:t>not</a:t>
            </a:r>
            <a:r>
              <a:rPr dirty="0" sz="4450">
                <a:solidFill>
                  <a:srgbClr val="0F6099"/>
                </a:solidFill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always</a:t>
            </a:r>
            <a:r>
              <a:rPr dirty="0" sz="4450">
                <a:latin typeface="Calibri"/>
                <a:cs typeface="Calibri"/>
              </a:rPr>
              <a:t>	the</a:t>
            </a:r>
            <a:r>
              <a:rPr dirty="0" sz="4450" spc="395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one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074062" y="7253287"/>
            <a:ext cx="222186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175">
                <a:latin typeface="Arial MT"/>
                <a:cs typeface="Arial MT"/>
              </a:rPr>
              <a:t>Unsolvabte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40027" y="9936162"/>
            <a:ext cx="17005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55">
                <a:latin typeface="Calibri"/>
                <a:cs typeface="Calibri"/>
              </a:rPr>
              <a:t>Fig.</a:t>
            </a:r>
            <a:r>
              <a:rPr dirty="0" sz="4500" spc="-10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3.9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334941" y="9936162"/>
            <a:ext cx="259397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i="1">
                <a:latin typeface="Calibri"/>
                <a:cs typeface="Calibri"/>
              </a:rPr>
              <a:t>Larger</a:t>
            </a:r>
            <a:r>
              <a:rPr dirty="0" sz="4500" spc="-170" i="1">
                <a:latin typeface="Calibri"/>
                <a:cs typeface="Calibri"/>
              </a:rPr>
              <a:t> </a:t>
            </a:r>
            <a:r>
              <a:rPr dirty="0" sz="4500" spc="-200" i="1">
                <a:latin typeface="Calibri"/>
                <a:cs typeface="Calibri"/>
              </a:rPr>
              <a:t>Path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090258" y="9936162"/>
            <a:ext cx="55562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75" i="1">
                <a:latin typeface="Calibri"/>
                <a:cs typeface="Calibri"/>
              </a:rPr>
              <a:t>8«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105" i="1">
                <a:latin typeface="Calibri"/>
                <a:cs typeface="Calibri"/>
              </a:rPr>
              <a:t>Limitafion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8928" y="1966912"/>
            <a:ext cx="7590155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50" i="1">
                <a:latin typeface="Calibri"/>
                <a:cs typeface="Calibri"/>
              </a:rPr>
              <a:t>No</a:t>
            </a:r>
            <a:r>
              <a:rPr dirty="0" sz="4550" spc="-190" i="1">
                <a:latin typeface="Calibri"/>
                <a:cs typeface="Calibri"/>
              </a:rPr>
              <a:t> </a:t>
            </a:r>
            <a:r>
              <a:rPr dirty="0" sz="4550" spc="-30">
                <a:latin typeface="Calibri"/>
                <a:cs typeface="Calibri"/>
              </a:rPr>
              <a:t>interacùon</a:t>
            </a:r>
            <a:r>
              <a:rPr dirty="0" sz="4550" spc="-4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between</a:t>
            </a:r>
            <a:r>
              <a:rPr dirty="0" sz="4550" spc="-100">
                <a:latin typeface="Calibri"/>
                <a:cs typeface="Calibri"/>
              </a:rPr>
              <a:t> </a:t>
            </a:r>
            <a:r>
              <a:rPr dirty="0" sz="4550" spc="-65">
                <a:latin typeface="Calibri"/>
                <a:cs typeface="Calibri"/>
              </a:rPr>
              <a:t>subgoals</a:t>
            </a:r>
            <a:endParaRPr sz="4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5287" rIns="0" bIns="0" rtlCol="0" vert="horz">
            <a:spAutoFit/>
          </a:bodyPr>
          <a:lstStyle/>
          <a:p>
            <a:pPr marL="812165">
              <a:lnSpc>
                <a:spcPct val="100000"/>
              </a:lnSpc>
              <a:spcBef>
                <a:spcPts val="100"/>
              </a:spcBef>
            </a:pPr>
            <a:r>
              <a:rPr dirty="0" sz="6100" spc="-335" i="1">
                <a:latin typeface="Calibri"/>
                <a:cs typeface="Calibri"/>
              </a:rPr>
              <a:t>The</a:t>
            </a:r>
            <a:r>
              <a:rPr dirty="0" sz="6100" spc="-75" i="1">
                <a:latin typeface="Calibri"/>
                <a:cs typeface="Calibri"/>
              </a:rPr>
              <a:t> </a:t>
            </a:r>
            <a:r>
              <a:rPr dirty="0" sz="6100" spc="-80" i="1">
                <a:latin typeface="Calibri"/>
                <a:cs typeface="Calibri"/>
              </a:rPr>
              <a:t>AO’Algorithm</a:t>
            </a:r>
            <a:r>
              <a:rPr dirty="0" sz="6100" spc="15" i="1">
                <a:latin typeface="Calibri"/>
                <a:cs typeface="Calibri"/>
              </a:rPr>
              <a:t> </a:t>
            </a:r>
            <a:r>
              <a:rPr dirty="0" sz="6100" spc="-345" i="1">
                <a:latin typeface="Calibri"/>
                <a:cs typeface="Calibri"/>
              </a:rPr>
              <a:t>(More</a:t>
            </a:r>
            <a:r>
              <a:rPr dirty="0" sz="6100" spc="5" i="1">
                <a:latin typeface="Calibri"/>
                <a:cs typeface="Calibri"/>
              </a:rPr>
              <a:t> </a:t>
            </a:r>
            <a:r>
              <a:rPr dirty="0" sz="6100" spc="-290" i="1">
                <a:latin typeface="Calibri"/>
                <a:cs typeface="Calibri"/>
              </a:rPr>
              <a:t>generic</a:t>
            </a:r>
            <a:r>
              <a:rPr dirty="0" sz="6100" spc="-55" i="1">
                <a:latin typeface="Calibri"/>
                <a:cs typeface="Calibri"/>
              </a:rPr>
              <a:t> </a:t>
            </a:r>
            <a:r>
              <a:rPr dirty="0" sz="6100" spc="-430" i="1">
                <a:latin typeface="Calibri"/>
                <a:cs typeface="Calibri"/>
              </a:rPr>
              <a:t>AND/OR</a:t>
            </a:r>
            <a:r>
              <a:rPr dirty="0" sz="6100" spc="114" i="1">
                <a:latin typeface="Calibri"/>
                <a:cs typeface="Calibri"/>
              </a:rPr>
              <a:t> </a:t>
            </a:r>
            <a:r>
              <a:rPr dirty="0" sz="6100" spc="-335" i="1">
                <a:latin typeface="Calibri"/>
                <a:cs typeface="Calibri"/>
              </a:rPr>
              <a:t>Search)</a:t>
            </a:r>
            <a:endParaRPr sz="6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9251" y="1960562"/>
            <a:ext cx="16545560" cy="541718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833119" marR="13335" indent="-819150">
              <a:lnSpc>
                <a:spcPts val="4840"/>
              </a:lnSpc>
              <a:spcBef>
                <a:spcPts val="825"/>
              </a:spcBef>
              <a:buAutoNum type="arabicPeriod"/>
              <a:tabLst>
                <a:tab pos="837565" algn="l"/>
              </a:tabLst>
            </a:pPr>
            <a:r>
              <a:rPr dirty="0" sz="4600" spc="-10">
                <a:latin typeface="Calibri"/>
                <a:cs typeface="Calibri"/>
              </a:rPr>
              <a:t>AO*</a:t>
            </a:r>
            <a:r>
              <a:rPr dirty="0" sz="4600" spc="-5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algorithm</a:t>
            </a:r>
            <a:r>
              <a:rPr dirty="0" sz="4600" spc="-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will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use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single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structure</a:t>
            </a:r>
            <a:r>
              <a:rPr dirty="0" sz="4600" spc="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GPAPH</a:t>
            </a:r>
            <a:r>
              <a:rPr dirty="0" sz="4600" spc="5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Rather</a:t>
            </a:r>
            <a:r>
              <a:rPr dirty="0" sz="4600" spc="-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than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OPEN </a:t>
            </a:r>
            <a:r>
              <a:rPr dirty="0" sz="4600" spc="-35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and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95">
                <a:latin typeface="Calibri"/>
                <a:cs typeface="Calibri"/>
              </a:rPr>
              <a:t>CLOSED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Lists</a:t>
            </a:r>
            <a:endParaRPr sz="4600">
              <a:latin typeface="Calibri"/>
              <a:cs typeface="Calibri"/>
            </a:endParaRPr>
          </a:p>
          <a:p>
            <a:pPr algn="just" marL="831850" marR="46355" indent="-819785">
              <a:lnSpc>
                <a:spcPts val="4880"/>
              </a:lnSpc>
              <a:spcBef>
                <a:spcPts val="1540"/>
              </a:spcBef>
              <a:buAutoNum type="arabicPeriod"/>
              <a:tabLst>
                <a:tab pos="840740" algn="l"/>
              </a:tabLst>
            </a:pPr>
            <a:r>
              <a:rPr dirty="0" sz="4600">
                <a:latin typeface="Calibri"/>
                <a:cs typeface="Calibri"/>
              </a:rPr>
              <a:t>Each</a:t>
            </a:r>
            <a:r>
              <a:rPr dirty="0" sz="4600" spc="869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node</a:t>
            </a:r>
            <a:r>
              <a:rPr dirty="0" sz="4600" spc="919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7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919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graph</a:t>
            </a:r>
            <a:r>
              <a:rPr dirty="0" sz="4600" spc="9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will</a:t>
            </a:r>
            <a:r>
              <a:rPr dirty="0" sz="4600" spc="8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point</a:t>
            </a:r>
            <a:r>
              <a:rPr dirty="0" sz="4600" spc="89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both</a:t>
            </a:r>
            <a:r>
              <a:rPr dirty="0" sz="4600" spc="819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down</a:t>
            </a:r>
            <a:r>
              <a:rPr dirty="0" sz="4600" spc="94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7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its</a:t>
            </a:r>
            <a:r>
              <a:rPr dirty="0" sz="4600" spc="790">
                <a:latin typeface="Calibri"/>
                <a:cs typeface="Calibri"/>
              </a:rPr>
              <a:t> </a:t>
            </a:r>
            <a:r>
              <a:rPr dirty="0" sz="4600" spc="-75">
                <a:latin typeface="Calibri"/>
                <a:cs typeface="Calibri"/>
              </a:rPr>
              <a:t>immediate </a:t>
            </a:r>
            <a:r>
              <a:rPr dirty="0" sz="4600" spc="-75">
                <a:latin typeface="Calibri"/>
                <a:cs typeface="Calibri"/>
              </a:rPr>
              <a:t>	</a:t>
            </a:r>
            <a:r>
              <a:rPr dirty="0" sz="4600" spc="-85">
                <a:latin typeface="Calibri"/>
                <a:cs typeface="Calibri"/>
              </a:rPr>
              <a:t>successors</a:t>
            </a:r>
            <a:r>
              <a:rPr dirty="0" sz="4600" spc="-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and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up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its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immediate</a:t>
            </a:r>
            <a:r>
              <a:rPr dirty="0" sz="4600" spc="1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predecessors</a:t>
            </a:r>
            <a:endParaRPr sz="4600">
              <a:latin typeface="Calibri"/>
              <a:cs typeface="Calibri"/>
            </a:endParaRPr>
          </a:p>
          <a:p>
            <a:pPr algn="just" marL="824865" marR="5080" indent="-808990">
              <a:lnSpc>
                <a:spcPct val="90600"/>
              </a:lnSpc>
              <a:spcBef>
                <a:spcPts val="1400"/>
              </a:spcBef>
              <a:buAutoNum type="arabicPeriod"/>
              <a:tabLst>
                <a:tab pos="835660" algn="l"/>
              </a:tabLst>
            </a:pPr>
            <a:r>
              <a:rPr dirty="0" sz="4500">
                <a:latin typeface="Calibri"/>
                <a:cs typeface="Calibri"/>
              </a:rPr>
              <a:t>We</a:t>
            </a:r>
            <a:r>
              <a:rPr dirty="0" sz="4500" spc="40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will</a:t>
            </a:r>
            <a:r>
              <a:rPr dirty="0" sz="4500" spc="3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not</a:t>
            </a:r>
            <a:r>
              <a:rPr dirty="0" sz="4500" spc="3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store</a:t>
            </a:r>
            <a:r>
              <a:rPr dirty="0" sz="4500" spc="355">
                <a:latin typeface="Calibri"/>
                <a:cs typeface="Calibri"/>
              </a:rPr>
              <a:t> </a:t>
            </a:r>
            <a:r>
              <a:rPr dirty="0" sz="4500">
                <a:solidFill>
                  <a:srgbClr val="110000"/>
                </a:solidFill>
                <a:latin typeface="Calibri"/>
                <a:cs typeface="Calibri"/>
              </a:rPr>
              <a:t>g</a:t>
            </a:r>
            <a:r>
              <a:rPr dirty="0" sz="4500" spc="735">
                <a:solidFill>
                  <a:srgbClr val="110000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as</a:t>
            </a:r>
            <a:r>
              <a:rPr dirty="0" sz="4500" spc="3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we</a:t>
            </a:r>
            <a:r>
              <a:rPr dirty="0" sz="4500" spc="3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did</a:t>
            </a:r>
            <a:r>
              <a:rPr dirty="0" sz="4500" spc="3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3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43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A*</a:t>
            </a:r>
            <a:r>
              <a:rPr dirty="0" sz="4500" spc="5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algorithm</a:t>
            </a:r>
            <a:r>
              <a:rPr dirty="0" sz="4500" spc="6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because</a:t>
            </a:r>
            <a:r>
              <a:rPr dirty="0" sz="4500" spc="4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55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 </a:t>
            </a:r>
            <a:r>
              <a:rPr dirty="0" sz="4500" spc="-25">
                <a:latin typeface="Calibri"/>
                <a:cs typeface="Calibri"/>
              </a:rPr>
              <a:t>	</a:t>
            </a:r>
            <a:r>
              <a:rPr dirty="0" sz="4450" spc="-30">
                <a:latin typeface="Calibri"/>
                <a:cs typeface="Calibri"/>
              </a:rPr>
              <a:t>top-</a:t>
            </a:r>
            <a:r>
              <a:rPr dirty="0" sz="4450">
                <a:latin typeface="Calibri"/>
                <a:cs typeface="Calibri"/>
              </a:rPr>
              <a:t>down</a:t>
            </a:r>
            <a:r>
              <a:rPr dirty="0" sz="4450" spc="65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traversing</a:t>
            </a:r>
            <a:r>
              <a:rPr dirty="0" sz="4450" spc="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5">
                <a:latin typeface="Calibri"/>
                <a:cs typeface="Calibri"/>
              </a:rPr>
              <a:t> </a:t>
            </a:r>
            <a:r>
              <a:rPr dirty="0" sz="4450" spc="-50">
                <a:latin typeface="Calibri"/>
                <a:cs typeface="Calibri"/>
              </a:rPr>
              <a:t>best-</a:t>
            </a:r>
            <a:r>
              <a:rPr dirty="0" sz="4450">
                <a:latin typeface="Calibri"/>
                <a:cs typeface="Calibri"/>
              </a:rPr>
              <a:t>known</a:t>
            </a:r>
            <a:r>
              <a:rPr dirty="0" sz="4450" spc="1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path,</a:t>
            </a:r>
            <a:r>
              <a:rPr dirty="0" sz="4450" spc="-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which</a:t>
            </a:r>
            <a:r>
              <a:rPr dirty="0" sz="4450" spc="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guarantees</a:t>
            </a:r>
            <a:r>
              <a:rPr dirty="0" sz="4450" spc="145">
                <a:latin typeface="Calibri"/>
                <a:cs typeface="Calibri"/>
              </a:rPr>
              <a:t> </a:t>
            </a:r>
            <a:r>
              <a:rPr dirty="0" sz="4450" spc="-20">
                <a:latin typeface="Calibri"/>
                <a:cs typeface="Calibri"/>
              </a:rPr>
              <a:t>that </a:t>
            </a:r>
            <a:r>
              <a:rPr dirty="0" sz="4450" spc="-20">
                <a:latin typeface="Calibri"/>
                <a:cs typeface="Calibri"/>
              </a:rPr>
              <a:t>	</a:t>
            </a:r>
            <a:r>
              <a:rPr dirty="0" sz="4450">
                <a:latin typeface="Calibri"/>
                <a:cs typeface="Calibri"/>
              </a:rPr>
              <a:t>only</a:t>
            </a:r>
            <a:r>
              <a:rPr dirty="0" sz="4450" spc="68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nodes</a:t>
            </a:r>
            <a:r>
              <a:rPr dirty="0" sz="4450" spc="7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that</a:t>
            </a:r>
            <a:r>
              <a:rPr dirty="0" sz="4450" spc="60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are</a:t>
            </a:r>
            <a:r>
              <a:rPr dirty="0" sz="4450" spc="6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on</a:t>
            </a:r>
            <a:r>
              <a:rPr dirty="0" sz="4450" spc="5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6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best</a:t>
            </a:r>
            <a:r>
              <a:rPr dirty="0" sz="4450" spc="7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path</a:t>
            </a:r>
            <a:r>
              <a:rPr dirty="0" sz="4450" spc="6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will</a:t>
            </a:r>
            <a:r>
              <a:rPr dirty="0" sz="4450" spc="6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ever</a:t>
            </a:r>
            <a:r>
              <a:rPr dirty="0" sz="4450" spc="7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be</a:t>
            </a:r>
            <a:r>
              <a:rPr dirty="0" sz="4450" spc="5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considered</a:t>
            </a:r>
            <a:r>
              <a:rPr dirty="0" sz="4450" spc="800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for </a:t>
            </a:r>
            <a:r>
              <a:rPr dirty="0" sz="4450" spc="-25">
                <a:latin typeface="Calibri"/>
                <a:cs typeface="Calibri"/>
              </a:rPr>
              <a:t>	</a:t>
            </a:r>
            <a:r>
              <a:rPr dirty="0" sz="4400">
                <a:latin typeface="Calibri"/>
                <a:cs typeface="Calibri"/>
              </a:rPr>
              <a:t>expansion.</a:t>
            </a:r>
            <a:r>
              <a:rPr dirty="0" sz="4400" spc="56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So</a:t>
            </a:r>
            <a:r>
              <a:rPr dirty="0" sz="4400" spc="18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h’</a:t>
            </a:r>
            <a:r>
              <a:rPr dirty="0" sz="4400" spc="3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Will</a:t>
            </a:r>
            <a:r>
              <a:rPr dirty="0" sz="4400" spc="3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serve</a:t>
            </a:r>
            <a:r>
              <a:rPr dirty="0" sz="4400" spc="4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as</a:t>
            </a:r>
            <a:r>
              <a:rPr dirty="0" sz="4400" spc="3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30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esñmate</a:t>
            </a:r>
            <a:r>
              <a:rPr dirty="0" sz="4400" spc="484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</a:t>
            </a:r>
            <a:r>
              <a:rPr dirty="0" sz="4400" spc="47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goodness</a:t>
            </a:r>
            <a:r>
              <a:rPr dirty="0" sz="4400" spc="509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</a:t>
            </a:r>
            <a:r>
              <a:rPr dirty="0" sz="4400" spc="380">
                <a:latin typeface="Calibri"/>
                <a:cs typeface="Calibri"/>
              </a:rPr>
              <a:t> </a:t>
            </a:r>
            <a:r>
              <a:rPr dirty="0" sz="4400" spc="125">
                <a:latin typeface="Calibri"/>
                <a:cs typeface="Calibri"/>
              </a:rPr>
              <a:t>a</a:t>
            </a:r>
            <a:r>
              <a:rPr dirty="0" sz="4400" spc="175">
                <a:latin typeface="Calibri"/>
                <a:cs typeface="Calibri"/>
              </a:rPr>
              <a:t> </a:t>
            </a:r>
            <a:r>
              <a:rPr dirty="0" sz="4400" spc="-20">
                <a:latin typeface="Calibri"/>
                <a:cs typeface="Calibri"/>
              </a:rPr>
              <a:t>node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1495425"/>
            <a:ext cx="2943225" cy="40957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05271" y="1966912"/>
            <a:ext cx="17992725" cy="7854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ts val="4125"/>
              </a:lnSpc>
              <a:spcBef>
                <a:spcPts val="100"/>
              </a:spcBef>
              <a:tabLst>
                <a:tab pos="604520" algn="l"/>
                <a:tab pos="1331595" algn="l"/>
                <a:tab pos="4208780" algn="l"/>
                <a:tab pos="5132705" algn="l"/>
                <a:tab pos="5657215" algn="l"/>
                <a:tab pos="6344920" algn="l"/>
                <a:tab pos="7324725" algn="l"/>
                <a:tab pos="9600565" algn="l"/>
                <a:tab pos="10278110" algn="l"/>
                <a:tab pos="11427460" algn="l"/>
                <a:tab pos="13486765" algn="l"/>
                <a:tab pos="14269719" algn="l"/>
                <a:tab pos="15244444" algn="l"/>
              </a:tabLst>
            </a:pPr>
            <a:r>
              <a:rPr dirty="0" sz="3500" spc="-25">
                <a:solidFill>
                  <a:srgbClr val="181818"/>
                </a:solidFill>
                <a:latin typeface="Times New Roman"/>
                <a:cs typeface="Times New Roman"/>
              </a:rPr>
              <a:t>1.</a:t>
            </a:r>
            <a:r>
              <a:rPr dirty="0" sz="3500">
                <a:solidFill>
                  <a:srgbClr val="181818"/>
                </a:solidFill>
                <a:latin typeface="Times New Roman"/>
                <a:cs typeface="Times New Roman"/>
              </a:rPr>
              <a:t>	</a:t>
            </a:r>
            <a:r>
              <a:rPr dirty="0" sz="3500" spc="-25">
                <a:latin typeface="Times New Roman"/>
                <a:cs typeface="Times New Roman"/>
              </a:rPr>
              <a:t>Lnt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85">
                <a:latin typeface="Times New Roman"/>
                <a:cs typeface="Times New Roman"/>
              </a:rPr>
              <a:t>GRA#H</a:t>
            </a:r>
            <a:r>
              <a:rPr dirty="0" sz="3500" spc="15">
                <a:latin typeface="Times New Roman"/>
                <a:cs typeface="Times New Roman"/>
              </a:rPr>
              <a:t> </a:t>
            </a:r>
            <a:r>
              <a:rPr dirty="0" sz="3500" spc="-10">
                <a:latin typeface="Times New Roman"/>
                <a:cs typeface="Times New Roman"/>
              </a:rPr>
              <a:t>consist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0">
                <a:latin typeface="Times New Roman"/>
                <a:cs typeface="Times New Roman"/>
              </a:rPr>
              <a:t>only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5">
                <a:latin typeface="Times New Roman"/>
                <a:cs typeface="Times New Roman"/>
              </a:rPr>
              <a:t>of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5">
                <a:latin typeface="Times New Roman"/>
                <a:cs typeface="Times New Roman"/>
              </a:rPr>
              <a:t>the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0">
                <a:latin typeface="Times New Roman"/>
                <a:cs typeface="Times New Roman"/>
              </a:rPr>
              <a:t>node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65">
                <a:latin typeface="Times New Roman"/>
                <a:cs typeface="Times New Roman"/>
              </a:rPr>
              <a:t>mpres&lt;•nting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5">
                <a:latin typeface="Times New Roman"/>
                <a:cs typeface="Times New Roman"/>
              </a:rPr>
              <a:t>the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10">
                <a:latin typeface="Times New Roman"/>
                <a:cs typeface="Times New Roman"/>
              </a:rPr>
              <a:t>iniiial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75">
                <a:latin typeface="Times New Roman"/>
                <a:cs typeface="Times New Roman"/>
              </a:rPr>
              <a:t>aate.</a:t>
            </a:r>
            <a:r>
              <a:rPr dirty="0" sz="3500" spc="425">
                <a:latin typeface="Times New Roman"/>
                <a:cs typeface="Times New Roman"/>
              </a:rPr>
              <a:t> </a:t>
            </a:r>
            <a:r>
              <a:rPr dirty="0" sz="3500" spc="-10">
                <a:latin typeface="Times New Roman"/>
                <a:cs typeface="Times New Roman"/>
              </a:rPr>
              <a:t>lCall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0">
                <a:latin typeface="Times New Roman"/>
                <a:cs typeface="Times New Roman"/>
              </a:rPr>
              <a:t>this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0">
                <a:latin typeface="Times New Roman"/>
                <a:cs typeface="Times New Roman"/>
              </a:rPr>
              <a:t>node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120" i="1">
                <a:latin typeface="Cambria"/>
                <a:cs typeface="Cambria"/>
              </a:rPr>
              <a:t>INIT.</a:t>
            </a:r>
            <a:r>
              <a:rPr dirty="0" sz="3500" spc="-20" i="1">
                <a:latin typeface="Cambria"/>
                <a:cs typeface="Cambria"/>
              </a:rPr>
              <a:t> </a:t>
            </a:r>
            <a:r>
              <a:rPr dirty="0" sz="3500" spc="-370" i="1">
                <a:solidFill>
                  <a:srgbClr val="1F1F1F"/>
                </a:solidFill>
                <a:latin typeface="Cambria"/>
                <a:cs typeface="Cambria"/>
              </a:rPr>
              <a:t>j</a:t>
            </a:r>
            <a:r>
              <a:rPr dirty="0" sz="3500" spc="275" i="1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3500" spc="-95">
                <a:latin typeface="Times New Roman"/>
                <a:cs typeface="Times New Roman"/>
              </a:rPr>
              <a:t>f?ompute</a:t>
            </a:r>
            <a:endParaRPr sz="3500">
              <a:latin typeface="Times New Roman"/>
              <a:cs typeface="Times New Roman"/>
            </a:endParaRPr>
          </a:p>
          <a:p>
            <a:pPr algn="just" marL="587375">
              <a:lnSpc>
                <a:spcPts val="4079"/>
              </a:lnSpc>
            </a:pPr>
            <a:r>
              <a:rPr dirty="0" sz="3500" i="1">
                <a:latin typeface="Cambria"/>
                <a:cs typeface="Cambria"/>
              </a:rPr>
              <a:t>h’(INIT</a:t>
            </a:r>
            <a:r>
              <a:rPr dirty="0" sz="3500" spc="170" i="1">
                <a:latin typeface="Cambria"/>
                <a:cs typeface="Cambria"/>
              </a:rPr>
              <a:t> </a:t>
            </a:r>
            <a:r>
              <a:rPr dirty="0" sz="3500" spc="-370" i="1">
                <a:latin typeface="Cambria"/>
                <a:cs typeface="Cambria"/>
              </a:rPr>
              <a:t>j</a:t>
            </a:r>
            <a:endParaRPr sz="3500">
              <a:latin typeface="Cambria"/>
              <a:cs typeface="Cambria"/>
            </a:endParaRPr>
          </a:p>
          <a:p>
            <a:pPr algn="just" marL="12700">
              <a:lnSpc>
                <a:spcPts val="4215"/>
              </a:lnSpc>
            </a:pPr>
            <a:r>
              <a:rPr dirty="0" sz="3550" spc="95">
                <a:solidFill>
                  <a:srgbClr val="0E0E0E"/>
                </a:solidFill>
                <a:latin typeface="Times New Roman"/>
                <a:cs typeface="Times New Roman"/>
              </a:rPr>
              <a:t>?.</a:t>
            </a:r>
            <a:r>
              <a:rPr dirty="0" sz="3550" spc="64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Cntil</a:t>
            </a:r>
            <a:r>
              <a:rPr dirty="0" sz="3550" spc="240">
                <a:latin typeface="Times New Roman"/>
                <a:cs typeface="Times New Roman"/>
              </a:rPr>
              <a:t> </a:t>
            </a:r>
            <a:r>
              <a:rPr dirty="0" sz="3550" spc="-10" i="1">
                <a:latin typeface="Cambria"/>
                <a:cs typeface="Cambria"/>
              </a:rPr>
              <a:t>INIT</a:t>
            </a:r>
            <a:r>
              <a:rPr dirty="0" sz="3550" spc="345" i="1">
                <a:latin typeface="Cambria"/>
                <a:cs typeface="Cambria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is</a:t>
            </a:r>
            <a:r>
              <a:rPr dirty="0" sz="3550" spc="75">
                <a:latin typeface="Times New Roman"/>
                <a:cs typeface="Times New Roman"/>
              </a:rPr>
              <a:t> </a:t>
            </a:r>
            <a:r>
              <a:rPr dirty="0" sz="3550" spc="-65">
                <a:latin typeface="Times New Roman"/>
                <a:cs typeface="Times New Roman"/>
              </a:rPr>
              <a:t>labeled</a:t>
            </a:r>
            <a:r>
              <a:rPr dirty="0" sz="3550" spc="229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SOLVED</a:t>
            </a:r>
            <a:r>
              <a:rPr dirty="0" sz="3550" spc="295" i="1">
                <a:latin typeface="Cambria"/>
                <a:cs typeface="Cambria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or</a:t>
            </a:r>
            <a:r>
              <a:rPr dirty="0" sz="3550" spc="85">
                <a:latin typeface="Times New Roman"/>
                <a:cs typeface="Times New Roman"/>
              </a:rPr>
              <a:t> </a:t>
            </a:r>
            <a:r>
              <a:rPr dirty="0" sz="3550" spc="-50">
                <a:latin typeface="Times New Roman"/>
                <a:cs typeface="Times New Roman"/>
              </a:rPr>
              <a:t>until</a:t>
            </a:r>
            <a:r>
              <a:rPr dirty="0" sz="3550" spc="254">
                <a:latin typeface="Times New Roman"/>
                <a:cs typeface="Times New Roman"/>
              </a:rPr>
              <a:t> </a:t>
            </a:r>
            <a:r>
              <a:rPr dirty="0" sz="3550" spc="-45" i="1">
                <a:latin typeface="Cambria"/>
                <a:cs typeface="Cambria"/>
              </a:rPr>
              <a:t>INlT's</a:t>
            </a:r>
            <a:r>
              <a:rPr dirty="0" sz="3550" spc="285" i="1">
                <a:latin typeface="Cambria"/>
                <a:cs typeface="Cambria"/>
              </a:rPr>
              <a:t> </a:t>
            </a:r>
            <a:r>
              <a:rPr dirty="0" sz="3550" i="1">
                <a:latin typeface="Cambria"/>
                <a:cs typeface="Cambria"/>
              </a:rPr>
              <a:t>li’</a:t>
            </a:r>
            <a:r>
              <a:rPr dirty="0" sz="3550" spc="480" i="1">
                <a:latin typeface="Cambria"/>
                <a:cs typeface="Cambria"/>
              </a:rPr>
              <a:t> </a:t>
            </a:r>
            <a:r>
              <a:rPr dirty="0" sz="3550" spc="-60">
                <a:latin typeface="Times New Roman"/>
                <a:cs typeface="Times New Roman"/>
              </a:rPr>
              <a:t>value</a:t>
            </a:r>
            <a:r>
              <a:rPr dirty="0" sz="3550" spc="275">
                <a:latin typeface="Times New Roman"/>
                <a:cs typeface="Times New Roman"/>
              </a:rPr>
              <a:t> </a:t>
            </a:r>
            <a:r>
              <a:rPr dirty="0" sz="3550" spc="-90">
                <a:latin typeface="Times New Roman"/>
                <a:cs typeface="Times New Roman"/>
              </a:rPr>
              <a:t>becomes</a:t>
            </a:r>
            <a:r>
              <a:rPr dirty="0" sz="3550" spc="114">
                <a:latin typeface="Times New Roman"/>
                <a:cs typeface="Times New Roman"/>
              </a:rPr>
              <a:t> </a:t>
            </a:r>
            <a:r>
              <a:rPr dirty="0" sz="3550" spc="-55">
                <a:latin typeface="Times New Roman"/>
                <a:cs typeface="Times New Roman"/>
              </a:rPr>
              <a:t>greaier</a:t>
            </a:r>
            <a:r>
              <a:rPr dirty="0" sz="3550" spc="130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lan</a:t>
            </a:r>
            <a:r>
              <a:rPr dirty="0" sz="3550" spc="285">
                <a:latin typeface="Times New Roman"/>
                <a:cs typeface="Times New Roman"/>
              </a:rPr>
              <a:t>  </a:t>
            </a:r>
            <a:r>
              <a:rPr dirty="0" sz="3550">
                <a:latin typeface="Times New Roman"/>
                <a:cs typeface="Times New Roman"/>
              </a:rPr>
              <a:t>£JTfLf7T,</a:t>
            </a:r>
            <a:r>
              <a:rPr dirty="0" sz="3550" spc="550">
                <a:latin typeface="Times New Roman"/>
                <a:cs typeface="Times New Roman"/>
              </a:rPr>
              <a:t> </a:t>
            </a:r>
            <a:r>
              <a:rPr dirty="0" sz="3550" spc="-80">
                <a:latin typeface="Times New Roman"/>
                <a:cs typeface="Times New Roman"/>
              </a:rPr>
              <a:t>repeai</a:t>
            </a:r>
            <a:r>
              <a:rPr dirty="0" sz="3550" spc="305">
                <a:latin typeface="Times New Roman"/>
                <a:cs typeface="Times New Roman"/>
              </a:rPr>
              <a:t> </a:t>
            </a:r>
            <a:r>
              <a:rPr dirty="0" sz="3550" spc="-25">
                <a:latin typeface="Times New Roman"/>
                <a:cs typeface="Times New Roman"/>
              </a:rPr>
              <a:t>the</a:t>
            </a:r>
            <a:endParaRPr sz="3550">
              <a:latin typeface="Times New Roman"/>
              <a:cs typeface="Times New Roman"/>
            </a:endParaRPr>
          </a:p>
          <a:p>
            <a:pPr algn="just" marL="596900">
              <a:lnSpc>
                <a:spcPts val="4135"/>
              </a:lnSpc>
            </a:pPr>
            <a:r>
              <a:rPr dirty="0" sz="3450" spc="-90">
                <a:latin typeface="Times New Roman"/>
                <a:cs typeface="Times New Roman"/>
              </a:rPr>
              <a:t>foUowing</a:t>
            </a:r>
            <a:r>
              <a:rPr dirty="0" sz="3450" spc="254">
                <a:latin typeface="Times New Roman"/>
                <a:cs typeface="Times New Roman"/>
              </a:rPr>
              <a:t> </a:t>
            </a:r>
            <a:r>
              <a:rPr dirty="0" sz="3450" spc="-10">
                <a:latin typeface="Times New Roman"/>
                <a:cs typeface="Times New Roman"/>
              </a:rPr>
              <a:t>procedure:</a:t>
            </a:r>
            <a:endParaRPr sz="3450">
              <a:latin typeface="Times New Roman"/>
              <a:cs typeface="Times New Roman"/>
            </a:endParaRPr>
          </a:p>
          <a:p>
            <a:pPr algn="just" marL="578485">
              <a:lnSpc>
                <a:spcPts val="4075"/>
              </a:lnSpc>
            </a:pPr>
            <a:r>
              <a:rPr dirty="0" sz="3450">
                <a:latin typeface="Times New Roman"/>
                <a:cs typeface="Times New Roman"/>
              </a:rPr>
              <a:t>‹a)</a:t>
            </a:r>
            <a:r>
              <a:rPr dirty="0" sz="3450" spc="850">
                <a:latin typeface="Times New Roman"/>
                <a:cs typeface="Times New Roman"/>
              </a:rPr>
              <a:t> </a:t>
            </a:r>
            <a:r>
              <a:rPr dirty="0" sz="3450" spc="-55">
                <a:latin typeface="Times New Roman"/>
                <a:cs typeface="Times New Roman"/>
              </a:rPr>
              <a:t>Trace</a:t>
            </a:r>
            <a:r>
              <a:rPr dirty="0" sz="3450" spc="-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ie</a:t>
            </a:r>
            <a:r>
              <a:rPr dirty="0" sz="3450" spc="210">
                <a:latin typeface="Times New Roman"/>
                <a:cs typeface="Times New Roman"/>
              </a:rPr>
              <a:t>  </a:t>
            </a:r>
            <a:r>
              <a:rPr dirty="0" sz="3450" spc="-70">
                <a:latin typeface="Times New Roman"/>
                <a:cs typeface="Times New Roman"/>
              </a:rPr>
              <a:t>labeled</a:t>
            </a:r>
            <a:r>
              <a:rPr dirty="0" sz="3450" spc="-6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arcs</a:t>
            </a:r>
            <a:r>
              <a:rPr dirty="0" sz="3450" spc="-90">
                <a:latin typeface="Times New Roman"/>
                <a:cs typeface="Times New Roman"/>
              </a:rPr>
              <a:t> </a:t>
            </a:r>
            <a:r>
              <a:rPr dirty="0" sz="3450" spc="-280">
                <a:latin typeface="Times New Roman"/>
                <a:cs typeface="Times New Roman"/>
              </a:rPr>
              <a:t>£rom</a:t>
            </a:r>
            <a:r>
              <a:rPr dirty="0" sz="3450" spc="65">
                <a:latin typeface="Times New Roman"/>
                <a:cs typeface="Times New Roman"/>
              </a:rPr>
              <a:t> </a:t>
            </a:r>
            <a:r>
              <a:rPr dirty="0" sz="3450" i="1">
                <a:latin typeface="Cambria"/>
                <a:cs typeface="Cambria"/>
              </a:rPr>
              <a:t>INIT</a:t>
            </a:r>
            <a:r>
              <a:rPr dirty="0" sz="3450" spc="-60" i="1">
                <a:latin typeface="Cambria"/>
                <a:cs typeface="Cambria"/>
              </a:rPr>
              <a:t> </a:t>
            </a:r>
            <a:r>
              <a:rPr dirty="0" sz="3450" spc="-60">
                <a:latin typeface="Times New Roman"/>
                <a:cs typeface="Times New Roman"/>
              </a:rPr>
              <a:t>and</a:t>
            </a:r>
            <a:r>
              <a:rPr dirty="0" sz="3450" spc="-120">
                <a:latin typeface="Times New Roman"/>
                <a:cs typeface="Times New Roman"/>
              </a:rPr>
              <a:t> </a:t>
            </a:r>
            <a:r>
              <a:rPr dirty="0" sz="3450" spc="-20">
                <a:latin typeface="Times New Roman"/>
                <a:cs typeface="Times New Roman"/>
              </a:rPr>
              <a:t>select</a:t>
            </a:r>
            <a:r>
              <a:rPr dirty="0" sz="3450" spc="-45">
                <a:latin typeface="Times New Roman"/>
                <a:cs typeface="Times New Roman"/>
              </a:rPr>
              <a:t> </a:t>
            </a:r>
            <a:r>
              <a:rPr dirty="0" sz="3450" spc="-35">
                <a:latin typeface="Times New Roman"/>
                <a:cs typeface="Times New Roman"/>
              </a:rPr>
              <a:t>for</a:t>
            </a:r>
            <a:r>
              <a:rPr dirty="0" sz="3450" spc="-185">
                <a:latin typeface="Times New Roman"/>
                <a:cs typeface="Times New Roman"/>
              </a:rPr>
              <a:t> </a:t>
            </a:r>
            <a:r>
              <a:rPr dirty="0" sz="3450" spc="-55">
                <a:latin typeface="Times New Roman"/>
                <a:cs typeface="Times New Roman"/>
              </a:rPr>
              <a:t>expansion</a:t>
            </a:r>
            <a:r>
              <a:rPr dirty="0" sz="3450" spc="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one</a:t>
            </a:r>
            <a:r>
              <a:rPr dirty="0" sz="3450" spc="-14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of</a:t>
            </a:r>
            <a:r>
              <a:rPr dirty="0" sz="3450" spc="-65">
                <a:latin typeface="Times New Roman"/>
                <a:cs typeface="Times New Roman"/>
              </a:rPr>
              <a:t> the</a:t>
            </a:r>
            <a:r>
              <a:rPr dirty="0" sz="3450" spc="-15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at</a:t>
            </a:r>
            <a:r>
              <a:rPr dirty="0" sz="3450" spc="315">
                <a:latin typeface="Times New Roman"/>
                <a:cs typeface="Times New Roman"/>
              </a:rPr>
              <a:t> </a:t>
            </a:r>
            <a:r>
              <a:rPr dirty="0" sz="3450" spc="-30">
                <a:latin typeface="Times New Roman"/>
                <a:cs typeface="Times New Roman"/>
              </a:rPr>
              <a:t>yet</a:t>
            </a:r>
            <a:r>
              <a:rPr dirty="0" sz="3450" spc="15">
                <a:latin typeface="Times New Roman"/>
                <a:cs typeface="Times New Roman"/>
              </a:rPr>
              <a:t> </a:t>
            </a:r>
            <a:r>
              <a:rPr dirty="0" sz="3450" spc="-80">
                <a:latin typeface="Times New Roman"/>
                <a:cs typeface="Times New Roman"/>
              </a:rPr>
              <a:t>unexpanded</a:t>
            </a:r>
            <a:r>
              <a:rPr dirty="0" sz="3450" spc="185">
                <a:latin typeface="Times New Roman"/>
                <a:cs typeface="Times New Roman"/>
              </a:rPr>
              <a:t> </a:t>
            </a:r>
            <a:r>
              <a:rPr dirty="0" sz="3450" spc="-55">
                <a:latin typeface="Times New Roman"/>
                <a:cs typeface="Times New Roman"/>
              </a:rPr>
              <a:t>niAes</a:t>
            </a:r>
            <a:r>
              <a:rPr dirty="0" sz="3450" spc="-130">
                <a:latin typeface="Times New Roman"/>
                <a:cs typeface="Times New Roman"/>
              </a:rPr>
              <a:t> </a:t>
            </a:r>
            <a:r>
              <a:rPr dirty="0" sz="3450" spc="-20">
                <a:latin typeface="Times New Roman"/>
                <a:cs typeface="Times New Roman"/>
              </a:rPr>
              <a:t>that</a:t>
            </a:r>
            <a:endParaRPr sz="3450">
              <a:latin typeface="Times New Roman"/>
              <a:cs typeface="Times New Roman"/>
            </a:endParaRPr>
          </a:p>
          <a:p>
            <a:pPr algn="just" marL="1370965">
              <a:lnSpc>
                <a:spcPts val="4115"/>
              </a:lnSpc>
            </a:pPr>
            <a:r>
              <a:rPr dirty="0" sz="3550" spc="-220">
                <a:latin typeface="Times New Roman"/>
                <a:cs typeface="Times New Roman"/>
              </a:rPr>
              <a:t>twcum</a:t>
            </a:r>
            <a:r>
              <a:rPr dirty="0" sz="3550" spc="-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on</a:t>
            </a:r>
            <a:r>
              <a:rPr dirty="0" sz="3550" spc="-130">
                <a:latin typeface="Times New Roman"/>
                <a:cs typeface="Times New Roman"/>
              </a:rPr>
              <a:t> </a:t>
            </a:r>
            <a:r>
              <a:rPr dirty="0" sz="3550" spc="-30">
                <a:latin typeface="Times New Roman"/>
                <a:cs typeface="Times New Roman"/>
              </a:rPr>
              <a:t>this</a:t>
            </a:r>
            <a:r>
              <a:rPr dirty="0" sz="3550" spc="35">
                <a:latin typeface="Times New Roman"/>
                <a:cs typeface="Times New Roman"/>
              </a:rPr>
              <a:t> </a:t>
            </a:r>
            <a:r>
              <a:rPr dirty="0" sz="3550" spc="-114">
                <a:latin typeface="Times New Roman"/>
                <a:cs typeface="Times New Roman"/>
              </a:rPr>
              <a:t>path.</a:t>
            </a:r>
            <a:r>
              <a:rPr dirty="0" sz="3550" spc="-110">
                <a:latin typeface="Times New Roman"/>
                <a:cs typeface="Times New Roman"/>
              </a:rPr>
              <a:t> </a:t>
            </a:r>
            <a:r>
              <a:rPr dirty="0" sz="3550" spc="-25">
                <a:latin typeface="Times New Roman"/>
                <a:cs typeface="Times New Roman"/>
              </a:rPr>
              <a:t>Call</a:t>
            </a:r>
            <a:r>
              <a:rPr dirty="0" sz="3550" spc="-10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ie</a:t>
            </a:r>
            <a:r>
              <a:rPr dirty="0" sz="3550" spc="215">
                <a:latin typeface="Times New Roman"/>
                <a:cs typeface="Times New Roman"/>
              </a:rPr>
              <a:t>  </a:t>
            </a:r>
            <a:r>
              <a:rPr dirty="0" sz="3550" spc="-80">
                <a:latin typeface="Times New Roman"/>
                <a:cs typeface="Times New Roman"/>
              </a:rPr>
              <a:t>selected</a:t>
            </a:r>
            <a:r>
              <a:rPr dirty="0" sz="3550" spc="225">
                <a:latin typeface="Times New Roman"/>
                <a:cs typeface="Times New Roman"/>
              </a:rPr>
              <a:t> </a:t>
            </a:r>
            <a:r>
              <a:rPr dirty="0" sz="3550" spc="-125">
                <a:latin typeface="Times New Roman"/>
                <a:cs typeface="Times New Roman"/>
              </a:rPr>
              <a:t>node</a:t>
            </a:r>
            <a:r>
              <a:rPr dirty="0" sz="3550" spc="-100">
                <a:latin typeface="Times New Roman"/>
                <a:cs typeface="Times New Roman"/>
              </a:rPr>
              <a:t> </a:t>
            </a:r>
            <a:r>
              <a:rPr dirty="0" sz="3550" spc="60" i="1">
                <a:latin typeface="Cambria"/>
                <a:cs typeface="Cambria"/>
              </a:rPr>
              <a:t>NODE.</a:t>
            </a:r>
            <a:endParaRPr sz="3550">
              <a:latin typeface="Cambria"/>
              <a:cs typeface="Cambria"/>
            </a:endParaRPr>
          </a:p>
          <a:p>
            <a:pPr algn="just" marL="1359535" marR="9525" indent="-768985">
              <a:lnSpc>
                <a:spcPct val="97100"/>
              </a:lnSpc>
              <a:spcBef>
                <a:spcPts val="40"/>
              </a:spcBef>
            </a:pPr>
            <a:r>
              <a:rPr dirty="0" sz="3550" spc="70">
                <a:latin typeface="Times New Roman"/>
                <a:cs typeface="Times New Roman"/>
              </a:rPr>
              <a:t>lbl</a:t>
            </a:r>
            <a:r>
              <a:rPr dirty="0" sz="3550" spc="570">
                <a:latin typeface="Times New Roman"/>
                <a:cs typeface="Times New Roman"/>
              </a:rPr>
              <a:t> </a:t>
            </a:r>
            <a:r>
              <a:rPr dirty="0" sz="3550" spc="60">
                <a:latin typeface="Times New Roman"/>
                <a:cs typeface="Times New Roman"/>
              </a:rPr>
              <a:t>&amp;neraie</a:t>
            </a:r>
            <a:r>
              <a:rPr dirty="0" sz="3550" spc="15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the</a:t>
            </a:r>
            <a:r>
              <a:rPr dirty="0" sz="3550" spc="-5">
                <a:latin typeface="Times New Roman"/>
                <a:cs typeface="Times New Roman"/>
              </a:rPr>
              <a:t> </a:t>
            </a:r>
            <a:r>
              <a:rPr dirty="0" sz="3550" spc="-45">
                <a:latin typeface="Times New Roman"/>
                <a:cs typeface="Times New Roman"/>
              </a:rPr>
              <a:t>succesmm</a:t>
            </a:r>
            <a:r>
              <a:rPr dirty="0" sz="3550" spc="145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or</a:t>
            </a:r>
            <a:r>
              <a:rPr dirty="0" sz="3550" spc="100" i="1">
                <a:latin typeface="Cambria"/>
                <a:cs typeface="Cambria"/>
              </a:rPr>
              <a:t> </a:t>
            </a:r>
            <a:r>
              <a:rPr dirty="0" sz="3550" i="1">
                <a:latin typeface="Cambria"/>
                <a:cs typeface="Cambria"/>
              </a:rPr>
              <a:t>NODE.</a:t>
            </a:r>
            <a:r>
              <a:rPr dirty="0" sz="3550" spc="300" i="1">
                <a:latin typeface="Cambria"/>
                <a:cs typeface="Cambria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If</a:t>
            </a:r>
            <a:r>
              <a:rPr dirty="0" sz="3550" spc="204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there</a:t>
            </a:r>
            <a:r>
              <a:rPr dirty="0" sz="3550" spc="6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are</a:t>
            </a:r>
            <a:r>
              <a:rPr dirty="0" sz="3550" spc="17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none.</a:t>
            </a:r>
            <a:r>
              <a:rPr dirty="0" sz="3550" spc="-1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ihen</a:t>
            </a:r>
            <a:r>
              <a:rPr dirty="0" sz="3550" spc="65">
                <a:latin typeface="Times New Roman"/>
                <a:cs typeface="Times New Roman"/>
              </a:rPr>
              <a:t> </a:t>
            </a:r>
            <a:r>
              <a:rPr dirty="0" sz="3550" spc="-55">
                <a:latin typeface="Times New Roman"/>
                <a:cs typeface="Times New Roman"/>
              </a:rPr>
              <a:t>ansign</a:t>
            </a:r>
            <a:r>
              <a:rPr dirty="0" sz="3550" spc="285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FUI“IHTY</a:t>
            </a:r>
            <a:r>
              <a:rPr dirty="0" sz="3550" spc="215" i="1">
                <a:latin typeface="Cambria"/>
                <a:cs typeface="Cambria"/>
              </a:rPr>
              <a:t> </a:t>
            </a:r>
            <a:r>
              <a:rPr dirty="0" sz="3550" spc="80" i="1">
                <a:latin typeface="Cambria"/>
                <a:cs typeface="Cambria"/>
              </a:rPr>
              <a:t>in</a:t>
            </a:r>
            <a:r>
              <a:rPr dirty="0" sz="3550" spc="60" i="1">
                <a:latin typeface="Cambria"/>
                <a:cs typeface="Cambria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the</a:t>
            </a:r>
            <a:r>
              <a:rPr dirty="0" sz="3550" spc="30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h’</a:t>
            </a:r>
            <a:r>
              <a:rPr dirty="0" sz="3550" spc="350" i="1">
                <a:latin typeface="Cambria"/>
                <a:cs typeface="Cambria"/>
              </a:rPr>
              <a:t> </a:t>
            </a:r>
            <a:r>
              <a:rPr dirty="0" sz="3550" spc="-35">
                <a:latin typeface="Times New Roman"/>
                <a:cs typeface="Times New Roman"/>
              </a:rPr>
              <a:t>value</a:t>
            </a:r>
            <a:r>
              <a:rPr dirty="0" sz="3550" spc="55">
                <a:latin typeface="Times New Roman"/>
                <a:cs typeface="Times New Roman"/>
              </a:rPr>
              <a:t> </a:t>
            </a:r>
            <a:r>
              <a:rPr dirty="0" sz="3550" spc="-25">
                <a:latin typeface="Times New Roman"/>
                <a:cs typeface="Times New Roman"/>
              </a:rPr>
              <a:t>of </a:t>
            </a:r>
            <a:r>
              <a:rPr dirty="0" sz="3450" i="1">
                <a:latin typeface="Cambria"/>
                <a:cs typeface="Cambria"/>
              </a:rPr>
              <a:t>NODI3.</a:t>
            </a:r>
            <a:r>
              <a:rPr dirty="0" sz="3450" spc="-204" i="1">
                <a:latin typeface="Cambria"/>
                <a:cs typeface="Cambria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This</a:t>
            </a:r>
            <a:r>
              <a:rPr dirty="0" sz="3450" spc="-1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is</a:t>
            </a:r>
            <a:r>
              <a:rPr dirty="0" sz="3450" spc="-190">
                <a:latin typeface="Times New Roman"/>
                <a:cs typeface="Times New Roman"/>
              </a:rPr>
              <a:t> </a:t>
            </a:r>
            <a:r>
              <a:rPr dirty="0" sz="3450" spc="-10">
                <a:latin typeface="Times New Roman"/>
                <a:cs typeface="Times New Roman"/>
              </a:rPr>
              <a:t>equivalent</a:t>
            </a:r>
            <a:r>
              <a:rPr dirty="0" sz="3450" spc="12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lo</a:t>
            </a:r>
            <a:r>
              <a:rPr dirty="0" sz="3450" spc="-1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saying</a:t>
            </a:r>
            <a:r>
              <a:rPr dirty="0" sz="3450" spc="1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that</a:t>
            </a:r>
            <a:r>
              <a:rPr dirty="0" sz="3450" spc="70">
                <a:latin typeface="Times New Roman"/>
                <a:cs typeface="Times New Roman"/>
              </a:rPr>
              <a:t> </a:t>
            </a:r>
            <a:r>
              <a:rPr dirty="0" sz="3450" spc="100" i="1">
                <a:latin typeface="Cambria"/>
                <a:cs typeface="Cambria"/>
              </a:rPr>
              <a:t>NGDE</a:t>
            </a:r>
            <a:r>
              <a:rPr dirty="0" sz="3450" spc="200" i="1">
                <a:latin typeface="Cambria"/>
                <a:cs typeface="Cambria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is</a:t>
            </a:r>
            <a:r>
              <a:rPr dirty="0" sz="3450" spc="-105">
                <a:latin typeface="Times New Roman"/>
                <a:cs typeface="Times New Roman"/>
              </a:rPr>
              <a:t> </a:t>
            </a:r>
            <a:r>
              <a:rPr dirty="0" sz="3450" spc="-30">
                <a:latin typeface="Times New Roman"/>
                <a:cs typeface="Times New Roman"/>
              </a:rPr>
              <a:t>nor</a:t>
            </a:r>
            <a:r>
              <a:rPr dirty="0" sz="3450" spc="-1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solvable.</a:t>
            </a:r>
            <a:r>
              <a:rPr dirty="0" sz="3450" spc="95">
                <a:latin typeface="Times New Roman"/>
                <a:cs typeface="Times New Roman"/>
              </a:rPr>
              <a:t> </a:t>
            </a:r>
            <a:r>
              <a:rPr dirty="0" sz="3450" spc="-520">
                <a:latin typeface="Times New Roman"/>
                <a:cs typeface="Times New Roman"/>
              </a:rPr>
              <a:t>IF</a:t>
            </a:r>
            <a:r>
              <a:rPr dirty="0" sz="3450" spc="30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there</a:t>
            </a:r>
            <a:r>
              <a:rPr dirty="0" sz="3450" spc="3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we</a:t>
            </a:r>
            <a:r>
              <a:rPr dirty="0" sz="3450" spc="-5">
                <a:latin typeface="Times New Roman"/>
                <a:cs typeface="Times New Roman"/>
              </a:rPr>
              <a:t> </a:t>
            </a:r>
            <a:r>
              <a:rPr dirty="0" sz="3450" spc="-45">
                <a:latin typeface="Times New Roman"/>
                <a:cs typeface="Times New Roman"/>
              </a:rPr>
              <a:t>successoi«,</a:t>
            </a:r>
            <a:r>
              <a:rPr dirty="0" sz="3450" spc="14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then</a:t>
            </a:r>
            <a:r>
              <a:rPr dirty="0" sz="3450" spc="35">
                <a:latin typeface="Times New Roman"/>
                <a:cs typeface="Times New Roman"/>
              </a:rPr>
              <a:t> </a:t>
            </a:r>
            <a:r>
              <a:rPr dirty="0" sz="3450" spc="-25">
                <a:latin typeface="Times New Roman"/>
                <a:cs typeface="Times New Roman"/>
              </a:rPr>
              <a:t>fot </a:t>
            </a:r>
            <a:r>
              <a:rPr dirty="0" sz="3450">
                <a:latin typeface="Times New Roman"/>
                <a:cs typeface="Times New Roman"/>
              </a:rPr>
              <a:t>each</a:t>
            </a:r>
            <a:r>
              <a:rPr dirty="0" sz="3450" spc="-5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one</a:t>
            </a:r>
            <a:r>
              <a:rPr dirty="0" sz="3450" spc="-15">
                <a:latin typeface="Times New Roman"/>
                <a:cs typeface="Times New Roman"/>
              </a:rPr>
              <a:t> </a:t>
            </a:r>
            <a:r>
              <a:rPr dirty="0" sz="3450" spc="-60">
                <a:latin typeface="Times New Roman"/>
                <a:cs typeface="Times New Roman"/>
              </a:rPr>
              <a:t>(culled</a:t>
            </a:r>
            <a:r>
              <a:rPr dirty="0" sz="3450" spc="55">
                <a:latin typeface="Times New Roman"/>
                <a:cs typeface="Times New Roman"/>
              </a:rPr>
              <a:t> </a:t>
            </a:r>
            <a:r>
              <a:rPr dirty="0" sz="3450" spc="85" i="1">
                <a:latin typeface="Cambria"/>
                <a:cs typeface="Cambria"/>
              </a:rPr>
              <a:t>SUCCESSGRI</a:t>
            </a:r>
            <a:r>
              <a:rPr dirty="0" sz="3450" spc="345" i="1">
                <a:latin typeface="Cambria"/>
                <a:cs typeface="Cambria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that</a:t>
            </a:r>
            <a:r>
              <a:rPr dirty="0" sz="3450" spc="13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is</a:t>
            </a:r>
            <a:r>
              <a:rPr dirty="0" sz="3450" spc="-10">
                <a:latin typeface="Times New Roman"/>
                <a:cs typeface="Times New Roman"/>
              </a:rPr>
              <a:t> </a:t>
            </a:r>
            <a:r>
              <a:rPr dirty="0" sz="3450" spc="-20">
                <a:latin typeface="Times New Roman"/>
                <a:cs typeface="Times New Roman"/>
              </a:rPr>
              <a:t>not</a:t>
            </a:r>
            <a:r>
              <a:rPr dirty="0" sz="3450" spc="-110">
                <a:latin typeface="Times New Roman"/>
                <a:cs typeface="Times New Roman"/>
              </a:rPr>
              <a:t> </a:t>
            </a:r>
            <a:r>
              <a:rPr dirty="0" sz="3450" spc="110">
                <a:latin typeface="Times New Roman"/>
                <a:cs typeface="Times New Roman"/>
              </a:rPr>
              <a:t>alw</a:t>
            </a:r>
            <a:r>
              <a:rPr dirty="0" sz="3450" spc="20">
                <a:latin typeface="Times New Roman"/>
                <a:cs typeface="Times New Roman"/>
              </a:rPr>
              <a:t> </a:t>
            </a:r>
            <a:r>
              <a:rPr dirty="0" sz="3450" spc="185">
                <a:latin typeface="Times New Roman"/>
                <a:cs typeface="Times New Roman"/>
              </a:rPr>
              <a:t>m</a:t>
            </a:r>
            <a:r>
              <a:rPr dirty="0" sz="3450" spc="55">
                <a:latin typeface="Times New Roman"/>
                <a:cs typeface="Times New Roman"/>
              </a:rPr>
              <a:t> </a:t>
            </a:r>
            <a:r>
              <a:rPr dirty="0" sz="3450" spc="-30">
                <a:latin typeface="Times New Roman"/>
                <a:cs typeface="Times New Roman"/>
              </a:rPr>
              <a:t>ancestor</a:t>
            </a:r>
            <a:r>
              <a:rPr dirty="0" sz="3450" spc="5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of</a:t>
            </a:r>
            <a:r>
              <a:rPr dirty="0" sz="3450" spc="5">
                <a:latin typeface="Times New Roman"/>
                <a:cs typeface="Times New Roman"/>
              </a:rPr>
              <a:t> </a:t>
            </a:r>
            <a:r>
              <a:rPr dirty="0" sz="3450" spc="80" i="1">
                <a:latin typeface="Cambria"/>
                <a:cs typeface="Cambria"/>
              </a:rPr>
              <a:t>NODE</a:t>
            </a:r>
            <a:r>
              <a:rPr dirty="0" sz="3450" spc="95" i="1">
                <a:latin typeface="Cambria"/>
                <a:cs typeface="Cambria"/>
              </a:rPr>
              <a:t> </a:t>
            </a:r>
            <a:r>
              <a:rPr dirty="0" sz="3450" i="1">
                <a:latin typeface="Cambria"/>
                <a:cs typeface="Cambria"/>
              </a:rPr>
              <a:t>ño</a:t>
            </a:r>
            <a:r>
              <a:rPr dirty="0" sz="3450" spc="-150" i="1">
                <a:latin typeface="Cambria"/>
                <a:cs typeface="Cambria"/>
              </a:rPr>
              <a:t> </a:t>
            </a:r>
            <a:r>
              <a:rPr dirty="0" sz="3450" i="1">
                <a:latin typeface="Cambria"/>
                <a:cs typeface="Cambria"/>
              </a:rPr>
              <a:t>tke</a:t>
            </a:r>
            <a:r>
              <a:rPr dirty="0" sz="3450" spc="60" i="1">
                <a:latin typeface="Cambria"/>
                <a:cs typeface="Cambria"/>
              </a:rPr>
              <a:t> </a:t>
            </a:r>
            <a:r>
              <a:rPr dirty="0" sz="3450" spc="-10">
                <a:latin typeface="Times New Roman"/>
                <a:cs typeface="Times New Roman"/>
              </a:rPr>
              <a:t>following:</a:t>
            </a:r>
            <a:endParaRPr sz="3450">
              <a:latin typeface="Times New Roman"/>
              <a:cs typeface="Times New Roman"/>
            </a:endParaRPr>
          </a:p>
          <a:p>
            <a:pPr marL="1614170">
              <a:lnSpc>
                <a:spcPts val="4060"/>
              </a:lnSpc>
            </a:pPr>
            <a:r>
              <a:rPr dirty="0" sz="3750" spc="-254">
                <a:latin typeface="Times New Roman"/>
                <a:cs typeface="Times New Roman"/>
              </a:rPr>
              <a:t>fiJ</a:t>
            </a:r>
            <a:r>
              <a:rPr dirty="0" sz="3750" spc="240">
                <a:latin typeface="Times New Roman"/>
                <a:cs typeface="Times New Roman"/>
              </a:rPr>
              <a:t> </a:t>
            </a:r>
            <a:r>
              <a:rPr dirty="0" sz="3750" spc="-370">
                <a:latin typeface="Times New Roman"/>
                <a:cs typeface="Times New Roman"/>
              </a:rPr>
              <a:t>Add</a:t>
            </a:r>
            <a:r>
              <a:rPr dirty="0" sz="3750" spc="105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SYt</a:t>
            </a:r>
            <a:r>
              <a:rPr dirty="0" sz="3750" spc="-365">
                <a:latin typeface="Times New Roman"/>
                <a:cs typeface="Times New Roman"/>
              </a:rPr>
              <a:t> </a:t>
            </a:r>
            <a:r>
              <a:rPr dirty="0" sz="3750" spc="-300">
                <a:latin typeface="Times New Roman"/>
                <a:cs typeface="Times New Roman"/>
              </a:rPr>
              <a:t>f?£SSPA</a:t>
            </a:r>
            <a:r>
              <a:rPr dirty="0" sz="3750" spc="265">
                <a:latin typeface="Times New Roman"/>
                <a:cs typeface="Times New Roman"/>
              </a:rPr>
              <a:t> </a:t>
            </a:r>
            <a:r>
              <a:rPr dirty="0" sz="3750">
                <a:latin typeface="Times New Roman"/>
                <a:cs typeface="Times New Roman"/>
              </a:rPr>
              <a:t>io</a:t>
            </a:r>
            <a:r>
              <a:rPr dirty="0" sz="3750" spc="20">
                <a:latin typeface="Times New Roman"/>
                <a:cs typeface="Times New Roman"/>
              </a:rPr>
              <a:t> </a:t>
            </a:r>
            <a:r>
              <a:rPr dirty="0" sz="3750" spc="-10">
                <a:latin typeface="Times New Roman"/>
                <a:cs typeface="Times New Roman"/>
              </a:rPr>
              <a:t>GR4#F.</a:t>
            </a:r>
            <a:endParaRPr sz="3750">
              <a:latin typeface="Times New Roman"/>
              <a:cs typeface="Times New Roman"/>
            </a:endParaRPr>
          </a:p>
          <a:p>
            <a:pPr algn="just" marL="1490345">
              <a:lnSpc>
                <a:spcPts val="4095"/>
              </a:lnSpc>
            </a:pPr>
            <a:r>
              <a:rPr dirty="0" sz="3550">
                <a:latin typeface="Times New Roman"/>
                <a:cs typeface="Times New Roman"/>
              </a:rPr>
              <a:t>(ii)</a:t>
            </a:r>
            <a:r>
              <a:rPr dirty="0" sz="3550" spc="-50">
                <a:latin typeface="Times New Roman"/>
                <a:cs typeface="Times New Roman"/>
              </a:rPr>
              <a:t> </a:t>
            </a:r>
            <a:r>
              <a:rPr dirty="0" sz="3550" spc="-25">
                <a:latin typeface="Times New Roman"/>
                <a:cs typeface="Times New Roman"/>
              </a:rPr>
              <a:t>If</a:t>
            </a:r>
            <a:r>
              <a:rPr dirty="0" sz="3550" spc="10">
                <a:latin typeface="Times New Roman"/>
                <a:cs typeface="Times New Roman"/>
              </a:rPr>
              <a:t> </a:t>
            </a:r>
            <a:r>
              <a:rPr dirty="0" sz="3550" spc="50" i="1">
                <a:latin typeface="Cambria"/>
                <a:cs typeface="Cambria"/>
              </a:rPr>
              <a:t>SUCCESSOR</a:t>
            </a:r>
            <a:r>
              <a:rPr dirty="0" sz="3550" spc="110" i="1">
                <a:latin typeface="Cambria"/>
                <a:cs typeface="Cambria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is</a:t>
            </a:r>
            <a:r>
              <a:rPr dirty="0" sz="3550" spc="-150"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3550" spc="-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550" spc="-100">
                <a:latin typeface="Times New Roman"/>
                <a:cs typeface="Times New Roman"/>
              </a:rPr>
              <a:t>terminal</a:t>
            </a:r>
            <a:r>
              <a:rPr dirty="0" sz="3550" spc="190">
                <a:latin typeface="Times New Roman"/>
                <a:cs typeface="Times New Roman"/>
              </a:rPr>
              <a:t> </a:t>
            </a:r>
            <a:r>
              <a:rPr dirty="0" sz="3550" spc="-60">
                <a:latin typeface="Times New Roman"/>
                <a:cs typeface="Times New Roman"/>
              </a:rPr>
              <a:t>node.</a:t>
            </a:r>
            <a:r>
              <a:rPr dirty="0" sz="3550" spc="-95">
                <a:latin typeface="Times New Roman"/>
                <a:cs typeface="Times New Roman"/>
              </a:rPr>
              <a:t> </a:t>
            </a:r>
            <a:r>
              <a:rPr dirty="0" sz="3550" spc="-70">
                <a:latin typeface="Times New Roman"/>
                <a:cs typeface="Times New Roman"/>
              </a:rPr>
              <a:t>label</a:t>
            </a:r>
            <a:r>
              <a:rPr dirty="0" sz="3550" spc="4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it</a:t>
            </a:r>
            <a:r>
              <a:rPr dirty="0" sz="3550" spc="-130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SOLVED</a:t>
            </a:r>
            <a:r>
              <a:rPr dirty="0" sz="3550" spc="-15" i="1">
                <a:latin typeface="Cambria"/>
                <a:cs typeface="Cambria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md</a:t>
            </a:r>
            <a:r>
              <a:rPr dirty="0" sz="3550" spc="-80">
                <a:latin typeface="Times New Roman"/>
                <a:cs typeface="Times New Roman"/>
              </a:rPr>
              <a:t> </a:t>
            </a:r>
            <a:r>
              <a:rPr dirty="0" sz="3550" spc="-70">
                <a:latin typeface="Times New Roman"/>
                <a:cs typeface="Times New Roman"/>
              </a:rPr>
              <a:t>assipn</a:t>
            </a:r>
            <a:r>
              <a:rPr dirty="0" sz="3550" spc="10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ii</a:t>
            </a:r>
            <a:r>
              <a:rPr dirty="0" sz="3550" spc="-185">
                <a:latin typeface="Times New Roman"/>
                <a:cs typeface="Times New Roman"/>
              </a:rPr>
              <a:t> </a:t>
            </a:r>
            <a:r>
              <a:rPr dirty="0" sz="3550">
                <a:latin typeface="Times New Roman"/>
                <a:cs typeface="Times New Roman"/>
              </a:rPr>
              <a:t>an</a:t>
            </a:r>
            <a:r>
              <a:rPr dirty="0" sz="3550" spc="-120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li’</a:t>
            </a:r>
            <a:r>
              <a:rPr dirty="0" sz="3550" spc="315" i="1">
                <a:latin typeface="Cambria"/>
                <a:cs typeface="Cambria"/>
              </a:rPr>
              <a:t> </a:t>
            </a:r>
            <a:r>
              <a:rPr dirty="0" sz="3550" spc="-135">
                <a:latin typeface="Times New Roman"/>
                <a:cs typeface="Times New Roman"/>
              </a:rPr>
              <a:t>value</a:t>
            </a:r>
            <a:r>
              <a:rPr dirty="0" sz="3550" spc="-90">
                <a:latin typeface="Times New Roman"/>
                <a:cs typeface="Times New Roman"/>
              </a:rPr>
              <a:t> </a:t>
            </a:r>
            <a:r>
              <a:rPr dirty="0" sz="3550" i="1">
                <a:latin typeface="Cambria"/>
                <a:cs typeface="Cambria"/>
              </a:rPr>
              <a:t>of</a:t>
            </a:r>
            <a:r>
              <a:rPr dirty="0" sz="3550" spc="125" i="1">
                <a:latin typeface="Cambria"/>
                <a:cs typeface="Cambria"/>
              </a:rPr>
              <a:t> </a:t>
            </a:r>
            <a:r>
              <a:rPr dirty="0" sz="3550" spc="60" i="1">
                <a:latin typeface="Cambria"/>
                <a:cs typeface="Cambria"/>
              </a:rPr>
              <a:t>h.</a:t>
            </a:r>
            <a:endParaRPr sz="3550">
              <a:latin typeface="Cambria"/>
              <a:cs typeface="Cambria"/>
            </a:endParaRPr>
          </a:p>
          <a:p>
            <a:pPr algn="just" marL="1390650">
              <a:lnSpc>
                <a:spcPts val="4130"/>
              </a:lnSpc>
            </a:pPr>
            <a:r>
              <a:rPr dirty="0" sz="3500">
                <a:latin typeface="Times New Roman"/>
                <a:cs typeface="Times New Roman"/>
              </a:rPr>
              <a:t>tiiil</a:t>
            </a:r>
            <a:r>
              <a:rPr dirty="0" sz="3500" spc="4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If</a:t>
            </a:r>
            <a:r>
              <a:rPr dirty="0" sz="3500" spc="80">
                <a:latin typeface="Times New Roman"/>
                <a:cs typeface="Times New Roman"/>
              </a:rPr>
              <a:t> </a:t>
            </a:r>
            <a:r>
              <a:rPr dirty="0" sz="3500" spc="90" i="1">
                <a:latin typeface="Cambria"/>
                <a:cs typeface="Cambria"/>
              </a:rPr>
              <a:t>SUCCESSOR</a:t>
            </a:r>
            <a:r>
              <a:rPr dirty="0" sz="3500" spc="225" i="1">
                <a:latin typeface="Cambria"/>
                <a:cs typeface="Cambria"/>
              </a:rPr>
              <a:t> </a:t>
            </a:r>
            <a:r>
              <a:rPr dirty="0" sz="3500" i="1">
                <a:solidFill>
                  <a:srgbClr val="111111"/>
                </a:solidFill>
                <a:latin typeface="Cambria"/>
                <a:cs typeface="Cambria"/>
              </a:rPr>
              <a:t>is</a:t>
            </a:r>
            <a:r>
              <a:rPr dirty="0" sz="3500" spc="114" i="1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3500" spc="-55">
                <a:latin typeface="Times New Roman"/>
                <a:cs typeface="Times New Roman"/>
              </a:rPr>
              <a:t>not</a:t>
            </a:r>
            <a:r>
              <a:rPr dirty="0" sz="3500" spc="-95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a</a:t>
            </a:r>
            <a:r>
              <a:rPr dirty="0" sz="3500" spc="-90">
                <a:latin typeface="Times New Roman"/>
                <a:cs typeface="Times New Roman"/>
              </a:rPr>
              <a:t> </a:t>
            </a:r>
            <a:r>
              <a:rPr dirty="0" sz="3500" spc="-65">
                <a:latin typeface="Times New Roman"/>
                <a:cs typeface="Times New Roman"/>
              </a:rPr>
              <a:t>ierminal</a:t>
            </a:r>
            <a:r>
              <a:rPr dirty="0" sz="3500" spc="270">
                <a:latin typeface="Times New Roman"/>
                <a:cs typeface="Times New Roman"/>
              </a:rPr>
              <a:t> </a:t>
            </a:r>
            <a:r>
              <a:rPr dirty="0" sz="3500" spc="-90">
                <a:latin typeface="Times New Roman"/>
                <a:cs typeface="Times New Roman"/>
              </a:rPr>
              <a:t>node,</a:t>
            </a:r>
            <a:r>
              <a:rPr dirty="0" sz="3500" spc="-120">
                <a:latin typeface="Times New Roman"/>
                <a:cs typeface="Times New Roman"/>
              </a:rPr>
              <a:t> </a:t>
            </a:r>
            <a:r>
              <a:rPr dirty="0" sz="3500" spc="-35">
                <a:latin typeface="Times New Roman"/>
                <a:cs typeface="Times New Roman"/>
              </a:rPr>
              <a:t>compuie</a:t>
            </a:r>
            <a:r>
              <a:rPr dirty="0" sz="3500" spc="145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its</a:t>
            </a:r>
            <a:r>
              <a:rPr dirty="0" sz="3500" spc="-150">
                <a:latin typeface="Times New Roman"/>
                <a:cs typeface="Times New Roman"/>
              </a:rPr>
              <a:t> </a:t>
            </a:r>
            <a:r>
              <a:rPr dirty="0" sz="3500" spc="-200">
                <a:latin typeface="Times New Roman"/>
                <a:cs typeface="Times New Roman"/>
              </a:rPr>
              <a:t>/r’</a:t>
            </a:r>
            <a:r>
              <a:rPr dirty="0" sz="3500" spc="-15">
                <a:latin typeface="Times New Roman"/>
                <a:cs typeface="Times New Roman"/>
              </a:rPr>
              <a:t> </a:t>
            </a:r>
            <a:r>
              <a:rPr dirty="0" sz="3500" spc="-10">
                <a:latin typeface="Times New Roman"/>
                <a:cs typeface="Times New Roman"/>
              </a:rPr>
              <a:t>value.</a:t>
            </a:r>
            <a:endParaRPr sz="3500">
              <a:latin typeface="Times New Roman"/>
              <a:cs typeface="Times New Roman"/>
            </a:endParaRPr>
          </a:p>
          <a:p>
            <a:pPr algn="just" marL="1477645" marR="76200" indent="-777240">
              <a:lnSpc>
                <a:spcPts val="4160"/>
              </a:lnSpc>
              <a:spcBef>
                <a:spcPts val="20"/>
              </a:spcBef>
            </a:pPr>
            <a:r>
              <a:rPr dirty="0" sz="3400">
                <a:latin typeface="Times New Roman"/>
                <a:cs typeface="Times New Roman"/>
              </a:rPr>
              <a:t>(c)</a:t>
            </a:r>
            <a:r>
              <a:rPr dirty="0" sz="3400" spc="655">
                <a:latin typeface="Times New Roman"/>
                <a:cs typeface="Times New Roman"/>
              </a:rPr>
              <a:t> </a:t>
            </a:r>
            <a:r>
              <a:rPr dirty="0" sz="3400" spc="-35">
                <a:latin typeface="Times New Roman"/>
                <a:cs typeface="Times New Roman"/>
              </a:rPr>
              <a:t>Propagate</a:t>
            </a:r>
            <a:r>
              <a:rPr dirty="0" sz="3400" spc="120">
                <a:latin typeface="Times New Roman"/>
                <a:cs typeface="Times New Roman"/>
              </a:rPr>
              <a:t> </a:t>
            </a:r>
            <a:r>
              <a:rPr dirty="0" sz="3400" spc="-20">
                <a:latin typeface="Times New Roman"/>
                <a:cs typeface="Times New Roman"/>
              </a:rPr>
              <a:t>the</a:t>
            </a:r>
            <a:r>
              <a:rPr dirty="0" sz="3400" spc="-30">
                <a:latin typeface="Times New Roman"/>
                <a:cs typeface="Times New Roman"/>
              </a:rPr>
              <a:t> </a:t>
            </a:r>
            <a:r>
              <a:rPr dirty="0" sz="3400" spc="-90">
                <a:latin typeface="Times New Roman"/>
                <a:cs typeface="Times New Roman"/>
              </a:rPr>
              <a:t>newly</a:t>
            </a:r>
            <a:r>
              <a:rPr dirty="0" sz="3400" spc="-100">
                <a:latin typeface="Times New Roman"/>
                <a:cs typeface="Times New Roman"/>
              </a:rPr>
              <a:t> </a:t>
            </a:r>
            <a:r>
              <a:rPr dirty="0" sz="3400" spc="-25">
                <a:latin typeface="Times New Roman"/>
                <a:cs typeface="Times New Roman"/>
              </a:rPr>
              <a:t>disco</a:t>
            </a:r>
            <a:r>
              <a:rPr dirty="0" baseline="2450" sz="5100" spc="-37">
                <a:latin typeface="Times New Roman"/>
                <a:cs typeface="Times New Roman"/>
              </a:rPr>
              <a:t>v</a:t>
            </a:r>
            <a:r>
              <a:rPr dirty="0" sz="3400" spc="-25">
                <a:latin typeface="Times New Roman"/>
                <a:cs typeface="Times New Roman"/>
              </a:rPr>
              <a:t>ered</a:t>
            </a:r>
            <a:r>
              <a:rPr dirty="0" sz="3400" spc="-185">
                <a:latin typeface="Times New Roman"/>
                <a:cs typeface="Times New Roman"/>
              </a:rPr>
              <a:t> </a:t>
            </a:r>
            <a:r>
              <a:rPr dirty="0" sz="3400" spc="-40">
                <a:latin typeface="Times New Roman"/>
                <a:cs typeface="Times New Roman"/>
              </a:rPr>
              <a:t>information</a:t>
            </a:r>
            <a:r>
              <a:rPr dirty="0" sz="3400" spc="155"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F0F0F"/>
                </a:solidFill>
                <a:latin typeface="Times New Roman"/>
                <a:cs typeface="Times New Roman"/>
              </a:rPr>
              <a:t>up</a:t>
            </a:r>
            <a:r>
              <a:rPr dirty="0" sz="3400" spc="-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400" spc="-65">
                <a:latin typeface="Times New Roman"/>
                <a:cs typeface="Times New Roman"/>
              </a:rPr>
              <a:t>the</a:t>
            </a:r>
            <a:r>
              <a:rPr dirty="0" sz="3400" spc="-150">
                <a:latin typeface="Times New Roman"/>
                <a:cs typeface="Times New Roman"/>
              </a:rPr>
              <a:t> </a:t>
            </a:r>
            <a:r>
              <a:rPr dirty="0" sz="3400" spc="-10">
                <a:latin typeface="Times New Roman"/>
                <a:cs typeface="Times New Roman"/>
              </a:rPr>
              <a:t>graph</a:t>
            </a:r>
            <a:r>
              <a:rPr dirty="0" sz="3400" spc="5">
                <a:latin typeface="Times New Roman"/>
                <a:cs typeface="Times New Roman"/>
              </a:rPr>
              <a:t> </a:t>
            </a:r>
            <a:r>
              <a:rPr dirty="0" sz="3400" spc="-114">
                <a:solidFill>
                  <a:srgbClr val="0E0E0E"/>
                </a:solidFill>
                <a:latin typeface="Times New Roman"/>
                <a:cs typeface="Times New Roman"/>
              </a:rPr>
              <a:t>by</a:t>
            </a:r>
            <a:r>
              <a:rPr dirty="0" sz="3400" spc="-9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doinp</a:t>
            </a:r>
            <a:r>
              <a:rPr dirty="0" sz="3400" spc="-140">
                <a:latin typeface="Times New Roman"/>
                <a:cs typeface="Times New Roman"/>
              </a:rPr>
              <a:t> </a:t>
            </a:r>
            <a:r>
              <a:rPr dirty="0" sz="3400" spc="-40">
                <a:latin typeface="Times New Roman"/>
                <a:cs typeface="Times New Roman"/>
              </a:rPr>
              <a:t>ihe</a:t>
            </a:r>
            <a:r>
              <a:rPr dirty="0" sz="3400" spc="-175">
                <a:latin typeface="Times New Roman"/>
                <a:cs typeface="Times New Roman"/>
              </a:rPr>
              <a:t> </a:t>
            </a:r>
            <a:r>
              <a:rPr dirty="0" sz="3400" spc="-30">
                <a:latin typeface="Times New Roman"/>
                <a:cs typeface="Times New Roman"/>
              </a:rPr>
              <a:t>following:</a:t>
            </a:r>
            <a:r>
              <a:rPr dirty="0" sz="3400" spc="-20">
                <a:latin typeface="Times New Roman"/>
                <a:cs typeface="Times New Roman"/>
              </a:rPr>
              <a:t> </a:t>
            </a:r>
            <a:r>
              <a:rPr dirty="0" sz="3400" spc="-75">
                <a:latin typeface="Times New Roman"/>
                <a:cs typeface="Times New Roman"/>
              </a:rPr>
              <a:t>Let</a:t>
            </a:r>
            <a:r>
              <a:rPr dirty="0" sz="3400" spc="-120">
                <a:latin typeface="Times New Roman"/>
                <a:cs typeface="Times New Roman"/>
              </a:rPr>
              <a:t> </a:t>
            </a:r>
            <a:r>
              <a:rPr dirty="0" sz="3400" i="1">
                <a:latin typeface="Cambria"/>
                <a:cs typeface="Cambria"/>
              </a:rPr>
              <a:t>S</a:t>
            </a:r>
            <a:r>
              <a:rPr dirty="0" sz="3400" spc="-185" i="1">
                <a:latin typeface="Cambria"/>
                <a:cs typeface="Cambria"/>
              </a:rPr>
              <a:t> </a:t>
            </a:r>
            <a:r>
              <a:rPr dirty="0" sz="3400" spc="-140" i="1">
                <a:solidFill>
                  <a:srgbClr val="0F0F0F"/>
                </a:solidFill>
                <a:latin typeface="Cambria"/>
                <a:cs typeface="Cambria"/>
              </a:rPr>
              <a:t>tie</a:t>
            </a:r>
            <a:r>
              <a:rPr dirty="0" sz="3400" spc="-50" i="1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a</a:t>
            </a:r>
            <a:r>
              <a:rPr dirty="0" sz="3400" spc="-210">
                <a:latin typeface="Times New Roman"/>
                <a:cs typeface="Times New Roman"/>
              </a:rPr>
              <a:t> </a:t>
            </a:r>
            <a:r>
              <a:rPr dirty="0" sz="3400" spc="-35">
                <a:latin typeface="Times New Roman"/>
                <a:cs typeface="Times New Roman"/>
              </a:rPr>
              <a:t>set</a:t>
            </a:r>
            <a:r>
              <a:rPr dirty="0" sz="3400" spc="-180">
                <a:latin typeface="Times New Roman"/>
                <a:cs typeface="Times New Roman"/>
              </a:rPr>
              <a:t> </a:t>
            </a:r>
            <a:r>
              <a:rPr dirty="0" sz="3400" spc="-25">
                <a:latin typeface="Times New Roman"/>
                <a:cs typeface="Times New Roman"/>
              </a:rPr>
              <a:t>of </a:t>
            </a:r>
            <a:r>
              <a:rPr dirty="0" sz="3500" spc="-80">
                <a:latin typeface="Times New Roman"/>
                <a:cs typeface="Times New Roman"/>
              </a:rPr>
              <a:t>nodes</a:t>
            </a:r>
            <a:r>
              <a:rPr dirty="0" sz="3500" spc="-140">
                <a:latin typeface="Times New Roman"/>
                <a:cs typeface="Times New Roman"/>
              </a:rPr>
              <a:t> </a:t>
            </a:r>
            <a:r>
              <a:rPr dirty="0" sz="3500" spc="-60">
                <a:latin typeface="Times New Roman"/>
                <a:cs typeface="Times New Roman"/>
              </a:rPr>
              <a:t>thai</a:t>
            </a:r>
            <a:r>
              <a:rPr dirty="0" sz="3500" spc="-160">
                <a:latin typeface="Times New Roman"/>
                <a:cs typeface="Times New Roman"/>
              </a:rPr>
              <a:t> </a:t>
            </a:r>
            <a:r>
              <a:rPr dirty="0" sz="3500" spc="-65">
                <a:latin typeface="Times New Roman"/>
                <a:cs typeface="Times New Roman"/>
              </a:rPr>
              <a:t>have</a:t>
            </a:r>
            <a:r>
              <a:rPr dirty="0" sz="3500" spc="-155">
                <a:latin typeface="Times New Roman"/>
                <a:cs typeface="Times New Roman"/>
              </a:rPr>
              <a:t> </a:t>
            </a:r>
            <a:r>
              <a:rPr dirty="0" sz="3500" spc="-65">
                <a:latin typeface="Times New Roman"/>
                <a:cs typeface="Times New Roman"/>
              </a:rPr>
              <a:t>been</a:t>
            </a:r>
            <a:r>
              <a:rPr dirty="0" sz="3500" spc="-130">
                <a:latin typeface="Times New Roman"/>
                <a:cs typeface="Times New Roman"/>
              </a:rPr>
              <a:t> </a:t>
            </a:r>
            <a:r>
              <a:rPr dirty="0" sz="3500" spc="-65">
                <a:latin typeface="Times New Roman"/>
                <a:cs typeface="Times New Roman"/>
              </a:rPr>
              <a:t>labeled</a:t>
            </a:r>
            <a:r>
              <a:rPr dirty="0" sz="3500" spc="-10">
                <a:latin typeface="Times New Roman"/>
                <a:cs typeface="Times New Roman"/>
              </a:rPr>
              <a:t> </a:t>
            </a:r>
            <a:r>
              <a:rPr dirty="0" sz="3500" i="1">
                <a:latin typeface="Cambria"/>
                <a:cs typeface="Cambria"/>
              </a:rPr>
              <a:t>SOLVED</a:t>
            </a:r>
            <a:r>
              <a:rPr dirty="0" sz="3500" spc="-90" i="1">
                <a:latin typeface="Cambria"/>
                <a:cs typeface="Cambria"/>
              </a:rPr>
              <a:t> </a:t>
            </a:r>
            <a:r>
              <a:rPr dirty="0" sz="3500" spc="-100" i="1">
                <a:latin typeface="Cambria"/>
                <a:cs typeface="Cambria"/>
              </a:rPr>
              <a:t>or</a:t>
            </a:r>
            <a:r>
              <a:rPr dirty="0" sz="3500" spc="5" i="1">
                <a:latin typeface="Cambria"/>
                <a:cs typeface="Cambria"/>
              </a:rPr>
              <a:t> </a:t>
            </a:r>
            <a:r>
              <a:rPr dirty="0" sz="3500" spc="-110">
                <a:latin typeface="Times New Roman"/>
                <a:cs typeface="Times New Roman"/>
              </a:rPr>
              <a:t>whose</a:t>
            </a:r>
            <a:r>
              <a:rPr dirty="0" sz="3500" spc="-105">
                <a:latin typeface="Times New Roman"/>
                <a:cs typeface="Times New Roman"/>
              </a:rPr>
              <a:t> </a:t>
            </a:r>
            <a:r>
              <a:rPr dirty="0" sz="3500" i="1">
                <a:latin typeface="Cambria"/>
                <a:cs typeface="Cambria"/>
              </a:rPr>
              <a:t>h’</a:t>
            </a:r>
            <a:r>
              <a:rPr dirty="0" sz="3500" spc="204" i="1">
                <a:latin typeface="Cambria"/>
                <a:cs typeface="Cambria"/>
              </a:rPr>
              <a:t> </a:t>
            </a:r>
            <a:r>
              <a:rPr dirty="0" sz="3500" spc="-85">
                <a:latin typeface="Times New Roman"/>
                <a:cs typeface="Times New Roman"/>
              </a:rPr>
              <a:t>values</a:t>
            </a:r>
            <a:r>
              <a:rPr dirty="0" sz="3500" spc="-135">
                <a:latin typeface="Times New Roman"/>
                <a:cs typeface="Times New Roman"/>
              </a:rPr>
              <a:t> </a:t>
            </a:r>
            <a:r>
              <a:rPr dirty="0" sz="3500" spc="-45">
                <a:latin typeface="Times New Roman"/>
                <a:cs typeface="Times New Roman"/>
              </a:rPr>
              <a:t>h</a:t>
            </a:r>
            <a:r>
              <a:rPr dirty="0" baseline="1587" sz="5250" spc="-67">
                <a:latin typeface="Times New Roman"/>
                <a:cs typeface="Times New Roman"/>
              </a:rPr>
              <a:t>ave</a:t>
            </a:r>
            <a:r>
              <a:rPr dirty="0" baseline="1587" sz="5250" spc="-254">
                <a:latin typeface="Times New Roman"/>
                <a:cs typeface="Times New Roman"/>
              </a:rPr>
              <a:t> </a:t>
            </a:r>
            <a:r>
              <a:rPr dirty="0" sz="3500" spc="-145">
                <a:latin typeface="Times New Roman"/>
                <a:cs typeface="Times New Roman"/>
              </a:rPr>
              <a:t>been</a:t>
            </a:r>
            <a:r>
              <a:rPr dirty="0" sz="3500" spc="-75">
                <a:latin typeface="Times New Roman"/>
                <a:cs typeface="Times New Roman"/>
              </a:rPr>
              <a:t> changed</a:t>
            </a:r>
            <a:r>
              <a:rPr dirty="0" sz="3500" spc="-105">
                <a:latin typeface="Times New Roman"/>
                <a:cs typeface="Times New Roman"/>
              </a:rPr>
              <a:t> </a:t>
            </a:r>
            <a:r>
              <a:rPr dirty="0" sz="3500" spc="-40">
                <a:latin typeface="Times New Roman"/>
                <a:cs typeface="Times New Roman"/>
              </a:rPr>
              <a:t>and</a:t>
            </a:r>
            <a:r>
              <a:rPr dirty="0" sz="3500" spc="-7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so</a:t>
            </a:r>
            <a:r>
              <a:rPr dirty="0" sz="3500" spc="-200">
                <a:latin typeface="Times New Roman"/>
                <a:cs typeface="Times New Roman"/>
              </a:rPr>
              <a:t> </a:t>
            </a:r>
            <a:r>
              <a:rPr dirty="0" sz="3500" spc="-105">
                <a:latin typeface="Times New Roman"/>
                <a:cs typeface="Times New Roman"/>
              </a:rPr>
              <a:t>need</a:t>
            </a:r>
            <a:r>
              <a:rPr dirty="0" sz="3500" spc="-114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to</a:t>
            </a:r>
            <a:r>
              <a:rPr dirty="0" sz="3500" spc="-220">
                <a:latin typeface="Times New Roman"/>
                <a:cs typeface="Times New Roman"/>
              </a:rPr>
              <a:t> </a:t>
            </a:r>
            <a:r>
              <a:rPr dirty="0" sz="3500" spc="-45">
                <a:latin typeface="Times New Roman"/>
                <a:cs typeface="Times New Roman"/>
              </a:rPr>
              <a:t>have </a:t>
            </a:r>
            <a:r>
              <a:rPr dirty="0" sz="3500" spc="-120">
                <a:latin typeface="Times New Roman"/>
                <a:cs typeface="Times New Roman"/>
              </a:rPr>
              <a:t>values</a:t>
            </a:r>
            <a:r>
              <a:rPr dirty="0" sz="3500" spc="-100">
                <a:latin typeface="Times New Roman"/>
                <a:cs typeface="Times New Roman"/>
              </a:rPr>
              <a:t> </a:t>
            </a:r>
            <a:r>
              <a:rPr dirty="0" sz="3500" spc="-95">
                <a:latin typeface="Times New Roman"/>
                <a:cs typeface="Times New Roman"/>
              </a:rPr>
              <a:t>propagated</a:t>
            </a:r>
            <a:r>
              <a:rPr dirty="0" sz="3500" spc="-125">
                <a:latin typeface="Times New Roman"/>
                <a:cs typeface="Times New Roman"/>
              </a:rPr>
              <a:t> </a:t>
            </a:r>
            <a:r>
              <a:rPr dirty="0" sz="3500" spc="-170">
                <a:latin typeface="Times New Roman"/>
                <a:cs typeface="Times New Roman"/>
              </a:rPr>
              <a:t>back</a:t>
            </a:r>
            <a:r>
              <a:rPr dirty="0" sz="3500" spc="-50">
                <a:latin typeface="Times New Roman"/>
                <a:cs typeface="Times New Roman"/>
              </a:rPr>
              <a:t> </a:t>
            </a:r>
            <a:r>
              <a:rPr dirty="0" sz="3500" spc="-90">
                <a:latin typeface="Times New Roman"/>
                <a:cs typeface="Times New Roman"/>
              </a:rPr>
              <a:t>to</a:t>
            </a:r>
            <a:r>
              <a:rPr dirty="0" sz="3500" spc="-315">
                <a:latin typeface="Times New Roman"/>
                <a:cs typeface="Times New Roman"/>
              </a:rPr>
              <a:t> </a:t>
            </a:r>
            <a:r>
              <a:rPr dirty="0" sz="3500" spc="-75">
                <a:latin typeface="Times New Roman"/>
                <a:cs typeface="Times New Roman"/>
              </a:rPr>
              <a:t>their</a:t>
            </a:r>
            <a:r>
              <a:rPr dirty="0" sz="3500" spc="-140">
                <a:latin typeface="Times New Roman"/>
                <a:cs typeface="Times New Roman"/>
              </a:rPr>
              <a:t> </a:t>
            </a:r>
            <a:r>
              <a:rPr dirty="0" sz="3500" spc="-240">
                <a:latin typeface="Times New Roman"/>
                <a:cs typeface="Times New Roman"/>
              </a:rPr>
              <a:t>parent.«.</a:t>
            </a:r>
            <a:r>
              <a:rPr dirty="0" sz="3500" spc="20">
                <a:latin typeface="Times New Roman"/>
                <a:cs typeface="Times New Roman"/>
              </a:rPr>
              <a:t> </a:t>
            </a:r>
            <a:r>
              <a:rPr dirty="0" sz="3500" spc="-105">
                <a:latin typeface="Times New Roman"/>
                <a:cs typeface="Times New Roman"/>
              </a:rPr>
              <a:t>Initialize</a:t>
            </a:r>
            <a:r>
              <a:rPr dirty="0" sz="3500" spc="-114">
                <a:latin typeface="Times New Roman"/>
                <a:cs typeface="Times New Roman"/>
              </a:rPr>
              <a:t> </a:t>
            </a:r>
            <a:r>
              <a:rPr dirty="0" sz="3500" spc="-35">
                <a:latin typeface="Times New Roman"/>
                <a:cs typeface="Times New Roman"/>
              </a:rPr>
              <a:t>5</a:t>
            </a:r>
            <a:r>
              <a:rPr dirty="0" sz="3500" spc="-210">
                <a:latin typeface="Times New Roman"/>
                <a:cs typeface="Times New Roman"/>
              </a:rPr>
              <a:t> </a:t>
            </a:r>
            <a:r>
              <a:rPr dirty="0" sz="3500" spc="-130">
                <a:latin typeface="Times New Roman"/>
                <a:cs typeface="Times New Roman"/>
              </a:rPr>
              <a:t>to</a:t>
            </a:r>
            <a:r>
              <a:rPr dirty="0" sz="3500" spc="-265">
                <a:latin typeface="Times New Roman"/>
                <a:cs typeface="Times New Roman"/>
              </a:rPr>
              <a:t> </a:t>
            </a:r>
            <a:r>
              <a:rPr dirty="0" sz="3500" spc="-25" i="1">
                <a:latin typeface="Cambria"/>
                <a:cs typeface="Cambria"/>
              </a:rPr>
              <a:t>NODF..</a:t>
            </a:r>
            <a:r>
              <a:rPr dirty="0" sz="3500" spc="-170" i="1">
                <a:latin typeface="Cambria"/>
                <a:cs typeface="Cambria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Un</a:t>
            </a:r>
            <a:r>
              <a:rPr dirty="0" baseline="2380" sz="5250">
                <a:latin typeface="Times New Roman"/>
                <a:cs typeface="Times New Roman"/>
              </a:rPr>
              <a:t>iil</a:t>
            </a:r>
            <a:r>
              <a:rPr dirty="0" sz="3500">
                <a:solidFill>
                  <a:srgbClr val="161616"/>
                </a:solidFill>
                <a:latin typeface="Times New Roman"/>
                <a:cs typeface="Times New Roman"/>
              </a:rPr>
              <a:t>S</a:t>
            </a:r>
            <a:r>
              <a:rPr dirty="0" sz="3500" spc="-4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500" spc="-125">
                <a:latin typeface="Times New Roman"/>
                <a:cs typeface="Times New Roman"/>
              </a:rPr>
              <a:t>is</a:t>
            </a:r>
            <a:r>
              <a:rPr dirty="0" sz="3500" spc="-405">
                <a:latin typeface="Times New Roman"/>
                <a:cs typeface="Times New Roman"/>
              </a:rPr>
              <a:t> </a:t>
            </a:r>
            <a:r>
              <a:rPr dirty="0" sz="3500" spc="-245">
                <a:latin typeface="Times New Roman"/>
                <a:cs typeface="Times New Roman"/>
              </a:rPr>
              <a:t>em@y.</a:t>
            </a:r>
            <a:r>
              <a:rPr dirty="0" sz="3500" spc="-18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re</a:t>
            </a:r>
            <a:r>
              <a:rPr dirty="0" baseline="2380" sz="5250">
                <a:latin typeface="Times New Roman"/>
                <a:cs typeface="Times New Roman"/>
              </a:rPr>
              <a:t>pe«</a:t>
            </a:r>
            <a:r>
              <a:rPr dirty="0" baseline="2380" sz="5250" spc="375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ie,</a:t>
            </a:r>
            <a:r>
              <a:rPr dirty="0" sz="3500" spc="165">
                <a:latin typeface="Times New Roman"/>
                <a:cs typeface="Times New Roman"/>
              </a:rPr>
              <a:t>  </a:t>
            </a:r>
            <a:r>
              <a:rPr dirty="0" sz="3500" spc="-55">
                <a:latin typeface="Times New Roman"/>
                <a:cs typeface="Times New Roman"/>
              </a:rPr>
              <a:t>following</a:t>
            </a:r>
            <a:endParaRPr sz="3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7143750"/>
            <a:ext cx="17249775" cy="10096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6572250"/>
            <a:ext cx="838200" cy="342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500" y="6572250"/>
            <a:ext cx="1295400" cy="342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" y="5991225"/>
            <a:ext cx="18049875" cy="447675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892807" y="5428488"/>
            <a:ext cx="600710" cy="363220"/>
          </a:xfrm>
          <a:custGeom>
            <a:avLst/>
            <a:gdLst/>
            <a:ahLst/>
            <a:cxnLst/>
            <a:rect l="l" t="t" r="r" b="b"/>
            <a:pathLst>
              <a:path w="600710" h="363220">
                <a:moveTo>
                  <a:pt x="600456" y="362712"/>
                </a:moveTo>
                <a:lnTo>
                  <a:pt x="0" y="362712"/>
                </a:lnTo>
                <a:lnTo>
                  <a:pt x="0" y="0"/>
                </a:lnTo>
                <a:lnTo>
                  <a:pt x="600456" y="0"/>
                </a:lnTo>
                <a:lnTo>
                  <a:pt x="600456" y="362712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19375" y="5429250"/>
            <a:ext cx="1581150" cy="4381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71975" y="5505450"/>
            <a:ext cx="800100" cy="37147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38275" y="4876800"/>
            <a:ext cx="952500" cy="3429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14600" y="4867275"/>
            <a:ext cx="6029325" cy="43815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77275" y="4867275"/>
            <a:ext cx="4305300" cy="43815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87350" y="4867275"/>
            <a:ext cx="533400" cy="35242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35050" y="4867275"/>
            <a:ext cx="4943475" cy="43815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05025" y="4314825"/>
            <a:ext cx="533400" cy="33337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57600" y="4314825"/>
            <a:ext cx="1733550" cy="438150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5513832" y="4294632"/>
            <a:ext cx="927100" cy="384175"/>
          </a:xfrm>
          <a:custGeom>
            <a:avLst/>
            <a:gdLst/>
            <a:ahLst/>
            <a:cxnLst/>
            <a:rect l="l" t="t" r="r" b="b"/>
            <a:pathLst>
              <a:path w="927100" h="384175">
                <a:moveTo>
                  <a:pt x="926591" y="384048"/>
                </a:moveTo>
                <a:lnTo>
                  <a:pt x="0" y="384048"/>
                </a:lnTo>
                <a:lnTo>
                  <a:pt x="0" y="0"/>
                </a:lnTo>
                <a:lnTo>
                  <a:pt x="926591" y="0"/>
                </a:lnTo>
                <a:lnTo>
                  <a:pt x="926591" y="384048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47800" y="3771900"/>
            <a:ext cx="523875" cy="323850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2093976" y="3849623"/>
            <a:ext cx="582295" cy="277495"/>
          </a:xfrm>
          <a:custGeom>
            <a:avLst/>
            <a:gdLst/>
            <a:ahLst/>
            <a:cxnLst/>
            <a:rect l="l" t="t" r="r" b="b"/>
            <a:pathLst>
              <a:path w="582294" h="277495">
                <a:moveTo>
                  <a:pt x="582168" y="277368"/>
                </a:moveTo>
                <a:lnTo>
                  <a:pt x="0" y="277368"/>
                </a:lnTo>
                <a:lnTo>
                  <a:pt x="0" y="0"/>
                </a:lnTo>
                <a:lnTo>
                  <a:pt x="582168" y="0"/>
                </a:lnTo>
                <a:lnTo>
                  <a:pt x="582168" y="277368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761488" y="3755135"/>
            <a:ext cx="1469390" cy="372110"/>
          </a:xfrm>
          <a:custGeom>
            <a:avLst/>
            <a:gdLst/>
            <a:ahLst/>
            <a:cxnLst/>
            <a:rect l="l" t="t" r="r" b="b"/>
            <a:pathLst>
              <a:path w="1469389" h="372110">
                <a:moveTo>
                  <a:pt x="1469136" y="371856"/>
                </a:moveTo>
                <a:lnTo>
                  <a:pt x="0" y="371856"/>
                </a:lnTo>
                <a:lnTo>
                  <a:pt x="0" y="0"/>
                </a:lnTo>
                <a:lnTo>
                  <a:pt x="1469136" y="0"/>
                </a:lnTo>
                <a:lnTo>
                  <a:pt x="1469136" y="37185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71975" y="3771900"/>
            <a:ext cx="1257300" cy="40957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76975" y="3771900"/>
            <a:ext cx="3295650" cy="32385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191750" y="3762375"/>
            <a:ext cx="971550" cy="333375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296650" y="3762375"/>
            <a:ext cx="533400" cy="333375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11932919" y="3755135"/>
            <a:ext cx="1841500" cy="372110"/>
          </a:xfrm>
          <a:custGeom>
            <a:avLst/>
            <a:gdLst/>
            <a:ahLst/>
            <a:cxnLst/>
            <a:rect l="l" t="t" r="r" b="b"/>
            <a:pathLst>
              <a:path w="1841500" h="372110">
                <a:moveTo>
                  <a:pt x="1840992" y="371856"/>
                </a:moveTo>
                <a:lnTo>
                  <a:pt x="0" y="371856"/>
                </a:lnTo>
                <a:lnTo>
                  <a:pt x="0" y="0"/>
                </a:lnTo>
                <a:lnTo>
                  <a:pt x="1840992" y="0"/>
                </a:lnTo>
                <a:lnTo>
                  <a:pt x="1840992" y="371856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877925" y="3762375"/>
            <a:ext cx="1038225" cy="333375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859250" y="3771900"/>
            <a:ext cx="1819275" cy="409575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1399032" y="3246120"/>
            <a:ext cx="402590" cy="335280"/>
          </a:xfrm>
          <a:custGeom>
            <a:avLst/>
            <a:gdLst/>
            <a:ahLst/>
            <a:cxnLst/>
            <a:rect l="l" t="t" r="r" b="b"/>
            <a:pathLst>
              <a:path w="402589" h="335279">
                <a:moveTo>
                  <a:pt x="402336" y="335280"/>
                </a:moveTo>
                <a:lnTo>
                  <a:pt x="0" y="335280"/>
                </a:lnTo>
                <a:lnTo>
                  <a:pt x="0" y="0"/>
                </a:lnTo>
                <a:lnTo>
                  <a:pt x="402336" y="0"/>
                </a:lnTo>
                <a:lnTo>
                  <a:pt x="402336" y="33528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883664" y="3188207"/>
            <a:ext cx="591820" cy="393700"/>
          </a:xfrm>
          <a:custGeom>
            <a:avLst/>
            <a:gdLst/>
            <a:ahLst/>
            <a:cxnLst/>
            <a:rect l="l" t="t" r="r" b="b"/>
            <a:pathLst>
              <a:path w="591819" h="393700">
                <a:moveTo>
                  <a:pt x="591312" y="393192"/>
                </a:moveTo>
                <a:lnTo>
                  <a:pt x="0" y="393192"/>
                </a:lnTo>
                <a:lnTo>
                  <a:pt x="0" y="0"/>
                </a:lnTo>
                <a:lnTo>
                  <a:pt x="591312" y="0"/>
                </a:lnTo>
                <a:lnTo>
                  <a:pt x="591312" y="393192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447288" y="3200400"/>
            <a:ext cx="1106805" cy="372110"/>
          </a:xfrm>
          <a:custGeom>
            <a:avLst/>
            <a:gdLst/>
            <a:ahLst/>
            <a:cxnLst/>
            <a:rect l="l" t="t" r="r" b="b"/>
            <a:pathLst>
              <a:path w="1106804" h="372110">
                <a:moveTo>
                  <a:pt x="1106424" y="371856"/>
                </a:moveTo>
                <a:lnTo>
                  <a:pt x="0" y="371856"/>
                </a:lnTo>
                <a:lnTo>
                  <a:pt x="0" y="0"/>
                </a:lnTo>
                <a:lnTo>
                  <a:pt x="1106424" y="0"/>
                </a:lnTo>
                <a:lnTo>
                  <a:pt x="1106424" y="37185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57725" y="3181350"/>
            <a:ext cx="333375" cy="35242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43500" y="3209925"/>
            <a:ext cx="1152525" cy="333375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429375" y="3209925"/>
            <a:ext cx="1323975" cy="333375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7866888" y="3179064"/>
            <a:ext cx="448309" cy="393700"/>
          </a:xfrm>
          <a:custGeom>
            <a:avLst/>
            <a:gdLst/>
            <a:ahLst/>
            <a:cxnLst/>
            <a:rect l="l" t="t" r="r" b="b"/>
            <a:pathLst>
              <a:path w="448309" h="393700">
                <a:moveTo>
                  <a:pt x="448056" y="393192"/>
                </a:moveTo>
                <a:lnTo>
                  <a:pt x="0" y="393192"/>
                </a:lnTo>
                <a:lnTo>
                  <a:pt x="0" y="0"/>
                </a:lnTo>
                <a:lnTo>
                  <a:pt x="448056" y="0"/>
                </a:lnTo>
                <a:lnTo>
                  <a:pt x="448056" y="393192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8382000" y="3200400"/>
            <a:ext cx="573405" cy="372110"/>
          </a:xfrm>
          <a:custGeom>
            <a:avLst/>
            <a:gdLst/>
            <a:ahLst/>
            <a:cxnLst/>
            <a:rect l="l" t="t" r="r" b="b"/>
            <a:pathLst>
              <a:path w="573404" h="372110">
                <a:moveTo>
                  <a:pt x="573024" y="371856"/>
                </a:moveTo>
                <a:lnTo>
                  <a:pt x="0" y="371856"/>
                </a:lnTo>
                <a:lnTo>
                  <a:pt x="0" y="0"/>
                </a:lnTo>
                <a:lnTo>
                  <a:pt x="573024" y="0"/>
                </a:lnTo>
                <a:lnTo>
                  <a:pt x="573024" y="371856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086850" y="3209925"/>
            <a:ext cx="1057275" cy="333375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0256519" y="3255264"/>
            <a:ext cx="353695" cy="326390"/>
          </a:xfrm>
          <a:custGeom>
            <a:avLst/>
            <a:gdLst/>
            <a:ahLst/>
            <a:cxnLst/>
            <a:rect l="l" t="t" r="r" b="b"/>
            <a:pathLst>
              <a:path w="353695" h="326389">
                <a:moveTo>
                  <a:pt x="353568" y="326136"/>
                </a:moveTo>
                <a:lnTo>
                  <a:pt x="0" y="326136"/>
                </a:lnTo>
                <a:lnTo>
                  <a:pt x="0" y="0"/>
                </a:lnTo>
                <a:lnTo>
                  <a:pt x="353568" y="0"/>
                </a:lnTo>
                <a:lnTo>
                  <a:pt x="353568" y="32613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0704576" y="3191255"/>
            <a:ext cx="591820" cy="363220"/>
          </a:xfrm>
          <a:custGeom>
            <a:avLst/>
            <a:gdLst/>
            <a:ahLst/>
            <a:cxnLst/>
            <a:rect l="l" t="t" r="r" b="b"/>
            <a:pathLst>
              <a:path w="591820" h="363220">
                <a:moveTo>
                  <a:pt x="591312" y="362712"/>
                </a:moveTo>
                <a:lnTo>
                  <a:pt x="0" y="362712"/>
                </a:lnTo>
                <a:lnTo>
                  <a:pt x="0" y="0"/>
                </a:lnTo>
                <a:lnTo>
                  <a:pt x="591312" y="0"/>
                </a:lnTo>
                <a:lnTo>
                  <a:pt x="591312" y="362712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1399519" y="3200400"/>
            <a:ext cx="688975" cy="353695"/>
          </a:xfrm>
          <a:custGeom>
            <a:avLst/>
            <a:gdLst/>
            <a:ahLst/>
            <a:cxnLst/>
            <a:rect l="l" t="t" r="r" b="b"/>
            <a:pathLst>
              <a:path w="688975" h="353695">
                <a:moveTo>
                  <a:pt x="688848" y="353568"/>
                </a:moveTo>
                <a:lnTo>
                  <a:pt x="0" y="353568"/>
                </a:lnTo>
                <a:lnTo>
                  <a:pt x="0" y="0"/>
                </a:lnTo>
                <a:lnTo>
                  <a:pt x="688848" y="0"/>
                </a:lnTo>
                <a:lnTo>
                  <a:pt x="688848" y="353568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192000" y="3209925"/>
            <a:ext cx="419100" cy="323850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706350" y="3209925"/>
            <a:ext cx="533400" cy="333375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382625" y="3305175"/>
            <a:ext cx="533400" cy="228600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068425" y="3209925"/>
            <a:ext cx="752475" cy="438150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954250" y="3209925"/>
            <a:ext cx="1695450" cy="333375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307050" y="3209925"/>
            <a:ext cx="438150" cy="323850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23900" y="2647950"/>
            <a:ext cx="542925" cy="371475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428750" y="2647950"/>
            <a:ext cx="1676400" cy="428625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3227832" y="2630423"/>
            <a:ext cx="582295" cy="372110"/>
          </a:xfrm>
          <a:custGeom>
            <a:avLst/>
            <a:gdLst/>
            <a:ahLst/>
            <a:cxnLst/>
            <a:rect l="l" t="t" r="r" b="b"/>
            <a:pathLst>
              <a:path w="582295" h="372110">
                <a:moveTo>
                  <a:pt x="582168" y="371856"/>
                </a:moveTo>
                <a:lnTo>
                  <a:pt x="0" y="371856"/>
                </a:lnTo>
                <a:lnTo>
                  <a:pt x="0" y="0"/>
                </a:lnTo>
                <a:lnTo>
                  <a:pt x="582168" y="0"/>
                </a:lnTo>
                <a:lnTo>
                  <a:pt x="582168" y="371856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4760976" y="2627376"/>
            <a:ext cx="1374775" cy="384175"/>
          </a:xfrm>
          <a:custGeom>
            <a:avLst/>
            <a:gdLst/>
            <a:ahLst/>
            <a:cxnLst/>
            <a:rect l="l" t="t" r="r" b="b"/>
            <a:pathLst>
              <a:path w="1374775" h="384175">
                <a:moveTo>
                  <a:pt x="1374648" y="384048"/>
                </a:moveTo>
                <a:lnTo>
                  <a:pt x="0" y="384048"/>
                </a:lnTo>
                <a:lnTo>
                  <a:pt x="0" y="0"/>
                </a:lnTo>
                <a:lnTo>
                  <a:pt x="1374648" y="0"/>
                </a:lnTo>
                <a:lnTo>
                  <a:pt x="1374648" y="384048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248400" y="2600325"/>
            <a:ext cx="1057275" cy="390525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286750" y="2638425"/>
            <a:ext cx="1733550" cy="438150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163175" y="2647950"/>
            <a:ext cx="876300" cy="342900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1191875" y="2647950"/>
            <a:ext cx="2076450" cy="342900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3430250" y="2647950"/>
            <a:ext cx="704850" cy="342900"/>
          </a:xfrm>
          <a:prstGeom prst="rect">
            <a:avLst/>
          </a:prstGeom>
        </p:spPr>
      </p:pic>
      <p:sp>
        <p:nvSpPr>
          <p:cNvPr id="54" name="object 54" descr=""/>
          <p:cNvSpPr/>
          <p:nvPr/>
        </p:nvSpPr>
        <p:spPr>
          <a:xfrm>
            <a:off x="14237208" y="2685288"/>
            <a:ext cx="783590" cy="326390"/>
          </a:xfrm>
          <a:custGeom>
            <a:avLst/>
            <a:gdLst/>
            <a:ahLst/>
            <a:cxnLst/>
            <a:rect l="l" t="t" r="r" b="b"/>
            <a:pathLst>
              <a:path w="783590" h="326389">
                <a:moveTo>
                  <a:pt x="783336" y="326136"/>
                </a:moveTo>
                <a:lnTo>
                  <a:pt x="0" y="326136"/>
                </a:lnTo>
                <a:lnTo>
                  <a:pt x="0" y="0"/>
                </a:lnTo>
                <a:lnTo>
                  <a:pt x="783336" y="0"/>
                </a:lnTo>
                <a:lnTo>
                  <a:pt x="783336" y="32613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5105887" y="2627376"/>
            <a:ext cx="1362710" cy="384175"/>
          </a:xfrm>
          <a:custGeom>
            <a:avLst/>
            <a:gdLst/>
            <a:ahLst/>
            <a:cxnLst/>
            <a:rect l="l" t="t" r="r" b="b"/>
            <a:pathLst>
              <a:path w="1362709" h="384175">
                <a:moveTo>
                  <a:pt x="1362456" y="384048"/>
                </a:moveTo>
                <a:lnTo>
                  <a:pt x="0" y="384048"/>
                </a:lnTo>
                <a:lnTo>
                  <a:pt x="0" y="0"/>
                </a:lnTo>
                <a:lnTo>
                  <a:pt x="1362456" y="0"/>
                </a:lnTo>
                <a:lnTo>
                  <a:pt x="1362456" y="38404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6562832" y="2734055"/>
            <a:ext cx="591820" cy="277495"/>
          </a:xfrm>
          <a:custGeom>
            <a:avLst/>
            <a:gdLst/>
            <a:ahLst/>
            <a:cxnLst/>
            <a:rect l="l" t="t" r="r" b="b"/>
            <a:pathLst>
              <a:path w="591819" h="277494">
                <a:moveTo>
                  <a:pt x="591312" y="277368"/>
                </a:moveTo>
                <a:lnTo>
                  <a:pt x="0" y="277368"/>
                </a:lnTo>
                <a:lnTo>
                  <a:pt x="0" y="0"/>
                </a:lnTo>
                <a:lnTo>
                  <a:pt x="591312" y="0"/>
                </a:lnTo>
                <a:lnTo>
                  <a:pt x="591312" y="277368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7" name="object 57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7706975" y="2647950"/>
            <a:ext cx="952500" cy="428625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447800" y="2085975"/>
            <a:ext cx="1409700" cy="342900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009900" y="2085975"/>
            <a:ext cx="990600" cy="361950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134100" y="2085975"/>
            <a:ext cx="866775" cy="333375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7141464" y="2075688"/>
            <a:ext cx="917575" cy="384175"/>
          </a:xfrm>
          <a:custGeom>
            <a:avLst/>
            <a:gdLst/>
            <a:ahLst/>
            <a:cxnLst/>
            <a:rect l="l" t="t" r="r" b="b"/>
            <a:pathLst>
              <a:path w="917575" h="384175">
                <a:moveTo>
                  <a:pt x="917447" y="384048"/>
                </a:moveTo>
                <a:lnTo>
                  <a:pt x="0" y="384048"/>
                </a:lnTo>
                <a:lnTo>
                  <a:pt x="0" y="0"/>
                </a:lnTo>
                <a:lnTo>
                  <a:pt x="917447" y="0"/>
                </a:lnTo>
                <a:lnTo>
                  <a:pt x="917447" y="384048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8141207" y="2078735"/>
            <a:ext cx="363220" cy="372110"/>
          </a:xfrm>
          <a:custGeom>
            <a:avLst/>
            <a:gdLst/>
            <a:ahLst/>
            <a:cxnLst/>
            <a:rect l="l" t="t" r="r" b="b"/>
            <a:pathLst>
              <a:path w="363220" h="372110">
                <a:moveTo>
                  <a:pt x="362712" y="371856"/>
                </a:moveTo>
                <a:lnTo>
                  <a:pt x="0" y="371856"/>
                </a:lnTo>
                <a:lnTo>
                  <a:pt x="0" y="0"/>
                </a:lnTo>
                <a:lnTo>
                  <a:pt x="362712" y="0"/>
                </a:lnTo>
                <a:lnTo>
                  <a:pt x="362712" y="37185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658225" y="2076450"/>
            <a:ext cx="742950" cy="342900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9543288" y="2078735"/>
            <a:ext cx="688975" cy="372110"/>
          </a:xfrm>
          <a:custGeom>
            <a:avLst/>
            <a:gdLst/>
            <a:ahLst/>
            <a:cxnLst/>
            <a:rect l="l" t="t" r="r" b="b"/>
            <a:pathLst>
              <a:path w="688975" h="372110">
                <a:moveTo>
                  <a:pt x="688848" y="371856"/>
                </a:moveTo>
                <a:lnTo>
                  <a:pt x="0" y="371856"/>
                </a:lnTo>
                <a:lnTo>
                  <a:pt x="0" y="0"/>
                </a:lnTo>
                <a:lnTo>
                  <a:pt x="688848" y="0"/>
                </a:lnTo>
                <a:lnTo>
                  <a:pt x="688848" y="371856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372725" y="2085975"/>
            <a:ext cx="876300" cy="333375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1410950" y="2076450"/>
            <a:ext cx="2076450" cy="371475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3677900" y="2085975"/>
            <a:ext cx="638175" cy="333375"/>
          </a:xfrm>
          <a:prstGeom prst="rect">
            <a:avLst/>
          </a:prstGeom>
        </p:spPr>
      </p:pic>
      <p:sp>
        <p:nvSpPr>
          <p:cNvPr id="68" name="object 68" descr=""/>
          <p:cNvSpPr/>
          <p:nvPr/>
        </p:nvSpPr>
        <p:spPr>
          <a:xfrm>
            <a:off x="16334232" y="2057400"/>
            <a:ext cx="917575" cy="393700"/>
          </a:xfrm>
          <a:custGeom>
            <a:avLst/>
            <a:gdLst/>
            <a:ahLst/>
            <a:cxnLst/>
            <a:rect l="l" t="t" r="r" b="b"/>
            <a:pathLst>
              <a:path w="917575" h="393700">
                <a:moveTo>
                  <a:pt x="917447" y="393192"/>
                </a:moveTo>
                <a:lnTo>
                  <a:pt x="0" y="393192"/>
                </a:lnTo>
                <a:lnTo>
                  <a:pt x="0" y="0"/>
                </a:lnTo>
                <a:lnTo>
                  <a:pt x="917447" y="0"/>
                </a:lnTo>
                <a:lnTo>
                  <a:pt x="917447" y="393192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7383125" y="2085975"/>
            <a:ext cx="295275" cy="333375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447800" y="1504950"/>
            <a:ext cx="1200150" cy="447675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6751808" y="3200400"/>
            <a:ext cx="1431417" cy="353568"/>
          </a:xfrm>
          <a:prstGeom prst="rect">
            <a:avLst/>
          </a:prstGeom>
        </p:spPr>
      </p:pic>
      <p:sp>
        <p:nvSpPr>
          <p:cNvPr id="72" name="object 72" descr=""/>
          <p:cNvSpPr/>
          <p:nvPr/>
        </p:nvSpPr>
        <p:spPr>
          <a:xfrm>
            <a:off x="3569208" y="1484375"/>
            <a:ext cx="1097280" cy="393700"/>
          </a:xfrm>
          <a:custGeom>
            <a:avLst/>
            <a:gdLst/>
            <a:ahLst/>
            <a:cxnLst/>
            <a:rect l="l" t="t" r="r" b="b"/>
            <a:pathLst>
              <a:path w="1097279" h="393700">
                <a:moveTo>
                  <a:pt x="1097280" y="393192"/>
                </a:moveTo>
                <a:lnTo>
                  <a:pt x="0" y="393192"/>
                </a:lnTo>
                <a:lnTo>
                  <a:pt x="0" y="0"/>
                </a:lnTo>
                <a:lnTo>
                  <a:pt x="1097280" y="0"/>
                </a:lnTo>
                <a:lnTo>
                  <a:pt x="1097280" y="393192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4742688" y="1484375"/>
            <a:ext cx="917575" cy="393700"/>
          </a:xfrm>
          <a:custGeom>
            <a:avLst/>
            <a:gdLst/>
            <a:ahLst/>
            <a:cxnLst/>
            <a:rect l="l" t="t" r="r" b="b"/>
            <a:pathLst>
              <a:path w="917575" h="393700">
                <a:moveTo>
                  <a:pt x="917447" y="393192"/>
                </a:moveTo>
                <a:lnTo>
                  <a:pt x="0" y="393192"/>
                </a:lnTo>
                <a:lnTo>
                  <a:pt x="0" y="0"/>
                </a:lnTo>
                <a:lnTo>
                  <a:pt x="917447" y="0"/>
                </a:lnTo>
                <a:lnTo>
                  <a:pt x="917447" y="393192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762625" y="1514475"/>
            <a:ext cx="238125" cy="342900"/>
          </a:xfrm>
          <a:prstGeom prst="rect">
            <a:avLst/>
          </a:prstGeom>
        </p:spPr>
      </p:pic>
      <p:pic>
        <p:nvPicPr>
          <p:cNvPr id="75" name="object 75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429375" y="1504950"/>
            <a:ext cx="876300" cy="352425"/>
          </a:xfrm>
          <a:prstGeom prst="rect">
            <a:avLst/>
          </a:prstGeom>
        </p:spPr>
      </p:pic>
      <p:pic>
        <p:nvPicPr>
          <p:cNvPr id="76" name="object 76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8448675" y="1504950"/>
            <a:ext cx="400050" cy="342900"/>
          </a:xfrm>
          <a:prstGeom prst="rect">
            <a:avLst/>
          </a:prstGeom>
        </p:spPr>
      </p:pic>
      <p:pic>
        <p:nvPicPr>
          <p:cNvPr id="77" name="object 77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0239375" y="1495425"/>
            <a:ext cx="2228850" cy="361950"/>
          </a:xfrm>
          <a:prstGeom prst="rect">
            <a:avLst/>
          </a:prstGeom>
        </p:spPr>
      </p:pic>
      <p:pic>
        <p:nvPicPr>
          <p:cNvPr id="78" name="object 78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3058775" y="1514475"/>
            <a:ext cx="1514475" cy="342900"/>
          </a:xfrm>
          <a:prstGeom prst="rect">
            <a:avLst/>
          </a:prstGeom>
        </p:spPr>
      </p:pic>
      <p:sp>
        <p:nvSpPr>
          <p:cNvPr id="79" name="object 79" descr=""/>
          <p:cNvSpPr/>
          <p:nvPr/>
        </p:nvSpPr>
        <p:spPr>
          <a:xfrm>
            <a:off x="14666976" y="1581911"/>
            <a:ext cx="1231900" cy="295910"/>
          </a:xfrm>
          <a:custGeom>
            <a:avLst/>
            <a:gdLst/>
            <a:ahLst/>
            <a:cxnLst/>
            <a:rect l="l" t="t" r="r" b="b"/>
            <a:pathLst>
              <a:path w="1231900" h="295910">
                <a:moveTo>
                  <a:pt x="1231392" y="295656"/>
                </a:moveTo>
                <a:lnTo>
                  <a:pt x="0" y="295656"/>
                </a:lnTo>
                <a:lnTo>
                  <a:pt x="0" y="0"/>
                </a:lnTo>
                <a:lnTo>
                  <a:pt x="1231392" y="0"/>
                </a:lnTo>
                <a:lnTo>
                  <a:pt x="1231392" y="29565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object 80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6478250" y="1514475"/>
            <a:ext cx="295275" cy="333375"/>
          </a:xfrm>
          <a:prstGeom prst="rect">
            <a:avLst/>
          </a:prstGeom>
        </p:spPr>
      </p:pic>
      <p:pic>
        <p:nvPicPr>
          <p:cNvPr id="81" name="object 81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6954500" y="1504950"/>
            <a:ext cx="1304925" cy="352425"/>
          </a:xfrm>
          <a:prstGeom prst="rect">
            <a:avLst/>
          </a:prstGeom>
        </p:spPr>
      </p:pic>
      <p:sp>
        <p:nvSpPr>
          <p:cNvPr id="82" name="object 82" descr=""/>
          <p:cNvSpPr txBox="1"/>
          <p:nvPr/>
        </p:nvSpPr>
        <p:spPr>
          <a:xfrm>
            <a:off x="814709" y="1344612"/>
            <a:ext cx="47434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40">
                <a:solidFill>
                  <a:srgbClr val="0F0F0F"/>
                </a:solidFill>
                <a:latin typeface="Times New Roman"/>
                <a:cs typeface="Times New Roman"/>
              </a:rPr>
              <a:t>(i)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2619234" y="1344612"/>
            <a:ext cx="301180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215">
                <a:latin typeface="Times New Roman"/>
                <a:cs typeface="Times New Roman"/>
              </a:rPr>
              <a:t>.ible.</a:t>
            </a:r>
            <a:r>
              <a:rPr dirty="0" sz="3900" spc="-170">
                <a:latin typeface="Times New Roman"/>
                <a:cs typeface="Times New Roman"/>
              </a:rPr>
              <a:t> </a:t>
            </a:r>
            <a:r>
              <a:rPr dirty="0" sz="3900" spc="-90">
                <a:latin typeface="Times New Roman"/>
                <a:cs typeface="Times New Roman"/>
              </a:rPr>
              <a:t>select</a:t>
            </a:r>
            <a:r>
              <a:rPr dirty="0" sz="3900" spc="-95">
                <a:latin typeface="Times New Roman"/>
                <a:cs typeface="Times New Roman"/>
              </a:rPr>
              <a:t> </a:t>
            </a:r>
            <a:r>
              <a:rPr dirty="0" sz="3900" spc="-145">
                <a:latin typeface="Times New Roman"/>
                <a:cs typeface="Times New Roman"/>
              </a:rPr>
              <a:t>from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6075171" y="1344612"/>
            <a:ext cx="22987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65">
                <a:latin typeface="Times New Roman"/>
                <a:cs typeface="Times New Roman"/>
              </a:rPr>
              <a:t>a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9274647" y="1349375"/>
            <a:ext cx="89598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65">
                <a:latin typeface="Times New Roman"/>
                <a:cs typeface="Times New Roman"/>
              </a:rPr>
              <a:t>hose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7140271" y="1344612"/>
            <a:ext cx="2157095" cy="1183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>
              <a:lnSpc>
                <a:spcPts val="4525"/>
              </a:lnSpc>
              <a:spcBef>
                <a:spcPts val="100"/>
              </a:spcBef>
              <a:tabLst>
                <a:tab pos="1800225" algn="l"/>
              </a:tabLst>
            </a:pPr>
            <a:r>
              <a:rPr dirty="0" sz="3900" spc="-20">
                <a:latin typeface="Times New Roman"/>
                <a:cs typeface="Times New Roman"/>
              </a:rPr>
              <a:t>none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60">
                <a:latin typeface="Times New Roman"/>
                <a:cs typeface="Times New Roman"/>
              </a:rPr>
              <a:t>w</a:t>
            </a: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ts val="4590"/>
              </a:lnSpc>
            </a:pPr>
            <a:r>
              <a:rPr dirty="0" sz="3950" spc="-235">
                <a:latin typeface="Times New Roman"/>
                <a:cs typeface="Times New Roman"/>
              </a:rPr>
              <a:t>fmm</a:t>
            </a:r>
            <a:r>
              <a:rPr dirty="0" sz="3950" spc="-85">
                <a:latin typeface="Times New Roman"/>
                <a:cs typeface="Times New Roman"/>
              </a:rPr>
              <a:t> </a:t>
            </a:r>
            <a:r>
              <a:rPr dirty="0" sz="3950" spc="-500">
                <a:solidFill>
                  <a:srgbClr val="151515"/>
                </a:solidFill>
                <a:latin typeface="Times New Roman"/>
                <a:cs typeface="Times New Roman"/>
              </a:rPr>
              <a:t>.S.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4125230" y="1900237"/>
            <a:ext cx="1853564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114">
                <a:latin typeface="Times New Roman"/>
                <a:cs typeface="Times New Roman"/>
              </a:rPr>
              <a:t>select</a:t>
            </a:r>
            <a:r>
              <a:rPr dirty="0" sz="3950" spc="-100">
                <a:latin typeface="Times New Roman"/>
                <a:cs typeface="Times New Roman"/>
              </a:rPr>
              <a:t> </a:t>
            </a:r>
            <a:r>
              <a:rPr dirty="0" sz="3950" spc="-155">
                <a:latin typeface="Times New Roman"/>
                <a:cs typeface="Times New Roman"/>
              </a:rPr>
              <a:t>any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9545501" y="1900237"/>
            <a:ext cx="67754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140">
                <a:latin typeface="Times New Roman"/>
                <a:cs typeface="Times New Roman"/>
              </a:rPr>
              <a:t>this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3240012" y="2473325"/>
            <a:ext cx="287083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155">
                <a:latin typeface="Times New Roman"/>
                <a:cs typeface="Times New Roman"/>
              </a:rPr>
              <a:t>the</a:t>
            </a:r>
            <a:r>
              <a:rPr dirty="0" sz="3900" spc="-150">
                <a:latin typeface="Times New Roman"/>
                <a:cs typeface="Times New Roman"/>
              </a:rPr>
              <a:t> </a:t>
            </a:r>
            <a:r>
              <a:rPr dirty="0" sz="3900" spc="-90">
                <a:latin typeface="Times New Roman"/>
                <a:cs typeface="Times New Roman"/>
              </a:rPr>
              <a:t>cosl</a:t>
            </a:r>
            <a:r>
              <a:rPr dirty="0" sz="3900" spc="-13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o(each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7402289" y="2473325"/>
            <a:ext cx="60896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25">
                <a:latin typeface="Times New Roman"/>
                <a:cs typeface="Times New Roman"/>
              </a:rPr>
              <a:t>ins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731068" y="5816600"/>
            <a:ext cx="7548245" cy="174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938904">
              <a:lnSpc>
                <a:spcPts val="4660"/>
              </a:lnSpc>
              <a:spcBef>
                <a:spcPts val="100"/>
              </a:spcBef>
            </a:pPr>
            <a:r>
              <a:rPr dirty="0" sz="4050" spc="-220" i="1">
                <a:latin typeface="Times New Roman"/>
                <a:cs typeface="Times New Roman"/>
              </a:rPr>
              <a:t>SOLVE</a:t>
            </a:r>
            <a:r>
              <a:rPr dirty="0" baseline="-1371" sz="6075" spc="-330" i="1">
                <a:latin typeface="Times New Roman"/>
                <a:cs typeface="Times New Roman"/>
              </a:rPr>
              <a:t>D</a:t>
            </a:r>
            <a:r>
              <a:rPr dirty="0" baseline="-1371" sz="6075" spc="-652" i="1">
                <a:latin typeface="Times New Roman"/>
                <a:cs typeface="Times New Roman"/>
              </a:rPr>
              <a:t> </a:t>
            </a:r>
            <a:r>
              <a:rPr dirty="0" sz="4050" spc="-245">
                <a:latin typeface="Times New Roman"/>
                <a:cs typeface="Times New Roman"/>
              </a:rPr>
              <a:t>if</a:t>
            </a:r>
            <a:r>
              <a:rPr dirty="0" sz="4050" spc="-114">
                <a:latin typeface="Times New Roman"/>
                <a:cs typeface="Times New Roman"/>
              </a:rPr>
              <a:t> </a:t>
            </a:r>
            <a:r>
              <a:rPr dirty="0" sz="4050" spc="-160">
                <a:latin typeface="Times New Roman"/>
                <a:cs typeface="Times New Roman"/>
              </a:rPr>
              <a:t>all</a:t>
            </a:r>
            <a:r>
              <a:rPr dirty="0" sz="4050" spc="-120">
                <a:latin typeface="Times New Roman"/>
                <a:cs typeface="Times New Roman"/>
              </a:rPr>
              <a:t> </a:t>
            </a:r>
            <a:r>
              <a:rPr dirty="0" sz="4050" spc="-254">
                <a:latin typeface="Times New Roman"/>
                <a:cs typeface="Times New Roman"/>
              </a:rPr>
              <a:t>of</a:t>
            </a:r>
            <a:r>
              <a:rPr dirty="0" sz="4050" spc="30">
                <a:latin typeface="Times New Roman"/>
                <a:cs typeface="Times New Roman"/>
              </a:rPr>
              <a:t> </a:t>
            </a:r>
            <a:r>
              <a:rPr dirty="0" sz="4050" spc="-80">
                <a:latin typeface="Times New Roman"/>
                <a:cs typeface="Times New Roman"/>
              </a:rPr>
              <a:t>ie</a:t>
            </a:r>
            <a:endParaRPr sz="4050">
              <a:latin typeface="Times New Roman"/>
              <a:cs typeface="Times New Roman"/>
            </a:endParaRPr>
          </a:p>
          <a:p>
            <a:pPr algn="ctr" marL="649605">
              <a:lnSpc>
                <a:spcPts val="4660"/>
              </a:lnSpc>
            </a:pPr>
            <a:r>
              <a:rPr dirty="0" sz="4050" spc="-290" i="1">
                <a:latin typeface="Times New Roman"/>
                <a:cs typeface="Times New Roman"/>
              </a:rPr>
              <a:t>SOLVED.</a:t>
            </a: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500" spc="70">
                <a:latin typeface="Times New Roman"/>
                <a:cs typeface="Times New Roman"/>
              </a:rPr>
              <a:t>(v)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2583145" y="1314450"/>
            <a:ext cx="35814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315">
                <a:latin typeface="Times New Roman"/>
                <a:cs typeface="Times New Roman"/>
              </a:rPr>
              <a:t>in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xfrm>
            <a:off x="14657311" y="1314450"/>
            <a:ext cx="1704339" cy="650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latin typeface="Times New Roman"/>
                <a:cs typeface="Times New Roman"/>
              </a:rPr>
              <a:t>occuc</a:t>
            </a:r>
            <a:r>
              <a:rPr dirty="0" sz="4100" spc="-250">
                <a:latin typeface="Times New Roman"/>
                <a:cs typeface="Times New Roman"/>
              </a:rPr>
              <a:t> </a:t>
            </a:r>
            <a:r>
              <a:rPr dirty="0" sz="4100" spc="-145">
                <a:latin typeface="Times New Roman"/>
                <a:cs typeface="Times New Roman"/>
              </a:rPr>
              <a:t>in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14442135" y="1906587"/>
            <a:ext cx="279971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160">
                <a:latin typeface="Times New Roman"/>
                <a:cs typeface="Times New Roman"/>
              </a:rPr>
              <a:t>mmove</a:t>
            </a:r>
            <a:r>
              <a:rPr dirty="0" sz="3900" spc="-60">
                <a:latin typeface="Times New Roman"/>
                <a:cs typeface="Times New Roman"/>
              </a:rPr>
              <a:t> </a:t>
            </a:r>
            <a:r>
              <a:rPr dirty="0" sz="3900">
                <a:solidFill>
                  <a:srgbClr val="0E0E0E"/>
                </a:solidFill>
                <a:latin typeface="Times New Roman"/>
                <a:cs typeface="Times New Roman"/>
              </a:rPr>
              <a:t>it</a:t>
            </a:r>
            <a:r>
              <a:rPr dirty="0" sz="3900" spc="-229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3900" spc="-114">
                <a:latin typeface="Times New Roman"/>
                <a:cs typeface="Times New Roman"/>
              </a:rPr>
              <a:t>from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14219986" y="2479675"/>
            <a:ext cx="3349625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 spc="-40">
                <a:latin typeface="Times New Roman"/>
                <a:cs typeface="Times New Roman"/>
              </a:rPr>
              <a:t>cost</a:t>
            </a:r>
            <a:r>
              <a:rPr dirty="0" sz="3850" spc="-195">
                <a:latin typeface="Times New Roman"/>
                <a:cs typeface="Times New Roman"/>
              </a:rPr>
              <a:t> </a:t>
            </a:r>
            <a:r>
              <a:rPr dirty="0" sz="3850" spc="-254">
                <a:latin typeface="Times New Roman"/>
                <a:cs typeface="Times New Roman"/>
              </a:rPr>
              <a:t>o£</a:t>
            </a:r>
            <a:r>
              <a:rPr dirty="0" sz="3850" spc="-505">
                <a:latin typeface="Times New Roman"/>
                <a:cs typeface="Times New Roman"/>
              </a:rPr>
              <a:t> </a:t>
            </a:r>
            <a:r>
              <a:rPr dirty="0" sz="3850" spc="-45">
                <a:latin typeface="Times New Roman"/>
                <a:cs typeface="Times New Roman"/>
              </a:rPr>
              <a:t>each</a:t>
            </a:r>
            <a:r>
              <a:rPr dirty="0" sz="3850" spc="-135">
                <a:latin typeface="Times New Roman"/>
                <a:cs typeface="Times New Roman"/>
              </a:rPr>
              <a:t> </a:t>
            </a:r>
            <a:r>
              <a:rPr dirty="0" sz="3850" spc="-60">
                <a:solidFill>
                  <a:srgbClr val="232323"/>
                </a:solidFill>
                <a:latin typeface="Times New Roman"/>
                <a:cs typeface="Times New Roman"/>
              </a:rPr>
              <a:t>arc</a:t>
            </a:r>
            <a:r>
              <a:rPr dirty="0" sz="3850" spc="-18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3850" spc="-25" i="1">
                <a:latin typeface="Cambria"/>
                <a:cs typeface="Cambria"/>
              </a:rPr>
              <a:t>is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1401488" y="3032125"/>
            <a:ext cx="314833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>
                <a:latin typeface="Times New Roman"/>
                <a:cs typeface="Times New Roman"/>
              </a:rPr>
              <a:t>lo</a:t>
            </a:r>
            <a:r>
              <a:rPr dirty="0" sz="3850" spc="-215">
                <a:latin typeface="Times New Roman"/>
                <a:cs typeface="Times New Roman"/>
              </a:rPr>
              <a:t> </a:t>
            </a:r>
            <a:r>
              <a:rPr dirty="0" sz="3850" spc="-135">
                <a:latin typeface="Times New Roman"/>
                <a:cs typeface="Times New Roman"/>
              </a:rPr>
              <a:t>tiie</a:t>
            </a:r>
            <a:r>
              <a:rPr dirty="0" sz="3850" spc="-100">
                <a:latin typeface="Times New Roman"/>
                <a:cs typeface="Times New Roman"/>
              </a:rPr>
              <a:t> </a:t>
            </a:r>
            <a:r>
              <a:rPr dirty="0" sz="3850" spc="-165">
                <a:latin typeface="Times New Roman"/>
                <a:cs typeface="Times New Roman"/>
              </a:rPr>
              <a:t>sum</a:t>
            </a:r>
            <a:r>
              <a:rPr dirty="0" sz="3850" spc="-80">
                <a:latin typeface="Times New Roman"/>
                <a:cs typeface="Times New Roman"/>
              </a:rPr>
              <a:t> </a:t>
            </a:r>
            <a:r>
              <a:rPr dirty="0" sz="3850">
                <a:latin typeface="Times New Roman"/>
                <a:cs typeface="Times New Roman"/>
              </a:rPr>
              <a:t>of</a:t>
            </a:r>
            <a:r>
              <a:rPr dirty="0" sz="3850" spc="15">
                <a:latin typeface="Times New Roman"/>
                <a:cs typeface="Times New Roman"/>
              </a:rPr>
              <a:t> </a:t>
            </a:r>
            <a:r>
              <a:rPr dirty="0" sz="3850" spc="-35">
                <a:latin typeface="Times New Roman"/>
                <a:cs typeface="Times New Roman"/>
              </a:rPr>
              <a:t>the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7857528" y="3032125"/>
            <a:ext cx="110236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 spc="-254">
                <a:latin typeface="Times New Roman"/>
                <a:cs typeface="Times New Roman"/>
              </a:rPr>
              <a:t>o£</a:t>
            </a:r>
            <a:r>
              <a:rPr dirty="0" sz="3850" spc="-240">
                <a:latin typeface="Times New Roman"/>
                <a:cs typeface="Times New Roman"/>
              </a:rPr>
              <a:t> </a:t>
            </a:r>
            <a:r>
              <a:rPr dirty="0" sz="3850" spc="-90">
                <a:latin typeface="Times New Roman"/>
                <a:cs typeface="Times New Roman"/>
              </a:rPr>
              <a:t>the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10247348" y="3032125"/>
            <a:ext cx="181483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>
                <a:latin typeface="Times New Roman"/>
                <a:cs typeface="Times New Roman"/>
              </a:rPr>
              <a:t>at</a:t>
            </a:r>
            <a:r>
              <a:rPr dirty="0" sz="3850" spc="-55">
                <a:latin typeface="Times New Roman"/>
                <a:cs typeface="Times New Roman"/>
              </a:rPr>
              <a:t> </a:t>
            </a:r>
            <a:r>
              <a:rPr dirty="0" sz="3850" spc="-120">
                <a:latin typeface="Times New Roman"/>
                <a:cs typeface="Times New Roman"/>
              </a:rPr>
              <a:t>the</a:t>
            </a:r>
            <a:r>
              <a:rPr dirty="0" sz="3850" spc="-160">
                <a:latin typeface="Times New Roman"/>
                <a:cs typeface="Times New Roman"/>
              </a:rPr>
              <a:t> </a:t>
            </a:r>
            <a:r>
              <a:rPr dirty="0" sz="3850" spc="-100">
                <a:latin typeface="Times New Roman"/>
                <a:cs typeface="Times New Roman"/>
              </a:rPr>
              <a:t>end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2076495" y="3608387"/>
            <a:ext cx="218884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35">
                <a:latin typeface="Times New Roman"/>
                <a:cs typeface="Times New Roman"/>
              </a:rPr>
              <a:t>ore</a:t>
            </a:r>
            <a:r>
              <a:rPr dirty="0" sz="3700" spc="-200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itself</a:t>
            </a:r>
            <a:r>
              <a:rPr dirty="0" sz="3700" spc="15">
                <a:latin typeface="Times New Roman"/>
                <a:cs typeface="Times New Roman"/>
              </a:rPr>
              <a:t> </a:t>
            </a:r>
            <a:r>
              <a:rPr dirty="0" sz="3700" spc="-25">
                <a:latin typeface="Times New Roman"/>
                <a:cs typeface="Times New Roman"/>
              </a:rPr>
              <a:t>is.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5511986" y="3608387"/>
            <a:ext cx="1433195" cy="1145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3679">
              <a:lnSpc>
                <a:spcPts val="4320"/>
              </a:lnSpc>
              <a:spcBef>
                <a:spcPts val="100"/>
              </a:spcBef>
            </a:pPr>
            <a:r>
              <a:rPr dirty="0" sz="3700" spc="-25">
                <a:latin typeface="Times New Roman"/>
                <a:cs typeface="Times New Roman"/>
              </a:rPr>
              <a:t>as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500"/>
              </a:lnSpc>
            </a:pPr>
            <a:r>
              <a:rPr dirty="0" sz="3850" spc="-60">
                <a:latin typeface="Times New Roman"/>
                <a:cs typeface="Times New Roman"/>
              </a:rPr>
              <a:t>from</a:t>
            </a:r>
            <a:r>
              <a:rPr dirty="0" sz="3850" spc="-155">
                <a:latin typeface="Times New Roman"/>
                <a:cs typeface="Times New Roman"/>
              </a:rPr>
              <a:t> </a:t>
            </a:r>
            <a:r>
              <a:rPr dirty="0" sz="3850" spc="-25">
                <a:latin typeface="Times New Roman"/>
                <a:cs typeface="Times New Roman"/>
              </a:rPr>
              <a:t>ii.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9675609" y="3608387"/>
            <a:ext cx="35052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70" i="1">
                <a:latin typeface="Cambria"/>
                <a:cs typeface="Cambria"/>
              </a:rPr>
              <a:t>h’</a:t>
            </a:r>
            <a:endParaRPr sz="3700">
              <a:latin typeface="Cambria"/>
              <a:cs typeface="Cambria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11937276" y="3608387"/>
            <a:ext cx="179578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55">
                <a:latin typeface="Times New Roman"/>
                <a:cs typeface="Times New Roman"/>
              </a:rPr>
              <a:t>minimum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15009837" y="3608387"/>
            <a:ext cx="173228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175">
                <a:latin typeface="Times New Roman"/>
                <a:cs typeface="Times New Roman"/>
              </a:rPr>
              <a:t>eosa</a:t>
            </a:r>
            <a:r>
              <a:rPr dirty="0" sz="3700" spc="160">
                <a:latin typeface="Times New Roman"/>
                <a:cs typeface="Times New Roman"/>
              </a:rPr>
              <a:t> </a:t>
            </a:r>
            <a:r>
              <a:rPr dirty="0" sz="3700" spc="-55">
                <a:latin typeface="Times New Roman"/>
                <a:cs typeface="Times New Roman"/>
              </a:rPr>
              <a:t>just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416236" y="4141787"/>
            <a:ext cx="212217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7790" algn="l"/>
              </a:tabLst>
            </a:pPr>
            <a:r>
              <a:rPr dirty="0" sz="3850" spc="-25">
                <a:latin typeface="Times New Roman"/>
                <a:cs typeface="Times New Roman"/>
              </a:rPr>
              <a:t>for</a:t>
            </a:r>
            <a:r>
              <a:rPr dirty="0" sz="3850">
                <a:latin typeface="Times New Roman"/>
                <a:cs typeface="Times New Roman"/>
              </a:rPr>
              <a:t>	</a:t>
            </a:r>
            <a:r>
              <a:rPr dirty="0" sz="3850" spc="-140">
                <a:latin typeface="Times New Roman"/>
                <a:cs typeface="Times New Roman"/>
              </a:rPr>
              <a:t>xrcs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18380747" y="1189037"/>
            <a:ext cx="332105" cy="73787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2700" marR="5080" indent="2540">
              <a:lnSpc>
                <a:spcPct val="67000"/>
              </a:lnSpc>
              <a:spcBef>
                <a:spcPts val="1205"/>
              </a:spcBef>
            </a:pPr>
            <a:r>
              <a:rPr dirty="0" sz="2800" spc="-50">
                <a:solidFill>
                  <a:srgbClr val="343434"/>
                </a:solidFill>
                <a:latin typeface="Times New Roman"/>
                <a:cs typeface="Times New Roman"/>
              </a:rPr>
              <a:t>. </a:t>
            </a:r>
            <a:r>
              <a:rPr dirty="0" sz="2800" spc="-70">
                <a:solidFill>
                  <a:srgbClr val="181818"/>
                </a:solidFill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11550" y="10296525"/>
            <a:ext cx="1971675" cy="3619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6550" y="9372600"/>
            <a:ext cx="4362450" cy="37147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4782800" y="5600700"/>
            <a:ext cx="3324225" cy="3409950"/>
            <a:chOff x="14782800" y="5600700"/>
            <a:chExt cx="3324225" cy="340995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82800" y="5600700"/>
              <a:ext cx="3324225" cy="340995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30675" y="6362700"/>
              <a:ext cx="666750" cy="6858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73525" y="7515225"/>
              <a:ext cx="704850" cy="71437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8937" rIns="0" bIns="0" rtlCol="0" vert="horz">
            <a:spAutoFit/>
          </a:bodyPr>
          <a:lstStyle/>
          <a:p>
            <a:pPr marL="811530">
              <a:lnSpc>
                <a:spcPct val="100000"/>
              </a:lnSpc>
              <a:spcBef>
                <a:spcPts val="100"/>
              </a:spcBef>
            </a:pPr>
            <a:r>
              <a:rPr dirty="0" sz="6150" spc="-340" i="1">
                <a:latin typeface="Calibri"/>
                <a:cs typeface="Calibri"/>
              </a:rPr>
              <a:t>The</a:t>
            </a:r>
            <a:r>
              <a:rPr dirty="0" sz="6150" spc="-15" i="1">
                <a:latin typeface="Calibri"/>
                <a:cs typeface="Calibri"/>
              </a:rPr>
              <a:t> </a:t>
            </a:r>
            <a:r>
              <a:rPr dirty="0" sz="6150" spc="-195" i="1">
                <a:latin typeface="Calibri"/>
                <a:cs typeface="Calibri"/>
              </a:rPr>
              <a:t>AO”Algorithm</a:t>
            </a:r>
            <a:r>
              <a:rPr dirty="0" sz="6150" spc="-100" i="1">
                <a:latin typeface="Calibri"/>
                <a:cs typeface="Calibri"/>
              </a:rPr>
              <a:t> </a:t>
            </a:r>
            <a:r>
              <a:rPr dirty="0" sz="6150" spc="-265" i="1">
                <a:latin typeface="Calibri"/>
                <a:cs typeface="Calibri"/>
              </a:rPr>
              <a:t>Issues</a:t>
            </a:r>
            <a:endParaRPr sz="61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75502" y="1979612"/>
            <a:ext cx="16547465" cy="315912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just" marL="832485" marR="5080" indent="-820419">
              <a:lnSpc>
                <a:spcPct val="89700"/>
              </a:lnSpc>
              <a:spcBef>
                <a:spcPts val="650"/>
              </a:spcBef>
            </a:pPr>
            <a:r>
              <a:rPr dirty="0" sz="4200" spc="75">
                <a:latin typeface="Calibri"/>
                <a:cs typeface="Calibri"/>
              </a:rPr>
              <a:t>1.</a:t>
            </a:r>
            <a:r>
              <a:rPr dirty="0" sz="4200" spc="434">
                <a:latin typeface="Calibri"/>
                <a:cs typeface="Calibri"/>
              </a:rPr>
              <a:t>  </a:t>
            </a:r>
            <a:r>
              <a:rPr dirty="0" sz="4450">
                <a:latin typeface="Calibri"/>
                <a:cs typeface="Calibri"/>
              </a:rPr>
              <a:t>In</a:t>
            </a:r>
            <a:r>
              <a:rPr dirty="0" sz="4450" spc="3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step</a:t>
            </a:r>
            <a:r>
              <a:rPr dirty="0" sz="4450" spc="4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2(c)(v)</a:t>
            </a:r>
            <a:r>
              <a:rPr dirty="0" sz="4450" spc="62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4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ancestors</a:t>
            </a:r>
            <a:r>
              <a:rPr dirty="0" sz="4450" spc="6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484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anode</a:t>
            </a:r>
            <a:r>
              <a:rPr dirty="0" sz="4450" spc="5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whose</a:t>
            </a:r>
            <a:r>
              <a:rPr dirty="0" sz="4450" spc="5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cost</a:t>
            </a:r>
            <a:r>
              <a:rPr dirty="0" sz="4450" spc="4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was</a:t>
            </a:r>
            <a:r>
              <a:rPr dirty="0" sz="4450" spc="47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altered</a:t>
            </a:r>
            <a:r>
              <a:rPr dirty="0" sz="4450" spc="605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are </a:t>
            </a:r>
            <a:r>
              <a:rPr dirty="0" sz="4450">
                <a:latin typeface="Calibri"/>
                <a:cs typeface="Calibri"/>
              </a:rPr>
              <a:t>added</a:t>
            </a:r>
            <a:r>
              <a:rPr dirty="0" sz="4450" spc="79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to</a:t>
            </a:r>
            <a:r>
              <a:rPr dirty="0" sz="4450" spc="69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79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set</a:t>
            </a:r>
            <a:r>
              <a:rPr dirty="0" sz="4450" spc="67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7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nodes</a:t>
            </a:r>
            <a:r>
              <a:rPr dirty="0" sz="4450" spc="8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whose</a:t>
            </a:r>
            <a:r>
              <a:rPr dirty="0" sz="4450" spc="8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costs</a:t>
            </a:r>
            <a:r>
              <a:rPr dirty="0" sz="4450" spc="7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must</a:t>
            </a:r>
            <a:r>
              <a:rPr dirty="0" sz="4450" spc="70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also</a:t>
            </a:r>
            <a:r>
              <a:rPr dirty="0" sz="4450" spc="72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be</a:t>
            </a:r>
            <a:r>
              <a:rPr dirty="0" sz="4450" spc="6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revised.</a:t>
            </a:r>
            <a:r>
              <a:rPr dirty="0" sz="4450" spc="869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As </a:t>
            </a:r>
            <a:r>
              <a:rPr dirty="0" sz="4500">
                <a:latin typeface="Calibri"/>
                <a:cs typeface="Calibri"/>
              </a:rPr>
              <a:t>stated,</a:t>
            </a:r>
            <a:r>
              <a:rPr dirty="0" sz="4500" spc="5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3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algorithm</a:t>
            </a:r>
            <a:r>
              <a:rPr dirty="0" sz="4500" spc="6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will</a:t>
            </a:r>
            <a:r>
              <a:rPr dirty="0" sz="4500" spc="3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insert</a:t>
            </a:r>
            <a:r>
              <a:rPr dirty="0" sz="4500" spc="45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all</a:t>
            </a:r>
            <a:r>
              <a:rPr dirty="0" sz="4500" spc="3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3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node's</a:t>
            </a:r>
            <a:r>
              <a:rPr dirty="0" sz="4500" spc="47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ancestors'</a:t>
            </a:r>
            <a:r>
              <a:rPr dirty="0" sz="4500" spc="6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into</a:t>
            </a:r>
            <a:r>
              <a:rPr dirty="0" sz="4500" spc="41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 </a:t>
            </a:r>
            <a:r>
              <a:rPr dirty="0" sz="4450">
                <a:latin typeface="Calibri"/>
                <a:cs typeface="Calibri"/>
              </a:rPr>
              <a:t>set.</a:t>
            </a:r>
            <a:r>
              <a:rPr dirty="0" sz="4450" spc="2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which</a:t>
            </a:r>
            <a:r>
              <a:rPr dirty="0" sz="4450" spc="7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may</a:t>
            </a:r>
            <a:r>
              <a:rPr dirty="0" sz="4450" spc="-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result</a:t>
            </a:r>
            <a:r>
              <a:rPr dirty="0" sz="4450" spc="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in</a:t>
            </a:r>
            <a:r>
              <a:rPr dirty="0" sz="4450" spc="-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propagañon</a:t>
            </a:r>
            <a:r>
              <a:rPr dirty="0" sz="4450" spc="3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cost</a:t>
            </a:r>
            <a:r>
              <a:rPr dirty="0" sz="4450" spc="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change</a:t>
            </a:r>
            <a:r>
              <a:rPr dirty="0" sz="4450" spc="1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back</a:t>
            </a:r>
            <a:r>
              <a:rPr dirty="0" sz="4450" spc="75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up </a:t>
            </a:r>
            <a:r>
              <a:rPr dirty="0" sz="4550" spc="-20">
                <a:latin typeface="Calibri"/>
                <a:cs typeface="Calibri"/>
              </a:rPr>
              <a:t>through</a:t>
            </a:r>
            <a:r>
              <a:rPr dirty="0" sz="4550" spc="185">
                <a:latin typeface="Calibri"/>
                <a:cs typeface="Calibri"/>
              </a:rPr>
              <a:t> </a:t>
            </a:r>
            <a:r>
              <a:rPr dirty="0" sz="4550" spc="65">
                <a:latin typeface="Calibri"/>
                <a:cs typeface="Calibri"/>
              </a:rPr>
              <a:t>a</a:t>
            </a:r>
            <a:r>
              <a:rPr dirty="0" sz="4550" spc="-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large</a:t>
            </a:r>
            <a:r>
              <a:rPr dirty="0" sz="4550" spc="1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number</a:t>
            </a:r>
            <a:r>
              <a:rPr dirty="0" sz="4550" spc="1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1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paths</a:t>
            </a:r>
            <a:r>
              <a:rPr dirty="0" sz="4550" spc="1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that</a:t>
            </a:r>
            <a:r>
              <a:rPr dirty="0" sz="4550" spc="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are</a:t>
            </a:r>
            <a:r>
              <a:rPr dirty="0" sz="4550" spc="10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already</a:t>
            </a:r>
            <a:r>
              <a:rPr dirty="0" sz="4550" spc="2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known</a:t>
            </a:r>
            <a:r>
              <a:rPr dirty="0" sz="4550" spc="1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not</a:t>
            </a:r>
            <a:r>
              <a:rPr dirty="0" sz="4550" spc="1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2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be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92804" y="5065712"/>
            <a:ext cx="229552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50">
                <a:latin typeface="Calibri"/>
                <a:cs typeface="Calibri"/>
              </a:rPr>
              <a:t>very</a:t>
            </a:r>
            <a:r>
              <a:rPr dirty="0" sz="4300" spc="175">
                <a:latin typeface="Calibri"/>
                <a:cs typeface="Calibri"/>
              </a:rPr>
              <a:t> </a:t>
            </a:r>
            <a:r>
              <a:rPr dirty="0" sz="4300" spc="-20">
                <a:latin typeface="Calibri"/>
                <a:cs typeface="Calibri"/>
              </a:rPr>
              <a:t>good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648633" y="5065712"/>
            <a:ext cx="808990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6570">
              <a:lnSpc>
                <a:spcPts val="4380"/>
              </a:lnSpc>
              <a:spcBef>
                <a:spcPts val="100"/>
              </a:spcBef>
            </a:pPr>
            <a:r>
              <a:rPr dirty="0" sz="4300" spc="-290">
                <a:latin typeface="Calibri"/>
                <a:cs typeface="Calibri"/>
              </a:rPr>
              <a:t>tt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ts val="3300"/>
              </a:lnSpc>
            </a:pPr>
            <a:r>
              <a:rPr dirty="0" sz="3400" spc="-50">
                <a:latin typeface="Calibri"/>
                <a:cs typeface="Calibri"/>
              </a:rPr>
              <a:t>A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00282" y="6511925"/>
            <a:ext cx="10991215" cy="2981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5615" indent="-462915">
              <a:lnSpc>
                <a:spcPts val="4710"/>
              </a:lnSpc>
              <a:spcBef>
                <a:spcPts val="100"/>
              </a:spcBef>
              <a:buChar char="•"/>
              <a:tabLst>
                <a:tab pos="475615" algn="l"/>
              </a:tabLst>
            </a:pPr>
            <a:r>
              <a:rPr dirty="0" sz="4050" spc="-10">
                <a:latin typeface="Calibri"/>
                <a:cs typeface="Calibri"/>
              </a:rPr>
              <a:t>Do</a:t>
            </a:r>
            <a:r>
              <a:rPr dirty="0" sz="4050" spc="-220">
                <a:latin typeface="Calibri"/>
                <a:cs typeface="Calibri"/>
              </a:rPr>
              <a:t> </a:t>
            </a:r>
            <a:r>
              <a:rPr dirty="0" sz="4050" spc="-260">
                <a:latin typeface="Calibri"/>
                <a:cs typeface="Calibri"/>
              </a:rPr>
              <a:t>We</a:t>
            </a:r>
            <a:r>
              <a:rPr dirty="0" sz="4050" spc="15">
                <a:latin typeface="Calibri"/>
                <a:cs typeface="Calibri"/>
              </a:rPr>
              <a:t> </a:t>
            </a:r>
            <a:r>
              <a:rPr dirty="0" sz="4050" spc="-70">
                <a:latin typeface="Calibri"/>
                <a:cs typeface="Calibri"/>
              </a:rPr>
              <a:t>need</a:t>
            </a:r>
            <a:r>
              <a:rPr dirty="0" sz="4050" spc="-160">
                <a:latin typeface="Calibri"/>
                <a:cs typeface="Calibri"/>
              </a:rPr>
              <a:t> </a:t>
            </a:r>
            <a:r>
              <a:rPr dirty="0" sz="4050" spc="-150">
                <a:latin typeface="Calibri"/>
                <a:cs typeface="Calibri"/>
              </a:rPr>
              <a:t>to</a:t>
            </a:r>
            <a:r>
              <a:rPr dirty="0" sz="4050" spc="-80">
                <a:latin typeface="Calibri"/>
                <a:cs typeface="Calibri"/>
              </a:rPr>
              <a:t> </a:t>
            </a:r>
            <a:r>
              <a:rPr dirty="0" sz="4050" spc="-110">
                <a:latin typeface="Calibri"/>
                <a:cs typeface="Calibri"/>
              </a:rPr>
              <a:t>Update</a:t>
            </a:r>
            <a:r>
              <a:rPr dirty="0" sz="4050" spc="-70">
                <a:latin typeface="Calibri"/>
                <a:cs typeface="Calibri"/>
              </a:rPr>
              <a:t> </a:t>
            </a:r>
            <a:r>
              <a:rPr dirty="0" sz="4050" spc="-100">
                <a:latin typeface="Calibri"/>
                <a:cs typeface="Calibri"/>
              </a:rPr>
              <a:t>node</a:t>
            </a:r>
            <a:r>
              <a:rPr dirty="0" sz="4050" spc="-114">
                <a:latin typeface="Calibri"/>
                <a:cs typeface="Calibri"/>
              </a:rPr>
              <a:t> </a:t>
            </a:r>
            <a:r>
              <a:rPr dirty="0" sz="4050" spc="-25">
                <a:latin typeface="Calibri"/>
                <a:cs typeface="Calibri"/>
              </a:rPr>
              <a:t>B?</a:t>
            </a:r>
            <a:endParaRPr sz="4050">
              <a:latin typeface="Calibri"/>
              <a:cs typeface="Calibri"/>
            </a:endParaRPr>
          </a:p>
          <a:p>
            <a:pPr marL="484505" marR="808355" indent="-472440">
              <a:lnSpc>
                <a:spcPts val="4580"/>
              </a:lnSpc>
              <a:spcBef>
                <a:spcPts val="285"/>
              </a:spcBef>
              <a:buChar char="•"/>
              <a:tabLst>
                <a:tab pos="486409" algn="l"/>
              </a:tabLst>
            </a:pPr>
            <a:r>
              <a:rPr dirty="0" sz="4100" spc="-45">
                <a:latin typeface="Calibri"/>
                <a:cs typeface="Calibri"/>
              </a:rPr>
              <a:t>Isn't</a:t>
            </a:r>
            <a:r>
              <a:rPr dirty="0" sz="4100" spc="-190">
                <a:latin typeface="Calibri"/>
                <a:cs typeface="Calibri"/>
              </a:rPr>
              <a:t> </a:t>
            </a:r>
            <a:r>
              <a:rPr dirty="0" sz="4100" spc="-120">
                <a:latin typeface="Calibri"/>
                <a:cs typeface="Calibri"/>
              </a:rPr>
              <a:t>the</a:t>
            </a:r>
            <a:r>
              <a:rPr dirty="0" sz="4100" spc="-110">
                <a:latin typeface="Calibri"/>
                <a:cs typeface="Calibri"/>
              </a:rPr>
              <a:t> </a:t>
            </a:r>
            <a:r>
              <a:rPr dirty="0" sz="4100" spc="-140">
                <a:latin typeface="Calibri"/>
                <a:cs typeface="Calibri"/>
              </a:rPr>
              <a:t>work</a:t>
            </a:r>
            <a:r>
              <a:rPr dirty="0" sz="4100" spc="-90">
                <a:latin typeface="Calibri"/>
                <a:cs typeface="Calibri"/>
              </a:rPr>
              <a:t> </a:t>
            </a:r>
            <a:r>
              <a:rPr dirty="0" sz="4100" spc="-140">
                <a:latin typeface="Calibri"/>
                <a:cs typeface="Calibri"/>
              </a:rPr>
              <a:t>expended</a:t>
            </a:r>
            <a:r>
              <a:rPr dirty="0" sz="4100" spc="-45">
                <a:latin typeface="Calibri"/>
                <a:cs typeface="Calibri"/>
              </a:rPr>
              <a:t> </a:t>
            </a:r>
            <a:r>
              <a:rPr dirty="0" sz="4100" spc="-105">
                <a:latin typeface="Calibri"/>
                <a:cs typeface="Calibri"/>
              </a:rPr>
              <a:t>on</a:t>
            </a:r>
            <a:r>
              <a:rPr dirty="0" sz="4100" spc="-125">
                <a:latin typeface="Calibri"/>
                <a:cs typeface="Calibri"/>
              </a:rPr>
              <a:t> </a:t>
            </a:r>
            <a:r>
              <a:rPr dirty="0" sz="4100" spc="-110">
                <a:latin typeface="Calibri"/>
                <a:cs typeface="Calibri"/>
              </a:rPr>
              <a:t>the</a:t>
            </a:r>
            <a:r>
              <a:rPr dirty="0" sz="4100" spc="-120">
                <a:latin typeface="Calibri"/>
                <a:cs typeface="Calibri"/>
              </a:rPr>
              <a:t> </a:t>
            </a:r>
            <a:r>
              <a:rPr dirty="0" sz="4100" spc="-105">
                <a:latin typeface="Calibri"/>
                <a:cs typeface="Calibri"/>
              </a:rPr>
              <a:t>path</a:t>
            </a:r>
            <a:r>
              <a:rPr dirty="0" sz="4100" spc="-60">
                <a:latin typeface="Calibri"/>
                <a:cs typeface="Calibri"/>
              </a:rPr>
              <a:t> </a:t>
            </a:r>
            <a:r>
              <a:rPr dirty="0" sz="4100" spc="-145">
                <a:latin typeface="Calibri"/>
                <a:cs typeface="Calibri"/>
              </a:rPr>
              <a:t>through</a:t>
            </a:r>
            <a:r>
              <a:rPr dirty="0" sz="4100" spc="-8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B</a:t>
            </a:r>
            <a:r>
              <a:rPr dirty="0" sz="4100" spc="-229">
                <a:latin typeface="Calibri"/>
                <a:cs typeface="Calibri"/>
              </a:rPr>
              <a:t> </a:t>
            </a:r>
            <a:r>
              <a:rPr dirty="0" sz="4100" spc="-25">
                <a:latin typeface="Calibri"/>
                <a:cs typeface="Calibri"/>
              </a:rPr>
              <a:t>is </a:t>
            </a:r>
            <a:r>
              <a:rPr dirty="0" sz="4100" spc="-25">
                <a:latin typeface="Calibri"/>
                <a:cs typeface="Calibri"/>
              </a:rPr>
              <a:t>	</a:t>
            </a:r>
            <a:r>
              <a:rPr dirty="0" sz="4100" spc="-145">
                <a:latin typeface="Calibri"/>
                <a:cs typeface="Calibri"/>
              </a:rPr>
              <a:t>wasted</a:t>
            </a:r>
            <a:r>
              <a:rPr dirty="0" sz="4100" spc="-75">
                <a:latin typeface="Calibri"/>
                <a:cs typeface="Calibri"/>
              </a:rPr>
              <a:t> </a:t>
            </a:r>
            <a:r>
              <a:rPr dirty="0" sz="4100" spc="-50">
                <a:latin typeface="Calibri"/>
                <a:cs typeface="Calibri"/>
              </a:rPr>
              <a:t>?</a:t>
            </a:r>
            <a:endParaRPr sz="4100">
              <a:latin typeface="Calibri"/>
              <a:cs typeface="Calibri"/>
            </a:endParaRPr>
          </a:p>
          <a:p>
            <a:pPr marL="483870" indent="-471170">
              <a:lnSpc>
                <a:spcPts val="4400"/>
              </a:lnSpc>
              <a:buChar char="•"/>
              <a:tabLst>
                <a:tab pos="483870" algn="l"/>
              </a:tabLst>
            </a:pPr>
            <a:r>
              <a:rPr dirty="0" sz="4100" spc="-160">
                <a:latin typeface="Calibri"/>
                <a:cs typeface="Calibri"/>
              </a:rPr>
              <a:t>What</a:t>
            </a:r>
            <a:r>
              <a:rPr dirty="0" sz="4100" spc="-7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if</a:t>
            </a:r>
            <a:r>
              <a:rPr dirty="0" sz="4100" spc="-229">
                <a:latin typeface="Calibri"/>
                <a:cs typeface="Calibri"/>
              </a:rPr>
              <a:t> </a:t>
            </a:r>
            <a:r>
              <a:rPr dirty="0" sz="4100" spc="-120">
                <a:latin typeface="Calibri"/>
                <a:cs typeface="Calibri"/>
              </a:rPr>
              <a:t>the</a:t>
            </a:r>
            <a:r>
              <a:rPr dirty="0" sz="4100" spc="-110">
                <a:latin typeface="Calibri"/>
                <a:cs typeface="Calibri"/>
              </a:rPr>
              <a:t> </a:t>
            </a:r>
            <a:r>
              <a:rPr dirty="0" sz="4100" spc="-155">
                <a:latin typeface="Calibri"/>
                <a:cs typeface="Calibri"/>
              </a:rPr>
              <a:t>cost</a:t>
            </a:r>
            <a:r>
              <a:rPr dirty="0" sz="4100" spc="-75">
                <a:latin typeface="Calibri"/>
                <a:cs typeface="Calibri"/>
              </a:rPr>
              <a:t> </a:t>
            </a:r>
            <a:r>
              <a:rPr dirty="0" sz="4100" spc="-50">
                <a:latin typeface="Calibri"/>
                <a:cs typeface="Calibri"/>
              </a:rPr>
              <a:t>of</a:t>
            </a:r>
            <a:r>
              <a:rPr dirty="0" sz="4100" spc="-160">
                <a:latin typeface="Calibri"/>
                <a:cs typeface="Calibri"/>
              </a:rPr>
              <a:t> </a:t>
            </a:r>
            <a:r>
              <a:rPr dirty="0" sz="4100" spc="-135">
                <a:latin typeface="Calibri"/>
                <a:cs typeface="Calibri"/>
              </a:rPr>
              <a:t>node</a:t>
            </a:r>
            <a:r>
              <a:rPr dirty="0" sz="4100" spc="-9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E</a:t>
            </a:r>
            <a:r>
              <a:rPr dirty="0" sz="4100" spc="-175">
                <a:latin typeface="Calibri"/>
                <a:cs typeface="Calibri"/>
              </a:rPr>
              <a:t> </a:t>
            </a:r>
            <a:r>
              <a:rPr dirty="0" sz="4100" spc="-55">
                <a:latin typeface="Calibri"/>
                <a:cs typeface="Calibri"/>
              </a:rPr>
              <a:t>is</a:t>
            </a:r>
            <a:r>
              <a:rPr dirty="0" sz="4100" spc="-175">
                <a:latin typeface="Calibri"/>
                <a:cs typeface="Calibri"/>
              </a:rPr>
              <a:t> </a:t>
            </a:r>
            <a:r>
              <a:rPr dirty="0" sz="4100" spc="-125">
                <a:latin typeface="Calibri"/>
                <a:cs typeface="Calibri"/>
              </a:rPr>
              <a:t>updated</a:t>
            </a:r>
            <a:r>
              <a:rPr dirty="0" sz="4100" spc="80">
                <a:latin typeface="Calibri"/>
                <a:cs typeface="Calibri"/>
              </a:rPr>
              <a:t> </a:t>
            </a:r>
            <a:r>
              <a:rPr dirty="0" sz="4100" spc="-90">
                <a:latin typeface="Calibri"/>
                <a:cs typeface="Calibri"/>
              </a:rPr>
              <a:t>as</a:t>
            </a:r>
            <a:r>
              <a:rPr dirty="0" sz="4100" spc="-140">
                <a:latin typeface="Calibri"/>
                <a:cs typeface="Calibri"/>
              </a:rPr>
              <a:t> </a:t>
            </a:r>
            <a:r>
              <a:rPr dirty="0" sz="4100" spc="-120">
                <a:latin typeface="Calibri"/>
                <a:cs typeface="Calibri"/>
              </a:rPr>
              <a:t>10</a:t>
            </a:r>
            <a:r>
              <a:rPr dirty="0" sz="4100" spc="-95">
                <a:latin typeface="Calibri"/>
                <a:cs typeface="Calibri"/>
              </a:rPr>
              <a:t> </a:t>
            </a:r>
            <a:r>
              <a:rPr dirty="0" sz="4100" spc="-155">
                <a:latin typeface="Calibri"/>
                <a:cs typeface="Calibri"/>
              </a:rPr>
              <a:t>and</a:t>
            </a:r>
            <a:r>
              <a:rPr dirty="0" sz="4100" spc="-9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is</a:t>
            </a:r>
            <a:r>
              <a:rPr dirty="0" sz="4100" spc="-229">
                <a:latin typeface="Calibri"/>
                <a:cs typeface="Calibri"/>
              </a:rPr>
              <a:t> </a:t>
            </a:r>
            <a:r>
              <a:rPr dirty="0" sz="4100" spc="-25">
                <a:latin typeface="Calibri"/>
                <a:cs typeface="Calibri"/>
              </a:rPr>
              <a:t>not</a:t>
            </a:r>
            <a:endParaRPr sz="4100">
              <a:latin typeface="Calibri"/>
              <a:cs typeface="Calibri"/>
            </a:endParaRPr>
          </a:p>
          <a:p>
            <a:pPr marL="480059">
              <a:lnSpc>
                <a:spcPts val="4715"/>
              </a:lnSpc>
            </a:pPr>
            <a:r>
              <a:rPr dirty="0" sz="4050" spc="-120">
                <a:latin typeface="Calibri"/>
                <a:cs typeface="Calibri"/>
              </a:rPr>
              <a:t>propagated</a:t>
            </a:r>
            <a:r>
              <a:rPr dirty="0" sz="4050" spc="40">
                <a:latin typeface="Calibri"/>
                <a:cs typeface="Calibri"/>
              </a:rPr>
              <a:t> </a:t>
            </a:r>
            <a:r>
              <a:rPr dirty="0" sz="4050" spc="-145">
                <a:latin typeface="Calibri"/>
                <a:cs typeface="Calibri"/>
              </a:rPr>
              <a:t>to</a:t>
            </a:r>
            <a:r>
              <a:rPr dirty="0" sz="4050" spc="-95">
                <a:latin typeface="Calibri"/>
                <a:cs typeface="Calibri"/>
              </a:rPr>
              <a:t> </a:t>
            </a:r>
            <a:r>
              <a:rPr dirty="0" sz="4050">
                <a:latin typeface="Calibri"/>
                <a:cs typeface="Calibri"/>
              </a:rPr>
              <a:t>B</a:t>
            </a:r>
            <a:r>
              <a:rPr dirty="0" sz="4050" spc="-160">
                <a:latin typeface="Calibri"/>
                <a:cs typeface="Calibri"/>
              </a:rPr>
              <a:t> </a:t>
            </a:r>
            <a:r>
              <a:rPr dirty="0" sz="4050" spc="-50">
                <a:latin typeface="Calibri"/>
                <a:cs typeface="Calibri"/>
              </a:rPr>
              <a:t>?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543466" y="6961187"/>
            <a:ext cx="103441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1795" algn="l"/>
              </a:tabLst>
            </a:pPr>
            <a:r>
              <a:rPr dirty="0" sz="3400" spc="-310">
                <a:latin typeface="Calibri"/>
                <a:cs typeface="Calibri"/>
              </a:rPr>
              <a:t>B</a:t>
            </a:r>
            <a:r>
              <a:rPr dirty="0" sz="3400">
                <a:latin typeface="Calibri"/>
                <a:cs typeface="Calibri"/>
              </a:rPr>
              <a:t>	</a:t>
            </a:r>
            <a:r>
              <a:rPr dirty="0" sz="3400" spc="-130">
                <a:latin typeface="Calibri"/>
                <a:cs typeface="Calibri"/>
              </a:rPr>
              <a:t>(10)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7722925" y="6923087"/>
            <a:ext cx="86804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750" algn="l"/>
              </a:tabLst>
            </a:pPr>
            <a:r>
              <a:rPr dirty="0" baseline="-4901" sz="5100" spc="-75">
                <a:latin typeface="Calibri"/>
                <a:cs typeface="Calibri"/>
              </a:rPr>
              <a:t>c</a:t>
            </a:r>
            <a:r>
              <a:rPr dirty="0" baseline="-4901" sz="5100">
                <a:latin typeface="Calibri"/>
                <a:cs typeface="Calibri"/>
              </a:rPr>
              <a:t>	</a:t>
            </a:r>
            <a:r>
              <a:rPr dirty="0" sz="3400" spc="-90">
                <a:latin typeface="Calibri"/>
                <a:cs typeface="Calibri"/>
              </a:rPr>
              <a:t>(6)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902295" y="8418512"/>
            <a:ext cx="82232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7190" algn="l"/>
              </a:tabLst>
            </a:pPr>
            <a:r>
              <a:rPr dirty="0" sz="3250" spc="-50">
                <a:latin typeface="Calibri"/>
                <a:cs typeface="Calibri"/>
              </a:rPr>
              <a:t>g</a:t>
            </a:r>
            <a:r>
              <a:rPr dirty="0" sz="3250">
                <a:latin typeface="Calibri"/>
                <a:cs typeface="Calibri"/>
              </a:rPr>
              <a:t>	</a:t>
            </a:r>
            <a:r>
              <a:rPr dirty="0" sz="3250" spc="-65">
                <a:latin typeface="Calibri"/>
                <a:cs typeface="Calibri"/>
              </a:rPr>
              <a:t>(3)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640441" y="8475662"/>
            <a:ext cx="85026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70" algn="l"/>
              </a:tabLst>
            </a:pPr>
            <a:r>
              <a:rPr dirty="0" sz="3250" spc="-50">
                <a:latin typeface="Calibri"/>
                <a:cs typeface="Calibri"/>
              </a:rPr>
              <a:t>E</a:t>
            </a:r>
            <a:r>
              <a:rPr dirty="0" sz="3250">
                <a:latin typeface="Calibri"/>
                <a:cs typeface="Calibri"/>
              </a:rPr>
              <a:t>	</a:t>
            </a:r>
            <a:r>
              <a:rPr dirty="0" sz="3250" spc="-25">
                <a:latin typeface="Calibri"/>
                <a:cs typeface="Calibri"/>
              </a:rPr>
              <a:t>(1)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181590" y="9682162"/>
            <a:ext cx="16243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5" i="1">
                <a:latin typeface="Calibri"/>
                <a:cs typeface="Calibri"/>
              </a:rPr>
              <a:t>Backward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286750" y="3676650"/>
            <a:ext cx="3600450" cy="4114800"/>
            <a:chOff x="8286750" y="3676650"/>
            <a:chExt cx="3600450" cy="41148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50" y="3676650"/>
              <a:ext cx="3600450" cy="41148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1775" y="4229100"/>
              <a:ext cx="523875" cy="619125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82800" y="3962400"/>
            <a:ext cx="600075" cy="7048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40100" y="8486775"/>
            <a:ext cx="800100" cy="3238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2587" rIns="0" bIns="0" rtlCol="0" vert="horz">
            <a:spAutoFit/>
          </a:bodyPr>
          <a:lstStyle/>
          <a:p>
            <a:pPr marL="810895">
              <a:lnSpc>
                <a:spcPct val="100000"/>
              </a:lnSpc>
              <a:spcBef>
                <a:spcPts val="100"/>
              </a:spcBef>
            </a:pPr>
            <a:r>
              <a:rPr dirty="0" sz="6200" spc="-340" i="1">
                <a:latin typeface="Calibri"/>
                <a:cs typeface="Calibri"/>
              </a:rPr>
              <a:t>The</a:t>
            </a:r>
            <a:r>
              <a:rPr dirty="0" sz="6200" spc="-70" i="1">
                <a:latin typeface="Calibri"/>
                <a:cs typeface="Calibri"/>
              </a:rPr>
              <a:t> </a:t>
            </a:r>
            <a:r>
              <a:rPr dirty="0" sz="6200" spc="-270" i="1">
                <a:latin typeface="Calibri"/>
                <a:cs typeface="Calibri"/>
              </a:rPr>
              <a:t>AO”Algorithm</a:t>
            </a:r>
            <a:r>
              <a:rPr dirty="0" sz="6200" spc="480" i="1">
                <a:latin typeface="Calibri"/>
                <a:cs typeface="Calibri"/>
              </a:rPr>
              <a:t> </a:t>
            </a:r>
            <a:r>
              <a:rPr dirty="0" sz="6200" spc="-315" i="1">
                <a:latin typeface="Calibri"/>
                <a:cs typeface="Calibri"/>
              </a:rPr>
              <a:t>Issues</a:t>
            </a:r>
            <a:endParaRPr sz="6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8994" y="3929062"/>
            <a:ext cx="611187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940" algn="l"/>
                <a:tab pos="1511300" algn="l"/>
                <a:tab pos="2663825" algn="l"/>
                <a:tab pos="3339465" algn="l"/>
                <a:tab pos="3899535" algn="l"/>
                <a:tab pos="4456430" algn="l"/>
              </a:tabLst>
            </a:pPr>
            <a:r>
              <a:rPr dirty="0" sz="4400" spc="-25">
                <a:latin typeface="Calibri"/>
                <a:cs typeface="Calibri"/>
              </a:rPr>
              <a:t>If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the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0">
                <a:latin typeface="Calibri"/>
                <a:cs typeface="Calibri"/>
              </a:rPr>
              <a:t>cost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of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60">
                <a:latin typeface="Calibri"/>
                <a:cs typeface="Calibri"/>
              </a:rPr>
              <a:t>G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25">
                <a:latin typeface="Calibri"/>
                <a:cs typeface="Calibri"/>
              </a:rPr>
              <a:t>is</a:t>
            </a:r>
            <a:r>
              <a:rPr dirty="0" sz="4400">
                <a:latin typeface="Calibri"/>
                <a:cs typeface="Calibri"/>
              </a:rPr>
              <a:t>	</a:t>
            </a:r>
            <a:r>
              <a:rPr dirty="0" sz="4400" spc="-10">
                <a:latin typeface="Calibri"/>
                <a:cs typeface="Calibri"/>
              </a:rPr>
              <a:t>revised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0631" y="4589462"/>
            <a:ext cx="612711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3710" algn="l"/>
                <a:tab pos="2915285" algn="l"/>
                <a:tab pos="4105910" algn="l"/>
                <a:tab pos="5328920" algn="l"/>
              </a:tabLst>
            </a:pPr>
            <a:r>
              <a:rPr dirty="0" sz="4600" spc="-25">
                <a:latin typeface="Calibri"/>
                <a:cs typeface="Calibri"/>
              </a:rPr>
              <a:t>and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if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it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is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55">
                <a:latin typeface="Calibri"/>
                <a:cs typeface="Calibri"/>
              </a:rPr>
              <a:t>not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9288" y="5287962"/>
            <a:ext cx="608076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3610" algn="l"/>
              </a:tabLst>
            </a:pPr>
            <a:r>
              <a:rPr dirty="0" sz="4500" spc="-10">
                <a:latin typeface="Calibri"/>
                <a:cs typeface="Calibri"/>
              </a:rPr>
              <a:t>immediately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80">
                <a:latin typeface="Calibri"/>
                <a:cs typeface="Calibri"/>
              </a:rPr>
              <a:t>propagated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1672" y="5983287"/>
            <a:ext cx="2161540" cy="1380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5185"/>
              </a:lnSpc>
              <a:spcBef>
                <a:spcPts val="100"/>
              </a:spcBef>
              <a:tabLst>
                <a:tab pos="1667510" algn="l"/>
              </a:tabLst>
            </a:pPr>
            <a:r>
              <a:rPr dirty="0" sz="4350" spc="-20">
                <a:latin typeface="Calibri"/>
                <a:cs typeface="Calibri"/>
              </a:rPr>
              <a:t>back</a:t>
            </a:r>
            <a:r>
              <a:rPr dirty="0" sz="4350">
                <a:latin typeface="Calibri"/>
                <a:cs typeface="Calibri"/>
              </a:rPr>
              <a:t>	</a:t>
            </a:r>
            <a:r>
              <a:rPr dirty="0" sz="4350" spc="-25">
                <a:latin typeface="Calibri"/>
                <a:cs typeface="Calibri"/>
              </a:rPr>
              <a:t>to</a:t>
            </a:r>
            <a:endParaRPr sz="4350">
              <a:latin typeface="Calibri"/>
              <a:cs typeface="Calibri"/>
            </a:endParaRPr>
          </a:p>
          <a:p>
            <a:pPr marL="12700">
              <a:lnSpc>
                <a:spcPts val="5485"/>
              </a:lnSpc>
            </a:pPr>
            <a:r>
              <a:rPr dirty="0" sz="4600" spc="-10">
                <a:latin typeface="Calibri"/>
                <a:cs typeface="Calibri"/>
              </a:rPr>
              <a:t>change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10609" y="5983287"/>
            <a:ext cx="3898900" cy="205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2065">
              <a:lnSpc>
                <a:spcPts val="5185"/>
              </a:lnSpc>
              <a:spcBef>
                <a:spcPts val="100"/>
              </a:spcBef>
              <a:tabLst>
                <a:tab pos="1017905" algn="l"/>
                <a:tab pos="2656205" algn="l"/>
              </a:tabLst>
            </a:pPr>
            <a:r>
              <a:rPr dirty="0" sz="4350" spc="-25">
                <a:latin typeface="Calibri"/>
                <a:cs typeface="Calibri"/>
              </a:rPr>
              <a:t>E,</a:t>
            </a:r>
            <a:r>
              <a:rPr dirty="0" sz="4350">
                <a:latin typeface="Calibri"/>
                <a:cs typeface="Calibri"/>
              </a:rPr>
              <a:t>	</a:t>
            </a:r>
            <a:r>
              <a:rPr dirty="0" sz="4350" spc="-20">
                <a:latin typeface="Calibri"/>
                <a:cs typeface="Calibri"/>
              </a:rPr>
              <a:t>then</a:t>
            </a:r>
            <a:r>
              <a:rPr dirty="0" sz="4350">
                <a:latin typeface="Calibri"/>
                <a:cs typeface="Calibri"/>
              </a:rPr>
              <a:t>	</a:t>
            </a:r>
            <a:r>
              <a:rPr dirty="0" sz="4350" spc="-25">
                <a:latin typeface="Calibri"/>
                <a:cs typeface="Calibri"/>
              </a:rPr>
              <a:t>the</a:t>
            </a:r>
            <a:endParaRPr sz="4350">
              <a:latin typeface="Calibri"/>
              <a:cs typeface="Calibri"/>
            </a:endParaRPr>
          </a:p>
          <a:p>
            <a:pPr algn="r" marR="6985">
              <a:lnSpc>
                <a:spcPts val="5440"/>
              </a:lnSpc>
              <a:tabLst>
                <a:tab pos="1380490" algn="l"/>
                <a:tab pos="3285490" algn="l"/>
              </a:tabLst>
            </a:pPr>
            <a:r>
              <a:rPr dirty="0" sz="4600" spc="-20">
                <a:latin typeface="Calibri"/>
                <a:cs typeface="Calibri"/>
              </a:rPr>
              <a:t>will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never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be</a:t>
            </a:r>
            <a:endParaRPr sz="4600">
              <a:latin typeface="Calibri"/>
              <a:cs typeface="Calibri"/>
            </a:endParaRPr>
          </a:p>
          <a:p>
            <a:pPr algn="r" marR="5715">
              <a:lnSpc>
                <a:spcPts val="5350"/>
              </a:lnSpc>
              <a:tabLst>
                <a:tab pos="2313940" algn="l"/>
              </a:tabLst>
            </a:pPr>
            <a:r>
              <a:rPr dirty="0" sz="4500" spc="-25">
                <a:latin typeface="Calibri"/>
                <a:cs typeface="Calibri"/>
              </a:rPr>
              <a:t>and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0">
                <a:latin typeface="Calibri"/>
                <a:cs typeface="Calibri"/>
              </a:rPr>
              <a:t>a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06886" y="8031162"/>
            <a:ext cx="3500120" cy="137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8575">
              <a:lnSpc>
                <a:spcPct val="100000"/>
              </a:lnSpc>
              <a:spcBef>
                <a:spcPts val="100"/>
              </a:spcBef>
            </a:pPr>
            <a:r>
              <a:rPr dirty="0" sz="4350" spc="-10">
                <a:latin typeface="Calibri"/>
                <a:cs typeface="Calibri"/>
              </a:rPr>
              <a:t>solution</a:t>
            </a:r>
            <a:endParaRPr sz="43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0"/>
              </a:spcBef>
              <a:tabLst>
                <a:tab pos="1119505" algn="l"/>
                <a:tab pos="2891155" algn="l"/>
              </a:tabLst>
            </a:pPr>
            <a:r>
              <a:rPr dirty="0" sz="4450" spc="-50">
                <a:latin typeface="Calibri"/>
                <a:cs typeface="Calibri"/>
              </a:rPr>
              <a:t>B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may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be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63707" y="7326312"/>
            <a:ext cx="2658110" cy="275653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7145" marR="5080" indent="-5080">
              <a:lnSpc>
                <a:spcPct val="101600"/>
              </a:lnSpc>
              <a:spcBef>
                <a:spcPts val="10"/>
              </a:spcBef>
            </a:pPr>
            <a:r>
              <a:rPr dirty="0" sz="4500" spc="-10">
                <a:latin typeface="Calibri"/>
                <a:cs typeface="Calibri"/>
              </a:rPr>
              <a:t>recorded </a:t>
            </a:r>
            <a:r>
              <a:rPr dirty="0" sz="4350" spc="-10">
                <a:latin typeface="Calibri"/>
                <a:cs typeface="Calibri"/>
              </a:rPr>
              <a:t>nonoptimal </a:t>
            </a:r>
            <a:r>
              <a:rPr dirty="0" sz="4450" spc="-10">
                <a:latin typeface="Calibri"/>
                <a:cs typeface="Calibri"/>
              </a:rPr>
              <a:t>through </a:t>
            </a:r>
            <a:r>
              <a:rPr dirty="0" sz="4400" spc="-10">
                <a:latin typeface="Calibri"/>
                <a:cs typeface="Calibri"/>
              </a:rPr>
              <a:t>discovered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008121" y="3651250"/>
            <a:ext cx="95694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100">
                <a:latin typeface="Arial MT"/>
                <a:cs typeface="Arial MT"/>
              </a:rPr>
              <a:t> </a:t>
            </a:r>
            <a:r>
              <a:rPr dirty="0" sz="2800" spc="-95">
                <a:latin typeface="Arial MT"/>
                <a:cs typeface="Arial MT"/>
              </a:rPr>
              <a:t>(11)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71462" y="4897437"/>
            <a:ext cx="102108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>
                <a:latin typeface="Arial MT"/>
                <a:cs typeface="Arial MT"/>
              </a:rPr>
              <a:t>B</a:t>
            </a:r>
            <a:r>
              <a:rPr dirty="0" sz="2850" spc="265">
                <a:latin typeface="Arial MT"/>
                <a:cs typeface="Arial MT"/>
              </a:rPr>
              <a:t> </a:t>
            </a:r>
            <a:r>
              <a:rPr dirty="0" sz="2850" spc="75">
                <a:latin typeface="Arial MT"/>
                <a:cs typeface="Arial MT"/>
              </a:rPr>
              <a:t>(›3)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675370" y="4897437"/>
            <a:ext cx="106172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880" algn="l"/>
              </a:tabLst>
            </a:pPr>
            <a:r>
              <a:rPr dirty="0" sz="2850" spc="-50">
                <a:latin typeface="Arial MT"/>
                <a:cs typeface="Arial MT"/>
              </a:rPr>
              <a:t>C</a:t>
            </a:r>
            <a:r>
              <a:rPr dirty="0" sz="2850">
                <a:latin typeface="Arial MT"/>
                <a:cs typeface="Arial MT"/>
              </a:rPr>
              <a:t>	</a:t>
            </a:r>
            <a:r>
              <a:rPr dirty="0" sz="2850" spc="-60">
                <a:latin typeface="Arial MT"/>
                <a:cs typeface="Arial MT"/>
              </a:rPr>
              <a:t>(10)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378003" y="6154737"/>
            <a:ext cx="17697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D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(5)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(6)</a:t>
            </a:r>
            <a:r>
              <a:rPr dirty="0" sz="3000" spc="40">
                <a:latin typeface="Arial MT"/>
                <a:cs typeface="Arial MT"/>
              </a:rPr>
              <a:t> </a:t>
            </a:r>
            <a:r>
              <a:rPr dirty="0" sz="3000" spc="-310">
                <a:latin typeface="Arial MT"/>
                <a:cs typeface="Arial MT"/>
              </a:rPr>
              <a:t>E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372233" y="7291387"/>
            <a:ext cx="86106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</a:tabLst>
            </a:pPr>
            <a:r>
              <a:rPr dirty="0" sz="2900" spc="-50">
                <a:solidFill>
                  <a:srgbClr val="161616"/>
                </a:solidFill>
                <a:latin typeface="Calibri"/>
                <a:cs typeface="Calibri"/>
              </a:rPr>
              <a:t>G</a:t>
            </a:r>
            <a:r>
              <a:rPr dirty="0" sz="2900">
                <a:solidFill>
                  <a:srgbClr val="161616"/>
                </a:solidFill>
                <a:latin typeface="Calibri"/>
                <a:cs typeface="Calibri"/>
              </a:rPr>
              <a:t>	</a:t>
            </a:r>
            <a:r>
              <a:rPr dirty="0" sz="2900" spc="-25">
                <a:latin typeface="Calibri"/>
                <a:cs typeface="Calibri"/>
              </a:rPr>
              <a:t>{5)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511954" y="6170612"/>
            <a:ext cx="8305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1160" algn="l"/>
              </a:tabLst>
            </a:pPr>
            <a:r>
              <a:rPr dirty="0" sz="2800" spc="-50">
                <a:latin typeface="Arial MT"/>
                <a:cs typeface="Arial MT"/>
              </a:rPr>
              <a:t>F</a:t>
            </a:r>
            <a:r>
              <a:rPr dirty="0" sz="2800">
                <a:latin typeface="Arial MT"/>
                <a:cs typeface="Arial MT"/>
              </a:rPr>
              <a:t>	</a:t>
            </a:r>
            <a:r>
              <a:rPr dirty="0" sz="2800" spc="-25">
                <a:latin typeface="Arial MT"/>
                <a:cs typeface="Arial MT"/>
              </a:rPr>
              <a:t>(3)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69958" y="1973262"/>
            <a:ext cx="16522065" cy="198247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838200" marR="5080" indent="-826135">
              <a:lnSpc>
                <a:spcPts val="4840"/>
              </a:lnSpc>
              <a:spcBef>
                <a:spcPts val="725"/>
              </a:spcBef>
              <a:tabLst>
                <a:tab pos="835660" algn="l"/>
                <a:tab pos="1330325" algn="l"/>
                <a:tab pos="3658235" algn="l"/>
                <a:tab pos="5353050" algn="l"/>
                <a:tab pos="6497320" algn="l"/>
                <a:tab pos="7477125" algn="l"/>
                <a:tab pos="9617710" algn="l"/>
                <a:tab pos="11951970" algn="l"/>
                <a:tab pos="13446760" algn="l"/>
                <a:tab pos="15032990" algn="l"/>
              </a:tabLst>
            </a:pPr>
            <a:r>
              <a:rPr dirty="0" sz="4500" spc="-25">
                <a:latin typeface="Calibri"/>
                <a:cs typeface="Calibri"/>
              </a:rPr>
              <a:t>2.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if</a:t>
            </a:r>
            <a:r>
              <a:rPr dirty="0" sz="4500">
                <a:latin typeface="Calibri"/>
                <a:cs typeface="Calibri"/>
              </a:rPr>
              <a:t>	the</a:t>
            </a:r>
            <a:r>
              <a:rPr dirty="0" sz="4500" spc="335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node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whose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cost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has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changed</a:t>
            </a:r>
            <a:r>
              <a:rPr dirty="0" sz="4500">
                <a:latin typeface="Calibri"/>
                <a:cs typeface="Calibri"/>
              </a:rPr>
              <a:t>	is</a:t>
            </a:r>
            <a:r>
              <a:rPr dirty="0" sz="4500" spc="41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farther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down</a:t>
            </a:r>
            <a:r>
              <a:rPr dirty="0" sz="4500">
                <a:latin typeface="Calibri"/>
                <a:cs typeface="Calibri"/>
              </a:rPr>
              <a:t>	in</a:t>
            </a:r>
            <a:r>
              <a:rPr dirty="0" sz="4500" spc="41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75">
                <a:latin typeface="Calibri"/>
                <a:cs typeface="Calibri"/>
              </a:rPr>
              <a:t>search </a:t>
            </a:r>
            <a:r>
              <a:rPr dirty="0" sz="4500">
                <a:latin typeface="Calibri"/>
                <a:cs typeface="Calibri"/>
              </a:rPr>
              <a:t>Graph,</a:t>
            </a:r>
            <a:r>
              <a:rPr dirty="0" sz="4500" spc="-1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5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error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may</a:t>
            </a:r>
            <a:r>
              <a:rPr dirty="0" sz="4500" spc="-20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never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</a:t>
            </a:r>
            <a:r>
              <a:rPr dirty="0" sz="4500" spc="-24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detected</a:t>
            </a:r>
            <a:endParaRPr sz="4500">
              <a:latin typeface="Calibri"/>
              <a:cs typeface="Calibri"/>
            </a:endParaRPr>
          </a:p>
          <a:p>
            <a:pPr algn="r" marR="1356360">
              <a:lnSpc>
                <a:spcPct val="100000"/>
              </a:lnSpc>
              <a:spcBef>
                <a:spcPts val="1745"/>
              </a:spcBef>
              <a:tabLst>
                <a:tab pos="354330" algn="l"/>
              </a:tabLst>
            </a:pPr>
            <a:r>
              <a:rPr dirty="0" sz="2800" spc="-50">
                <a:solidFill>
                  <a:srgbClr val="0C0C0C"/>
                </a:solidFill>
                <a:latin typeface="Calibri"/>
                <a:cs typeface="Calibri"/>
              </a:rPr>
              <a:t>A</a:t>
            </a:r>
            <a:r>
              <a:rPr dirty="0" sz="2800">
                <a:solidFill>
                  <a:srgbClr val="0C0C0C"/>
                </a:solidFill>
                <a:latin typeface="Calibri"/>
                <a:cs typeface="Calibri"/>
              </a:rPr>
              <a:t>	</a:t>
            </a:r>
            <a:r>
              <a:rPr dirty="0" sz="2800" spc="90">
                <a:latin typeface="Calibri"/>
                <a:cs typeface="Calibri"/>
              </a:rPr>
              <a:t>(14)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790749" y="4729162"/>
            <a:ext cx="1020444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Arial MT"/>
                <a:cs typeface="Arial MT"/>
              </a:rPr>
              <a:t>B</a:t>
            </a:r>
            <a:r>
              <a:rPr dirty="0" sz="2900" spc="270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(13)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6294799" y="4729162"/>
            <a:ext cx="106870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405" algn="l"/>
              </a:tabLst>
            </a:pPr>
            <a:r>
              <a:rPr dirty="0" sz="2900" spc="-50">
                <a:latin typeface="Arial MT"/>
                <a:cs typeface="Arial MT"/>
              </a:rPr>
              <a:t>C</a:t>
            </a:r>
            <a:r>
              <a:rPr dirty="0" sz="2900">
                <a:latin typeface="Arial MT"/>
                <a:cs typeface="Arial MT"/>
              </a:rPr>
              <a:t>	</a:t>
            </a:r>
            <a:r>
              <a:rPr dirty="0" sz="2900" spc="-75">
                <a:latin typeface="Arial MT"/>
                <a:cs typeface="Arial MT"/>
              </a:rPr>
              <a:t>(15)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992491" y="5961062"/>
            <a:ext cx="174371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845" algn="l"/>
              </a:tabLst>
            </a:pPr>
            <a:r>
              <a:rPr dirty="0" sz="3250" spc="-50">
                <a:latin typeface="Calibri"/>
                <a:cs typeface="Calibri"/>
              </a:rPr>
              <a:t>D</a:t>
            </a:r>
            <a:r>
              <a:rPr dirty="0" sz="3250">
                <a:latin typeface="Calibri"/>
                <a:cs typeface="Calibri"/>
              </a:rPr>
              <a:t>	(5)</a:t>
            </a:r>
            <a:r>
              <a:rPr dirty="0" sz="3250" spc="85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(6)</a:t>
            </a:r>
            <a:r>
              <a:rPr dirty="0" sz="3250" spc="-95">
                <a:latin typeface="Calibri"/>
                <a:cs typeface="Calibri"/>
              </a:rPr>
              <a:t> </a:t>
            </a:r>
            <a:r>
              <a:rPr dirty="0" sz="3250" spc="-50">
                <a:latin typeface="Calibri"/>
                <a:cs typeface="Calibri"/>
              </a:rPr>
              <a:t>E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7126216" y="5961062"/>
            <a:ext cx="86931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320" algn="l"/>
              </a:tabLst>
            </a:pPr>
            <a:r>
              <a:rPr dirty="0" sz="3250" spc="-50">
                <a:latin typeface="Calibri"/>
                <a:cs typeface="Calibri"/>
              </a:rPr>
              <a:t>F</a:t>
            </a:r>
            <a:r>
              <a:rPr dirty="0" sz="3250">
                <a:latin typeface="Calibri"/>
                <a:cs typeface="Calibri"/>
              </a:rPr>
              <a:t>	</a:t>
            </a:r>
            <a:r>
              <a:rPr dirty="0" sz="3250" spc="-25">
                <a:latin typeface="Calibri"/>
                <a:cs typeface="Calibri"/>
              </a:rPr>
              <a:t>(3)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011600" y="7151687"/>
            <a:ext cx="10420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605" algn="l"/>
              </a:tabLst>
            </a:pPr>
            <a:r>
              <a:rPr dirty="0" sz="2800" spc="-50">
                <a:solidFill>
                  <a:srgbClr val="131313"/>
                </a:solidFill>
                <a:latin typeface="Calibri"/>
                <a:cs typeface="Calibri"/>
              </a:rPr>
              <a:t>G</a:t>
            </a:r>
            <a:r>
              <a:rPr dirty="0" sz="2800">
                <a:solidFill>
                  <a:srgbClr val="131313"/>
                </a:solidFill>
                <a:latin typeface="Calibri"/>
                <a:cs typeface="Calibri"/>
              </a:rPr>
              <a:t>	</a:t>
            </a:r>
            <a:r>
              <a:rPr dirty="0" sz="2800" spc="75">
                <a:latin typeface="Calibri"/>
                <a:cs typeface="Calibri"/>
              </a:rPr>
              <a:t>(10)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325235" y="8937678"/>
            <a:ext cx="1499235" cy="126873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649605">
              <a:lnSpc>
                <a:spcPct val="100000"/>
              </a:lnSpc>
              <a:spcBef>
                <a:spcPts val="1135"/>
              </a:spcBef>
            </a:pPr>
            <a:r>
              <a:rPr dirty="0" sz="3150" spc="70">
                <a:latin typeface="Calibri"/>
                <a:cs typeface="Calibri"/>
              </a:rPr>
              <a:t>i»j</a:t>
            </a:r>
            <a:endParaRPr sz="3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3250" spc="110">
                <a:latin typeface="Calibri"/>
                <a:cs typeface="Calibri"/>
              </a:rPr>
              <a:t>Fig.</a:t>
            </a:r>
            <a:r>
              <a:rPr dirty="0" sz="3250" spc="-45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3.12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199379" y="8937678"/>
            <a:ext cx="5676900" cy="126873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4271645">
              <a:lnSpc>
                <a:spcPct val="100000"/>
              </a:lnSpc>
              <a:spcBef>
                <a:spcPts val="1135"/>
              </a:spcBef>
            </a:pPr>
            <a:r>
              <a:rPr dirty="0" sz="3150" spc="70">
                <a:latin typeface="Calibri"/>
                <a:cs typeface="Calibri"/>
              </a:rPr>
              <a:t>ibj</a:t>
            </a:r>
            <a:endParaRPr sz="3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3250" i="1">
                <a:latin typeface="Calibri"/>
                <a:cs typeface="Calibri"/>
              </a:rPr>
              <a:t>A</a:t>
            </a:r>
            <a:r>
              <a:rPr dirty="0" sz="3250" spc="-130" i="1">
                <a:latin typeface="Calibri"/>
                <a:cs typeface="Calibri"/>
              </a:rPr>
              <a:t> </a:t>
            </a:r>
            <a:r>
              <a:rPr dirty="0" sz="3250" spc="-90" i="1">
                <a:latin typeface="Calibri"/>
                <a:cs typeface="Calibri"/>
              </a:rPr>
              <a:t>Necessary</a:t>
            </a:r>
            <a:r>
              <a:rPr dirty="0" sz="3250" spc="15" i="1">
                <a:latin typeface="Calibri"/>
                <a:cs typeface="Calibri"/>
              </a:rPr>
              <a:t> </a:t>
            </a:r>
            <a:r>
              <a:rPr dirty="0" sz="3250" spc="-65" i="1">
                <a:latin typeface="Calibri"/>
                <a:cs typeface="Calibri"/>
              </a:rPr>
              <a:t>Backward</a:t>
            </a:r>
            <a:r>
              <a:rPr dirty="0" sz="3250" spc="-30" i="1">
                <a:latin typeface="Calibri"/>
                <a:cs typeface="Calibri"/>
              </a:rPr>
              <a:t> </a:t>
            </a:r>
            <a:r>
              <a:rPr dirty="0" sz="3250" spc="-45" i="1">
                <a:latin typeface="Calibri"/>
                <a:cs typeface="Calibri"/>
              </a:rPr>
              <a:t>Pmpa§afion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550" y="4495800"/>
            <a:ext cx="2619375" cy="80962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4438650"/>
            <a:ext cx="9039225" cy="1066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01800" y="4438650"/>
            <a:ext cx="3162300" cy="8667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27510" y="4037012"/>
            <a:ext cx="14544675" cy="1503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71740" algn="l"/>
                <a:tab pos="12489180" algn="l"/>
              </a:tabLst>
            </a:pPr>
            <a:r>
              <a:rPr dirty="0" sz="9700" spc="-380"/>
              <a:t>ame</a:t>
            </a:r>
            <a:r>
              <a:rPr dirty="0" sz="9700"/>
              <a:t>	</a:t>
            </a:r>
            <a:r>
              <a:rPr dirty="0" sz="9700" spc="-285"/>
              <a:t>versaria</a:t>
            </a:r>
            <a:r>
              <a:rPr dirty="0" sz="9700"/>
              <a:t>	</a:t>
            </a:r>
            <a:r>
              <a:rPr dirty="0" sz="9700" spc="-285"/>
              <a:t>earc</a:t>
            </a:r>
            <a:endParaRPr sz="9700"/>
          </a:p>
        </p:txBody>
      </p:sp>
      <p:sp>
        <p:nvSpPr>
          <p:cNvPr id="6" name="object 6" descr=""/>
          <p:cNvSpPr txBox="1"/>
          <p:nvPr/>
        </p:nvSpPr>
        <p:spPr>
          <a:xfrm>
            <a:off x="2614317" y="5735637"/>
            <a:ext cx="14235430" cy="206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175">
              <a:lnSpc>
                <a:spcPts val="4165"/>
              </a:lnSpc>
              <a:spcBef>
                <a:spcPts val="100"/>
              </a:spcBef>
            </a:pPr>
            <a:r>
              <a:rPr dirty="0" sz="3750" spc="-75">
                <a:latin typeface="Calibri"/>
                <a:cs typeface="Calibri"/>
              </a:rPr>
              <a:t>Games,</a:t>
            </a:r>
            <a:r>
              <a:rPr dirty="0" sz="3750" spc="-120">
                <a:latin typeface="Calibri"/>
                <a:cs typeface="Calibri"/>
              </a:rPr>
              <a:t> </a:t>
            </a:r>
            <a:r>
              <a:rPr dirty="0" sz="3750" spc="-140">
                <a:latin typeface="Calibri"/>
                <a:cs typeface="Calibri"/>
              </a:rPr>
              <a:t>mini-</a:t>
            </a:r>
            <a:r>
              <a:rPr dirty="0" sz="3750" spc="-55">
                <a:latin typeface="Calibri"/>
                <a:cs typeface="Calibri"/>
              </a:rPr>
              <a:t>max</a:t>
            </a:r>
            <a:r>
              <a:rPr dirty="0" sz="3750" spc="-40">
                <a:latin typeface="Calibri"/>
                <a:cs typeface="Calibri"/>
              </a:rPr>
              <a:t> </a:t>
            </a:r>
            <a:r>
              <a:rPr dirty="0" sz="3750" spc="-10">
                <a:latin typeface="Calibri"/>
                <a:cs typeface="Calibri"/>
              </a:rPr>
              <a:t>algorithm,</a:t>
            </a:r>
            <a:endParaRPr sz="3750">
              <a:latin typeface="Calibri"/>
              <a:cs typeface="Calibri"/>
            </a:endParaRPr>
          </a:p>
          <a:p>
            <a:pPr algn="ctr" marL="12065" marR="5080">
              <a:lnSpc>
                <a:spcPts val="3900"/>
              </a:lnSpc>
              <a:spcBef>
                <a:spcPts val="290"/>
              </a:spcBef>
            </a:pPr>
            <a:r>
              <a:rPr dirty="0" sz="3750" spc="-105">
                <a:latin typeface="Calibri"/>
                <a:cs typeface="Calibri"/>
              </a:rPr>
              <a:t>optimal</a:t>
            </a:r>
            <a:r>
              <a:rPr dirty="0" sz="3750" spc="-30">
                <a:latin typeface="Calibri"/>
                <a:cs typeface="Calibri"/>
              </a:rPr>
              <a:t> </a:t>
            </a:r>
            <a:r>
              <a:rPr dirty="0" sz="3750" spc="-90">
                <a:latin typeface="Calibri"/>
                <a:cs typeface="Calibri"/>
              </a:rPr>
              <a:t>decisions</a:t>
            </a:r>
            <a:r>
              <a:rPr dirty="0" sz="3750" spc="-30">
                <a:latin typeface="Calibri"/>
                <a:cs typeface="Calibri"/>
              </a:rPr>
              <a:t> </a:t>
            </a:r>
            <a:r>
              <a:rPr dirty="0" sz="3750">
                <a:latin typeface="Calibri"/>
                <a:cs typeface="Calibri"/>
              </a:rPr>
              <a:t>in</a:t>
            </a:r>
            <a:r>
              <a:rPr dirty="0" sz="3750" spc="-204">
                <a:latin typeface="Calibri"/>
                <a:cs typeface="Calibri"/>
              </a:rPr>
              <a:t> </a:t>
            </a:r>
            <a:r>
              <a:rPr dirty="0" sz="3750" spc="-114">
                <a:latin typeface="Calibri"/>
                <a:cs typeface="Calibri"/>
              </a:rPr>
              <a:t>multiplayer</a:t>
            </a:r>
            <a:r>
              <a:rPr dirty="0" sz="3750" spc="185">
                <a:latin typeface="Calibri"/>
                <a:cs typeface="Calibri"/>
              </a:rPr>
              <a:t> </a:t>
            </a:r>
            <a:r>
              <a:rPr dirty="0" sz="3750" spc="-95">
                <a:latin typeface="Calibri"/>
                <a:cs typeface="Calibri"/>
              </a:rPr>
              <a:t>games,</a:t>
            </a:r>
            <a:r>
              <a:rPr dirty="0" sz="3750" spc="-55">
                <a:latin typeface="Calibri"/>
                <a:cs typeface="Calibri"/>
              </a:rPr>
              <a:t> </a:t>
            </a:r>
            <a:r>
              <a:rPr dirty="0" sz="3750" spc="-114">
                <a:latin typeface="Calibri"/>
                <a:cs typeface="Calibri"/>
              </a:rPr>
              <a:t>Problem</a:t>
            </a:r>
            <a:r>
              <a:rPr dirty="0" sz="3750" spc="-95">
                <a:latin typeface="Calibri"/>
                <a:cs typeface="Calibri"/>
              </a:rPr>
              <a:t> </a:t>
            </a:r>
            <a:r>
              <a:rPr dirty="0" sz="3750">
                <a:latin typeface="Calibri"/>
                <a:cs typeface="Calibri"/>
              </a:rPr>
              <a:t>in</a:t>
            </a:r>
            <a:r>
              <a:rPr dirty="0" sz="3750" spc="-210">
                <a:latin typeface="Calibri"/>
                <a:cs typeface="Calibri"/>
              </a:rPr>
              <a:t> </a:t>
            </a:r>
            <a:r>
              <a:rPr dirty="0" sz="3750" spc="-125">
                <a:latin typeface="Calibri"/>
                <a:cs typeface="Calibri"/>
              </a:rPr>
              <a:t>Game</a:t>
            </a:r>
            <a:r>
              <a:rPr dirty="0" sz="3750" spc="-85">
                <a:latin typeface="Calibri"/>
                <a:cs typeface="Calibri"/>
              </a:rPr>
              <a:t> </a:t>
            </a:r>
            <a:r>
              <a:rPr dirty="0" sz="3750" spc="-90">
                <a:latin typeface="Calibri"/>
                <a:cs typeface="Calibri"/>
              </a:rPr>
              <a:t>playing,</a:t>
            </a:r>
            <a:r>
              <a:rPr dirty="0" sz="3750" spc="-85">
                <a:latin typeface="Calibri"/>
                <a:cs typeface="Calibri"/>
              </a:rPr>
              <a:t> </a:t>
            </a:r>
            <a:r>
              <a:rPr dirty="0" sz="3750" spc="-125">
                <a:latin typeface="Calibri"/>
                <a:cs typeface="Calibri"/>
              </a:rPr>
              <a:t>Alpha-</a:t>
            </a:r>
            <a:r>
              <a:rPr dirty="0" sz="3750" spc="-20">
                <a:latin typeface="Calibri"/>
                <a:cs typeface="Calibri"/>
              </a:rPr>
              <a:t>Beta </a:t>
            </a:r>
            <a:r>
              <a:rPr dirty="0" sz="3750" spc="-10">
                <a:latin typeface="Calibri"/>
                <a:cs typeface="Calibri"/>
              </a:rPr>
              <a:t>pruning,</a:t>
            </a:r>
            <a:endParaRPr sz="3750">
              <a:latin typeface="Calibri"/>
              <a:cs typeface="Calibri"/>
            </a:endParaRPr>
          </a:p>
          <a:p>
            <a:pPr algn="ctr" marR="95885">
              <a:lnSpc>
                <a:spcPts val="3795"/>
              </a:lnSpc>
            </a:pPr>
            <a:r>
              <a:rPr dirty="0" sz="3750" spc="-100">
                <a:latin typeface="Calibri"/>
                <a:cs typeface="Calibri"/>
              </a:rPr>
              <a:t>Evaluation</a:t>
            </a:r>
            <a:r>
              <a:rPr dirty="0" sz="3750" spc="-50">
                <a:latin typeface="Calibri"/>
                <a:cs typeface="Calibri"/>
              </a:rPr>
              <a:t> </a:t>
            </a:r>
            <a:r>
              <a:rPr dirty="0" sz="3750" spc="-10">
                <a:latin typeface="Calibri"/>
                <a:cs typeface="Calibri"/>
              </a:rPr>
              <a:t>functions.</a:t>
            </a:r>
            <a:endParaRPr sz="3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53183" y="7307580"/>
            <a:ext cx="15377160" cy="0"/>
          </a:xfrm>
          <a:custGeom>
            <a:avLst/>
            <a:gdLst/>
            <a:ahLst/>
            <a:cxnLst/>
            <a:rect l="l" t="t" r="r" b="b"/>
            <a:pathLst>
              <a:path w="15377160" h="0">
                <a:moveTo>
                  <a:pt x="0" y="0"/>
                </a:moveTo>
                <a:lnTo>
                  <a:pt x="15377160" y="0"/>
                </a:lnTo>
              </a:path>
            </a:pathLst>
          </a:custGeom>
          <a:ln w="21336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379952" y="3820667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480" y="0"/>
                </a:lnTo>
              </a:path>
            </a:pathLst>
          </a:custGeom>
          <a:ln w="21336">
            <a:solidFill>
              <a:srgbClr val="03030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20725" y="4953000"/>
            <a:ext cx="3419475" cy="23050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39600" y="4714875"/>
            <a:ext cx="819150" cy="19335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0050" rIns="0" bIns="0" rtlCol="0" vert="horz">
            <a:spAutoFit/>
          </a:bodyPr>
          <a:lstStyle/>
          <a:p>
            <a:pPr marL="817880">
              <a:lnSpc>
                <a:spcPct val="100000"/>
              </a:lnSpc>
              <a:spcBef>
                <a:spcPts val="100"/>
              </a:spcBef>
            </a:pPr>
            <a:r>
              <a:rPr dirty="0" sz="6100" spc="-285" i="1">
                <a:latin typeface="Calibri"/>
                <a:cs typeface="Calibri"/>
              </a:rPr>
              <a:t>Adversarial</a:t>
            </a:r>
            <a:r>
              <a:rPr dirty="0" sz="6100" spc="330" i="1">
                <a:latin typeface="Calibri"/>
                <a:cs typeface="Calibri"/>
              </a:rPr>
              <a:t> </a:t>
            </a:r>
            <a:r>
              <a:rPr dirty="0" sz="6100" spc="-310" i="1">
                <a:latin typeface="Calibri"/>
                <a:cs typeface="Calibri"/>
              </a:rPr>
              <a:t>Search</a:t>
            </a:r>
            <a:r>
              <a:rPr dirty="0" sz="6100" spc="110" i="1">
                <a:latin typeface="Calibri"/>
                <a:cs typeface="Calibri"/>
              </a:rPr>
              <a:t> </a:t>
            </a:r>
            <a:r>
              <a:rPr dirty="0" sz="6100" spc="-330" i="1">
                <a:latin typeface="Calibri"/>
                <a:cs typeface="Calibri"/>
              </a:rPr>
              <a:t>(games)</a:t>
            </a:r>
            <a:endParaRPr sz="6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46723" y="1960562"/>
            <a:ext cx="16550005" cy="338518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393065" marR="22225" indent="-381000">
              <a:lnSpc>
                <a:spcPts val="4840"/>
              </a:lnSpc>
              <a:spcBef>
                <a:spcPts val="825"/>
              </a:spcBef>
              <a:buChar char="•"/>
              <a:tabLst>
                <a:tab pos="404495" algn="l"/>
              </a:tabLst>
            </a:pPr>
            <a:r>
              <a:rPr dirty="0" sz="4600">
                <a:latin typeface="Calibri"/>
                <a:cs typeface="Calibri"/>
              </a:rPr>
              <a:t>competitive</a:t>
            </a:r>
            <a:r>
              <a:rPr dirty="0" sz="4600" spc="27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environments,</a:t>
            </a:r>
            <a:r>
              <a:rPr dirty="0" sz="4600" spc="4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which</a:t>
            </a:r>
            <a:r>
              <a:rPr dirty="0" sz="4600" spc="1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agents</a:t>
            </a:r>
            <a:r>
              <a:rPr dirty="0" sz="4600" spc="2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goals</a:t>
            </a:r>
            <a:r>
              <a:rPr dirty="0" sz="4600" spc="2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75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conflict, </a:t>
            </a:r>
            <a:r>
              <a:rPr dirty="0" sz="4600" spc="-60">
                <a:latin typeface="Calibri"/>
                <a:cs typeface="Calibri"/>
              </a:rPr>
              <a:t>	</a:t>
            </a:r>
            <a:r>
              <a:rPr dirty="0" sz="4600" spc="-45">
                <a:latin typeface="Calibri"/>
                <a:cs typeface="Calibri"/>
              </a:rPr>
              <a:t>giving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rise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adversarial</a:t>
            </a:r>
            <a:r>
              <a:rPr dirty="0" sz="4600" spc="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search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problems</a:t>
            </a:r>
            <a:endParaRPr sz="4600">
              <a:latin typeface="Calibri"/>
              <a:cs typeface="Calibri"/>
            </a:endParaRPr>
          </a:p>
          <a:p>
            <a:pPr algn="just" marL="404495" marR="5080" indent="-391795">
              <a:lnSpc>
                <a:spcPts val="4840"/>
              </a:lnSpc>
              <a:spcBef>
                <a:spcPts val="1570"/>
              </a:spcBef>
              <a:buChar char="•"/>
              <a:tabLst>
                <a:tab pos="404495" algn="l"/>
                <a:tab pos="531495" algn="l"/>
              </a:tabLst>
            </a:pPr>
            <a:r>
              <a:rPr dirty="0" sz="4550">
                <a:latin typeface="Calibri"/>
                <a:cs typeface="Calibri"/>
              </a:rPr>
              <a:t>	In</a:t>
            </a:r>
            <a:r>
              <a:rPr dirty="0" sz="4550" spc="-2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AI,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most</a:t>
            </a:r>
            <a:r>
              <a:rPr dirty="0" sz="4550" spc="-95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common</a:t>
            </a:r>
            <a:r>
              <a:rPr dirty="0" sz="4550" spc="30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games</a:t>
            </a:r>
            <a:r>
              <a:rPr dirty="0" sz="4550" spc="-10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are</a:t>
            </a:r>
            <a:r>
              <a:rPr dirty="0" sz="4550" spc="-1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</a:t>
            </a:r>
            <a:r>
              <a:rPr dirty="0" sz="4550" spc="-195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rather</a:t>
            </a:r>
            <a:r>
              <a:rPr dirty="0" sz="4550" spc="30">
                <a:latin typeface="Calibri"/>
                <a:cs typeface="Calibri"/>
              </a:rPr>
              <a:t> </a:t>
            </a:r>
            <a:r>
              <a:rPr dirty="0" sz="4550" spc="-55">
                <a:latin typeface="Calibri"/>
                <a:cs typeface="Calibri"/>
              </a:rPr>
              <a:t>specialized</a:t>
            </a:r>
            <a:r>
              <a:rPr dirty="0" sz="4550" spc="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kind</a:t>
            </a:r>
            <a:r>
              <a:rPr dirty="0" sz="4550" spc="610">
                <a:latin typeface="Calibri"/>
                <a:cs typeface="Calibri"/>
              </a:rPr>
              <a:t>  </a:t>
            </a:r>
            <a:r>
              <a:rPr dirty="0" sz="4550" spc="-20">
                <a:latin typeface="Calibri"/>
                <a:cs typeface="Calibri"/>
              </a:rPr>
              <a:t>what </a:t>
            </a:r>
            <a:r>
              <a:rPr dirty="0" sz="4600">
                <a:latin typeface="Calibri"/>
                <a:cs typeface="Calibri"/>
              </a:rPr>
              <a:t>game</a:t>
            </a:r>
            <a:r>
              <a:rPr dirty="0" sz="4600" spc="3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theorists</a:t>
            </a:r>
            <a:r>
              <a:rPr dirty="0" sz="4600" spc="409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call</a:t>
            </a:r>
            <a:r>
              <a:rPr dirty="0" sz="4600" spc="2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determinisñc,</a:t>
            </a:r>
            <a:r>
              <a:rPr dirty="0" sz="4600" spc="66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turn-</a:t>
            </a:r>
            <a:r>
              <a:rPr dirty="0" sz="4600">
                <a:latin typeface="Calibri"/>
                <a:cs typeface="Calibri"/>
              </a:rPr>
              <a:t>taking,</a:t>
            </a:r>
            <a:r>
              <a:rPr dirty="0" sz="4600" spc="520">
                <a:latin typeface="Calibri"/>
                <a:cs typeface="Calibri"/>
              </a:rPr>
              <a:t> </a:t>
            </a:r>
            <a:r>
              <a:rPr dirty="0" sz="4600" spc="-120">
                <a:latin typeface="Calibri"/>
                <a:cs typeface="Calibri"/>
              </a:rPr>
              <a:t>two-</a:t>
            </a:r>
            <a:r>
              <a:rPr dirty="0" sz="4600">
                <a:latin typeface="Calibri"/>
                <a:cs typeface="Calibri"/>
              </a:rPr>
              <a:t>player,</a:t>
            </a:r>
            <a:r>
              <a:rPr dirty="0" sz="4600" spc="420">
                <a:latin typeface="Calibri"/>
                <a:cs typeface="Calibri"/>
              </a:rPr>
              <a:t> </a:t>
            </a:r>
            <a:r>
              <a:rPr dirty="0" sz="4600" spc="-110">
                <a:latin typeface="Calibri"/>
                <a:cs typeface="Calibri"/>
              </a:rPr>
              <a:t>zero-</a:t>
            </a:r>
            <a:r>
              <a:rPr dirty="0" sz="4600" spc="-40">
                <a:latin typeface="Calibri"/>
                <a:cs typeface="Calibri"/>
              </a:rPr>
              <a:t>sum </a:t>
            </a:r>
            <a:r>
              <a:rPr dirty="0" sz="4650" spc="-105">
                <a:latin typeface="Calibri"/>
                <a:cs typeface="Calibri"/>
              </a:rPr>
              <a:t>games</a:t>
            </a:r>
            <a:r>
              <a:rPr dirty="0" sz="4650" spc="-16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of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100">
                <a:latin typeface="Calibri"/>
                <a:cs typeface="Calibri"/>
              </a:rPr>
              <a:t>perfect</a:t>
            </a:r>
            <a:r>
              <a:rPr dirty="0" sz="4650" spc="-135">
                <a:latin typeface="Calibri"/>
                <a:cs typeface="Calibri"/>
              </a:rPr>
              <a:t> </a:t>
            </a:r>
            <a:r>
              <a:rPr dirty="0" sz="4650" spc="-90">
                <a:latin typeface="Calibri"/>
                <a:cs typeface="Calibri"/>
              </a:rPr>
              <a:t>information</a:t>
            </a:r>
            <a:r>
              <a:rPr dirty="0" sz="4650" spc="40">
                <a:latin typeface="Calibri"/>
                <a:cs typeface="Calibri"/>
              </a:rPr>
              <a:t> </a:t>
            </a:r>
            <a:r>
              <a:rPr dirty="0" sz="4650" spc="-65">
                <a:latin typeface="Calibri"/>
                <a:cs typeface="Calibri"/>
              </a:rPr>
              <a:t>(such</a:t>
            </a:r>
            <a:r>
              <a:rPr dirty="0" sz="4650" spc="-19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as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chess).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045400" y="5445125"/>
            <a:ext cx="3945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9300" algn="l"/>
              </a:tabLst>
            </a:pPr>
            <a:r>
              <a:rPr dirty="0" sz="4500" spc="-10">
                <a:latin typeface="Calibri"/>
                <a:cs typeface="Calibri"/>
              </a:rPr>
              <a:t>fully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45">
                <a:latin typeface="Calibri"/>
                <a:cs typeface="Calibri"/>
              </a:rPr>
              <a:t>servable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925283" y="6059487"/>
            <a:ext cx="40894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6485" algn="l"/>
                <a:tab pos="1728470" algn="l"/>
                <a:tab pos="3324225" algn="l"/>
              </a:tabLst>
            </a:pPr>
            <a:r>
              <a:rPr dirty="0" sz="4500" spc="-50">
                <a:latin typeface="Calibri"/>
                <a:cs typeface="Calibri"/>
              </a:rPr>
              <a:t>a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which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55">
                <a:latin typeface="Calibri"/>
                <a:cs typeface="Calibri"/>
              </a:rPr>
              <a:t>the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7920" y="5445125"/>
            <a:ext cx="12178665" cy="1932939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just" marL="397510" marR="5080" indent="-385445">
              <a:lnSpc>
                <a:spcPct val="90100"/>
              </a:lnSpc>
              <a:spcBef>
                <a:spcPts val="635"/>
              </a:spcBef>
              <a:buChar char="•"/>
              <a:tabLst>
                <a:tab pos="397510" algn="l"/>
              </a:tabLst>
            </a:pP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37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our</a:t>
            </a:r>
            <a:r>
              <a:rPr dirty="0" sz="4500" spc="48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terminology,</a:t>
            </a:r>
            <a:r>
              <a:rPr dirty="0" sz="4500" spc="63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this</a:t>
            </a:r>
            <a:r>
              <a:rPr dirty="0" sz="4500" spc="48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means</a:t>
            </a:r>
            <a:r>
              <a:rPr dirty="0" sz="4500" spc="509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determi</a:t>
            </a:r>
            <a:r>
              <a:rPr dirty="0" sz="4500" spc="125">
                <a:latin typeface="Calibri"/>
                <a:cs typeface="Calibri"/>
              </a:rPr>
              <a:t>  </a:t>
            </a:r>
            <a:r>
              <a:rPr dirty="0" sz="4500" spc="-55">
                <a:latin typeface="Calibri"/>
                <a:cs typeface="Calibri"/>
              </a:rPr>
              <a:t>"sñc, </a:t>
            </a:r>
            <a:r>
              <a:rPr dirty="0" sz="4500">
                <a:latin typeface="Calibri"/>
                <a:cs typeface="Calibri"/>
              </a:rPr>
              <a:t>environments</a:t>
            </a:r>
            <a:r>
              <a:rPr dirty="0" sz="4500" spc="6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2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which</a:t>
            </a:r>
            <a:r>
              <a:rPr dirty="0" sz="4500" spc="4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two</a:t>
            </a:r>
            <a:r>
              <a:rPr dirty="0" sz="4500" spc="4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agents</a:t>
            </a:r>
            <a:r>
              <a:rPr dirty="0" sz="4500" spc="5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act</a:t>
            </a:r>
            <a:r>
              <a:rPr dirty="0" sz="4500" spc="3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altern</a:t>
            </a:r>
            <a:r>
              <a:rPr dirty="0" sz="4500" spc="84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tel </a:t>
            </a:r>
            <a:r>
              <a:rPr dirty="0" sz="4400">
                <a:latin typeface="Calibri"/>
                <a:cs typeface="Calibri"/>
              </a:rPr>
              <a:t>uñlity</a:t>
            </a:r>
            <a:r>
              <a:rPr dirty="0" sz="4400" spc="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values</a:t>
            </a:r>
            <a:r>
              <a:rPr dirty="0" sz="4400" spc="9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at</a:t>
            </a:r>
            <a:r>
              <a:rPr dirty="0" sz="4400" spc="-1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end</a:t>
            </a:r>
            <a:r>
              <a:rPr dirty="0" sz="4400" spc="-4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</a:t>
            </a:r>
            <a:r>
              <a:rPr dirty="0" sz="4400" spc="12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6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game</a:t>
            </a:r>
            <a:r>
              <a:rPr dirty="0" sz="4400" spc="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are</a:t>
            </a:r>
            <a:r>
              <a:rPr dirty="0" sz="4400" spc="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always</a:t>
            </a:r>
            <a:r>
              <a:rPr dirty="0" sz="4400" spc="100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eq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202066" y="6681787"/>
            <a:ext cx="316547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latin typeface="Calibri"/>
                <a:cs typeface="Calibri"/>
              </a:rPr>
              <a:t>and </a:t>
            </a:r>
            <a:r>
              <a:rPr dirty="0" sz="4400" spc="-10">
                <a:latin typeface="Calibri"/>
                <a:cs typeface="Calibri"/>
              </a:rPr>
              <a:t>opposite.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47920" y="7488237"/>
            <a:ext cx="16547465" cy="193992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just" marL="387985" marR="5080" indent="-375920">
              <a:lnSpc>
                <a:spcPct val="89600"/>
              </a:lnSpc>
              <a:spcBef>
                <a:spcPts val="660"/>
              </a:spcBef>
              <a:buChar char="•"/>
              <a:tabLst>
                <a:tab pos="398780" algn="l"/>
              </a:tabLst>
            </a:pP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6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example,</a:t>
            </a:r>
            <a:r>
              <a:rPr dirty="0" sz="4500" spc="7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if</a:t>
            </a:r>
            <a:r>
              <a:rPr dirty="0" sz="4500" spc="6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one</a:t>
            </a:r>
            <a:r>
              <a:rPr dirty="0" sz="4500" spc="5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player</a:t>
            </a:r>
            <a:r>
              <a:rPr dirty="0" sz="4500" spc="7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wins</a:t>
            </a:r>
            <a:r>
              <a:rPr dirty="0" sz="4500" spc="670">
                <a:latin typeface="Calibri"/>
                <a:cs typeface="Calibri"/>
              </a:rPr>
              <a:t> 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 spc="5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game</a:t>
            </a:r>
            <a:r>
              <a:rPr dirty="0" sz="4500" spc="6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6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chess,</a:t>
            </a:r>
            <a:r>
              <a:rPr dirty="0" sz="4500" spc="7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50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other</a:t>
            </a:r>
            <a:r>
              <a:rPr dirty="0" sz="4500" spc="71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player </a:t>
            </a:r>
            <a:r>
              <a:rPr dirty="0" sz="4500" spc="-10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necessarily</a:t>
            </a:r>
            <a:r>
              <a:rPr dirty="0" sz="4500" spc="70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loses.</a:t>
            </a:r>
            <a:r>
              <a:rPr dirty="0" sz="4500" spc="11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It</a:t>
            </a:r>
            <a:r>
              <a:rPr dirty="0" sz="4500" spc="87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9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this</a:t>
            </a:r>
            <a:r>
              <a:rPr dirty="0" sz="4500" spc="9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opposiñon</a:t>
            </a:r>
            <a:r>
              <a:rPr dirty="0" sz="4500" spc="6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between</a:t>
            </a:r>
            <a:r>
              <a:rPr dirty="0" sz="4500" spc="55">
                <a:latin typeface="Calibri"/>
                <a:cs typeface="Calibri"/>
              </a:rPr>
              <a:t> 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9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agents'</a:t>
            </a:r>
            <a:r>
              <a:rPr dirty="0" sz="4500" spc="75">
                <a:latin typeface="Calibri"/>
                <a:cs typeface="Calibri"/>
              </a:rPr>
              <a:t>  </a:t>
            </a:r>
            <a:r>
              <a:rPr dirty="0" sz="4500" spc="-10">
                <a:latin typeface="Calibri"/>
                <a:cs typeface="Calibri"/>
              </a:rPr>
              <a:t>uñlity </a:t>
            </a:r>
            <a:r>
              <a:rPr dirty="0" sz="4500" spc="-10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funcñons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makes</a:t>
            </a:r>
            <a:r>
              <a:rPr dirty="0" sz="4500" spc="-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1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situañon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adversarial.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0050" rIns="0" bIns="0" rtlCol="0" vert="horz">
            <a:spAutoFit/>
          </a:bodyPr>
          <a:lstStyle/>
          <a:p>
            <a:pPr marL="809625">
              <a:lnSpc>
                <a:spcPct val="100000"/>
              </a:lnSpc>
              <a:spcBef>
                <a:spcPts val="100"/>
              </a:spcBef>
            </a:pPr>
            <a:r>
              <a:rPr dirty="0" sz="6100" spc="-420" i="1">
                <a:latin typeface="Calibri"/>
                <a:cs typeface="Calibri"/>
              </a:rPr>
              <a:t>Why</a:t>
            </a:r>
            <a:r>
              <a:rPr dirty="0" sz="6100" spc="75" i="1">
                <a:latin typeface="Calibri"/>
                <a:cs typeface="Calibri"/>
              </a:rPr>
              <a:t> </a:t>
            </a:r>
            <a:r>
              <a:rPr dirty="0" sz="6100" spc="-385" i="1">
                <a:latin typeface="Calibri"/>
                <a:cs typeface="Calibri"/>
              </a:rPr>
              <a:t>Games?</a:t>
            </a:r>
            <a:endParaRPr sz="6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25872" y="1825371"/>
            <a:ext cx="16633190" cy="37153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algn="just" marL="879475" indent="-821055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879475" algn="l"/>
              </a:tabLst>
            </a:pPr>
            <a:r>
              <a:rPr dirty="0" sz="4550" spc="-10">
                <a:latin typeface="Calibri"/>
                <a:cs typeface="Calibri"/>
              </a:rPr>
              <a:t>Games</a:t>
            </a:r>
            <a:r>
              <a:rPr dirty="0" sz="4550" spc="-2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are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 spc="-40">
                <a:latin typeface="Calibri"/>
                <a:cs typeface="Calibri"/>
              </a:rPr>
              <a:t>interesting</a:t>
            </a:r>
            <a:r>
              <a:rPr dirty="0" sz="4550" spc="-35">
                <a:latin typeface="Calibri"/>
                <a:cs typeface="Calibri"/>
              </a:rPr>
              <a:t> </a:t>
            </a:r>
            <a:r>
              <a:rPr dirty="0" sz="4550" spc="-30" i="1">
                <a:latin typeface="Calibri"/>
                <a:cs typeface="Calibri"/>
              </a:rPr>
              <a:t>because</a:t>
            </a:r>
            <a:r>
              <a:rPr dirty="0" sz="4550" spc="-60" i="1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they</a:t>
            </a:r>
            <a:r>
              <a:rPr dirty="0" sz="4550" spc="-2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are</a:t>
            </a:r>
            <a:r>
              <a:rPr dirty="0" sz="4550" spc="-220">
                <a:latin typeface="Calibri"/>
                <a:cs typeface="Calibri"/>
              </a:rPr>
              <a:t> </a:t>
            </a:r>
            <a:r>
              <a:rPr dirty="0" sz="4550" spc="-10">
                <a:solidFill>
                  <a:srgbClr val="0F79B1"/>
                </a:solidFill>
                <a:latin typeface="Calibri"/>
                <a:cs typeface="Calibri"/>
              </a:rPr>
              <a:t>too</a:t>
            </a:r>
            <a:r>
              <a:rPr dirty="0" sz="4550" spc="-229">
                <a:solidFill>
                  <a:srgbClr val="0F79B1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1A69A1"/>
                </a:solidFill>
                <a:latin typeface="Calibri"/>
                <a:cs typeface="Calibri"/>
              </a:rPr>
              <a:t>hard</a:t>
            </a:r>
            <a:r>
              <a:rPr dirty="0" sz="4550" spc="-140">
                <a:solidFill>
                  <a:srgbClr val="1A69A1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056EBC"/>
                </a:solidFill>
                <a:latin typeface="Calibri"/>
                <a:cs typeface="Calibri"/>
              </a:rPr>
              <a:t>to</a:t>
            </a:r>
            <a:r>
              <a:rPr dirty="0" sz="4550" spc="-254">
                <a:solidFill>
                  <a:srgbClr val="056EBC"/>
                </a:solidFill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solve.</a:t>
            </a:r>
            <a:endParaRPr sz="4550">
              <a:latin typeface="Calibri"/>
              <a:cs typeface="Calibri"/>
            </a:endParaRPr>
          </a:p>
          <a:p>
            <a:pPr algn="just" marL="63500" marR="55880" indent="1453515">
              <a:lnSpc>
                <a:spcPct val="94200"/>
              </a:lnSpc>
              <a:spcBef>
                <a:spcPts val="1400"/>
              </a:spcBef>
            </a:pPr>
            <a:r>
              <a:rPr dirty="0" sz="4450">
                <a:latin typeface="Calibri"/>
                <a:cs typeface="Calibri"/>
              </a:rPr>
              <a:t>For</a:t>
            </a:r>
            <a:r>
              <a:rPr dirty="0" sz="4450" spc="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example,</a:t>
            </a:r>
            <a:r>
              <a:rPr dirty="0" sz="4450" spc="2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chess</a:t>
            </a:r>
            <a:r>
              <a:rPr dirty="0" sz="4450" spc="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has</a:t>
            </a:r>
            <a:r>
              <a:rPr dirty="0" sz="4450" spc="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an</a:t>
            </a:r>
            <a:r>
              <a:rPr dirty="0" sz="4450" spc="-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average</a:t>
            </a:r>
            <a:r>
              <a:rPr dirty="0" sz="4450" spc="1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branching</a:t>
            </a:r>
            <a:r>
              <a:rPr dirty="0" sz="4450" spc="27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factor</a:t>
            </a:r>
            <a:r>
              <a:rPr dirty="0" sz="4450" spc="1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1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about</a:t>
            </a:r>
            <a:r>
              <a:rPr dirty="0" sz="4450" spc="180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35, </a:t>
            </a:r>
            <a:r>
              <a:rPr dirty="0" sz="4400">
                <a:latin typeface="Calibri"/>
                <a:cs typeface="Calibri"/>
              </a:rPr>
              <a:t>and</a:t>
            </a:r>
            <a:r>
              <a:rPr dirty="0" sz="4400" spc="1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games</a:t>
            </a:r>
            <a:r>
              <a:rPr dirty="0" sz="4400" spc="2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often</a:t>
            </a:r>
            <a:r>
              <a:rPr dirty="0" sz="4400" spc="2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go</a:t>
            </a:r>
            <a:r>
              <a:rPr dirty="0" sz="4400" spc="13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to</a:t>
            </a:r>
            <a:r>
              <a:rPr dirty="0" sz="4400" spc="13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50</a:t>
            </a:r>
            <a:r>
              <a:rPr dirty="0" sz="4400" spc="6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moves</a:t>
            </a:r>
            <a:r>
              <a:rPr dirty="0" sz="4400" spc="204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by</a:t>
            </a:r>
            <a:r>
              <a:rPr dirty="0" sz="4400" spc="1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each</a:t>
            </a:r>
            <a:r>
              <a:rPr dirty="0" sz="4400" spc="12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player,</a:t>
            </a:r>
            <a:r>
              <a:rPr dirty="0" sz="4400" spc="27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so</a:t>
            </a:r>
            <a:r>
              <a:rPr dirty="0" sz="4400" spc="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114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search</a:t>
            </a:r>
            <a:r>
              <a:rPr dirty="0" sz="4400" spc="2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tree</a:t>
            </a:r>
            <a:r>
              <a:rPr dirty="0" sz="4400" spc="180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has </a:t>
            </a:r>
            <a:r>
              <a:rPr dirty="0" sz="3900" spc="235">
                <a:latin typeface="Calibri"/>
                <a:cs typeface="Calibri"/>
              </a:rPr>
              <a:t>about</a:t>
            </a:r>
            <a:r>
              <a:rPr dirty="0" sz="3900" spc="150">
                <a:latin typeface="Calibri"/>
                <a:cs typeface="Calibri"/>
              </a:rPr>
              <a:t> </a:t>
            </a:r>
            <a:r>
              <a:rPr dirty="0" baseline="-2849" sz="5850" spc="-60">
                <a:latin typeface="Calibri"/>
                <a:cs typeface="Calibri"/>
              </a:rPr>
              <a:t>35</a:t>
            </a:r>
            <a:r>
              <a:rPr dirty="0" baseline="24109" sz="3975" spc="-60">
                <a:latin typeface="Calibri"/>
                <a:cs typeface="Calibri"/>
              </a:rPr>
              <a:t>1</a:t>
            </a:r>
            <a:r>
              <a:rPr dirty="0" baseline="16381" sz="5850" spc="-60">
                <a:latin typeface="Calibri"/>
                <a:cs typeface="Calibri"/>
              </a:rPr>
              <a:t>00</a:t>
            </a:r>
            <a:r>
              <a:rPr dirty="0" baseline="16381" sz="5850" spc="-757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or</a:t>
            </a:r>
            <a:r>
              <a:rPr dirty="0" sz="3900" spc="765">
                <a:latin typeface="Calibri"/>
                <a:cs typeface="Calibri"/>
              </a:rPr>
              <a:t> </a:t>
            </a:r>
            <a:r>
              <a:rPr dirty="0" baseline="-1424" sz="5850" spc="104">
                <a:latin typeface="Calibri"/>
                <a:cs typeface="Calibri"/>
              </a:rPr>
              <a:t>10</a:t>
            </a:r>
            <a:r>
              <a:rPr dirty="0" baseline="24109" sz="3975" spc="104">
                <a:latin typeface="Calibri"/>
                <a:cs typeface="Calibri"/>
              </a:rPr>
              <a:t>1</a:t>
            </a:r>
            <a:r>
              <a:rPr dirty="0" baseline="16381" sz="5850" spc="104">
                <a:latin typeface="Calibri"/>
                <a:cs typeface="Calibri"/>
              </a:rPr>
              <a:t>54</a:t>
            </a:r>
            <a:r>
              <a:rPr dirty="0" sz="3900" spc="70">
                <a:latin typeface="Calibri"/>
                <a:cs typeface="Calibri"/>
              </a:rPr>
              <a:t>nodes</a:t>
            </a:r>
            <a:endParaRPr sz="3900">
              <a:latin typeface="Calibri"/>
              <a:cs typeface="Calibri"/>
            </a:endParaRPr>
          </a:p>
          <a:p>
            <a:pPr algn="just" marL="878840" indent="-822325">
              <a:lnSpc>
                <a:spcPct val="100000"/>
              </a:lnSpc>
              <a:spcBef>
                <a:spcPts val="1330"/>
              </a:spcBef>
              <a:buAutoNum type="arabicPeriod" startAt="2"/>
              <a:tabLst>
                <a:tab pos="878840" algn="l"/>
              </a:tabLst>
            </a:pPr>
            <a:r>
              <a:rPr dirty="0" sz="4450">
                <a:latin typeface="Calibri"/>
                <a:cs typeface="Calibri"/>
              </a:rPr>
              <a:t>Games,</a:t>
            </a:r>
            <a:r>
              <a:rPr dirty="0" sz="4450" spc="8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like</a:t>
            </a:r>
            <a:r>
              <a:rPr dirty="0" sz="4450" spc="6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6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real</a:t>
            </a:r>
            <a:r>
              <a:rPr dirty="0" sz="4450" spc="6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world,</a:t>
            </a:r>
            <a:r>
              <a:rPr dirty="0" sz="4450" spc="8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therefore</a:t>
            </a:r>
            <a:r>
              <a:rPr dirty="0" sz="4450" spc="9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require</a:t>
            </a:r>
            <a:r>
              <a:rPr dirty="0" sz="4450" spc="7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67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ability</a:t>
            </a:r>
            <a:r>
              <a:rPr dirty="0" sz="4450" spc="7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to</a:t>
            </a:r>
            <a:r>
              <a:rPr dirty="0" sz="4450" spc="675">
                <a:latin typeface="Calibri"/>
                <a:cs typeface="Calibri"/>
              </a:rPr>
              <a:t> </a:t>
            </a:r>
            <a:r>
              <a:rPr dirty="0" sz="4450" spc="-20">
                <a:latin typeface="Calibri"/>
                <a:cs typeface="Calibri"/>
              </a:rPr>
              <a:t>make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99365" y="5449887"/>
            <a:ext cx="1573593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7660" algn="l"/>
                <a:tab pos="3865245" algn="l"/>
                <a:tab pos="5343525" algn="l"/>
                <a:tab pos="6990715" algn="l"/>
                <a:tab pos="9825990" algn="l"/>
                <a:tab pos="10956290" algn="l"/>
                <a:tab pos="13094335" algn="l"/>
                <a:tab pos="15360650" algn="l"/>
              </a:tabLst>
            </a:pPr>
            <a:r>
              <a:rPr dirty="0" sz="4500" spc="-20" i="1">
                <a:latin typeface="Calibri"/>
                <a:cs typeface="Calibri"/>
              </a:rPr>
              <a:t>some</a:t>
            </a:r>
            <a:r>
              <a:rPr dirty="0" sz="4500" i="1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decision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even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when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calculañng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the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 i="1">
                <a:latin typeface="Calibri"/>
                <a:cs typeface="Calibri"/>
              </a:rPr>
              <a:t>optimal</a:t>
            </a:r>
            <a:r>
              <a:rPr dirty="0" sz="4500" i="1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decision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is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73029" y="5919589"/>
            <a:ext cx="16539844" cy="248285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822960">
              <a:lnSpc>
                <a:spcPct val="100000"/>
              </a:lnSpc>
              <a:spcBef>
                <a:spcPts val="1150"/>
              </a:spcBef>
            </a:pPr>
            <a:r>
              <a:rPr dirty="0" sz="4550" spc="-10">
                <a:latin typeface="Calibri"/>
                <a:cs typeface="Calibri"/>
              </a:rPr>
              <a:t>infeasible.</a:t>
            </a:r>
            <a:endParaRPr sz="4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  <a:tabLst>
                <a:tab pos="835025" algn="l"/>
              </a:tabLst>
            </a:pPr>
            <a:r>
              <a:rPr dirty="0" sz="4500" spc="-25">
                <a:latin typeface="Calibri"/>
                <a:cs typeface="Calibri"/>
              </a:rPr>
              <a:t>3.</a:t>
            </a:r>
            <a:r>
              <a:rPr dirty="0" sz="4500">
                <a:latin typeface="Calibri"/>
                <a:cs typeface="Calibri"/>
              </a:rPr>
              <a:t>	Games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also</a:t>
            </a:r>
            <a:r>
              <a:rPr dirty="0" sz="4500" spc="-254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penalize</a:t>
            </a:r>
            <a:r>
              <a:rPr dirty="0" sz="4500" spc="-65">
                <a:latin typeface="Calibri"/>
                <a:cs typeface="Calibri"/>
              </a:rPr>
              <a:t> </a:t>
            </a:r>
            <a:r>
              <a:rPr dirty="0" sz="4500" spc="-40">
                <a:latin typeface="Calibri"/>
                <a:cs typeface="Calibri"/>
              </a:rPr>
              <a:t>inefficiency</a:t>
            </a:r>
            <a:r>
              <a:rPr dirty="0" sz="4500" spc="2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severely.</a:t>
            </a:r>
            <a:endParaRPr sz="4500">
              <a:latin typeface="Calibri"/>
              <a:cs typeface="Calibri"/>
            </a:endParaRPr>
          </a:p>
          <a:p>
            <a:pPr marL="1469390">
              <a:lnSpc>
                <a:spcPct val="100000"/>
              </a:lnSpc>
              <a:spcBef>
                <a:spcPts val="875"/>
              </a:spcBef>
            </a:pPr>
            <a:r>
              <a:rPr dirty="0" sz="4600" spc="-500">
                <a:latin typeface="Calibri"/>
                <a:cs typeface="Calibri"/>
              </a:rPr>
              <a:t>A»h</a:t>
            </a:r>
            <a:r>
              <a:rPr dirty="0" sz="4600" spc="240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search</a:t>
            </a:r>
            <a:r>
              <a:rPr dirty="0" sz="4600" spc="-229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that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half</a:t>
            </a:r>
            <a:r>
              <a:rPr dirty="0" sz="4600" spc="-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as</a:t>
            </a:r>
            <a:r>
              <a:rPr dirty="0" sz="4600" spc="-229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efficient</a:t>
            </a:r>
            <a:r>
              <a:rPr dirty="0" sz="4600" spc="-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will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simply</a:t>
            </a:r>
            <a:r>
              <a:rPr dirty="0" sz="4600" spc="-65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take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twice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as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long</a:t>
            </a:r>
            <a:r>
              <a:rPr dirty="0" sz="4600" spc="-19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to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67658" y="8289925"/>
            <a:ext cx="16561435" cy="134112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0320" marR="5080" indent="-8255">
              <a:lnSpc>
                <a:spcPts val="4840"/>
              </a:lnSpc>
              <a:spcBef>
                <a:spcPts val="825"/>
              </a:spcBef>
              <a:tabLst>
                <a:tab pos="4563745" algn="l"/>
                <a:tab pos="6460490" algn="l"/>
                <a:tab pos="8609330" algn="l"/>
                <a:tab pos="11297920" algn="l"/>
                <a:tab pos="14010005" algn="l"/>
              </a:tabLst>
            </a:pPr>
            <a:r>
              <a:rPr dirty="0" sz="4600">
                <a:latin typeface="Calibri"/>
                <a:cs typeface="Calibri"/>
              </a:rPr>
              <a:t>run</a:t>
            </a:r>
            <a:r>
              <a:rPr dirty="0" sz="4600" spc="1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13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completion,</a:t>
            </a:r>
            <a:r>
              <a:rPr dirty="0" sz="4600">
                <a:latin typeface="Calibri"/>
                <a:cs typeface="Calibri"/>
              </a:rPr>
              <a:t>	a</a:t>
            </a:r>
            <a:r>
              <a:rPr dirty="0" sz="4600" spc="355">
                <a:latin typeface="Calibri"/>
                <a:cs typeface="Calibri"/>
              </a:rPr>
              <a:t> </a:t>
            </a:r>
            <a:r>
              <a:rPr dirty="0" sz="4600" spc="-10">
                <a:solidFill>
                  <a:srgbClr val="0A6BB3"/>
                </a:solidFill>
                <a:latin typeface="Calibri"/>
                <a:cs typeface="Calibri"/>
              </a:rPr>
              <a:t>chess</a:t>
            </a:r>
            <a:r>
              <a:rPr dirty="0" sz="4600">
                <a:solidFill>
                  <a:srgbClr val="0A6BB3"/>
                </a:solidFill>
                <a:latin typeface="Calibri"/>
                <a:cs typeface="Calibri"/>
              </a:rPr>
              <a:t>	</a:t>
            </a:r>
            <a:r>
              <a:rPr dirty="0" sz="4600" spc="-10">
                <a:solidFill>
                  <a:srgbClr val="166EAF"/>
                </a:solidFill>
                <a:latin typeface="Calibri"/>
                <a:cs typeface="Calibri"/>
              </a:rPr>
              <a:t>program</a:t>
            </a:r>
            <a:r>
              <a:rPr dirty="0" sz="4600">
                <a:solidFill>
                  <a:srgbClr val="166EAF"/>
                </a:solidFill>
                <a:latin typeface="Calibri"/>
                <a:cs typeface="Calibri"/>
              </a:rPr>
              <a:t>	</a:t>
            </a:r>
            <a:r>
              <a:rPr dirty="0" sz="4600">
                <a:latin typeface="Calibri"/>
                <a:cs typeface="Calibri"/>
              </a:rPr>
              <a:t>that</a:t>
            </a:r>
            <a:r>
              <a:rPr dirty="0" sz="4600" spc="1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114">
                <a:latin typeface="Calibri"/>
                <a:cs typeface="Calibri"/>
              </a:rPr>
              <a:t> </a:t>
            </a:r>
            <a:r>
              <a:rPr dirty="0" sz="4600" spc="-20">
                <a:solidFill>
                  <a:srgbClr val="1664A3"/>
                </a:solidFill>
                <a:latin typeface="Calibri"/>
                <a:cs typeface="Calibri"/>
              </a:rPr>
              <a:t>half</a:t>
            </a:r>
            <a:r>
              <a:rPr dirty="0" sz="4600">
                <a:solidFill>
                  <a:srgbClr val="1664A3"/>
                </a:solidFill>
                <a:latin typeface="Calibri"/>
                <a:cs typeface="Calibri"/>
              </a:rPr>
              <a:t>	</a:t>
            </a:r>
            <a:r>
              <a:rPr dirty="0" sz="4600">
                <a:solidFill>
                  <a:srgbClr val="0A74AC"/>
                </a:solidFill>
                <a:latin typeface="Calibri"/>
                <a:cs typeface="Calibri"/>
              </a:rPr>
              <a:t>as</a:t>
            </a:r>
            <a:r>
              <a:rPr dirty="0" sz="4600" spc="200">
                <a:solidFill>
                  <a:srgbClr val="0A74AC"/>
                </a:solidFill>
                <a:latin typeface="Calibri"/>
                <a:cs typeface="Calibri"/>
              </a:rPr>
              <a:t> </a:t>
            </a:r>
            <a:r>
              <a:rPr dirty="0" sz="4600" spc="-10">
                <a:solidFill>
                  <a:srgbClr val="006BB1"/>
                </a:solidFill>
                <a:latin typeface="Calibri"/>
                <a:cs typeface="Calibri"/>
              </a:rPr>
              <a:t>efficient</a:t>
            </a:r>
            <a:r>
              <a:rPr dirty="0" sz="4600">
                <a:solidFill>
                  <a:srgbClr val="006BB1"/>
                </a:solidFill>
                <a:latin typeface="Calibri"/>
                <a:cs typeface="Calibri"/>
              </a:rPr>
              <a:t>	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using</a:t>
            </a:r>
            <a:r>
              <a:rPr dirty="0" sz="4600" spc="190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its </a:t>
            </a:r>
            <a:r>
              <a:rPr dirty="0" sz="4600" spc="-55">
                <a:latin typeface="Calibri"/>
                <a:cs typeface="Calibri"/>
              </a:rPr>
              <a:t>available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time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probably</a:t>
            </a:r>
            <a:r>
              <a:rPr dirty="0" sz="4600" spc="-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will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60">
                <a:solidFill>
                  <a:srgbClr val="F60518"/>
                </a:solidFill>
                <a:latin typeface="Calibri"/>
                <a:cs typeface="Calibri"/>
              </a:rPr>
              <a:t>beaten</a:t>
            </a:r>
            <a:r>
              <a:rPr dirty="0" sz="4600" spc="-140">
                <a:solidFill>
                  <a:srgbClr val="F60518"/>
                </a:solidFill>
                <a:latin typeface="Calibri"/>
                <a:cs typeface="Calibri"/>
              </a:rPr>
              <a:t> </a:t>
            </a:r>
            <a:r>
              <a:rPr dirty="0" sz="4600" spc="-20">
                <a:solidFill>
                  <a:srgbClr val="F20F23"/>
                </a:solidFill>
                <a:latin typeface="Calibri"/>
                <a:cs typeface="Calibri"/>
              </a:rPr>
              <a:t>into</a:t>
            </a:r>
            <a:r>
              <a:rPr dirty="0" sz="4600" spc="-160">
                <a:solidFill>
                  <a:srgbClr val="F20F23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EF1301"/>
                </a:solidFill>
                <a:latin typeface="Calibri"/>
                <a:cs typeface="Calibri"/>
              </a:rPr>
              <a:t>the</a:t>
            </a:r>
            <a:r>
              <a:rPr dirty="0" sz="4600" spc="-180">
                <a:solidFill>
                  <a:srgbClr val="EF1301"/>
                </a:solidFill>
                <a:latin typeface="Calibri"/>
                <a:cs typeface="Calibri"/>
              </a:rPr>
              <a:t> </a:t>
            </a:r>
            <a:r>
              <a:rPr dirty="0" sz="4600" spc="-10">
                <a:solidFill>
                  <a:srgbClr val="ED000E"/>
                </a:solidFill>
                <a:latin typeface="Calibri"/>
                <a:cs typeface="Calibri"/>
              </a:rPr>
              <a:t>ground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7350" rIns="0" bIns="0" rtlCol="0" vert="horz">
            <a:spAutoFit/>
          </a:bodyPr>
          <a:lstStyle/>
          <a:p>
            <a:pPr marL="808355">
              <a:lnSpc>
                <a:spcPct val="100000"/>
              </a:lnSpc>
              <a:spcBef>
                <a:spcPts val="100"/>
              </a:spcBef>
            </a:pPr>
            <a:r>
              <a:rPr dirty="0" sz="6200" spc="-430" i="1">
                <a:latin typeface="Calibri"/>
                <a:cs typeface="Calibri"/>
              </a:rPr>
              <a:t>What</a:t>
            </a:r>
            <a:r>
              <a:rPr dirty="0" sz="6200" spc="70" i="1">
                <a:latin typeface="Calibri"/>
                <a:cs typeface="Calibri"/>
              </a:rPr>
              <a:t> </a:t>
            </a:r>
            <a:r>
              <a:rPr dirty="0" sz="6200" spc="-450" i="1">
                <a:latin typeface="Calibri"/>
                <a:cs typeface="Calibri"/>
              </a:rPr>
              <a:t>we</a:t>
            </a:r>
            <a:r>
              <a:rPr dirty="0" sz="6200" spc="-155" i="1">
                <a:latin typeface="Calibri"/>
                <a:cs typeface="Calibri"/>
              </a:rPr>
              <a:t> </a:t>
            </a:r>
            <a:r>
              <a:rPr dirty="0" sz="6200" spc="-355" i="1">
                <a:latin typeface="Calibri"/>
                <a:cs typeface="Calibri"/>
              </a:rPr>
              <a:t>learn</a:t>
            </a:r>
            <a:endParaRPr sz="6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1122" y="1966912"/>
            <a:ext cx="16557625" cy="568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  <a:tabLst>
                <a:tab pos="3014345" algn="l"/>
                <a:tab pos="4094479" algn="l"/>
                <a:tab pos="6570980" algn="l"/>
                <a:tab pos="7277100" algn="l"/>
                <a:tab pos="8848725" algn="l"/>
                <a:tab pos="10553700" algn="l"/>
                <a:tab pos="12264390" algn="l"/>
                <a:tab pos="13740765" algn="l"/>
                <a:tab pos="14516100" algn="l"/>
              </a:tabLst>
            </a:pPr>
            <a:r>
              <a:rPr dirty="0" sz="4550" spc="-10">
                <a:latin typeface="Calibri"/>
                <a:cs typeface="Calibri"/>
              </a:rPr>
              <a:t>Techniques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latin typeface="Calibri"/>
                <a:cs typeface="Calibri"/>
              </a:rPr>
              <a:t>for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choosing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15">
                <a:latin typeface="Calibri"/>
                <a:cs typeface="Calibri"/>
              </a:rPr>
              <a:t>a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good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move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when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time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latin typeface="Calibri"/>
                <a:cs typeface="Calibri"/>
              </a:rPr>
              <a:t>is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limited</a:t>
            </a:r>
            <a:endParaRPr sz="4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4550">
              <a:latin typeface="Calibri"/>
              <a:cs typeface="Calibri"/>
            </a:endParaRPr>
          </a:p>
          <a:p>
            <a:pPr marL="831850" marR="15875" indent="-819785">
              <a:lnSpc>
                <a:spcPts val="4880"/>
              </a:lnSpc>
              <a:buAutoNum type="arabicPeriod"/>
              <a:tabLst>
                <a:tab pos="847090" algn="l"/>
                <a:tab pos="2865120" algn="l"/>
                <a:tab pos="4505960" algn="l"/>
                <a:tab pos="7562215" algn="l"/>
                <a:tab pos="9695180" algn="l"/>
                <a:tab pos="10368280" algn="l"/>
                <a:tab pos="11326495" algn="l"/>
                <a:tab pos="13025755" algn="l"/>
                <a:tab pos="14168755" algn="l"/>
              </a:tabLst>
            </a:pPr>
            <a:r>
              <a:rPr dirty="0" sz="4650" spc="-10">
                <a:latin typeface="Calibri"/>
                <a:cs typeface="Calibri"/>
              </a:rPr>
              <a:t>Pruning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allows</a:t>
            </a:r>
            <a:r>
              <a:rPr dirty="0" sz="4650">
                <a:latin typeface="Calibri"/>
                <a:cs typeface="Calibri"/>
              </a:rPr>
              <a:t>	us</a:t>
            </a:r>
            <a:r>
              <a:rPr dirty="0" sz="4650" spc="29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to</a:t>
            </a:r>
            <a:r>
              <a:rPr dirty="0" sz="4650" spc="254">
                <a:latin typeface="Calibri"/>
                <a:cs typeface="Calibri"/>
              </a:rPr>
              <a:t> </a:t>
            </a:r>
            <a:r>
              <a:rPr dirty="0" sz="4650" spc="-10">
                <a:solidFill>
                  <a:srgbClr val="D6151F"/>
                </a:solidFill>
                <a:latin typeface="Calibri"/>
                <a:cs typeface="Calibri"/>
              </a:rPr>
              <a:t>ignore</a:t>
            </a:r>
            <a:r>
              <a:rPr dirty="0" sz="4650">
                <a:solidFill>
                  <a:srgbClr val="D6151F"/>
                </a:solidFill>
                <a:latin typeface="Calibri"/>
                <a:cs typeface="Calibri"/>
              </a:rPr>
              <a:t>	</a:t>
            </a:r>
            <a:r>
              <a:rPr dirty="0" sz="4650" spc="-10">
                <a:solidFill>
                  <a:srgbClr val="FB010E"/>
                </a:solidFill>
                <a:latin typeface="Calibri"/>
                <a:cs typeface="Calibri"/>
              </a:rPr>
              <a:t>portions</a:t>
            </a:r>
            <a:r>
              <a:rPr dirty="0" sz="4650">
                <a:solidFill>
                  <a:srgbClr val="FB010E"/>
                </a:solidFill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of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the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search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tree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that </a:t>
            </a:r>
            <a:r>
              <a:rPr dirty="0" sz="4650" spc="-150">
                <a:latin typeface="Calibri"/>
                <a:cs typeface="Calibri"/>
              </a:rPr>
              <a:t>make </a:t>
            </a:r>
            <a:r>
              <a:rPr dirty="0" sz="4650" spc="-1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no</a:t>
            </a:r>
            <a:r>
              <a:rPr dirty="0" sz="4650" spc="-245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diPerence</a:t>
            </a:r>
            <a:r>
              <a:rPr dirty="0" sz="4650" spc="-100">
                <a:latin typeface="Calibri"/>
                <a:cs typeface="Calibri"/>
              </a:rPr>
              <a:t> </a:t>
            </a:r>
            <a:r>
              <a:rPr dirty="0" sz="4650" spc="-50">
                <a:latin typeface="Calibri"/>
                <a:cs typeface="Calibri"/>
              </a:rPr>
              <a:t>to</a:t>
            </a:r>
            <a:r>
              <a:rPr dirty="0" sz="4650" spc="-21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the</a:t>
            </a:r>
            <a:r>
              <a:rPr dirty="0" sz="4650" spc="-195">
                <a:latin typeface="Calibri"/>
                <a:cs typeface="Calibri"/>
              </a:rPr>
              <a:t> </a:t>
            </a:r>
            <a:r>
              <a:rPr dirty="0" sz="4650" spc="-60">
                <a:latin typeface="Calibri"/>
                <a:cs typeface="Calibri"/>
              </a:rPr>
              <a:t>final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choice</a:t>
            </a:r>
            <a:endParaRPr sz="4650">
              <a:latin typeface="Calibri"/>
              <a:cs typeface="Calibri"/>
            </a:endParaRPr>
          </a:p>
          <a:p>
            <a:pPr marL="838835" marR="5080" indent="-819150">
              <a:lnSpc>
                <a:spcPts val="4880"/>
              </a:lnSpc>
              <a:spcBef>
                <a:spcPts val="1490"/>
              </a:spcBef>
              <a:buAutoNum type="arabicPeriod"/>
              <a:tabLst>
                <a:tab pos="838835" algn="l"/>
                <a:tab pos="841375" algn="l"/>
                <a:tab pos="3140710" algn="l"/>
                <a:tab pos="5890895" algn="l"/>
                <a:tab pos="8351520" algn="l"/>
                <a:tab pos="9849485" algn="l"/>
                <a:tab pos="10634980" algn="l"/>
                <a:tab pos="11380470" algn="l"/>
                <a:tab pos="14559280" algn="l"/>
                <a:tab pos="15587980" algn="l"/>
              </a:tabLst>
            </a:pP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Heuristic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evaluation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functions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allow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us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to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approximate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the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20">
                <a:latin typeface="Calibri"/>
                <a:cs typeface="Calibri"/>
              </a:rPr>
              <a:t>true </a:t>
            </a:r>
            <a:r>
              <a:rPr dirty="0" sz="4650" spc="-40">
                <a:latin typeface="Calibri"/>
                <a:cs typeface="Calibri"/>
              </a:rPr>
              <a:t>utility</a:t>
            </a:r>
            <a:r>
              <a:rPr dirty="0" sz="4650" spc="-22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of</a:t>
            </a:r>
            <a:r>
              <a:rPr dirty="0" sz="4650" spc="-24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125">
                <a:latin typeface="Calibri"/>
                <a:cs typeface="Calibri"/>
              </a:rPr>
              <a:t>state</a:t>
            </a:r>
            <a:r>
              <a:rPr dirty="0" sz="4650" spc="-140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without</a:t>
            </a:r>
            <a:r>
              <a:rPr dirty="0" sz="4650" spc="-100">
                <a:latin typeface="Calibri"/>
                <a:cs typeface="Calibri"/>
              </a:rPr>
              <a:t> </a:t>
            </a:r>
            <a:r>
              <a:rPr dirty="0" sz="4650" spc="-35">
                <a:latin typeface="Calibri"/>
                <a:cs typeface="Calibri"/>
              </a:rPr>
              <a:t>doing</a:t>
            </a:r>
            <a:r>
              <a:rPr dirty="0" sz="4650" spc="-10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70">
                <a:latin typeface="Calibri"/>
                <a:cs typeface="Calibri"/>
              </a:rPr>
              <a:t>complete</a:t>
            </a:r>
            <a:r>
              <a:rPr dirty="0" sz="4650" spc="-6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search.</a:t>
            </a:r>
            <a:endParaRPr sz="4650">
              <a:latin typeface="Calibri"/>
              <a:cs typeface="Calibri"/>
            </a:endParaRPr>
          </a:p>
          <a:p>
            <a:pPr marL="835025" marR="34925" indent="-810895">
              <a:lnSpc>
                <a:spcPts val="4800"/>
              </a:lnSpc>
              <a:spcBef>
                <a:spcPts val="1630"/>
              </a:spcBef>
              <a:buAutoNum type="arabicPeriod"/>
              <a:tabLst>
                <a:tab pos="835025" algn="l"/>
                <a:tab pos="852169" algn="l"/>
                <a:tab pos="2438400" algn="l"/>
                <a:tab pos="4210685" algn="l"/>
                <a:tab pos="5277485" algn="l"/>
                <a:tab pos="7210425" algn="l"/>
                <a:tab pos="8883650" algn="l"/>
                <a:tab pos="11066780" algn="l"/>
                <a:tab pos="13496290" algn="l"/>
                <a:tab pos="14255750" algn="l"/>
              </a:tabLst>
            </a:pP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Some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games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like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bridge,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which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includes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elements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of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imperfect </a:t>
            </a:r>
            <a:r>
              <a:rPr dirty="0" sz="4500">
                <a:latin typeface="Calibri"/>
                <a:cs typeface="Calibri"/>
              </a:rPr>
              <a:t>information</a:t>
            </a:r>
            <a:r>
              <a:rPr dirty="0" sz="4500" spc="1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because</a:t>
            </a:r>
            <a:r>
              <a:rPr dirty="0" sz="4500" spc="-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not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all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cards</a:t>
            </a:r>
            <a:r>
              <a:rPr dirty="0" sz="4500" spc="-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visible</a:t>
            </a:r>
            <a:r>
              <a:rPr dirty="0" sz="4500" spc="-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1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each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player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637" rIns="0" bIns="0" rtlCol="0" vert="horz">
            <a:spAutoFit/>
          </a:bodyPr>
          <a:lstStyle/>
          <a:p>
            <a:pPr marL="812800">
              <a:lnSpc>
                <a:spcPct val="100000"/>
              </a:lnSpc>
              <a:spcBef>
                <a:spcPts val="100"/>
              </a:spcBef>
            </a:pPr>
            <a:r>
              <a:rPr dirty="0" sz="6050" spc="-420" i="1">
                <a:latin typeface="Calibri"/>
                <a:cs typeface="Calibri"/>
              </a:rPr>
              <a:t>Two</a:t>
            </a:r>
            <a:r>
              <a:rPr dirty="0" sz="6050" spc="55" i="1">
                <a:latin typeface="Calibri"/>
                <a:cs typeface="Calibri"/>
              </a:rPr>
              <a:t> </a:t>
            </a:r>
            <a:r>
              <a:rPr dirty="0" sz="6050" spc="-260" i="1">
                <a:latin typeface="Calibri"/>
                <a:cs typeface="Calibri"/>
              </a:rPr>
              <a:t>player</a:t>
            </a:r>
            <a:r>
              <a:rPr dirty="0" sz="6050" spc="85" i="1">
                <a:latin typeface="Calibri"/>
                <a:cs typeface="Calibri"/>
              </a:rPr>
              <a:t> </a:t>
            </a:r>
            <a:r>
              <a:rPr dirty="0" sz="6050" spc="-310" i="1">
                <a:latin typeface="Calibri"/>
                <a:cs typeface="Calibri"/>
              </a:rPr>
              <a:t>Games</a:t>
            </a:r>
            <a:r>
              <a:rPr dirty="0" sz="6050" spc="125" i="1">
                <a:latin typeface="Calibri"/>
                <a:cs typeface="Calibri"/>
              </a:rPr>
              <a:t> </a:t>
            </a:r>
            <a:r>
              <a:rPr dirty="0" sz="6050" spc="-105" i="1">
                <a:latin typeface="Calibri"/>
                <a:cs typeface="Calibri"/>
              </a:rPr>
              <a:t>-</a:t>
            </a:r>
            <a:r>
              <a:rPr dirty="0" sz="6050" spc="-110" i="1">
                <a:latin typeface="Calibri"/>
                <a:cs typeface="Calibri"/>
              </a:rPr>
              <a:t>formulaTon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46723" y="1842452"/>
            <a:ext cx="17298035" cy="824738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30"/>
              </a:spcBef>
            </a:pPr>
            <a:r>
              <a:rPr dirty="0" sz="4600" spc="-65">
                <a:latin typeface="Calibri"/>
                <a:cs typeface="Calibri"/>
              </a:rPr>
              <a:t>We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first</a:t>
            </a:r>
            <a:r>
              <a:rPr dirty="0" sz="4600" spc="-225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consider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games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with</a:t>
            </a:r>
            <a:r>
              <a:rPr dirty="0" sz="4600" spc="-229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two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players,</a:t>
            </a:r>
            <a:r>
              <a:rPr dirty="0" sz="4600" spc="-60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whom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call</a:t>
            </a:r>
            <a:endParaRPr sz="4600">
              <a:latin typeface="Calibri"/>
              <a:cs typeface="Calibri"/>
            </a:endParaRPr>
          </a:p>
          <a:p>
            <a:pPr marL="398780" indent="-386080">
              <a:lnSpc>
                <a:spcPts val="5185"/>
              </a:lnSpc>
              <a:spcBef>
                <a:spcPts val="930"/>
              </a:spcBef>
              <a:buChar char="•"/>
              <a:tabLst>
                <a:tab pos="398780" algn="l"/>
                <a:tab pos="1736725" algn="l"/>
                <a:tab pos="2828290" algn="l"/>
                <a:tab pos="4276090" algn="l"/>
                <a:tab pos="5605145" algn="l"/>
                <a:tab pos="7333615" algn="l"/>
                <a:tab pos="8594725" algn="l"/>
                <a:tab pos="9687560" algn="l"/>
                <a:tab pos="10982960" algn="l"/>
                <a:tab pos="12221210" algn="l"/>
                <a:tab pos="13430885" algn="l"/>
                <a:tab pos="14853919" algn="l"/>
              </a:tabLst>
            </a:pPr>
            <a:r>
              <a:rPr dirty="0" sz="4600" spc="-25">
                <a:latin typeface="Calibri"/>
                <a:cs typeface="Calibri"/>
              </a:rPr>
              <a:t>MAX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and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MIN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MAX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moves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first,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and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then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they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0">
                <a:latin typeface="Calibri"/>
                <a:cs typeface="Calibri"/>
              </a:rPr>
              <a:t>take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turns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moving</a:t>
            </a:r>
            <a:endParaRPr sz="4600">
              <a:latin typeface="Calibri"/>
              <a:cs typeface="Calibri"/>
            </a:endParaRPr>
          </a:p>
          <a:p>
            <a:pPr marL="396875">
              <a:lnSpc>
                <a:spcPts val="5125"/>
              </a:lnSpc>
            </a:pPr>
            <a:r>
              <a:rPr dirty="0" sz="4550">
                <a:latin typeface="Calibri"/>
                <a:cs typeface="Calibri"/>
              </a:rPr>
              <a:t>unñl</a:t>
            </a:r>
            <a:r>
              <a:rPr dirty="0" sz="4550" spc="-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10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game</a:t>
            </a:r>
            <a:r>
              <a:rPr dirty="0" sz="4550" spc="-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-23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over.</a:t>
            </a:r>
            <a:endParaRPr sz="4550">
              <a:latin typeface="Calibri"/>
              <a:cs typeface="Calibri"/>
            </a:endParaRPr>
          </a:p>
          <a:p>
            <a:pPr marL="399415" marR="731520" indent="-387350">
              <a:lnSpc>
                <a:spcPts val="4800"/>
              </a:lnSpc>
              <a:spcBef>
                <a:spcPts val="1700"/>
              </a:spcBef>
              <a:buChar char="•"/>
              <a:tabLst>
                <a:tab pos="404495" algn="l"/>
              </a:tabLst>
            </a:pPr>
            <a:r>
              <a:rPr dirty="0" sz="4600">
                <a:latin typeface="Calibri"/>
                <a:cs typeface="Calibri"/>
              </a:rPr>
              <a:t>At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end</a:t>
            </a:r>
            <a:r>
              <a:rPr dirty="0" sz="4600" spc="-20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11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 spc="-55">
                <a:latin typeface="Calibri"/>
                <a:cs typeface="Calibri"/>
              </a:rPr>
              <a:t>game,</a:t>
            </a:r>
            <a:r>
              <a:rPr dirty="0" sz="4600" spc="-30">
                <a:latin typeface="Calibri"/>
                <a:cs typeface="Calibri"/>
              </a:rPr>
              <a:t> </a:t>
            </a:r>
            <a:r>
              <a:rPr dirty="0" sz="4600" spc="-30">
                <a:solidFill>
                  <a:srgbClr val="E8150C"/>
                </a:solidFill>
                <a:latin typeface="Calibri"/>
                <a:cs typeface="Calibri"/>
              </a:rPr>
              <a:t>points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60">
                <a:latin typeface="Calibri"/>
                <a:cs typeface="Calibri"/>
              </a:rPr>
              <a:t>awarded</a:t>
            </a:r>
            <a:r>
              <a:rPr dirty="0" sz="4600" spc="-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 spc="-50">
                <a:solidFill>
                  <a:srgbClr val="2B7CAF"/>
                </a:solidFill>
                <a:latin typeface="Calibri"/>
                <a:cs typeface="Calibri"/>
              </a:rPr>
              <a:t>winning</a:t>
            </a:r>
            <a:r>
              <a:rPr dirty="0" sz="4600" spc="-10">
                <a:solidFill>
                  <a:srgbClr val="2B7CAF"/>
                </a:solidFill>
                <a:latin typeface="Calibri"/>
                <a:cs typeface="Calibri"/>
              </a:rPr>
              <a:t> </a:t>
            </a:r>
            <a:r>
              <a:rPr dirty="0" sz="4600" spc="-50">
                <a:solidFill>
                  <a:srgbClr val="1667A0"/>
                </a:solidFill>
                <a:latin typeface="Calibri"/>
                <a:cs typeface="Calibri"/>
              </a:rPr>
              <a:t>player</a:t>
            </a:r>
            <a:r>
              <a:rPr dirty="0" sz="4600" spc="-45">
                <a:solidFill>
                  <a:srgbClr val="1667A0"/>
                </a:solidFill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and </a:t>
            </a:r>
            <a:r>
              <a:rPr dirty="0" sz="4600" spc="-25">
                <a:latin typeface="Calibri"/>
                <a:cs typeface="Calibri"/>
              </a:rPr>
              <a:t>	</a:t>
            </a:r>
            <a:r>
              <a:rPr dirty="0" sz="4600" spc="-55">
                <a:solidFill>
                  <a:srgbClr val="DD0018"/>
                </a:solidFill>
                <a:latin typeface="Calibri"/>
                <a:cs typeface="Calibri"/>
              </a:rPr>
              <a:t>penalties</a:t>
            </a:r>
            <a:r>
              <a:rPr dirty="0" sz="4600" spc="-100">
                <a:solidFill>
                  <a:srgbClr val="DD0018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are</a:t>
            </a:r>
            <a:r>
              <a:rPr dirty="0" sz="4600" spc="-24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given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9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loser.</a:t>
            </a:r>
            <a:endParaRPr sz="4600">
              <a:latin typeface="Calibri"/>
              <a:cs typeface="Calibri"/>
            </a:endParaRPr>
          </a:p>
          <a:p>
            <a:pPr marL="37465" marR="735330">
              <a:lnSpc>
                <a:spcPts val="4800"/>
              </a:lnSpc>
              <a:spcBef>
                <a:spcPts val="1650"/>
              </a:spcBef>
              <a:tabLst>
                <a:tab pos="5840730" algn="l"/>
                <a:tab pos="7784465" algn="l"/>
                <a:tab pos="10759440" algn="l"/>
                <a:tab pos="12444095" algn="l"/>
                <a:tab pos="14577694" algn="l"/>
                <a:tab pos="15793085" algn="l"/>
              </a:tabLst>
            </a:pPr>
            <a:r>
              <a:rPr dirty="0" sz="4650">
                <a:latin typeface="Calibri"/>
                <a:cs typeface="Calibri"/>
              </a:rPr>
              <a:t>A</a:t>
            </a:r>
            <a:r>
              <a:rPr dirty="0" sz="4650" spc="180">
                <a:latin typeface="Calibri"/>
                <a:cs typeface="Calibri"/>
              </a:rPr>
              <a:t> </a:t>
            </a:r>
            <a:r>
              <a:rPr dirty="0" sz="4650" spc="-35">
                <a:latin typeface="Calibri"/>
                <a:cs typeface="Calibri"/>
              </a:rPr>
              <a:t>game</a:t>
            </a:r>
            <a:r>
              <a:rPr dirty="0" sz="4650" spc="19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can</a:t>
            </a:r>
            <a:r>
              <a:rPr dirty="0" sz="4650" spc="19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be</a:t>
            </a:r>
            <a:r>
              <a:rPr dirty="0" sz="4650" spc="13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formally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defined</a:t>
            </a:r>
            <a:r>
              <a:rPr dirty="0" sz="4650">
                <a:latin typeface="Calibri"/>
                <a:cs typeface="Calibri"/>
              </a:rPr>
              <a:t>	as</a:t>
            </a:r>
            <a:r>
              <a:rPr dirty="0" sz="4650" spc="22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</a:t>
            </a:r>
            <a:r>
              <a:rPr dirty="0" sz="4650" spc="16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kind</a:t>
            </a:r>
            <a:r>
              <a:rPr dirty="0" sz="4650" spc="240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of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search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problem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with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25">
                <a:latin typeface="Calibri"/>
                <a:cs typeface="Calibri"/>
              </a:rPr>
              <a:t>the </a:t>
            </a:r>
            <a:r>
              <a:rPr dirty="0" sz="4650" spc="-90">
                <a:latin typeface="Calibri"/>
                <a:cs typeface="Calibri"/>
              </a:rPr>
              <a:t>following</a:t>
            </a:r>
            <a:r>
              <a:rPr dirty="0" sz="4650" spc="-95">
                <a:latin typeface="Calibri"/>
                <a:cs typeface="Calibri"/>
              </a:rPr>
              <a:t> </a:t>
            </a:r>
            <a:r>
              <a:rPr dirty="0" sz="4650" spc="-30">
                <a:latin typeface="Calibri"/>
                <a:cs typeface="Calibri"/>
              </a:rPr>
              <a:t>elements:</a:t>
            </a:r>
            <a:endParaRPr sz="465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spcBef>
                <a:spcPts val="1500"/>
              </a:spcBef>
              <a:tabLst>
                <a:tab pos="1297940" algn="l"/>
                <a:tab pos="1857375" algn="l"/>
              </a:tabLst>
            </a:pPr>
            <a:r>
              <a:rPr dirty="0" sz="4400" spc="-50" i="1">
                <a:latin typeface="Times New Roman"/>
                <a:cs typeface="Times New Roman"/>
              </a:rPr>
              <a:t>o</a:t>
            </a:r>
            <a:r>
              <a:rPr dirty="0" sz="4400" i="1">
                <a:latin typeface="Times New Roman"/>
                <a:cs typeface="Times New Roman"/>
              </a:rPr>
              <a:t>	</a:t>
            </a:r>
            <a:r>
              <a:rPr dirty="0" sz="4400" spc="-440">
                <a:latin typeface="Times New Roman"/>
                <a:cs typeface="Times New Roman"/>
              </a:rPr>
              <a:t>5/</a:t>
            </a:r>
            <a:r>
              <a:rPr dirty="0" sz="4400">
                <a:latin typeface="Times New Roman"/>
                <a:cs typeface="Times New Roman"/>
              </a:rPr>
              <a:t>	</a:t>
            </a:r>
            <a:r>
              <a:rPr dirty="0" sz="4400" spc="70">
                <a:latin typeface="Times New Roman"/>
                <a:cs typeface="Times New Roman"/>
              </a:rPr>
              <a:t>:</a:t>
            </a:r>
            <a:r>
              <a:rPr dirty="0" sz="4400" spc="-145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The</a:t>
            </a:r>
            <a:r>
              <a:rPr dirty="0" sz="4400" spc="-95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initial</a:t>
            </a:r>
            <a:r>
              <a:rPr dirty="0" sz="4400" spc="-120">
                <a:latin typeface="Times New Roman"/>
                <a:cs typeface="Times New Roman"/>
              </a:rPr>
              <a:t> </a:t>
            </a:r>
            <a:r>
              <a:rPr dirty="0" sz="4400" spc="75">
                <a:latin typeface="Times New Roman"/>
                <a:cs typeface="Times New Roman"/>
              </a:rPr>
              <a:t>state,</a:t>
            </a:r>
            <a:r>
              <a:rPr dirty="0" sz="4400" spc="65">
                <a:latin typeface="Times New Roman"/>
                <a:cs typeface="Times New Roman"/>
              </a:rPr>
              <a:t> </a:t>
            </a:r>
            <a:r>
              <a:rPr dirty="0" sz="4400" spc="-60">
                <a:latin typeface="Times New Roman"/>
                <a:cs typeface="Times New Roman"/>
              </a:rPr>
              <a:t>which</a:t>
            </a:r>
            <a:r>
              <a:rPr dirty="0" sz="4400" spc="60">
                <a:latin typeface="Times New Roman"/>
                <a:cs typeface="Times New Roman"/>
              </a:rPr>
              <a:t> </a:t>
            </a:r>
            <a:r>
              <a:rPr dirty="0" sz="4400" spc="-55">
                <a:latin typeface="Times New Roman"/>
                <a:cs typeface="Times New Roman"/>
              </a:rPr>
              <a:t>specifies</a:t>
            </a:r>
            <a:r>
              <a:rPr dirty="0" sz="4400" spc="90">
                <a:latin typeface="Times New Roman"/>
                <a:cs typeface="Times New Roman"/>
              </a:rPr>
              <a:t> </a:t>
            </a:r>
            <a:r>
              <a:rPr dirty="0" sz="4400" spc="-40">
                <a:latin typeface="Times New Roman"/>
                <a:cs typeface="Times New Roman"/>
              </a:rPr>
              <a:t>how</a:t>
            </a:r>
            <a:r>
              <a:rPr dirty="0" sz="4400" spc="110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the</a:t>
            </a:r>
            <a:r>
              <a:rPr dirty="0" sz="4400" spc="-120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game</a:t>
            </a:r>
            <a:r>
              <a:rPr dirty="0" sz="4400" spc="-55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is</a:t>
            </a:r>
            <a:r>
              <a:rPr dirty="0" sz="4400" spc="-195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set</a:t>
            </a:r>
            <a:r>
              <a:rPr dirty="0" sz="4400" spc="-110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up</a:t>
            </a:r>
            <a:r>
              <a:rPr dirty="0" sz="4400" spc="-175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at</a:t>
            </a:r>
            <a:r>
              <a:rPr dirty="0" sz="4400" spc="-50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the</a:t>
            </a:r>
            <a:r>
              <a:rPr dirty="0" sz="4400" spc="-20">
                <a:latin typeface="Times New Roman"/>
                <a:cs typeface="Times New Roman"/>
              </a:rPr>
              <a:t> </a:t>
            </a:r>
            <a:r>
              <a:rPr dirty="0" sz="4400" spc="-10">
                <a:latin typeface="Times New Roman"/>
                <a:cs typeface="Times New Roman"/>
              </a:rPr>
              <a:t>start.</a:t>
            </a:r>
            <a:endParaRPr sz="4400">
              <a:latin typeface="Times New Roman"/>
              <a:cs typeface="Times New Roman"/>
            </a:endParaRPr>
          </a:p>
          <a:p>
            <a:pPr marL="1306195" indent="-544830">
              <a:lnSpc>
                <a:spcPct val="100000"/>
              </a:lnSpc>
              <a:spcBef>
                <a:spcPts val="860"/>
              </a:spcBef>
              <a:buChar char="•"/>
              <a:tabLst>
                <a:tab pos="1306195" algn="l"/>
                <a:tab pos="4182110" algn="l"/>
              </a:tabLst>
            </a:pPr>
            <a:r>
              <a:rPr dirty="0" sz="4300" spc="-10">
                <a:latin typeface="Times New Roman"/>
                <a:cs typeface="Times New Roman"/>
              </a:rPr>
              <a:t>PLAYER(s):</a:t>
            </a:r>
            <a:r>
              <a:rPr dirty="0" sz="4300">
                <a:latin typeface="Times New Roman"/>
                <a:cs typeface="Times New Roman"/>
              </a:rPr>
              <a:t>	</a:t>
            </a:r>
            <a:r>
              <a:rPr dirty="0" sz="4300" spc="-35">
                <a:latin typeface="Times New Roman"/>
                <a:cs typeface="Times New Roman"/>
              </a:rPr>
              <a:t>Defines</a:t>
            </a:r>
            <a:r>
              <a:rPr dirty="0" sz="4300" spc="25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which</a:t>
            </a:r>
            <a:r>
              <a:rPr dirty="0" sz="4300" spc="-20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player</a:t>
            </a:r>
            <a:r>
              <a:rPr dirty="0" sz="4300" spc="-80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has</a:t>
            </a:r>
            <a:r>
              <a:rPr dirty="0" sz="4300" spc="-75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the</a:t>
            </a:r>
            <a:r>
              <a:rPr dirty="0" sz="4300" spc="-155">
                <a:latin typeface="Times New Roman"/>
                <a:cs typeface="Times New Roman"/>
              </a:rPr>
              <a:t> </a:t>
            </a:r>
            <a:r>
              <a:rPr dirty="0" sz="4300" spc="-25">
                <a:latin typeface="Times New Roman"/>
                <a:cs typeface="Times New Roman"/>
              </a:rPr>
              <a:t>move</a:t>
            </a:r>
            <a:r>
              <a:rPr dirty="0" sz="4300" spc="50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in</a:t>
            </a:r>
            <a:r>
              <a:rPr dirty="0" sz="4300" spc="-125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a</a:t>
            </a:r>
            <a:r>
              <a:rPr dirty="0" sz="4300" spc="-254">
                <a:latin typeface="Times New Roman"/>
                <a:cs typeface="Times New Roman"/>
              </a:rPr>
              <a:t> </a:t>
            </a:r>
            <a:r>
              <a:rPr dirty="0" sz="4300" spc="-10">
                <a:latin typeface="Times New Roman"/>
                <a:cs typeface="Times New Roman"/>
              </a:rPr>
              <a:t>state.</a:t>
            </a:r>
            <a:endParaRPr sz="4300">
              <a:latin typeface="Times New Roman"/>
              <a:cs typeface="Times New Roman"/>
            </a:endParaRPr>
          </a:p>
          <a:p>
            <a:pPr marL="1295400" indent="-533400">
              <a:lnSpc>
                <a:spcPct val="100000"/>
              </a:lnSpc>
              <a:spcBef>
                <a:spcPts val="790"/>
              </a:spcBef>
              <a:buChar char="•"/>
              <a:tabLst>
                <a:tab pos="1295400" algn="l"/>
                <a:tab pos="4439920" algn="l"/>
              </a:tabLst>
            </a:pPr>
            <a:r>
              <a:rPr dirty="0" sz="4200" spc="-30">
                <a:latin typeface="Times New Roman"/>
                <a:cs typeface="Times New Roman"/>
              </a:rPr>
              <a:t>7$CTIONS(s):</a:t>
            </a:r>
            <a:r>
              <a:rPr dirty="0" sz="4200">
                <a:latin typeface="Times New Roman"/>
                <a:cs typeface="Times New Roman"/>
              </a:rPr>
              <a:t>	Returns</a:t>
            </a:r>
            <a:r>
              <a:rPr dirty="0" sz="4200" spc="290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the</a:t>
            </a:r>
            <a:r>
              <a:rPr dirty="0" sz="4200" spc="220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set</a:t>
            </a:r>
            <a:r>
              <a:rPr dirty="0" sz="4200" spc="90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of</a:t>
            </a:r>
            <a:r>
              <a:rPr dirty="0" sz="4200" spc="13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legal</a:t>
            </a:r>
            <a:r>
              <a:rPr dirty="0" sz="4200" spc="24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moves</a:t>
            </a:r>
            <a:r>
              <a:rPr dirty="0" sz="4200" spc="145">
                <a:latin typeface="Times New Roman"/>
                <a:cs typeface="Times New Roman"/>
              </a:rPr>
              <a:t> </a:t>
            </a:r>
            <a:r>
              <a:rPr dirty="0" sz="4200">
                <a:latin typeface="Times New Roman"/>
                <a:cs typeface="Times New Roman"/>
              </a:rPr>
              <a:t>in</a:t>
            </a:r>
            <a:r>
              <a:rPr dirty="0" sz="4200" spc="30">
                <a:latin typeface="Times New Roman"/>
                <a:cs typeface="Times New Roman"/>
              </a:rPr>
              <a:t> </a:t>
            </a:r>
            <a:r>
              <a:rPr dirty="0" sz="4200" spc="55">
                <a:latin typeface="Times New Roman"/>
                <a:cs typeface="Times New Roman"/>
              </a:rPr>
              <a:t>a</a:t>
            </a:r>
            <a:r>
              <a:rPr dirty="0" sz="4200" spc="-30">
                <a:latin typeface="Times New Roman"/>
                <a:cs typeface="Times New Roman"/>
              </a:rPr>
              <a:t> </a:t>
            </a:r>
            <a:r>
              <a:rPr dirty="0" sz="4200" spc="-10">
                <a:latin typeface="Times New Roman"/>
                <a:cs typeface="Times New Roman"/>
              </a:rPr>
              <a:t>srate.</a:t>
            </a:r>
            <a:endParaRPr sz="4200">
              <a:latin typeface="Times New Roman"/>
              <a:cs typeface="Times New Roman"/>
            </a:endParaRPr>
          </a:p>
          <a:p>
            <a:pPr marL="1305560" indent="-544195">
              <a:lnSpc>
                <a:spcPct val="100000"/>
              </a:lnSpc>
              <a:spcBef>
                <a:spcPts val="710"/>
              </a:spcBef>
              <a:buChar char="•"/>
              <a:tabLst>
                <a:tab pos="1305560" algn="l"/>
                <a:tab pos="15601950" algn="l"/>
              </a:tabLst>
            </a:pPr>
            <a:r>
              <a:rPr dirty="0" sz="4300" spc="-265">
                <a:latin typeface="Times New Roman"/>
                <a:cs typeface="Times New Roman"/>
              </a:rPr>
              <a:t>RESULT(q,</a:t>
            </a:r>
            <a:r>
              <a:rPr dirty="0" sz="4300">
                <a:latin typeface="Times New Roman"/>
                <a:cs typeface="Times New Roman"/>
              </a:rPr>
              <a:t> n):</a:t>
            </a:r>
            <a:r>
              <a:rPr dirty="0" sz="4300" spc="65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The</a:t>
            </a:r>
            <a:r>
              <a:rPr dirty="0" sz="4300" spc="15">
                <a:latin typeface="Times New Roman"/>
                <a:cs typeface="Times New Roman"/>
              </a:rPr>
              <a:t> </a:t>
            </a:r>
            <a:r>
              <a:rPr dirty="0" sz="4300" spc="110">
                <a:latin typeface="Times New Roman"/>
                <a:cs typeface="Times New Roman"/>
              </a:rPr>
              <a:t>transition</a:t>
            </a:r>
            <a:r>
              <a:rPr dirty="0" sz="4300" spc="150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model,</a:t>
            </a:r>
            <a:r>
              <a:rPr dirty="0" sz="4300" spc="155">
                <a:latin typeface="Times New Roman"/>
                <a:cs typeface="Times New Roman"/>
              </a:rPr>
              <a:t> </a:t>
            </a:r>
            <a:r>
              <a:rPr dirty="0" sz="4300" spc="-20">
                <a:latin typeface="Times New Roman"/>
                <a:cs typeface="Times New Roman"/>
              </a:rPr>
              <a:t>which</a:t>
            </a:r>
            <a:r>
              <a:rPr dirty="0" sz="4300" spc="75">
                <a:latin typeface="Times New Roman"/>
                <a:cs typeface="Times New Roman"/>
              </a:rPr>
              <a:t> </a:t>
            </a:r>
            <a:r>
              <a:rPr dirty="0" sz="4300" spc="-30">
                <a:latin typeface="Times New Roman"/>
                <a:cs typeface="Times New Roman"/>
              </a:rPr>
              <a:t>defines</a:t>
            </a:r>
            <a:r>
              <a:rPr dirty="0" sz="4300" spc="165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the</a:t>
            </a:r>
            <a:r>
              <a:rPr dirty="0" sz="4300" spc="60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result</a:t>
            </a:r>
            <a:r>
              <a:rPr dirty="0" sz="4300" spc="160">
                <a:latin typeface="Times New Roman"/>
                <a:cs typeface="Times New Roman"/>
              </a:rPr>
              <a:t> </a:t>
            </a:r>
            <a:r>
              <a:rPr dirty="0" sz="4300" spc="-350">
                <a:latin typeface="Times New Roman"/>
                <a:cs typeface="Times New Roman"/>
              </a:rPr>
              <a:t>of</a:t>
            </a:r>
            <a:r>
              <a:rPr dirty="0" sz="4300">
                <a:latin typeface="Times New Roman"/>
                <a:cs typeface="Times New Roman"/>
              </a:rPr>
              <a:t>	</a:t>
            </a:r>
            <a:r>
              <a:rPr dirty="0" sz="4300">
                <a:solidFill>
                  <a:srgbClr val="000516"/>
                </a:solidFill>
                <a:latin typeface="Times New Roman"/>
                <a:cs typeface="Times New Roman"/>
              </a:rPr>
              <a:t>a</a:t>
            </a:r>
            <a:r>
              <a:rPr dirty="0" sz="4300" spc="40">
                <a:solidFill>
                  <a:srgbClr val="000516"/>
                </a:solidFill>
                <a:latin typeface="Times New Roman"/>
                <a:cs typeface="Times New Roman"/>
              </a:rPr>
              <a:t> </a:t>
            </a:r>
            <a:r>
              <a:rPr dirty="0" sz="4300" spc="-80">
                <a:latin typeface="Times New Roman"/>
                <a:cs typeface="Times New Roman"/>
              </a:rPr>
              <a:t>move.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4175" y="4857750"/>
            <a:ext cx="228600" cy="333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637" rIns="0" bIns="0" rtlCol="0" vert="horz">
            <a:spAutoFit/>
          </a:bodyPr>
          <a:lstStyle/>
          <a:p>
            <a:pPr marL="812800">
              <a:lnSpc>
                <a:spcPct val="100000"/>
              </a:lnSpc>
              <a:spcBef>
                <a:spcPts val="100"/>
              </a:spcBef>
            </a:pPr>
            <a:r>
              <a:rPr dirty="0" sz="6050" spc="-420" i="1">
                <a:latin typeface="Calibri"/>
                <a:cs typeface="Calibri"/>
              </a:rPr>
              <a:t>Two</a:t>
            </a:r>
            <a:r>
              <a:rPr dirty="0" sz="6050" spc="65" i="1">
                <a:latin typeface="Calibri"/>
                <a:cs typeface="Calibri"/>
              </a:rPr>
              <a:t> </a:t>
            </a:r>
            <a:r>
              <a:rPr dirty="0" sz="6050" spc="-260" i="1">
                <a:latin typeface="Calibri"/>
                <a:cs typeface="Calibri"/>
              </a:rPr>
              <a:t>player</a:t>
            </a:r>
            <a:r>
              <a:rPr dirty="0" sz="6050" spc="85" i="1">
                <a:latin typeface="Calibri"/>
                <a:cs typeface="Calibri"/>
              </a:rPr>
              <a:t> </a:t>
            </a:r>
            <a:r>
              <a:rPr dirty="0" sz="6050" spc="-310" i="1">
                <a:latin typeface="Calibri"/>
                <a:cs typeface="Calibri"/>
              </a:rPr>
              <a:t>Games</a:t>
            </a:r>
            <a:r>
              <a:rPr dirty="0" sz="6050" spc="125" i="1">
                <a:latin typeface="Calibri"/>
                <a:cs typeface="Calibri"/>
              </a:rPr>
              <a:t> </a:t>
            </a:r>
            <a:r>
              <a:rPr dirty="0" sz="6050" spc="-125" i="1">
                <a:latin typeface="Calibri"/>
                <a:cs typeface="Calibri"/>
              </a:rPr>
              <a:t>-</a:t>
            </a:r>
            <a:r>
              <a:rPr dirty="0" sz="6050" spc="-130" i="1">
                <a:latin typeface="Calibri"/>
                <a:cs typeface="Calibri"/>
              </a:rPr>
              <a:t>formulafion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215" y="1782307"/>
            <a:ext cx="18724880" cy="722630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just" marL="532765" indent="-507365">
              <a:lnSpc>
                <a:spcPct val="100000"/>
              </a:lnSpc>
              <a:spcBef>
                <a:spcPts val="350"/>
              </a:spcBef>
              <a:buChar char="•"/>
              <a:tabLst>
                <a:tab pos="532765" algn="l"/>
              </a:tabLst>
            </a:pPr>
            <a:r>
              <a:rPr dirty="0" sz="3950" spc="-35">
                <a:latin typeface="Times New Roman"/>
                <a:cs typeface="Times New Roman"/>
              </a:rPr>
              <a:t>TERMINAL-</a:t>
            </a:r>
            <a:r>
              <a:rPr dirty="0" sz="3950">
                <a:latin typeface="Times New Roman"/>
                <a:cs typeface="Times New Roman"/>
              </a:rPr>
              <a:t>TEST(s):</a:t>
            </a:r>
            <a:r>
              <a:rPr dirty="0" sz="3950" spc="720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A</a:t>
            </a:r>
            <a:r>
              <a:rPr dirty="0" sz="3950" spc="405">
                <a:latin typeface="Times New Roman"/>
                <a:cs typeface="Times New Roman"/>
              </a:rPr>
              <a:t> </a:t>
            </a:r>
            <a:r>
              <a:rPr dirty="0" sz="3950" spc="175">
                <a:latin typeface="Times New Roman"/>
                <a:cs typeface="Times New Roman"/>
              </a:rPr>
              <a:t>terminal</a:t>
            </a:r>
            <a:r>
              <a:rPr dirty="0" sz="3950" spc="565">
                <a:latin typeface="Times New Roman"/>
                <a:cs typeface="Times New Roman"/>
              </a:rPr>
              <a:t> </a:t>
            </a:r>
            <a:r>
              <a:rPr dirty="0" sz="3950" spc="100">
                <a:latin typeface="Times New Roman"/>
                <a:cs typeface="Times New Roman"/>
              </a:rPr>
              <a:t>test,</a:t>
            </a:r>
            <a:r>
              <a:rPr dirty="0" sz="3950" spc="51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which</a:t>
            </a:r>
            <a:r>
              <a:rPr dirty="0" sz="3950" spc="53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is</a:t>
            </a:r>
            <a:r>
              <a:rPr dirty="0" sz="3950" spc="37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true</a:t>
            </a:r>
            <a:r>
              <a:rPr dirty="0" sz="3950" spc="45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when</a:t>
            </a:r>
            <a:r>
              <a:rPr dirty="0" sz="3950" spc="490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the</a:t>
            </a:r>
            <a:r>
              <a:rPr dirty="0" sz="3950" spc="36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game</a:t>
            </a:r>
            <a:r>
              <a:rPr dirty="0" sz="3950" spc="420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is</a:t>
            </a:r>
            <a:r>
              <a:rPr dirty="0" sz="3950" spc="285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over</a:t>
            </a:r>
            <a:r>
              <a:rPr dirty="0" sz="3950" spc="240">
                <a:latin typeface="Times New Roman"/>
                <a:cs typeface="Times New Roman"/>
              </a:rPr>
              <a:t> </a:t>
            </a:r>
            <a:r>
              <a:rPr dirty="0" sz="3950">
                <a:latin typeface="Times New Roman"/>
                <a:cs typeface="Times New Roman"/>
              </a:rPr>
              <a:t>and</a:t>
            </a:r>
            <a:r>
              <a:rPr dirty="0" sz="3950" spc="305">
                <a:latin typeface="Times New Roman"/>
                <a:cs typeface="Times New Roman"/>
              </a:rPr>
              <a:t> </a:t>
            </a:r>
            <a:r>
              <a:rPr dirty="0" sz="3950" spc="-10">
                <a:latin typeface="Times New Roman"/>
                <a:cs typeface="Times New Roman"/>
              </a:rPr>
              <a:t>false</a:t>
            </a:r>
            <a:endParaRPr sz="3950">
              <a:latin typeface="Times New Roman"/>
              <a:cs typeface="Times New Roman"/>
            </a:endParaRPr>
          </a:p>
          <a:p>
            <a:pPr algn="just" marL="520700">
              <a:lnSpc>
                <a:spcPct val="100000"/>
              </a:lnSpc>
              <a:spcBef>
                <a:spcPts val="260"/>
              </a:spcBef>
            </a:pPr>
            <a:r>
              <a:rPr dirty="0" sz="4050">
                <a:latin typeface="Times New Roman"/>
                <a:cs typeface="Times New Roman"/>
              </a:rPr>
              <a:t>otherwise.</a:t>
            </a:r>
            <a:r>
              <a:rPr dirty="0" sz="4050" spc="32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States</a:t>
            </a:r>
            <a:r>
              <a:rPr dirty="0" sz="4050" spc="254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where</a:t>
            </a:r>
            <a:r>
              <a:rPr dirty="0" sz="4050" spc="19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the</a:t>
            </a:r>
            <a:r>
              <a:rPr dirty="0" sz="4050" spc="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game</a:t>
            </a:r>
            <a:r>
              <a:rPr dirty="0" sz="4050" spc="8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has</a:t>
            </a:r>
            <a:r>
              <a:rPr dirty="0" sz="4050" spc="4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ended</a:t>
            </a:r>
            <a:r>
              <a:rPr dirty="0" sz="4050" spc="8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are</a:t>
            </a:r>
            <a:r>
              <a:rPr dirty="0" sz="4050" spc="-2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called</a:t>
            </a:r>
            <a:r>
              <a:rPr dirty="0" sz="4050" spc="280">
                <a:latin typeface="Times New Roman"/>
                <a:cs typeface="Times New Roman"/>
              </a:rPr>
              <a:t> </a:t>
            </a:r>
            <a:r>
              <a:rPr dirty="0" sz="4050" spc="130">
                <a:latin typeface="Times New Roman"/>
                <a:cs typeface="Times New Roman"/>
              </a:rPr>
              <a:t>terminal</a:t>
            </a:r>
            <a:r>
              <a:rPr dirty="0" sz="4050" spc="125">
                <a:latin typeface="Times New Roman"/>
                <a:cs typeface="Times New Roman"/>
              </a:rPr>
              <a:t> </a:t>
            </a:r>
            <a:r>
              <a:rPr dirty="0" sz="4050" spc="90">
                <a:latin typeface="Times New Roman"/>
                <a:cs typeface="Times New Roman"/>
              </a:rPr>
              <a:t>states.</a:t>
            </a:r>
            <a:endParaRPr sz="4050">
              <a:latin typeface="Times New Roman"/>
              <a:cs typeface="Times New Roman"/>
            </a:endParaRPr>
          </a:p>
          <a:p>
            <a:pPr algn="just" marL="518795" marR="17780" indent="-485140">
              <a:lnSpc>
                <a:spcPct val="102299"/>
              </a:lnSpc>
              <a:spcBef>
                <a:spcPts val="855"/>
              </a:spcBef>
              <a:buChar char="•"/>
              <a:tabLst>
                <a:tab pos="518795" algn="l"/>
                <a:tab pos="543560" algn="l"/>
              </a:tabLst>
            </a:pPr>
            <a:r>
              <a:rPr dirty="0" sz="4000">
                <a:latin typeface="Times New Roman"/>
                <a:cs typeface="Times New Roman"/>
              </a:rPr>
              <a:t>	</a:t>
            </a:r>
            <a:r>
              <a:rPr dirty="0" sz="4000" spc="-229">
                <a:latin typeface="Times New Roman"/>
                <a:cs typeface="Times New Roman"/>
              </a:rPr>
              <a:t>UTILITY</a:t>
            </a:r>
            <a:r>
              <a:rPr dirty="0" sz="4000" spc="1285">
                <a:latin typeface="Times New Roman"/>
                <a:cs typeface="Times New Roman"/>
              </a:rPr>
              <a:t> </a:t>
            </a:r>
            <a:r>
              <a:rPr dirty="0" sz="4000" spc="-145">
                <a:latin typeface="Times New Roman"/>
                <a:cs typeface="Times New Roman"/>
              </a:rPr>
              <a:t>s,</a:t>
            </a:r>
            <a:r>
              <a:rPr dirty="0" sz="4000" spc="355">
                <a:latin typeface="Times New Roman"/>
                <a:cs typeface="Times New Roman"/>
              </a:rPr>
              <a:t> </a:t>
            </a:r>
            <a:r>
              <a:rPr dirty="0" sz="4000" spc="-160">
                <a:latin typeface="Times New Roman"/>
                <a:cs typeface="Times New Roman"/>
              </a:rPr>
              <a:t>p):</a:t>
            </a:r>
            <a:r>
              <a:rPr dirty="0" sz="4000" spc="1105">
                <a:latin typeface="Times New Roman"/>
                <a:cs typeface="Times New Roman"/>
              </a:rPr>
              <a:t> </a:t>
            </a:r>
            <a:r>
              <a:rPr dirty="0" sz="4000" spc="-30">
                <a:latin typeface="Times New Roman"/>
                <a:cs typeface="Times New Roman"/>
              </a:rPr>
              <a:t>A</a:t>
            </a:r>
            <a:r>
              <a:rPr dirty="0" sz="4000" spc="-10">
                <a:latin typeface="Times New Roman"/>
                <a:cs typeface="Times New Roman"/>
              </a:rPr>
              <a:t> </a:t>
            </a:r>
            <a:r>
              <a:rPr dirty="0" sz="4000" spc="65">
                <a:latin typeface="Times New Roman"/>
                <a:cs typeface="Times New Roman"/>
              </a:rPr>
              <a:t>utility</a:t>
            </a:r>
            <a:r>
              <a:rPr dirty="0" sz="4000" spc="40">
                <a:latin typeface="Times New Roman"/>
                <a:cs typeface="Times New Roman"/>
              </a:rPr>
              <a:t> </a:t>
            </a:r>
            <a:r>
              <a:rPr dirty="0" sz="4000" spc="114">
                <a:latin typeface="Times New Roman"/>
                <a:cs typeface="Times New Roman"/>
              </a:rPr>
              <a:t>function </a:t>
            </a:r>
            <a:r>
              <a:rPr dirty="0" sz="4000" spc="-20">
                <a:latin typeface="Times New Roman"/>
                <a:cs typeface="Times New Roman"/>
              </a:rPr>
              <a:t>(also</a:t>
            </a:r>
            <a:r>
              <a:rPr dirty="0" sz="4000" spc="-5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called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an</a:t>
            </a:r>
            <a:r>
              <a:rPr dirty="0" sz="4000" spc="-120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Times New Roman"/>
                <a:cs typeface="Times New Roman"/>
              </a:rPr>
              <a:t>objective</a:t>
            </a:r>
            <a:r>
              <a:rPr dirty="0" sz="4000" spc="95">
                <a:latin typeface="Times New Roman"/>
                <a:cs typeface="Times New Roman"/>
              </a:rPr>
              <a:t> </a:t>
            </a:r>
            <a:r>
              <a:rPr dirty="0" sz="4000" spc="-20">
                <a:latin typeface="Times New Roman"/>
                <a:cs typeface="Times New Roman"/>
              </a:rPr>
              <a:t>function</a:t>
            </a:r>
            <a:r>
              <a:rPr dirty="0" sz="4000" spc="160">
                <a:latin typeface="Times New Roman"/>
                <a:cs typeface="Times New Roman"/>
              </a:rPr>
              <a:t> </a:t>
            </a:r>
            <a:r>
              <a:rPr dirty="0" sz="4000" spc="30">
                <a:latin typeface="Times New Roman"/>
                <a:cs typeface="Times New Roman"/>
              </a:rPr>
              <a:t>or</a:t>
            </a:r>
            <a:r>
              <a:rPr dirty="0" sz="4000" spc="-85">
                <a:latin typeface="Times New Roman"/>
                <a:cs typeface="Times New Roman"/>
              </a:rPr>
              <a:t> </a:t>
            </a:r>
            <a:r>
              <a:rPr dirty="0" sz="4000" spc="-229">
                <a:latin typeface="Times New Roman"/>
                <a:cs typeface="Times New Roman"/>
              </a:rPr>
              <a:t>payofl”</a:t>
            </a:r>
            <a:r>
              <a:rPr dirty="0" sz="4000" spc="-155">
                <a:latin typeface="Times New Roman"/>
                <a:cs typeface="Times New Roman"/>
              </a:rPr>
              <a:t> </a:t>
            </a:r>
            <a:r>
              <a:rPr dirty="0" sz="4000" spc="-15">
                <a:latin typeface="Times New Roman"/>
                <a:cs typeface="Times New Roman"/>
              </a:rPr>
              <a:t>function),</a:t>
            </a:r>
            <a:r>
              <a:rPr dirty="0" sz="4000">
                <a:latin typeface="Times New Roman"/>
                <a:cs typeface="Times New Roman"/>
              </a:rPr>
              <a:t> </a:t>
            </a:r>
            <a:r>
              <a:rPr dirty="0" sz="4050" spc="-55">
                <a:latin typeface="Times New Roman"/>
                <a:cs typeface="Times New Roman"/>
              </a:rPr>
              <a:t>defines</a:t>
            </a:r>
            <a:r>
              <a:rPr dirty="0" sz="4050" spc="300">
                <a:latin typeface="Times New Roman"/>
                <a:cs typeface="Times New Roman"/>
              </a:rPr>
              <a:t> </a:t>
            </a:r>
            <a:r>
              <a:rPr dirty="0" sz="4050" spc="-70">
                <a:latin typeface="Times New Roman"/>
                <a:cs typeface="Times New Roman"/>
              </a:rPr>
              <a:t>the</a:t>
            </a:r>
            <a:r>
              <a:rPr dirty="0" sz="4050" spc="150">
                <a:latin typeface="Times New Roman"/>
                <a:cs typeface="Times New Roman"/>
              </a:rPr>
              <a:t> </a:t>
            </a:r>
            <a:r>
              <a:rPr dirty="0" sz="4050" spc="-95">
                <a:latin typeface="Times New Roman"/>
                <a:cs typeface="Times New Roman"/>
              </a:rPr>
              <a:t>final</a:t>
            </a:r>
            <a:r>
              <a:rPr dirty="0" sz="4050" spc="330">
                <a:latin typeface="Times New Roman"/>
                <a:cs typeface="Times New Roman"/>
              </a:rPr>
              <a:t> </a:t>
            </a:r>
            <a:r>
              <a:rPr dirty="0" sz="4050" spc="-65">
                <a:latin typeface="Times New Roman"/>
                <a:cs typeface="Times New Roman"/>
              </a:rPr>
              <a:t>numeric</a:t>
            </a:r>
            <a:r>
              <a:rPr dirty="0" sz="4050" spc="390">
                <a:latin typeface="Times New Roman"/>
                <a:cs typeface="Times New Roman"/>
              </a:rPr>
              <a:t> </a:t>
            </a:r>
            <a:r>
              <a:rPr dirty="0" sz="4050" spc="-95">
                <a:latin typeface="Times New Roman"/>
                <a:cs typeface="Times New Roman"/>
              </a:rPr>
              <a:t>value</a:t>
            </a:r>
            <a:r>
              <a:rPr dirty="0" sz="4050" spc="204">
                <a:latin typeface="Times New Roman"/>
                <a:cs typeface="Times New Roman"/>
              </a:rPr>
              <a:t> </a:t>
            </a:r>
            <a:r>
              <a:rPr dirty="0" sz="4050" spc="-35">
                <a:latin typeface="Times New Roman"/>
                <a:cs typeface="Times New Roman"/>
              </a:rPr>
              <a:t>for</a:t>
            </a:r>
            <a:r>
              <a:rPr dirty="0" sz="4050" spc="95">
                <a:latin typeface="Times New Roman"/>
                <a:cs typeface="Times New Roman"/>
              </a:rPr>
              <a:t> </a:t>
            </a:r>
            <a:r>
              <a:rPr dirty="0" sz="4050" spc="35">
                <a:latin typeface="Times New Roman"/>
                <a:cs typeface="Times New Roman"/>
              </a:rPr>
              <a:t>a</a:t>
            </a:r>
            <a:r>
              <a:rPr dirty="0" sz="4050" spc="-145">
                <a:latin typeface="Times New Roman"/>
                <a:cs typeface="Times New Roman"/>
              </a:rPr>
              <a:t> </a:t>
            </a:r>
            <a:r>
              <a:rPr dirty="0" sz="4050" spc="-5">
                <a:latin typeface="Times New Roman"/>
                <a:cs typeface="Times New Roman"/>
              </a:rPr>
              <a:t>gam</a:t>
            </a:r>
            <a:r>
              <a:rPr dirty="0" sz="4050">
                <a:latin typeface="Times New Roman"/>
                <a:cs typeface="Times New Roman"/>
              </a:rPr>
              <a:t>e</a:t>
            </a:r>
            <a:r>
              <a:rPr dirty="0" sz="4050" spc="120">
                <a:latin typeface="Times New Roman"/>
                <a:cs typeface="Times New Roman"/>
              </a:rPr>
              <a:t> </a:t>
            </a:r>
            <a:r>
              <a:rPr dirty="0" sz="4050" spc="-65">
                <a:latin typeface="Times New Roman"/>
                <a:cs typeface="Times New Roman"/>
              </a:rPr>
              <a:t>that</a:t>
            </a:r>
            <a:r>
              <a:rPr dirty="0" sz="4050" spc="120">
                <a:latin typeface="Times New Roman"/>
                <a:cs typeface="Times New Roman"/>
              </a:rPr>
              <a:t> </a:t>
            </a:r>
            <a:r>
              <a:rPr dirty="0" sz="4050" spc="-45">
                <a:latin typeface="Times New Roman"/>
                <a:cs typeface="Times New Roman"/>
              </a:rPr>
              <a:t>ends</a:t>
            </a:r>
            <a:r>
              <a:rPr dirty="0" sz="4050" spc="295">
                <a:latin typeface="Times New Roman"/>
                <a:cs typeface="Times New Roman"/>
              </a:rPr>
              <a:t> </a:t>
            </a:r>
            <a:r>
              <a:rPr dirty="0" sz="4050" spc="-80">
                <a:latin typeface="Times New Roman"/>
                <a:cs typeface="Times New Roman"/>
              </a:rPr>
              <a:t>in</a:t>
            </a:r>
            <a:r>
              <a:rPr dirty="0" sz="4050" spc="120">
                <a:latin typeface="Times New Roman"/>
                <a:cs typeface="Times New Roman"/>
              </a:rPr>
              <a:t> </a:t>
            </a:r>
            <a:r>
              <a:rPr dirty="0" sz="4050" spc="-25">
                <a:latin typeface="Times New Roman"/>
                <a:cs typeface="Times New Roman"/>
              </a:rPr>
              <a:t>teiminal</a:t>
            </a:r>
            <a:r>
              <a:rPr dirty="0" sz="4050" spc="500">
                <a:latin typeface="Times New Roman"/>
                <a:cs typeface="Times New Roman"/>
              </a:rPr>
              <a:t> </a:t>
            </a:r>
            <a:r>
              <a:rPr dirty="0" sz="4050" spc="-50">
                <a:latin typeface="Times New Roman"/>
                <a:cs typeface="Times New Roman"/>
              </a:rPr>
              <a:t>state</a:t>
            </a:r>
            <a:r>
              <a:rPr dirty="0" sz="4050" spc="110">
                <a:latin typeface="Times New Roman"/>
                <a:cs typeface="Times New Roman"/>
              </a:rPr>
              <a:t> </a:t>
            </a:r>
            <a:r>
              <a:rPr dirty="0" sz="4050" spc="-430">
                <a:latin typeface="Times New Roman"/>
                <a:cs typeface="Times New Roman"/>
              </a:rPr>
              <a:t>.s</a:t>
            </a:r>
            <a:r>
              <a:rPr dirty="0" sz="4050" spc="229">
                <a:latin typeface="Times New Roman"/>
                <a:cs typeface="Times New Roman"/>
              </a:rPr>
              <a:t> </a:t>
            </a:r>
            <a:r>
              <a:rPr dirty="0" sz="4050" spc="-50">
                <a:latin typeface="Times New Roman"/>
                <a:cs typeface="Times New Roman"/>
              </a:rPr>
              <a:t>for</a:t>
            </a:r>
            <a:r>
              <a:rPr dirty="0" sz="4050" spc="-5">
                <a:latin typeface="Times New Roman"/>
                <a:cs typeface="Times New Roman"/>
              </a:rPr>
              <a:t> </a:t>
            </a:r>
            <a:r>
              <a:rPr dirty="0" sz="4050" spc="-55">
                <a:latin typeface="Times New Roman"/>
                <a:cs typeface="Times New Roman"/>
              </a:rPr>
              <a:t>a</a:t>
            </a:r>
            <a:r>
              <a:rPr dirty="0" sz="4050" spc="155">
                <a:latin typeface="Times New Roman"/>
                <a:cs typeface="Times New Roman"/>
              </a:rPr>
              <a:t> </a:t>
            </a:r>
            <a:r>
              <a:rPr dirty="0" sz="4050" spc="-35">
                <a:latin typeface="Times New Roman"/>
                <a:cs typeface="Times New Roman"/>
              </a:rPr>
              <a:t>player</a:t>
            </a:r>
            <a:r>
              <a:rPr dirty="0" sz="4050" spc="65">
                <a:latin typeface="Times New Roman"/>
                <a:cs typeface="Times New Roman"/>
              </a:rPr>
              <a:t> </a:t>
            </a:r>
            <a:r>
              <a:rPr dirty="0" sz="4050" spc="105">
                <a:latin typeface="Times New Roman"/>
                <a:cs typeface="Times New Roman"/>
              </a:rPr>
              <a:t>p.</a:t>
            </a:r>
            <a:r>
              <a:rPr dirty="0" sz="4050" spc="195">
                <a:latin typeface="Times New Roman"/>
                <a:cs typeface="Times New Roman"/>
              </a:rPr>
              <a:t> </a:t>
            </a:r>
            <a:r>
              <a:rPr dirty="0" sz="4050" spc="-70">
                <a:latin typeface="Times New Roman"/>
                <a:cs typeface="Times New Roman"/>
              </a:rPr>
              <a:t>In</a:t>
            </a:r>
            <a:r>
              <a:rPr dirty="0" sz="4050" spc="-45">
                <a:latin typeface="Times New Roman"/>
                <a:cs typeface="Times New Roman"/>
              </a:rPr>
              <a:t> </a:t>
            </a:r>
            <a:r>
              <a:rPr dirty="0" sz="4150" spc="-35">
                <a:latin typeface="Times New Roman"/>
                <a:cs typeface="Times New Roman"/>
              </a:rPr>
              <a:t>chess,</a:t>
            </a:r>
            <a:r>
              <a:rPr dirty="0" sz="4150" spc="260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the</a:t>
            </a:r>
            <a:r>
              <a:rPr dirty="0" sz="4150" spc="75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outcome</a:t>
            </a:r>
            <a:r>
              <a:rPr dirty="0" sz="4150" spc="434">
                <a:latin typeface="Times New Roman"/>
                <a:cs typeface="Times New Roman"/>
              </a:rPr>
              <a:t> </a:t>
            </a:r>
            <a:r>
              <a:rPr dirty="0" sz="4150" spc="-9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4150" spc="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a</a:t>
            </a:r>
            <a:r>
              <a:rPr dirty="0" sz="4150" spc="165">
                <a:latin typeface="Times New Roman"/>
                <a:cs typeface="Times New Roman"/>
              </a:rPr>
              <a:t> </a:t>
            </a:r>
            <a:r>
              <a:rPr dirty="0" sz="4150" spc="-95">
                <a:latin typeface="Times New Roman"/>
                <a:cs typeface="Times New Roman"/>
              </a:rPr>
              <a:t>win,</a:t>
            </a:r>
            <a:r>
              <a:rPr dirty="0" sz="4150" spc="215">
                <a:latin typeface="Times New Roman"/>
                <a:cs typeface="Times New Roman"/>
              </a:rPr>
              <a:t> </a:t>
            </a:r>
            <a:r>
              <a:rPr dirty="0" sz="4150" spc="-45">
                <a:latin typeface="Times New Roman"/>
                <a:cs typeface="Times New Roman"/>
              </a:rPr>
              <a:t>loss,</a:t>
            </a:r>
            <a:r>
              <a:rPr dirty="0" sz="4150" spc="75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or</a:t>
            </a:r>
            <a:r>
              <a:rPr dirty="0" sz="4150" spc="-40">
                <a:latin typeface="Times New Roman"/>
                <a:cs typeface="Times New Roman"/>
              </a:rPr>
              <a:t> </a:t>
            </a:r>
            <a:r>
              <a:rPr dirty="0" sz="4150" spc="-135">
                <a:latin typeface="Times New Roman"/>
                <a:cs typeface="Times New Roman"/>
              </a:rPr>
              <a:t>draw,</a:t>
            </a:r>
            <a:r>
              <a:rPr dirty="0" sz="4150" spc="350">
                <a:latin typeface="Times New Roman"/>
                <a:cs typeface="Times New Roman"/>
              </a:rPr>
              <a:t> </a:t>
            </a:r>
            <a:r>
              <a:rPr dirty="0" sz="4150" spc="-114">
                <a:latin typeface="Times New Roman"/>
                <a:cs typeface="Times New Roman"/>
              </a:rPr>
              <a:t>with</a:t>
            </a:r>
            <a:r>
              <a:rPr dirty="0" sz="4150" spc="265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values</a:t>
            </a:r>
            <a:r>
              <a:rPr dirty="0" sz="4150" spc="445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+1,</a:t>
            </a:r>
            <a:r>
              <a:rPr dirty="0" sz="4150" spc="850">
                <a:latin typeface="Times New Roman"/>
                <a:cs typeface="Times New Roman"/>
              </a:rPr>
              <a:t> </a:t>
            </a:r>
            <a:r>
              <a:rPr dirty="0" sz="4150" spc="30">
                <a:latin typeface="Times New Roman"/>
                <a:cs typeface="Times New Roman"/>
              </a:rPr>
              <a:t>0,</a:t>
            </a:r>
            <a:r>
              <a:rPr dirty="0" sz="4150" spc="-80">
                <a:latin typeface="Times New Roman"/>
                <a:cs typeface="Times New Roman"/>
              </a:rPr>
              <a:t> </a:t>
            </a:r>
            <a:r>
              <a:rPr dirty="0" sz="4150" spc="-35">
                <a:latin typeface="Times New Roman"/>
                <a:cs typeface="Times New Roman"/>
              </a:rPr>
              <a:t>or</a:t>
            </a:r>
            <a:r>
              <a:rPr dirty="0" sz="4150" spc="520">
                <a:latin typeface="Times New Roman"/>
                <a:cs typeface="Times New Roman"/>
              </a:rPr>
              <a:t> </a:t>
            </a:r>
            <a:r>
              <a:rPr dirty="0" baseline="30753" sz="4200" spc="-22">
                <a:latin typeface="Times New Roman"/>
                <a:cs typeface="Times New Roman"/>
              </a:rPr>
              <a:t>1</a:t>
            </a:r>
            <a:r>
              <a:rPr dirty="0" baseline="30753" sz="4200" spc="3262">
                <a:latin typeface="Times New Roman"/>
                <a:cs typeface="Times New Roman"/>
              </a:rPr>
              <a:t> </a:t>
            </a:r>
            <a:r>
              <a:rPr dirty="0" sz="4200" spc="-80">
                <a:latin typeface="Times New Roman"/>
                <a:cs typeface="Times New Roman"/>
              </a:rPr>
              <a:t>Some</a:t>
            </a:r>
            <a:r>
              <a:rPr dirty="0" sz="4200" spc="240">
                <a:latin typeface="Times New Roman"/>
                <a:cs typeface="Times New Roman"/>
              </a:rPr>
              <a:t> </a:t>
            </a:r>
            <a:r>
              <a:rPr dirty="0" sz="4200" spc="-114">
                <a:latin typeface="Times New Roman"/>
                <a:cs typeface="Times New Roman"/>
              </a:rPr>
              <a:t>games</a:t>
            </a:r>
            <a:r>
              <a:rPr dirty="0" sz="4200" spc="330">
                <a:latin typeface="Times New Roman"/>
                <a:cs typeface="Times New Roman"/>
              </a:rPr>
              <a:t> </a:t>
            </a:r>
            <a:r>
              <a:rPr dirty="0" sz="4200" spc="-165">
                <a:latin typeface="Times New Roman"/>
                <a:cs typeface="Times New Roman"/>
              </a:rPr>
              <a:t>have</a:t>
            </a:r>
            <a:r>
              <a:rPr dirty="0" sz="4200" spc="240">
                <a:latin typeface="Times New Roman"/>
                <a:cs typeface="Times New Roman"/>
              </a:rPr>
              <a:t> </a:t>
            </a:r>
            <a:r>
              <a:rPr dirty="0" sz="4200" spc="-20">
                <a:latin typeface="Times New Roman"/>
                <a:cs typeface="Times New Roman"/>
              </a:rPr>
              <a:t>a</a:t>
            </a:r>
            <a:r>
              <a:rPr dirty="0" sz="4200" spc="-15">
                <a:latin typeface="Times New Roman"/>
                <a:cs typeface="Times New Roman"/>
              </a:rPr>
              <a:t> </a:t>
            </a:r>
            <a:r>
              <a:rPr dirty="0" sz="4150" spc="-95">
                <a:latin typeface="Times New Roman"/>
                <a:cs typeface="Times New Roman"/>
              </a:rPr>
              <a:t>wider</a:t>
            </a:r>
            <a:r>
              <a:rPr dirty="0" sz="4150" spc="80">
                <a:latin typeface="Times New Roman"/>
                <a:cs typeface="Times New Roman"/>
              </a:rPr>
              <a:t> </a:t>
            </a:r>
            <a:r>
              <a:rPr dirty="0" sz="4150" spc="-100">
                <a:latin typeface="Times New Roman"/>
                <a:cs typeface="Times New Roman"/>
              </a:rPr>
              <a:t>variety</a:t>
            </a:r>
            <a:r>
              <a:rPr dirty="0" sz="4150" spc="325">
                <a:latin typeface="Times New Roman"/>
                <a:cs typeface="Times New Roman"/>
              </a:rPr>
              <a:t> </a:t>
            </a:r>
            <a:r>
              <a:rPr dirty="0" sz="4150" spc="-160">
                <a:latin typeface="Times New Roman"/>
                <a:cs typeface="Times New Roman"/>
              </a:rPr>
              <a:t>of</a:t>
            </a:r>
            <a:r>
              <a:rPr dirty="0" sz="4150" spc="360">
                <a:latin typeface="Times New Roman"/>
                <a:cs typeface="Times New Roman"/>
              </a:rPr>
              <a:t> </a:t>
            </a:r>
            <a:r>
              <a:rPr dirty="0" sz="4150" spc="-90">
                <a:latin typeface="Times New Roman"/>
                <a:cs typeface="Times New Roman"/>
              </a:rPr>
              <a:t>possible</a:t>
            </a:r>
            <a:r>
              <a:rPr dirty="0" sz="4150" spc="455">
                <a:latin typeface="Times New Roman"/>
                <a:cs typeface="Times New Roman"/>
              </a:rPr>
              <a:t> </a:t>
            </a:r>
            <a:r>
              <a:rPr dirty="0" sz="4150" spc="-85">
                <a:latin typeface="Times New Roman"/>
                <a:cs typeface="Times New Roman"/>
              </a:rPr>
              <a:t>outcomes;</a:t>
            </a:r>
            <a:r>
              <a:rPr dirty="0" sz="4150" spc="635">
                <a:latin typeface="Times New Roman"/>
                <a:cs typeface="Times New Roman"/>
              </a:rPr>
              <a:t> </a:t>
            </a:r>
            <a:r>
              <a:rPr dirty="0" sz="4150" spc="-105">
                <a:latin typeface="Times New Roman"/>
                <a:cs typeface="Times New Roman"/>
              </a:rPr>
              <a:t>the</a:t>
            </a:r>
            <a:r>
              <a:rPr dirty="0" sz="4150" spc="180">
                <a:latin typeface="Times New Roman"/>
                <a:cs typeface="Times New Roman"/>
              </a:rPr>
              <a:t> </a:t>
            </a:r>
            <a:r>
              <a:rPr dirty="0" sz="4150" spc="-114">
                <a:latin typeface="Times New Roman"/>
                <a:cs typeface="Times New Roman"/>
              </a:rPr>
              <a:t>payoffs</a:t>
            </a:r>
            <a:r>
              <a:rPr dirty="0" sz="4150" spc="355">
                <a:latin typeface="Times New Roman"/>
                <a:cs typeface="Times New Roman"/>
              </a:rPr>
              <a:t> </a:t>
            </a:r>
            <a:r>
              <a:rPr dirty="0" sz="4150" spc="-85">
                <a:latin typeface="Times New Roman"/>
                <a:cs typeface="Times New Roman"/>
              </a:rPr>
              <a:t>in</a:t>
            </a:r>
            <a:r>
              <a:rPr dirty="0" sz="4150" spc="150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backgammon</a:t>
            </a:r>
            <a:r>
              <a:rPr dirty="0" sz="4150" spc="484">
                <a:latin typeface="Times New Roman"/>
                <a:cs typeface="Times New Roman"/>
              </a:rPr>
              <a:t> </a:t>
            </a:r>
            <a:r>
              <a:rPr dirty="0" sz="4150" spc="-80">
                <a:latin typeface="Times New Roman"/>
                <a:cs typeface="Times New Roman"/>
              </a:rPr>
              <a:t>range</a:t>
            </a:r>
            <a:r>
              <a:rPr dirty="0" sz="4150" spc="190">
                <a:latin typeface="Times New Roman"/>
                <a:cs typeface="Times New Roman"/>
              </a:rPr>
              <a:t> </a:t>
            </a:r>
            <a:r>
              <a:rPr dirty="0" sz="4150" spc="-125">
                <a:latin typeface="Times New Roman"/>
                <a:cs typeface="Times New Roman"/>
              </a:rPr>
              <a:t>from</a:t>
            </a:r>
            <a:r>
              <a:rPr dirty="0" sz="4150" spc="240">
                <a:latin typeface="Times New Roman"/>
                <a:cs typeface="Times New Roman"/>
              </a:rPr>
              <a:t> </a:t>
            </a:r>
            <a:r>
              <a:rPr dirty="0" sz="4150" spc="80">
                <a:latin typeface="Times New Roman"/>
                <a:cs typeface="Times New Roman"/>
              </a:rPr>
              <a:t>0</a:t>
            </a:r>
            <a:r>
              <a:rPr dirty="0" sz="4150" spc="-15">
                <a:latin typeface="Times New Roman"/>
                <a:cs typeface="Times New Roman"/>
              </a:rPr>
              <a:t> </a:t>
            </a:r>
            <a:r>
              <a:rPr dirty="0" sz="4150" spc="-100">
                <a:latin typeface="Times New Roman"/>
                <a:cs typeface="Times New Roman"/>
              </a:rPr>
              <a:t>to</a:t>
            </a:r>
            <a:r>
              <a:rPr dirty="0" sz="4150" spc="225">
                <a:latin typeface="Times New Roman"/>
                <a:cs typeface="Times New Roman"/>
              </a:rPr>
              <a:t> </a:t>
            </a:r>
            <a:r>
              <a:rPr dirty="0" sz="4150" spc="-320">
                <a:latin typeface="Times New Roman"/>
                <a:cs typeface="Times New Roman"/>
              </a:rPr>
              <a:t>-</a:t>
            </a:r>
            <a:r>
              <a:rPr dirty="0" sz="4150" spc="-400">
                <a:latin typeface="Times New Roman"/>
                <a:cs typeface="Times New Roman"/>
              </a:rPr>
              <a:t>1-</a:t>
            </a:r>
            <a:r>
              <a:rPr dirty="0" sz="4150" spc="-370">
                <a:latin typeface="Times New Roman"/>
                <a:cs typeface="Times New Roman"/>
              </a:rPr>
              <a:t>1iJ2.</a:t>
            </a:r>
            <a:r>
              <a:rPr dirty="0" sz="4150" spc="-240">
                <a:latin typeface="Times New Roman"/>
                <a:cs typeface="Times New Roman"/>
              </a:rPr>
              <a:t> </a:t>
            </a:r>
            <a:r>
              <a:rPr dirty="0" sz="4250" spc="-250">
                <a:latin typeface="Times New Roman"/>
                <a:cs typeface="Times New Roman"/>
              </a:rPr>
              <a:t>A</a:t>
            </a:r>
            <a:r>
              <a:rPr dirty="0" sz="4250" spc="155">
                <a:latin typeface="Times New Roman"/>
                <a:cs typeface="Times New Roman"/>
              </a:rPr>
              <a:t> </a:t>
            </a:r>
            <a:r>
              <a:rPr dirty="0" sz="4250" spc="-25">
                <a:latin typeface="Times New Roman"/>
                <a:cs typeface="Times New Roman"/>
              </a:rPr>
              <a:t>zero-</a:t>
            </a:r>
            <a:r>
              <a:rPr dirty="0" sz="4250" spc="-30">
                <a:latin typeface="Times New Roman"/>
                <a:cs typeface="Times New Roman"/>
              </a:rPr>
              <a:t>sum</a:t>
            </a:r>
            <a:r>
              <a:rPr dirty="0" sz="4250" spc="585">
                <a:latin typeface="Times New Roman"/>
                <a:cs typeface="Times New Roman"/>
              </a:rPr>
              <a:t> </a:t>
            </a:r>
            <a:r>
              <a:rPr dirty="0" sz="4250" spc="-5">
                <a:latin typeface="Times New Roman"/>
                <a:cs typeface="Times New Roman"/>
              </a:rPr>
              <a:t>gam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245">
                <a:latin typeface="Times New Roman"/>
                <a:cs typeface="Times New Roman"/>
              </a:rPr>
              <a:t> </a:t>
            </a:r>
            <a:r>
              <a:rPr dirty="0" sz="4250" spc="-75">
                <a:latin typeface="Times New Roman"/>
                <a:cs typeface="Times New Roman"/>
              </a:rPr>
              <a:t>is</a:t>
            </a:r>
            <a:r>
              <a:rPr dirty="0" sz="4250" spc="170">
                <a:latin typeface="Times New Roman"/>
                <a:cs typeface="Times New Roman"/>
              </a:rPr>
              <a:t> </a:t>
            </a:r>
            <a:r>
              <a:rPr dirty="0" sz="4250" spc="-110">
                <a:latin typeface="Times New Roman"/>
                <a:cs typeface="Times New Roman"/>
              </a:rPr>
              <a:t>(confusingly)</a:t>
            </a:r>
            <a:r>
              <a:rPr dirty="0" sz="4250" spc="615">
                <a:latin typeface="Times New Roman"/>
                <a:cs typeface="Times New Roman"/>
              </a:rPr>
              <a:t> </a:t>
            </a:r>
            <a:r>
              <a:rPr dirty="0" sz="4250" spc="-130">
                <a:latin typeface="Times New Roman"/>
                <a:cs typeface="Times New Roman"/>
              </a:rPr>
              <a:t>defined</a:t>
            </a:r>
            <a:r>
              <a:rPr dirty="0" sz="4250" spc="350">
                <a:latin typeface="Times New Roman"/>
                <a:cs typeface="Times New Roman"/>
              </a:rPr>
              <a:t> </a:t>
            </a:r>
            <a:r>
              <a:rPr dirty="0" sz="4250" spc="-95">
                <a:latin typeface="Times New Roman"/>
                <a:cs typeface="Times New Roman"/>
              </a:rPr>
              <a:t>as</a:t>
            </a:r>
            <a:r>
              <a:rPr dirty="0" sz="4250" spc="229">
                <a:latin typeface="Times New Roman"/>
                <a:cs typeface="Times New Roman"/>
              </a:rPr>
              <a:t> </a:t>
            </a:r>
            <a:r>
              <a:rPr dirty="0" sz="4250" spc="-150">
                <a:latin typeface="Times New Roman"/>
                <a:cs typeface="Times New Roman"/>
              </a:rPr>
              <a:t>one</a:t>
            </a:r>
            <a:r>
              <a:rPr dirty="0" sz="4250" spc="340">
                <a:latin typeface="Times New Roman"/>
                <a:cs typeface="Times New Roman"/>
              </a:rPr>
              <a:t> </a:t>
            </a:r>
            <a:r>
              <a:rPr dirty="0" sz="4250" spc="-175">
                <a:latin typeface="Times New Roman"/>
                <a:cs typeface="Times New Roman"/>
              </a:rPr>
              <a:t>where</a:t>
            </a:r>
            <a:r>
              <a:rPr dirty="0" sz="4250" spc="380">
                <a:latin typeface="Times New Roman"/>
                <a:cs typeface="Times New Roman"/>
              </a:rPr>
              <a:t> </a:t>
            </a:r>
            <a:r>
              <a:rPr dirty="0" sz="4250" spc="-145">
                <a:latin typeface="Times New Roman"/>
                <a:cs typeface="Times New Roman"/>
              </a:rPr>
              <a:t>the</a:t>
            </a:r>
            <a:r>
              <a:rPr dirty="0" sz="4250" spc="315">
                <a:latin typeface="Times New Roman"/>
                <a:cs typeface="Times New Roman"/>
              </a:rPr>
              <a:t> </a:t>
            </a:r>
            <a:r>
              <a:rPr dirty="0" sz="4250" spc="-110">
                <a:latin typeface="Times New Roman"/>
                <a:cs typeface="Times New Roman"/>
              </a:rPr>
              <a:t>total</a:t>
            </a:r>
            <a:r>
              <a:rPr dirty="0" sz="4250" spc="380">
                <a:latin typeface="Times New Roman"/>
                <a:cs typeface="Times New Roman"/>
              </a:rPr>
              <a:t> </a:t>
            </a:r>
            <a:r>
              <a:rPr dirty="0" sz="4250" spc="-170">
                <a:latin typeface="Times New Roman"/>
                <a:cs typeface="Times New Roman"/>
              </a:rPr>
              <a:t>payoff</a:t>
            </a:r>
            <a:r>
              <a:rPr dirty="0" sz="4250" spc="635">
                <a:latin typeface="Times New Roman"/>
                <a:cs typeface="Times New Roman"/>
              </a:rPr>
              <a:t> </a:t>
            </a:r>
            <a:r>
              <a:rPr dirty="0" sz="4250" spc="-135">
                <a:latin typeface="Times New Roman"/>
                <a:cs typeface="Times New Roman"/>
              </a:rPr>
              <a:t>to</a:t>
            </a:r>
            <a:r>
              <a:rPr dirty="0" sz="4250" spc="135">
                <a:latin typeface="Times New Roman"/>
                <a:cs typeface="Times New Roman"/>
              </a:rPr>
              <a:t> </a:t>
            </a:r>
            <a:r>
              <a:rPr dirty="0" sz="4250" spc="-120">
                <a:latin typeface="Times New Roman"/>
                <a:cs typeface="Times New Roman"/>
              </a:rPr>
              <a:t>all</a:t>
            </a:r>
            <a:r>
              <a:rPr dirty="0" sz="4250" spc="300">
                <a:latin typeface="Times New Roman"/>
                <a:cs typeface="Times New Roman"/>
              </a:rPr>
              <a:t> </a:t>
            </a:r>
            <a:r>
              <a:rPr dirty="0" sz="4250" spc="-114">
                <a:latin typeface="Times New Roman"/>
                <a:cs typeface="Times New Roman"/>
              </a:rPr>
              <a:t>players</a:t>
            </a:r>
            <a:r>
              <a:rPr dirty="0" sz="4250" spc="-70">
                <a:latin typeface="Times New Roman"/>
                <a:cs typeface="Times New Roman"/>
              </a:rPr>
              <a:t> </a:t>
            </a:r>
            <a:r>
              <a:rPr dirty="0" sz="4150" spc="-90">
                <a:latin typeface="Times New Roman"/>
                <a:cs typeface="Times New Roman"/>
              </a:rPr>
              <a:t>is</a:t>
            </a:r>
            <a:r>
              <a:rPr dirty="0" sz="4150" spc="265">
                <a:latin typeface="Times New Roman"/>
                <a:cs typeface="Times New Roman"/>
              </a:rPr>
              <a:t> </a:t>
            </a:r>
            <a:r>
              <a:rPr dirty="0" sz="4150" spc="-105">
                <a:latin typeface="Times New Roman"/>
                <a:cs typeface="Times New Roman"/>
              </a:rPr>
              <a:t>the</a:t>
            </a:r>
            <a:r>
              <a:rPr dirty="0" sz="4150" spc="265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same</a:t>
            </a:r>
            <a:r>
              <a:rPr dirty="0" sz="4150" spc="190">
                <a:latin typeface="Times New Roman"/>
                <a:cs typeface="Times New Roman"/>
              </a:rPr>
              <a:t> </a:t>
            </a:r>
            <a:r>
              <a:rPr dirty="0" sz="4150" spc="-50">
                <a:latin typeface="Times New Roman"/>
                <a:cs typeface="Times New Roman"/>
              </a:rPr>
              <a:t>for</a:t>
            </a:r>
            <a:r>
              <a:rPr dirty="0" sz="4150">
                <a:latin typeface="Times New Roman"/>
                <a:cs typeface="Times New Roman"/>
              </a:rPr>
              <a:t> </a:t>
            </a:r>
            <a:r>
              <a:rPr dirty="0" sz="4150" spc="-114">
                <a:latin typeface="Times New Roman"/>
                <a:cs typeface="Times New Roman"/>
              </a:rPr>
              <a:t>every</a:t>
            </a:r>
            <a:r>
              <a:rPr dirty="0" sz="4150" spc="525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instance</a:t>
            </a:r>
            <a:r>
              <a:rPr dirty="0" sz="4150" spc="385">
                <a:latin typeface="Times New Roman"/>
                <a:cs typeface="Times New Roman"/>
              </a:rPr>
              <a:t> </a:t>
            </a:r>
            <a:r>
              <a:rPr dirty="0" sz="4150" spc="-360">
                <a:latin typeface="Times New Roman"/>
                <a:cs typeface="Times New Roman"/>
              </a:rPr>
              <a:t>of’</a:t>
            </a:r>
            <a:r>
              <a:rPr dirty="0" sz="4150" spc="-190">
                <a:latin typeface="Times New Roman"/>
                <a:cs typeface="Times New Roman"/>
              </a:rPr>
              <a:t> </a:t>
            </a:r>
            <a:r>
              <a:rPr dirty="0" sz="4150" spc="-105">
                <a:latin typeface="Times New Roman"/>
                <a:cs typeface="Times New Roman"/>
              </a:rPr>
              <a:t>the</a:t>
            </a:r>
            <a:r>
              <a:rPr dirty="0" sz="4150" spc="195">
                <a:latin typeface="Times New Roman"/>
                <a:cs typeface="Times New Roman"/>
              </a:rPr>
              <a:t> </a:t>
            </a:r>
            <a:r>
              <a:rPr dirty="0" sz="4150" spc="-40">
                <a:latin typeface="Times New Roman"/>
                <a:cs typeface="Times New Roman"/>
              </a:rPr>
              <a:t>game.</a:t>
            </a:r>
            <a:r>
              <a:rPr dirty="0" sz="4150" spc="509">
                <a:latin typeface="Times New Roman"/>
                <a:cs typeface="Times New Roman"/>
              </a:rPr>
              <a:t> </a:t>
            </a:r>
            <a:r>
              <a:rPr dirty="0" sz="4150" spc="-45">
                <a:latin typeface="Times New Roman"/>
                <a:cs typeface="Times New Roman"/>
              </a:rPr>
              <a:t>Chess</a:t>
            </a:r>
            <a:r>
              <a:rPr dirty="0" sz="4150" spc="225">
                <a:latin typeface="Times New Roman"/>
                <a:cs typeface="Times New Roman"/>
              </a:rPr>
              <a:t> </a:t>
            </a:r>
            <a:r>
              <a:rPr dirty="0" sz="4150" spc="-45">
                <a:latin typeface="Times New Roman"/>
                <a:cs typeface="Times New Roman"/>
              </a:rPr>
              <a:t>is</a:t>
            </a:r>
            <a:r>
              <a:rPr dirty="0" sz="4150" spc="140">
                <a:latin typeface="Times New Roman"/>
                <a:cs typeface="Times New Roman"/>
              </a:rPr>
              <a:t> </a:t>
            </a:r>
            <a:r>
              <a:rPr dirty="0" sz="4150" spc="-95">
                <a:latin typeface="Times New Roman"/>
                <a:cs typeface="Times New Roman"/>
              </a:rPr>
              <a:t>zero-</a:t>
            </a:r>
            <a:r>
              <a:rPr dirty="0" sz="4150" spc="-120">
                <a:latin typeface="Times New Roman"/>
                <a:cs typeface="Times New Roman"/>
              </a:rPr>
              <a:t>sum</a:t>
            </a:r>
            <a:r>
              <a:rPr dirty="0" sz="4150" spc="830">
                <a:latin typeface="Times New Roman"/>
                <a:cs typeface="Times New Roman"/>
              </a:rPr>
              <a:t> </a:t>
            </a:r>
            <a:r>
              <a:rPr dirty="0" sz="4150" spc="-80">
                <a:latin typeface="Times New Roman"/>
                <a:cs typeface="Times New Roman"/>
              </a:rPr>
              <a:t>because</a:t>
            </a:r>
            <a:r>
              <a:rPr dirty="0" sz="4150" spc="459">
                <a:latin typeface="Times New Roman"/>
                <a:cs typeface="Times New Roman"/>
              </a:rPr>
              <a:t> </a:t>
            </a:r>
            <a:r>
              <a:rPr dirty="0" sz="4150" spc="-114">
                <a:latin typeface="Times New Roman"/>
                <a:cs typeface="Times New Roman"/>
              </a:rPr>
              <a:t>every</a:t>
            </a:r>
            <a:r>
              <a:rPr dirty="0" sz="4150" spc="300">
                <a:latin typeface="Times New Roman"/>
                <a:cs typeface="Times New Roman"/>
              </a:rPr>
              <a:t> </a:t>
            </a:r>
            <a:r>
              <a:rPr dirty="0" sz="4150" spc="-50">
                <a:latin typeface="Times New Roman"/>
                <a:cs typeface="Times New Roman"/>
              </a:rPr>
              <a:t>game</a:t>
            </a:r>
            <a:r>
              <a:rPr dirty="0" sz="4150" spc="235">
                <a:latin typeface="Times New Roman"/>
                <a:cs typeface="Times New Roman"/>
              </a:rPr>
              <a:t> </a:t>
            </a:r>
            <a:r>
              <a:rPr dirty="0" sz="4150" spc="-80">
                <a:latin typeface="Times New Roman"/>
                <a:cs typeface="Times New Roman"/>
              </a:rPr>
              <a:t>has</a:t>
            </a:r>
            <a:r>
              <a:rPr dirty="0" sz="4150" spc="-50">
                <a:latin typeface="Times New Roman"/>
                <a:cs typeface="Times New Roman"/>
              </a:rPr>
              <a:t> </a:t>
            </a:r>
            <a:r>
              <a:rPr dirty="0" sz="4200" spc="-110">
                <a:latin typeface="Times New Roman"/>
                <a:cs typeface="Times New Roman"/>
              </a:rPr>
              <a:t>payoif</a:t>
            </a:r>
            <a:r>
              <a:rPr dirty="0" sz="4200" spc="405">
                <a:latin typeface="Times New Roman"/>
                <a:cs typeface="Times New Roman"/>
              </a:rPr>
              <a:t> </a:t>
            </a:r>
            <a:r>
              <a:rPr dirty="0" sz="4200" spc="-175">
                <a:latin typeface="Times New Roman"/>
                <a:cs typeface="Times New Roman"/>
              </a:rPr>
              <a:t>of</a:t>
            </a:r>
            <a:r>
              <a:rPr dirty="0" sz="4200" spc="250">
                <a:latin typeface="Times New Roman"/>
                <a:cs typeface="Times New Roman"/>
              </a:rPr>
              <a:t> </a:t>
            </a:r>
            <a:r>
              <a:rPr dirty="0" sz="4200" spc="-65">
                <a:latin typeface="Times New Roman"/>
                <a:cs typeface="Times New Roman"/>
              </a:rPr>
              <a:t>either</a:t>
            </a:r>
            <a:r>
              <a:rPr dirty="0" sz="4200" spc="200">
                <a:latin typeface="Times New Roman"/>
                <a:cs typeface="Times New Roman"/>
              </a:rPr>
              <a:t> </a:t>
            </a:r>
            <a:r>
              <a:rPr dirty="0" sz="4200" spc="-45">
                <a:solidFill>
                  <a:srgbClr val="0A0A0A"/>
                </a:solidFill>
                <a:latin typeface="Times New Roman"/>
                <a:cs typeface="Times New Roman"/>
              </a:rPr>
              <a:t>0</a:t>
            </a:r>
            <a:r>
              <a:rPr dirty="0" sz="4200" spc="-5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4200" spc="-350">
                <a:solidFill>
                  <a:srgbClr val="262626"/>
                </a:solidFill>
                <a:latin typeface="Times New Roman"/>
                <a:cs typeface="Times New Roman"/>
              </a:rPr>
              <a:t>-</a:t>
            </a:r>
            <a:r>
              <a:rPr dirty="0" sz="4200" spc="-325">
                <a:solidFill>
                  <a:srgbClr val="262626"/>
                </a:solidFill>
                <a:latin typeface="Times New Roman"/>
                <a:cs typeface="Times New Roman"/>
              </a:rPr>
              <a:t>;-</a:t>
            </a:r>
            <a:r>
              <a:rPr dirty="0" sz="4200" spc="-7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4200" spc="30">
                <a:latin typeface="Times New Roman"/>
                <a:cs typeface="Times New Roman"/>
              </a:rPr>
              <a:t>1,</a:t>
            </a:r>
            <a:r>
              <a:rPr dirty="0" sz="4200" spc="-140">
                <a:latin typeface="Times New Roman"/>
                <a:cs typeface="Times New Roman"/>
              </a:rPr>
              <a:t> </a:t>
            </a:r>
            <a:r>
              <a:rPr dirty="0" sz="4200" spc="40">
                <a:solidFill>
                  <a:srgbClr val="080808"/>
                </a:solidFill>
                <a:latin typeface="Times New Roman"/>
                <a:cs typeface="Times New Roman"/>
              </a:rPr>
              <a:t>1</a:t>
            </a:r>
            <a:r>
              <a:rPr dirty="0" sz="4200" spc="7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4200" spc="45">
                <a:solidFill>
                  <a:srgbClr val="151515"/>
                </a:solidFill>
                <a:latin typeface="Times New Roman"/>
                <a:cs typeface="Times New Roman"/>
              </a:rPr>
              <a:t>+</a:t>
            </a:r>
            <a:r>
              <a:rPr dirty="0" sz="4200" spc="505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4200" spc="-130">
                <a:latin typeface="Times New Roman"/>
                <a:cs typeface="Times New Roman"/>
              </a:rPr>
              <a:t>0</a:t>
            </a:r>
            <a:r>
              <a:rPr dirty="0" sz="4200" spc="60">
                <a:latin typeface="Times New Roman"/>
                <a:cs typeface="Times New Roman"/>
              </a:rPr>
              <a:t> </a:t>
            </a:r>
            <a:r>
              <a:rPr dirty="0" sz="4200" spc="-140">
                <a:latin typeface="Times New Roman"/>
                <a:cs typeface="Times New Roman"/>
              </a:rPr>
              <a:t>or</a:t>
            </a:r>
            <a:r>
              <a:rPr dirty="0" sz="4200" spc="-375">
                <a:latin typeface="Times New Roman"/>
                <a:cs typeface="Times New Roman"/>
              </a:rPr>
              <a:t> </a:t>
            </a:r>
            <a:r>
              <a:rPr dirty="0" baseline="1111" sz="3750" spc="-794">
                <a:latin typeface="Times New Roman"/>
                <a:cs typeface="Times New Roman"/>
              </a:rPr>
              <a:t>@</a:t>
            </a:r>
            <a:r>
              <a:rPr dirty="0" baseline="1111" sz="3750" spc="2385">
                <a:latin typeface="Times New Roman"/>
                <a:cs typeface="Times New Roman"/>
              </a:rPr>
              <a:t> </a:t>
            </a:r>
            <a:r>
              <a:rPr dirty="0" sz="4200" spc="-300">
                <a:solidFill>
                  <a:srgbClr val="383838"/>
                </a:solidFill>
                <a:latin typeface="Times New Roman"/>
                <a:cs typeface="Times New Roman"/>
              </a:rPr>
              <a:t>-</a:t>
            </a:r>
            <a:r>
              <a:rPr dirty="0" sz="4200" spc="-495">
                <a:solidFill>
                  <a:srgbClr val="383838"/>
                </a:solidFill>
                <a:latin typeface="Times New Roman"/>
                <a:cs typeface="Times New Roman"/>
              </a:rPr>
              <a:t>F</a:t>
            </a:r>
            <a:r>
              <a:rPr dirty="0" sz="4200" spc="114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4200" spc="30">
                <a:latin typeface="Times New Roman"/>
                <a:cs typeface="Times New Roman"/>
              </a:rPr>
              <a:t>;;.</a:t>
            </a:r>
            <a:r>
              <a:rPr dirty="0" sz="4200" spc="190">
                <a:latin typeface="Times New Roman"/>
                <a:cs typeface="Times New Roman"/>
              </a:rPr>
              <a:t> </a:t>
            </a:r>
            <a:r>
              <a:rPr dirty="0" sz="4200" spc="-45">
                <a:latin typeface="Times New Roman"/>
                <a:cs typeface="Times New Roman"/>
              </a:rPr>
              <a:t>“Constant-</a:t>
            </a:r>
            <a:r>
              <a:rPr dirty="0" sz="4200" spc="-50">
                <a:latin typeface="Times New Roman"/>
                <a:cs typeface="Times New Roman"/>
              </a:rPr>
              <a:t>sum”</a:t>
            </a:r>
            <a:r>
              <a:rPr dirty="0" sz="4200" spc="185">
                <a:latin typeface="Times New Roman"/>
                <a:cs typeface="Times New Roman"/>
              </a:rPr>
              <a:t> </a:t>
            </a:r>
            <a:r>
              <a:rPr dirty="0" sz="4200" spc="-130">
                <a:latin typeface="Times New Roman"/>
                <a:cs typeface="Times New Roman"/>
              </a:rPr>
              <a:t>would</a:t>
            </a:r>
            <a:r>
              <a:rPr dirty="0" sz="4200" spc="330">
                <a:latin typeface="Times New Roman"/>
                <a:cs typeface="Times New Roman"/>
              </a:rPr>
              <a:t> </a:t>
            </a:r>
            <a:r>
              <a:rPr dirty="0" sz="4200" spc="-165">
                <a:latin typeface="Times New Roman"/>
                <a:cs typeface="Times New Roman"/>
              </a:rPr>
              <a:t>have</a:t>
            </a:r>
            <a:r>
              <a:rPr dirty="0" sz="4200" spc="475">
                <a:latin typeface="Times New Roman"/>
                <a:cs typeface="Times New Roman"/>
              </a:rPr>
              <a:t> </a:t>
            </a:r>
            <a:r>
              <a:rPr dirty="0" sz="4200" spc="-140">
                <a:latin typeface="Times New Roman"/>
                <a:cs typeface="Times New Roman"/>
              </a:rPr>
              <a:t>been</a:t>
            </a:r>
            <a:r>
              <a:rPr dirty="0" sz="4200" spc="114">
                <a:latin typeface="Times New Roman"/>
                <a:cs typeface="Times New Roman"/>
              </a:rPr>
              <a:t> </a:t>
            </a:r>
            <a:r>
              <a:rPr dirty="0" sz="4200" spc="-95">
                <a:latin typeface="Times New Roman"/>
                <a:cs typeface="Times New Roman"/>
              </a:rPr>
              <a:t>a</a:t>
            </a:r>
            <a:r>
              <a:rPr dirty="0" sz="4200" spc="260">
                <a:latin typeface="Times New Roman"/>
                <a:cs typeface="Times New Roman"/>
              </a:rPr>
              <a:t> </a:t>
            </a:r>
            <a:r>
              <a:rPr dirty="0" sz="4200" spc="-100">
                <a:latin typeface="Times New Roman"/>
                <a:cs typeface="Times New Roman"/>
              </a:rPr>
              <a:t>better</a:t>
            </a:r>
            <a:r>
              <a:rPr dirty="0" sz="4200" spc="335">
                <a:latin typeface="Times New Roman"/>
                <a:cs typeface="Times New Roman"/>
              </a:rPr>
              <a:t> </a:t>
            </a:r>
            <a:r>
              <a:rPr dirty="0" sz="4200" spc="-125">
                <a:latin typeface="Times New Roman"/>
                <a:cs typeface="Times New Roman"/>
              </a:rPr>
              <a:t>term,</a:t>
            </a:r>
            <a:r>
              <a:rPr dirty="0" sz="4200" spc="-75">
                <a:latin typeface="Times New Roman"/>
                <a:cs typeface="Times New Roman"/>
              </a:rPr>
              <a:t> </a:t>
            </a:r>
            <a:r>
              <a:rPr dirty="0" sz="4150" spc="-165">
                <a:latin typeface="Times New Roman"/>
                <a:cs typeface="Times New Roman"/>
              </a:rPr>
              <a:t>but</a:t>
            </a:r>
            <a:r>
              <a:rPr dirty="0" sz="4150" spc="495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zero-</a:t>
            </a:r>
            <a:r>
              <a:rPr dirty="0" sz="4150" spc="-100">
                <a:latin typeface="Times New Roman"/>
                <a:cs typeface="Times New Roman"/>
              </a:rPr>
              <a:t>sum</a:t>
            </a:r>
            <a:r>
              <a:rPr dirty="0" sz="4150" spc="695">
                <a:latin typeface="Times New Roman"/>
                <a:cs typeface="Times New Roman"/>
              </a:rPr>
              <a:t> </a:t>
            </a:r>
            <a:r>
              <a:rPr dirty="0" sz="4150" spc="-45">
                <a:latin typeface="Times New Roman"/>
                <a:cs typeface="Times New Roman"/>
              </a:rPr>
              <a:t>is</a:t>
            </a:r>
            <a:r>
              <a:rPr dirty="0" sz="4150" spc="405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traditional</a:t>
            </a:r>
            <a:r>
              <a:rPr dirty="0" sz="4150" spc="735">
                <a:latin typeface="Times New Roman"/>
                <a:cs typeface="Times New Roman"/>
              </a:rPr>
              <a:t> </a:t>
            </a:r>
            <a:r>
              <a:rPr dirty="0" sz="4150" spc="-100">
                <a:latin typeface="Times New Roman"/>
                <a:cs typeface="Times New Roman"/>
              </a:rPr>
              <a:t>and</a:t>
            </a:r>
            <a:r>
              <a:rPr dirty="0" sz="4150" spc="580">
                <a:latin typeface="Times New Roman"/>
                <a:cs typeface="Times New Roman"/>
              </a:rPr>
              <a:t> </a:t>
            </a:r>
            <a:r>
              <a:rPr dirty="0" sz="4150" spc="-90">
                <a:latin typeface="Times New Roman"/>
                <a:cs typeface="Times New Roman"/>
              </a:rPr>
              <a:t>makes</a:t>
            </a:r>
            <a:r>
              <a:rPr dirty="0" sz="4150" spc="465">
                <a:latin typeface="Times New Roman"/>
                <a:cs typeface="Times New Roman"/>
              </a:rPr>
              <a:t> </a:t>
            </a:r>
            <a:r>
              <a:rPr dirty="0" sz="4150" spc="-80">
                <a:latin typeface="Times New Roman"/>
                <a:cs typeface="Times New Roman"/>
              </a:rPr>
              <a:t>sense</a:t>
            </a:r>
            <a:r>
              <a:rPr dirty="0" sz="4150" spc="625">
                <a:latin typeface="Times New Roman"/>
                <a:cs typeface="Times New Roman"/>
              </a:rPr>
              <a:t> </a:t>
            </a:r>
            <a:r>
              <a:rPr dirty="0" sz="4150" spc="-165">
                <a:latin typeface="Times New Roman"/>
                <a:cs typeface="Times New Roman"/>
              </a:rPr>
              <a:t>if</a:t>
            </a:r>
            <a:r>
              <a:rPr dirty="0" sz="4150" spc="575">
                <a:latin typeface="Times New Roman"/>
                <a:cs typeface="Times New Roman"/>
              </a:rPr>
              <a:t> </a:t>
            </a:r>
            <a:r>
              <a:rPr dirty="0" sz="4150" spc="-125">
                <a:latin typeface="Times New Roman"/>
                <a:cs typeface="Times New Roman"/>
              </a:rPr>
              <a:t>you</a:t>
            </a:r>
            <a:r>
              <a:rPr dirty="0" sz="4150" spc="585">
                <a:latin typeface="Times New Roman"/>
                <a:cs typeface="Times New Roman"/>
              </a:rPr>
              <a:t> </a:t>
            </a:r>
            <a:r>
              <a:rPr dirty="0" sz="4150" spc="-85">
                <a:latin typeface="Times New Roman"/>
                <a:cs typeface="Times New Roman"/>
              </a:rPr>
              <a:t>imagine</a:t>
            </a:r>
            <a:r>
              <a:rPr dirty="0" sz="4150" spc="585">
                <a:latin typeface="Times New Roman"/>
                <a:cs typeface="Times New Roman"/>
              </a:rPr>
              <a:t> </a:t>
            </a:r>
            <a:r>
              <a:rPr dirty="0" sz="4150" spc="-40">
                <a:latin typeface="Times New Roman"/>
                <a:cs typeface="Times New Roman"/>
              </a:rPr>
              <a:t>each</a:t>
            </a:r>
            <a:r>
              <a:rPr dirty="0" sz="4150" spc="525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player</a:t>
            </a:r>
            <a:r>
              <a:rPr dirty="0" sz="4150" spc="420">
                <a:latin typeface="Times New Roman"/>
                <a:cs typeface="Times New Roman"/>
              </a:rPr>
              <a:t> </a:t>
            </a:r>
            <a:r>
              <a:rPr dirty="0" sz="4150" spc="-45">
                <a:latin typeface="Times New Roman"/>
                <a:cs typeface="Times New Roman"/>
              </a:rPr>
              <a:t>is</a:t>
            </a:r>
            <a:r>
              <a:rPr dirty="0" sz="4150" spc="380">
                <a:latin typeface="Times New Roman"/>
                <a:cs typeface="Times New Roman"/>
              </a:rPr>
              <a:t> </a:t>
            </a:r>
            <a:r>
              <a:rPr dirty="0" sz="4150" spc="-95">
                <a:latin typeface="Times New Roman"/>
                <a:cs typeface="Times New Roman"/>
              </a:rPr>
              <a:t>charged</a:t>
            </a:r>
            <a:r>
              <a:rPr dirty="0" sz="4150" spc="725">
                <a:latin typeface="Times New Roman"/>
                <a:cs typeface="Times New Roman"/>
              </a:rPr>
              <a:t> </a:t>
            </a:r>
            <a:r>
              <a:rPr dirty="0" sz="4150" spc="-120">
                <a:latin typeface="Times New Roman"/>
                <a:cs typeface="Times New Roman"/>
              </a:rPr>
              <a:t>an</a:t>
            </a:r>
            <a:r>
              <a:rPr dirty="0" sz="4150" spc="-65">
                <a:latin typeface="Times New Roman"/>
                <a:cs typeface="Times New Roman"/>
              </a:rPr>
              <a:t> </a:t>
            </a:r>
            <a:r>
              <a:rPr dirty="0" sz="4100" spc="-70">
                <a:latin typeface="Times New Roman"/>
                <a:cs typeface="Times New Roman"/>
              </a:rPr>
              <a:t>entry</a:t>
            </a:r>
            <a:r>
              <a:rPr dirty="0" sz="4100" spc="440">
                <a:latin typeface="Times New Roman"/>
                <a:cs typeface="Times New Roman"/>
              </a:rPr>
              <a:t> </a:t>
            </a:r>
            <a:r>
              <a:rPr dirty="0" sz="4100" spc="-500">
                <a:latin typeface="Times New Roman"/>
                <a:cs typeface="Times New Roman"/>
              </a:rPr>
              <a:t>t”ee</a:t>
            </a:r>
            <a:r>
              <a:rPr dirty="0" sz="4100" spc="195">
                <a:latin typeface="Times New Roman"/>
                <a:cs typeface="Times New Roman"/>
              </a:rPr>
              <a:t> </a:t>
            </a:r>
            <a:r>
              <a:rPr dirty="0" sz="4100" spc="-90">
                <a:latin typeface="Times New Roman"/>
                <a:cs typeface="Times New Roman"/>
              </a:rPr>
              <a:t>of</a:t>
            </a:r>
            <a:r>
              <a:rPr dirty="0" sz="4100" spc="-425">
                <a:latin typeface="Times New Roman"/>
                <a:cs typeface="Times New Roman"/>
              </a:rPr>
              <a:t> </a:t>
            </a:r>
            <a:r>
              <a:rPr dirty="0" sz="2950" spc="370">
                <a:latin typeface="Times New Roman"/>
                <a:cs typeface="Times New Roman"/>
              </a:rPr>
              <a:t>@</a:t>
            </a:r>
            <a:r>
              <a:rPr dirty="0" sz="4100" spc="370">
                <a:latin typeface="Times New Roman"/>
                <a:cs typeface="Times New Roman"/>
              </a:rPr>
              <a:t>.</a:t>
            </a:r>
            <a:endParaRPr sz="4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6625" y="7658100"/>
            <a:ext cx="1038225" cy="168592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6625" y="180975"/>
            <a:ext cx="15420975" cy="6972300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821935" y="8333231"/>
          <a:ext cx="1122045" cy="1020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"/>
                <a:gridCol w="350520"/>
                <a:gridCol w="344169"/>
              </a:tblGrid>
              <a:tr h="371475">
                <a:tc>
                  <a:txBody>
                    <a:bodyPr/>
                    <a:lstStyle/>
                    <a:p>
                      <a:pPr algn="ctr" marL="19050">
                        <a:lnSpc>
                          <a:spcPts val="2510"/>
                        </a:lnSpc>
                      </a:pPr>
                      <a:r>
                        <a:rPr dirty="0" sz="2500" spc="-5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2510"/>
                        </a:lnSpc>
                      </a:pPr>
                      <a:r>
                        <a:rPr dirty="0" sz="2500" spc="15">
                          <a:latin typeface="Calibri"/>
                          <a:cs typeface="Calibri"/>
                        </a:rPr>
                        <a:t>O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510"/>
                        </a:lnSpc>
                      </a:pPr>
                      <a:r>
                        <a:rPr dirty="0" sz="2500" spc="-5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L="44450">
                        <a:lnSpc>
                          <a:spcPts val="2370"/>
                        </a:lnSpc>
                      </a:pPr>
                      <a:r>
                        <a:rPr dirty="0" sz="2950" spc="-475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2370"/>
                        </a:lnSpc>
                      </a:pPr>
                      <a:r>
                        <a:rPr dirty="0" sz="2950" spc="-57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370"/>
                        </a:lnSpc>
                      </a:pPr>
                      <a:r>
                        <a:rPr dirty="0" sz="2950" spc="-840">
                          <a:solidFill>
                            <a:srgbClr val="0A0A0A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51435">
                        <a:lnSpc>
                          <a:spcPts val="2520"/>
                        </a:lnSpc>
                      </a:pPr>
                      <a:r>
                        <a:rPr dirty="0" sz="2550" spc="-5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ts val="2520"/>
                        </a:lnSpc>
                      </a:pPr>
                      <a:r>
                        <a:rPr dirty="0" sz="2550" spc="65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2520"/>
                        </a:lnSpc>
                      </a:pPr>
                      <a:r>
                        <a:rPr dirty="0" sz="2550" spc="75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484848"/>
                      </a:solidFill>
                      <a:prstDash val="solid"/>
                    </a:lnL>
                    <a:lnR w="19050">
                      <a:solidFill>
                        <a:srgbClr val="484848"/>
                      </a:solidFill>
                      <a:prstDash val="solid"/>
                    </a:lnR>
                    <a:lnT w="19050">
                      <a:solidFill>
                        <a:srgbClr val="484848"/>
                      </a:solidFill>
                      <a:prstDash val="solid"/>
                    </a:lnT>
                    <a:lnB w="19050">
                      <a:solidFill>
                        <a:srgbClr val="48484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166103" y="8324088"/>
          <a:ext cx="1122045" cy="1029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30"/>
                <a:gridCol w="353060"/>
                <a:gridCol w="346709"/>
              </a:tblGrid>
              <a:tr h="381000">
                <a:tc>
                  <a:txBody>
                    <a:bodyPr/>
                    <a:lstStyle/>
                    <a:p>
                      <a:pPr algn="ctr" marL="71120">
                        <a:lnSpc>
                          <a:spcPts val="2585"/>
                        </a:lnSpc>
                      </a:pPr>
                      <a:r>
                        <a:rPr dirty="0" sz="2500" spc="-5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2585"/>
                        </a:lnSpc>
                      </a:pPr>
                      <a:r>
                        <a:rPr dirty="0" sz="250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2585"/>
                        </a:lnSpc>
                      </a:pPr>
                      <a:r>
                        <a:rPr dirty="0" sz="2500" spc="-5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5085">
                        <a:lnSpc>
                          <a:spcPts val="2375"/>
                        </a:lnSpc>
                      </a:pPr>
                      <a:r>
                        <a:rPr dirty="0" sz="2950" spc="-840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 marL="84455">
                        <a:lnSpc>
                          <a:spcPts val="2475"/>
                        </a:lnSpc>
                      </a:pPr>
                      <a:r>
                        <a:rPr dirty="0" sz="2550" spc="65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75"/>
                        </a:lnSpc>
                      </a:pPr>
                      <a:r>
                        <a:rPr dirty="0" sz="2550" spc="75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2475"/>
                        </a:lnSpc>
                      </a:pPr>
                      <a:r>
                        <a:rPr dirty="0" sz="2550" spc="75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3B3B3B"/>
                      </a:solidFill>
                      <a:prstDash val="solid"/>
                    </a:lnL>
                    <a:lnR w="19050">
                      <a:solidFill>
                        <a:srgbClr val="3B3B3B"/>
                      </a:solidFill>
                      <a:prstDash val="solid"/>
                    </a:lnR>
                    <a:lnT w="19050">
                      <a:solidFill>
                        <a:srgbClr val="3B3B3B"/>
                      </a:solidFill>
                      <a:prstDash val="solid"/>
                    </a:lnT>
                    <a:lnB w="19050">
                      <a:solidFill>
                        <a:srgbClr val="3B3B3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562332" y="404812"/>
            <a:ext cx="151638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130">
                <a:solidFill>
                  <a:srgbClr val="111111"/>
                </a:solidFill>
                <a:latin typeface="Times New Roman"/>
                <a:cs typeface="Times New Roman"/>
              </a:rPr>
              <a:t>MAX</a:t>
            </a:r>
            <a:r>
              <a:rPr dirty="0" sz="290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900" spc="-25">
                <a:solidFill>
                  <a:srgbClr val="0F0F0F"/>
                </a:solidFill>
                <a:latin typeface="Times New Roman"/>
                <a:cs typeface="Times New Roman"/>
              </a:rPr>
              <a:t>(x)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685841" y="2205037"/>
            <a:ext cx="1385570" cy="490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0A0A0A"/>
                </a:solidFill>
                <a:latin typeface="Times New Roman"/>
                <a:cs typeface="Times New Roman"/>
              </a:rPr>
              <a:t>MIN</a:t>
            </a:r>
            <a:r>
              <a:rPr dirty="0" sz="3050" spc="26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3050" spc="30">
                <a:solidFill>
                  <a:srgbClr val="131313"/>
                </a:solidFill>
                <a:latin typeface="Times New Roman"/>
                <a:cs typeface="Times New Roman"/>
              </a:rPr>
              <a:t>(o)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80708" y="3989387"/>
            <a:ext cx="149669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2035" algn="l"/>
              </a:tabLst>
            </a:pPr>
            <a:r>
              <a:rPr dirty="0" sz="2950" spc="130" i="1">
                <a:solidFill>
                  <a:srgbClr val="0E0E0E"/>
                </a:solidFill>
                <a:latin typeface="Times New Roman"/>
                <a:cs typeface="Times New Roman"/>
              </a:rPr>
              <a:t>MAX</a:t>
            </a:r>
            <a:r>
              <a:rPr dirty="0" sz="2950" i="1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2950" spc="-25">
                <a:solidFill>
                  <a:srgbClr val="0F0F0F"/>
                </a:solidFill>
                <a:latin typeface="Times New Roman"/>
                <a:cs typeface="Times New Roman"/>
              </a:rPr>
              <a:t>(x)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6316" y="5667375"/>
            <a:ext cx="1383665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0F0F0F"/>
                </a:solidFill>
                <a:latin typeface="Times New Roman"/>
                <a:cs typeface="Times New Roman"/>
              </a:rPr>
              <a:t>MIN</a:t>
            </a:r>
            <a:r>
              <a:rPr dirty="0" sz="3050" spc="3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050" spc="-180">
                <a:solidFill>
                  <a:srgbClr val="1C1C1C"/>
                </a:solidFill>
                <a:latin typeface="Times New Roman"/>
                <a:cs typeface="Times New Roman"/>
              </a:rPr>
              <a:t>(O)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34606" y="8266112"/>
            <a:ext cx="1016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715">
                <a:solidFill>
                  <a:srgbClr val="212121"/>
                </a:solidFill>
                <a:latin typeface="Calibri"/>
                <a:cs typeface="Calibri"/>
              </a:rPr>
              <a:t>•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4655" y="8589962"/>
            <a:ext cx="3083560" cy="126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114">
                <a:solidFill>
                  <a:srgbClr val="0C0C0C"/>
                </a:solidFill>
                <a:latin typeface="Times New Roman"/>
                <a:cs typeface="Times New Roman"/>
              </a:rPr>
              <a:t>TERMINAL</a:t>
            </a:r>
            <a:endParaRPr sz="2950">
              <a:latin typeface="Times New Roman"/>
              <a:cs typeface="Times New Roman"/>
            </a:endParaRPr>
          </a:p>
          <a:p>
            <a:pPr marL="1069340">
              <a:lnSpc>
                <a:spcPct val="100000"/>
              </a:lnSpc>
              <a:spcBef>
                <a:spcPts val="2410"/>
              </a:spcBef>
              <a:tabLst>
                <a:tab pos="2722880" algn="l"/>
              </a:tabLst>
            </a:pPr>
            <a:r>
              <a:rPr dirty="0" sz="3150" spc="-10">
                <a:latin typeface="Times New Roman"/>
                <a:cs typeface="Times New Roman"/>
              </a:rPr>
              <a:t>Utility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15">
                <a:solidFill>
                  <a:srgbClr val="0E0E0E"/>
                </a:solidFill>
                <a:latin typeface="Times New Roman"/>
                <a:cs typeface="Times New Roman"/>
              </a:rPr>
              <a:t>—</a:t>
            </a:r>
            <a:r>
              <a:rPr dirty="0" sz="3150" spc="-335">
                <a:solidFill>
                  <a:srgbClr val="0E0E0E"/>
                </a:solidFill>
                <a:latin typeface="Times New Roman"/>
                <a:cs typeface="Times New Roman"/>
              </a:rPr>
              <a:t>l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02067" y="9345612"/>
            <a:ext cx="233679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0">
                <a:solidFill>
                  <a:srgbClr val="111111"/>
                </a:solidFill>
                <a:latin typeface="Times New Roman"/>
                <a:cs typeface="Times New Roman"/>
              </a:rPr>
              <a:t>0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18973" y="9345612"/>
            <a:ext cx="39751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45">
                <a:solidFill>
                  <a:srgbClr val="2F2F2F"/>
                </a:solidFill>
                <a:latin typeface="Times New Roman"/>
                <a:cs typeface="Times New Roman"/>
              </a:rPr>
              <a:t>+</a:t>
            </a:r>
            <a:r>
              <a:rPr dirty="0" sz="3150" spc="-37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3150" spc="-345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642649" y="6097587"/>
            <a:ext cx="7922259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405" algn="l"/>
                <a:tab pos="2878455" algn="l"/>
                <a:tab pos="6307455" algn="l"/>
              </a:tabLst>
            </a:pPr>
            <a:r>
              <a:rPr dirty="0" sz="3150" spc="-50">
                <a:latin typeface="Times New Roman"/>
                <a:cs typeface="Times New Roman"/>
              </a:rPr>
              <a:t>A</a:t>
            </a:r>
            <a:r>
              <a:rPr dirty="0" sz="3150">
                <a:latin typeface="Times New Roman"/>
                <a:cs typeface="Times New Roman"/>
              </a:rPr>
              <a:t>	(partial)</a:t>
            </a:r>
            <a:r>
              <a:rPr dirty="0" sz="3150" spc="80">
                <a:latin typeface="Times New Roman"/>
                <a:cs typeface="Times New Roman"/>
              </a:rPr>
              <a:t> </a:t>
            </a:r>
            <a:r>
              <a:rPr dirty="0" sz="3150" spc="-20">
                <a:latin typeface="Times New Roman"/>
                <a:cs typeface="Times New Roman"/>
              </a:rPr>
              <a:t>game</a:t>
            </a:r>
            <a:r>
              <a:rPr dirty="0" sz="3150">
                <a:latin typeface="Times New Roman"/>
                <a:cs typeface="Times New Roman"/>
              </a:rPr>
              <a:t>	tree</a:t>
            </a:r>
            <a:r>
              <a:rPr dirty="0" sz="3150" spc="220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for</a:t>
            </a:r>
            <a:r>
              <a:rPr dirty="0" sz="3150" spc="125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the</a:t>
            </a:r>
            <a:r>
              <a:rPr dirty="0" sz="3150" spc="250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game</a:t>
            </a:r>
            <a:r>
              <a:rPr dirty="0" sz="3150" spc="290">
                <a:latin typeface="Times New Roman"/>
                <a:cs typeface="Times New Roman"/>
              </a:rPr>
              <a:t> </a:t>
            </a:r>
            <a:r>
              <a:rPr dirty="0" sz="3150" spc="-25">
                <a:latin typeface="Times New Roman"/>
                <a:cs typeface="Times New Roman"/>
              </a:rPr>
              <a:t>of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35">
                <a:latin typeface="Times New Roman"/>
                <a:cs typeface="Times New Roman"/>
              </a:rPr>
              <a:t>tic-tac-</a:t>
            </a:r>
            <a:r>
              <a:rPr dirty="0" sz="3150" spc="-25">
                <a:latin typeface="Times New Roman"/>
                <a:cs typeface="Times New Roman"/>
              </a:rPr>
              <a:t>toe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94232" y="7449311"/>
            <a:ext cx="17498695" cy="79375"/>
            <a:chOff x="1094232" y="7449311"/>
            <a:chExt cx="17498695" cy="79375"/>
          </a:xfrm>
        </p:grpSpPr>
        <p:sp>
          <p:nvSpPr>
            <p:cNvPr id="3" name="object 3" descr=""/>
            <p:cNvSpPr/>
            <p:nvPr/>
          </p:nvSpPr>
          <p:spPr>
            <a:xfrm>
              <a:off x="1094232" y="7517891"/>
              <a:ext cx="17498695" cy="0"/>
            </a:xfrm>
            <a:custGeom>
              <a:avLst/>
              <a:gdLst/>
              <a:ahLst/>
              <a:cxnLst/>
              <a:rect l="l" t="t" r="r" b="b"/>
              <a:pathLst>
                <a:path w="17498695" h="0">
                  <a:moveTo>
                    <a:pt x="0" y="0"/>
                  </a:moveTo>
                  <a:lnTo>
                    <a:pt x="17498568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03376" y="7490459"/>
              <a:ext cx="17489805" cy="0"/>
            </a:xfrm>
            <a:custGeom>
              <a:avLst/>
              <a:gdLst/>
              <a:ahLst/>
              <a:cxnLst/>
              <a:rect l="l" t="t" r="r" b="b"/>
              <a:pathLst>
                <a:path w="17489805" h="0">
                  <a:moveTo>
                    <a:pt x="0" y="0"/>
                  </a:moveTo>
                  <a:lnTo>
                    <a:pt x="17489424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94232" y="7459979"/>
              <a:ext cx="17498695" cy="0"/>
            </a:xfrm>
            <a:custGeom>
              <a:avLst/>
              <a:gdLst/>
              <a:ahLst/>
              <a:cxnLst/>
              <a:rect l="l" t="t" r="r" b="b"/>
              <a:pathLst>
                <a:path w="17498695" h="0">
                  <a:moveTo>
                    <a:pt x="0" y="0"/>
                  </a:moveTo>
                  <a:lnTo>
                    <a:pt x="17498568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8825" y="4914900"/>
            <a:ext cx="2038350" cy="342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0" y="6896100"/>
            <a:ext cx="2514600" cy="2476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39300" y="5019675"/>
            <a:ext cx="2019300" cy="2381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11200" y="4924425"/>
            <a:ext cx="2047875" cy="33337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34600" y="2000250"/>
            <a:ext cx="666750" cy="3143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44125" y="3943350"/>
            <a:ext cx="657225" cy="28575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470314" y="579437"/>
            <a:ext cx="3465829" cy="176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95">
                <a:latin typeface="Calibri"/>
                <a:cs typeface="Calibri"/>
              </a:rPr>
              <a:t>The</a:t>
            </a:r>
            <a:r>
              <a:rPr dirty="0" sz="3100" spc="-80">
                <a:latin typeface="Calibri"/>
                <a:cs typeface="Calibri"/>
              </a:rPr>
              <a:t> </a:t>
            </a:r>
            <a:r>
              <a:rPr dirty="0" sz="3100" spc="-100">
                <a:latin typeface="Calibri"/>
                <a:cs typeface="Calibri"/>
              </a:rPr>
              <a:t>minimax</a:t>
            </a:r>
            <a:r>
              <a:rPr dirty="0" sz="3100" spc="-35">
                <a:latin typeface="Calibri"/>
                <a:cs typeface="Calibri"/>
              </a:rPr>
              <a:t> </a:t>
            </a:r>
            <a:r>
              <a:rPr dirty="0" sz="3100" spc="-105">
                <a:latin typeface="Calibri"/>
                <a:cs typeface="Calibri"/>
              </a:rPr>
              <a:t>algorithm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100">
              <a:latin typeface="Calibri"/>
              <a:cs typeface="Calibri"/>
            </a:endParaRPr>
          </a:p>
          <a:p>
            <a:pPr marL="2074545">
              <a:lnSpc>
                <a:spcPct val="100000"/>
              </a:lnSpc>
            </a:pPr>
            <a:r>
              <a:rPr dirty="0" sz="3550" spc="-25">
                <a:solidFill>
                  <a:srgbClr val="161616"/>
                </a:solidFill>
                <a:latin typeface="Times New Roman"/>
                <a:cs typeface="Times New Roman"/>
              </a:rPr>
              <a:t>MAX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618151" y="3805237"/>
            <a:ext cx="899794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50" spc="-55">
                <a:solidFill>
                  <a:srgbClr val="0F0F0F"/>
                </a:solidFill>
                <a:latin typeface="Times New Roman"/>
                <a:cs typeface="Times New Roman"/>
              </a:rPr>
              <a:t>MIN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52517" y="3821112"/>
            <a:ext cx="7550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080" algn="l"/>
              </a:tabLst>
            </a:pPr>
            <a:r>
              <a:rPr dirty="0" sz="3000" spc="-500">
                <a:solidFill>
                  <a:srgbClr val="2D2D2D"/>
                </a:solidFill>
                <a:latin typeface="Times New Roman"/>
                <a:cs typeface="Times New Roman"/>
              </a:rPr>
              <a:t>y</a:t>
            </a:r>
            <a:r>
              <a:rPr dirty="0" sz="3000">
                <a:solidFill>
                  <a:srgbClr val="2D2D2D"/>
                </a:solidFill>
                <a:latin typeface="Times New Roman"/>
                <a:cs typeface="Times New Roman"/>
              </a:rPr>
              <a:t>	</a:t>
            </a:r>
            <a:r>
              <a:rPr dirty="0" sz="3000" spc="-145">
                <a:solidFill>
                  <a:srgbClr val="131313"/>
                </a:solidFill>
                <a:latin typeface="Times New Roman"/>
                <a:cs typeface="Times New Roman"/>
              </a:rPr>
              <a:t>B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906093" y="3841750"/>
            <a:ext cx="73342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9425" algn="l"/>
              </a:tabLst>
            </a:pPr>
            <a:r>
              <a:rPr dirty="0" sz="2950" spc="-50">
                <a:solidFill>
                  <a:srgbClr val="282828"/>
                </a:solidFill>
                <a:latin typeface="Times New Roman"/>
                <a:cs typeface="Times New Roman"/>
              </a:rPr>
              <a:t>¿</a:t>
            </a:r>
            <a:r>
              <a:rPr dirty="0" sz="2950">
                <a:solidFill>
                  <a:srgbClr val="282828"/>
                </a:solidFill>
                <a:latin typeface="Times New Roman"/>
                <a:cs typeface="Times New Roman"/>
              </a:rPr>
              <a:t>	</a:t>
            </a:r>
            <a:r>
              <a:rPr dirty="0" sz="2950" spc="-175">
                <a:solidFill>
                  <a:srgbClr val="1A1A1A"/>
                </a:solidFill>
                <a:latin typeface="Times New Roman"/>
                <a:cs typeface="Times New Roman"/>
              </a:rPr>
              <a:t>D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47091" y="7707312"/>
            <a:ext cx="203581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160">
                <a:latin typeface="Times New Roman"/>
                <a:cs typeface="Times New Roman"/>
              </a:rPr>
              <a:t>Figure</a:t>
            </a:r>
            <a:r>
              <a:rPr dirty="0" sz="3450" spc="285">
                <a:latin typeface="Times New Roman"/>
                <a:cs typeface="Times New Roman"/>
              </a:rPr>
              <a:t> </a:t>
            </a:r>
            <a:r>
              <a:rPr dirty="0" sz="3450" spc="75">
                <a:latin typeface="Times New Roman"/>
                <a:cs typeface="Times New Roman"/>
              </a:rPr>
              <a:t>5.2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155827" y="6770687"/>
            <a:ext cx="14210665" cy="1487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38750">
              <a:lnSpc>
                <a:spcPct val="100000"/>
              </a:lnSpc>
              <a:spcBef>
                <a:spcPts val="100"/>
              </a:spcBef>
              <a:tabLst>
                <a:tab pos="6430010" algn="l"/>
                <a:tab pos="7611109" algn="l"/>
                <a:tab pos="9015730" algn="l"/>
                <a:tab pos="10287000" algn="l"/>
                <a:tab pos="11458575" algn="l"/>
              </a:tabLst>
            </a:pPr>
            <a:r>
              <a:rPr dirty="0" sz="2800" spc="-50">
                <a:latin typeface="Times New Roman"/>
                <a:cs typeface="Times New Roman"/>
              </a:rPr>
              <a:t>?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20">
                <a:solidFill>
                  <a:srgbClr val="0C0C0C"/>
                </a:solidFill>
                <a:latin typeface="Times New Roman"/>
                <a:cs typeface="Times New Roman"/>
              </a:rPr>
              <a:t>4</a:t>
            </a:r>
            <a:r>
              <a:rPr dirty="0" sz="2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111111"/>
                </a:solidFill>
                <a:latin typeface="Times New Roman"/>
                <a:cs typeface="Times New Roman"/>
              </a:rPr>
              <a:t>6</a:t>
            </a:r>
            <a:r>
              <a:rPr dirty="0" sz="280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2800" spc="-25">
                <a:solidFill>
                  <a:srgbClr val="383838"/>
                </a:solidFill>
                <a:latin typeface="Times New Roman"/>
                <a:cs typeface="Times New Roman"/>
              </a:rPr>
              <a:t>lJ</a:t>
            </a:r>
            <a:r>
              <a:rPr dirty="0" sz="2800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dirty="0" sz="2800" spc="-430">
                <a:solidFill>
                  <a:srgbClr val="525252"/>
                </a:solidFill>
                <a:latin typeface="Times New Roman"/>
                <a:cs typeface="Times New Roman"/>
              </a:rPr>
              <a:t>?i</a:t>
            </a:r>
            <a:r>
              <a:rPr dirty="0" sz="2800">
                <a:solidFill>
                  <a:srgbClr val="525252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232323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87680" algn="l"/>
                <a:tab pos="2050414" algn="l"/>
                <a:tab pos="3192780" algn="l"/>
                <a:tab pos="4231640" algn="l"/>
                <a:tab pos="5123180" algn="l"/>
                <a:tab pos="5661660" algn="l"/>
                <a:tab pos="8871585" algn="l"/>
                <a:tab pos="10375900" algn="l"/>
                <a:tab pos="10890250" algn="l"/>
                <a:tab pos="12147550" algn="l"/>
                <a:tab pos="13019405" algn="l"/>
              </a:tabLst>
            </a:pPr>
            <a:r>
              <a:rPr dirty="0" sz="3450" spc="-50">
                <a:latin typeface="Times New Roman"/>
                <a:cs typeface="Times New Roman"/>
              </a:rPr>
              <a:t>A</a:t>
            </a:r>
            <a:r>
              <a:rPr dirty="0" sz="3450">
                <a:latin typeface="Times New Roman"/>
                <a:cs typeface="Times New Roman"/>
              </a:rPr>
              <a:t>	two-</a:t>
            </a:r>
            <a:r>
              <a:rPr dirty="0" sz="3450" spc="-25">
                <a:latin typeface="Times New Roman"/>
                <a:cs typeface="Times New Roman"/>
              </a:rPr>
              <a:t>ply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0">
                <a:latin typeface="Times New Roman"/>
                <a:cs typeface="Times New Roman"/>
              </a:rPr>
              <a:t>game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10">
                <a:latin typeface="Times New Roman"/>
                <a:cs typeface="Times New Roman"/>
              </a:rPr>
              <a:t>tree.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5">
                <a:latin typeface="Times New Roman"/>
                <a:cs typeface="Times New Roman"/>
              </a:rPr>
              <a:t>The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5">
                <a:latin typeface="Times New Roman"/>
                <a:cs typeface="Times New Roman"/>
              </a:rPr>
              <a:t>fi</a:t>
            </a:r>
            <a:r>
              <a:rPr dirty="0" sz="3450">
                <a:latin typeface="Times New Roman"/>
                <a:cs typeface="Times New Roman"/>
              </a:rPr>
              <a:t>	nodes</a:t>
            </a:r>
            <a:r>
              <a:rPr dirty="0" sz="3450" spc="484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are</a:t>
            </a:r>
            <a:r>
              <a:rPr dirty="0" sz="3450" spc="430">
                <a:latin typeface="Times New Roman"/>
                <a:cs typeface="Times New Roman"/>
              </a:rPr>
              <a:t> </a:t>
            </a:r>
            <a:r>
              <a:rPr dirty="0" sz="3450" spc="-20">
                <a:latin typeface="Times New Roman"/>
                <a:cs typeface="Times New Roman"/>
              </a:rPr>
              <a:t>“MAX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10">
                <a:latin typeface="Times New Roman"/>
                <a:cs typeface="Times New Roman"/>
              </a:rPr>
              <a:t>nodes,”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5">
                <a:latin typeface="Times New Roman"/>
                <a:cs typeface="Times New Roman"/>
              </a:rPr>
              <a:t>in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10">
                <a:latin typeface="Times New Roman"/>
                <a:cs typeface="Times New Roman"/>
              </a:rPr>
              <a:t>which</a:t>
            </a:r>
            <a:r>
              <a:rPr dirty="0" sz="3450">
                <a:latin typeface="Times New Roman"/>
                <a:cs typeface="Times New Roman"/>
              </a:rPr>
              <a:t>	it</a:t>
            </a:r>
            <a:r>
              <a:rPr dirty="0" sz="3450" spc="420">
                <a:latin typeface="Times New Roman"/>
                <a:cs typeface="Times New Roman"/>
              </a:rPr>
              <a:t> </a:t>
            </a:r>
            <a:r>
              <a:rPr dirty="0" sz="3450" spc="-25">
                <a:latin typeface="Times New Roman"/>
                <a:cs typeface="Times New Roman"/>
              </a:rPr>
              <a:t>is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70">
                <a:latin typeface="Times New Roman"/>
                <a:cs typeface="Times New Roman"/>
              </a:rPr>
              <a:t>MAX’s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37247" y="8253412"/>
            <a:ext cx="16950690" cy="110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  <a:tabLst>
                <a:tab pos="9121775" algn="l"/>
              </a:tabLst>
            </a:pPr>
            <a:r>
              <a:rPr dirty="0" sz="3500">
                <a:latin typeface="Times New Roman"/>
                <a:cs typeface="Times New Roman"/>
              </a:rPr>
              <a:t>turn</a:t>
            </a:r>
            <a:r>
              <a:rPr dirty="0" sz="3500" spc="14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to</a:t>
            </a:r>
            <a:r>
              <a:rPr dirty="0" sz="3500" spc="204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move,</a:t>
            </a:r>
            <a:r>
              <a:rPr dirty="0" sz="3500" spc="18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and</a:t>
            </a:r>
            <a:r>
              <a:rPr dirty="0" sz="3500" spc="215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the</a:t>
            </a:r>
            <a:r>
              <a:rPr dirty="0" sz="3500" spc="400">
                <a:latin typeface="Times New Roman"/>
                <a:cs typeface="Times New Roman"/>
              </a:rPr>
              <a:t> </a:t>
            </a:r>
            <a:r>
              <a:rPr dirty="0" sz="3500" spc="-530">
                <a:solidFill>
                  <a:srgbClr val="1A1A1A"/>
                </a:solidFill>
                <a:latin typeface="Times New Roman"/>
                <a:cs typeface="Times New Roman"/>
              </a:rPr>
              <a:t>W</a:t>
            </a:r>
            <a:r>
              <a:rPr dirty="0" sz="3500" spc="4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nodes</a:t>
            </a:r>
            <a:r>
              <a:rPr dirty="0" sz="3500" spc="125">
                <a:latin typeface="Times New Roman"/>
                <a:cs typeface="Times New Roman"/>
              </a:rPr>
              <a:t> </a:t>
            </a:r>
            <a:r>
              <a:rPr dirty="0" sz="350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350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500" spc="-110">
                <a:latin typeface="Times New Roman"/>
                <a:cs typeface="Times New Roman"/>
              </a:rPr>
              <a:t>“MIN</a:t>
            </a:r>
            <a:r>
              <a:rPr dirty="0" sz="3500" spc="370">
                <a:latin typeface="Times New Roman"/>
                <a:cs typeface="Times New Roman"/>
              </a:rPr>
              <a:t> </a:t>
            </a:r>
            <a:r>
              <a:rPr dirty="0" sz="3500" spc="-10">
                <a:latin typeface="Times New Roman"/>
                <a:cs typeface="Times New Roman"/>
              </a:rPr>
              <a:t>nodes.”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50">
                <a:latin typeface="Times New Roman"/>
                <a:cs typeface="Times New Roman"/>
              </a:rPr>
              <a:t>The</a:t>
            </a:r>
            <a:r>
              <a:rPr dirty="0" sz="3500" spc="105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terminal</a:t>
            </a:r>
            <a:r>
              <a:rPr dirty="0" sz="3500" spc="30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nodes</a:t>
            </a:r>
            <a:r>
              <a:rPr dirty="0" sz="3500" spc="16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show</a:t>
            </a:r>
            <a:r>
              <a:rPr dirty="0" sz="3500" spc="33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the</a:t>
            </a:r>
            <a:r>
              <a:rPr dirty="0" sz="3500" spc="39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utility</a:t>
            </a:r>
            <a:r>
              <a:rPr dirty="0" sz="3500" spc="320">
                <a:latin typeface="Times New Roman"/>
                <a:cs typeface="Times New Roman"/>
              </a:rPr>
              <a:t> </a:t>
            </a:r>
            <a:r>
              <a:rPr dirty="0" sz="3500" spc="-10">
                <a:latin typeface="Times New Roman"/>
                <a:cs typeface="Times New Roman"/>
              </a:rPr>
              <a:t>values</a:t>
            </a: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11842750" algn="l"/>
              </a:tabLst>
            </a:pPr>
            <a:r>
              <a:rPr dirty="0" sz="3450" spc="50">
                <a:latin typeface="Times New Roman"/>
                <a:cs typeface="Times New Roman"/>
              </a:rPr>
              <a:t>for</a:t>
            </a:r>
            <a:r>
              <a:rPr dirty="0" sz="3450" spc="229">
                <a:latin typeface="Times New Roman"/>
                <a:cs typeface="Times New Roman"/>
              </a:rPr>
              <a:t> </a:t>
            </a:r>
            <a:r>
              <a:rPr dirty="0" sz="3450" spc="-300">
                <a:latin typeface="Times New Roman"/>
                <a:cs typeface="Times New Roman"/>
              </a:rPr>
              <a:t>MAX;</a:t>
            </a:r>
            <a:r>
              <a:rPr dirty="0" sz="3450" spc="42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</a:t>
            </a:r>
            <a:r>
              <a:rPr dirty="0" sz="3450" spc="12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other</a:t>
            </a:r>
            <a:r>
              <a:rPr dirty="0" sz="3450" spc="10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nodes</a:t>
            </a:r>
            <a:r>
              <a:rPr dirty="0" sz="3450" spc="12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are</a:t>
            </a:r>
            <a:r>
              <a:rPr dirty="0" sz="3450" spc="15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labeled</a:t>
            </a:r>
            <a:r>
              <a:rPr dirty="0" sz="3450" spc="39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with</a:t>
            </a:r>
            <a:r>
              <a:rPr dirty="0" sz="3450" spc="33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their</a:t>
            </a:r>
            <a:r>
              <a:rPr dirty="0" sz="3450" spc="5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minimax</a:t>
            </a:r>
            <a:r>
              <a:rPr dirty="0" sz="3450" spc="310">
                <a:latin typeface="Times New Roman"/>
                <a:cs typeface="Times New Roman"/>
              </a:rPr>
              <a:t> </a:t>
            </a:r>
            <a:r>
              <a:rPr dirty="0" sz="3450" spc="-10">
                <a:latin typeface="Times New Roman"/>
                <a:cs typeface="Times New Roman"/>
              </a:rPr>
              <a:t>values.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260">
                <a:latin typeface="Times New Roman"/>
                <a:cs typeface="Times New Roman"/>
              </a:rPr>
              <a:t>MAX’s</a:t>
            </a:r>
            <a:r>
              <a:rPr dirty="0" sz="3450" spc="2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best</a:t>
            </a:r>
            <a:r>
              <a:rPr dirty="0" sz="3450" spc="240">
                <a:latin typeface="Times New Roman"/>
                <a:cs typeface="Times New Roman"/>
              </a:rPr>
              <a:t> </a:t>
            </a:r>
            <a:r>
              <a:rPr dirty="0" sz="3450" spc="135">
                <a:latin typeface="Times New Roman"/>
                <a:cs typeface="Times New Roman"/>
              </a:rPr>
              <a:t>more</a:t>
            </a:r>
            <a:r>
              <a:rPr dirty="0" sz="3450" spc="10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at</a:t>
            </a:r>
            <a:r>
              <a:rPr dirty="0" sz="3450" spc="8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</a:t>
            </a:r>
            <a:r>
              <a:rPr dirty="0" sz="3450" spc="70">
                <a:latin typeface="Times New Roman"/>
                <a:cs typeface="Times New Roman"/>
              </a:rPr>
              <a:t> </a:t>
            </a:r>
            <a:r>
              <a:rPr dirty="0" sz="3450" spc="-20">
                <a:latin typeface="Times New Roman"/>
                <a:cs typeface="Times New Roman"/>
              </a:rPr>
              <a:t>root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50839" y="9369425"/>
            <a:ext cx="16316960" cy="109918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6510" marR="5080" indent="-4445">
              <a:lnSpc>
                <a:spcPts val="4310"/>
              </a:lnSpc>
              <a:spcBef>
                <a:spcPts val="30"/>
              </a:spcBef>
              <a:tabLst>
                <a:tab pos="1102360" algn="l"/>
              </a:tabLst>
            </a:pPr>
            <a:r>
              <a:rPr dirty="0" sz="3450">
                <a:latin typeface="Times New Roman"/>
                <a:cs typeface="Times New Roman"/>
              </a:rPr>
              <a:t>is</a:t>
            </a:r>
            <a:r>
              <a:rPr dirty="0" sz="3450" spc="35">
                <a:latin typeface="Times New Roman"/>
                <a:cs typeface="Times New Roman"/>
              </a:rPr>
              <a:t> </a:t>
            </a:r>
            <a:r>
              <a:rPr dirty="0" sz="3450" spc="-25">
                <a:latin typeface="Times New Roman"/>
                <a:cs typeface="Times New Roman"/>
              </a:rPr>
              <a:t>o;,</a:t>
            </a:r>
            <a:r>
              <a:rPr dirty="0" sz="3450">
                <a:latin typeface="Times New Roman"/>
                <a:cs typeface="Times New Roman"/>
              </a:rPr>
              <a:t>	because</a:t>
            </a:r>
            <a:r>
              <a:rPr dirty="0" sz="3450" spc="175"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0A0A0A"/>
                </a:solidFill>
                <a:latin typeface="Times New Roman"/>
                <a:cs typeface="Times New Roman"/>
              </a:rPr>
              <a:t>it</a:t>
            </a:r>
            <a:r>
              <a:rPr dirty="0" sz="3450" spc="12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leads</a:t>
            </a:r>
            <a:r>
              <a:rPr dirty="0" sz="3450" spc="150">
                <a:latin typeface="Times New Roman"/>
                <a:cs typeface="Times New Roman"/>
              </a:rPr>
              <a:t> </a:t>
            </a:r>
            <a:r>
              <a:rPr dirty="0" sz="3450" spc="50">
                <a:latin typeface="Times New Roman"/>
                <a:cs typeface="Times New Roman"/>
              </a:rPr>
              <a:t>to</a:t>
            </a:r>
            <a:r>
              <a:rPr dirty="0" sz="3450" spc="-9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</a:t>
            </a:r>
            <a:r>
              <a:rPr dirty="0" sz="3450" spc="14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slate</a:t>
            </a:r>
            <a:r>
              <a:rPr dirty="0" sz="3450" spc="26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with</a:t>
            </a:r>
            <a:r>
              <a:rPr dirty="0" sz="3450" spc="2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</a:t>
            </a:r>
            <a:r>
              <a:rPr dirty="0" sz="3450" spc="22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highest</a:t>
            </a:r>
            <a:r>
              <a:rPr dirty="0" sz="3450" spc="229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minimax</a:t>
            </a:r>
            <a:r>
              <a:rPr dirty="0" sz="3450" spc="22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value,</a:t>
            </a:r>
            <a:r>
              <a:rPr dirty="0" sz="3450" spc="14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and</a:t>
            </a:r>
            <a:r>
              <a:rPr dirty="0" sz="3450" spc="370">
                <a:latin typeface="Times New Roman"/>
                <a:cs typeface="Times New Roman"/>
              </a:rPr>
              <a:t> </a:t>
            </a:r>
            <a:r>
              <a:rPr dirty="0" sz="3450" spc="-35">
                <a:latin typeface="Times New Roman"/>
                <a:cs typeface="Times New Roman"/>
              </a:rPr>
              <a:t>MIN's</a:t>
            </a:r>
            <a:r>
              <a:rPr dirty="0" sz="3450" spc="2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best</a:t>
            </a:r>
            <a:r>
              <a:rPr dirty="0" sz="3450" spc="30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reply</a:t>
            </a:r>
            <a:r>
              <a:rPr dirty="0" sz="3450" spc="365">
                <a:latin typeface="Times New Roman"/>
                <a:cs typeface="Times New Roman"/>
              </a:rPr>
              <a:t> </a:t>
            </a:r>
            <a:r>
              <a:rPr dirty="0" sz="3450" spc="-25">
                <a:latin typeface="Times New Roman"/>
                <a:cs typeface="Times New Roman"/>
              </a:rPr>
              <a:t>is </a:t>
            </a:r>
            <a:r>
              <a:rPr dirty="0" sz="3450">
                <a:latin typeface="Times New Roman"/>
                <a:cs typeface="Times New Roman"/>
              </a:rPr>
              <a:t>because</a:t>
            </a:r>
            <a:r>
              <a:rPr dirty="0" sz="3450" spc="28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it</a:t>
            </a:r>
            <a:r>
              <a:rPr dirty="0" sz="3450" spc="13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leads</a:t>
            </a:r>
            <a:r>
              <a:rPr dirty="0" sz="3450" spc="229">
                <a:latin typeface="Times New Roman"/>
                <a:cs typeface="Times New Roman"/>
              </a:rPr>
              <a:t> </a:t>
            </a:r>
            <a:r>
              <a:rPr dirty="0" sz="3450" spc="50">
                <a:latin typeface="Times New Roman"/>
                <a:cs typeface="Times New Roman"/>
              </a:rPr>
              <a:t>to</a:t>
            </a:r>
            <a:r>
              <a:rPr dirty="0" sz="3450" spc="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</a:t>
            </a:r>
            <a:r>
              <a:rPr dirty="0" sz="3450" spc="16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state</a:t>
            </a:r>
            <a:r>
              <a:rPr dirty="0" sz="3450" spc="42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with</a:t>
            </a:r>
            <a:r>
              <a:rPr dirty="0" sz="3450" spc="33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the</a:t>
            </a:r>
            <a:r>
              <a:rPr dirty="0" sz="3450" spc="14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lowest</a:t>
            </a:r>
            <a:r>
              <a:rPr dirty="0" sz="3450" spc="33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minimax</a:t>
            </a:r>
            <a:r>
              <a:rPr dirty="0" sz="3450" spc="355">
                <a:latin typeface="Times New Roman"/>
                <a:cs typeface="Times New Roman"/>
              </a:rPr>
              <a:t> </a:t>
            </a:r>
            <a:r>
              <a:rPr dirty="0" sz="3450" spc="-10">
                <a:latin typeface="Times New Roman"/>
                <a:cs typeface="Times New Roman"/>
              </a:rPr>
              <a:t>value.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8042979" y="9431337"/>
            <a:ext cx="24066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-50">
                <a:latin typeface="Times New Roman"/>
                <a:cs typeface="Times New Roman"/>
              </a:rPr>
              <a:t>1</a:t>
            </a:r>
            <a:endParaRPr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846295" y="8734043"/>
            <a:ext cx="353695" cy="0"/>
          </a:xfrm>
          <a:custGeom>
            <a:avLst/>
            <a:gdLst/>
            <a:ahLst/>
            <a:cxnLst/>
            <a:rect l="l" t="t" r="r" b="b"/>
            <a:pathLst>
              <a:path w="353694" h="0">
                <a:moveTo>
                  <a:pt x="0" y="0"/>
                </a:moveTo>
                <a:lnTo>
                  <a:pt x="353568" y="0"/>
                </a:lnTo>
              </a:path>
            </a:pathLst>
          </a:custGeom>
          <a:ln w="21336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846297" y="8619743"/>
            <a:ext cx="353695" cy="30480"/>
          </a:xfrm>
          <a:custGeom>
            <a:avLst/>
            <a:gdLst/>
            <a:ahLst/>
            <a:cxnLst/>
            <a:rect l="l" t="t" r="r" b="b"/>
            <a:pathLst>
              <a:path w="353694" h="30479">
                <a:moveTo>
                  <a:pt x="353568" y="9144"/>
                </a:moveTo>
                <a:lnTo>
                  <a:pt x="344424" y="9144"/>
                </a:lnTo>
                <a:lnTo>
                  <a:pt x="344424" y="0"/>
                </a:ln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9144" y="30480"/>
                </a:lnTo>
                <a:lnTo>
                  <a:pt x="353568" y="30480"/>
                </a:lnTo>
                <a:lnTo>
                  <a:pt x="353568" y="9144"/>
                </a:lnTo>
                <a:close/>
              </a:path>
            </a:pathLst>
          </a:custGeom>
          <a:solidFill>
            <a:srgbClr val="4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846295" y="8048243"/>
            <a:ext cx="353695" cy="0"/>
          </a:xfrm>
          <a:custGeom>
            <a:avLst/>
            <a:gdLst/>
            <a:ahLst/>
            <a:cxnLst/>
            <a:rect l="l" t="t" r="r" b="b"/>
            <a:pathLst>
              <a:path w="353694" h="0">
                <a:moveTo>
                  <a:pt x="0" y="0"/>
                </a:moveTo>
                <a:lnTo>
                  <a:pt x="353568" y="0"/>
                </a:lnTo>
              </a:path>
            </a:pathLst>
          </a:custGeom>
          <a:ln w="21336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6855439" y="7924800"/>
            <a:ext cx="335280" cy="40005"/>
            <a:chOff x="16855439" y="7924800"/>
            <a:chExt cx="335280" cy="40005"/>
          </a:xfrm>
        </p:grpSpPr>
        <p:sp>
          <p:nvSpPr>
            <p:cNvPr id="6" name="object 6" descr=""/>
            <p:cNvSpPr/>
            <p:nvPr/>
          </p:nvSpPr>
          <p:spPr>
            <a:xfrm>
              <a:off x="16873727" y="7953755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 h="0">
                  <a:moveTo>
                    <a:pt x="0" y="0"/>
                  </a:moveTo>
                  <a:lnTo>
                    <a:pt x="316992" y="0"/>
                  </a:lnTo>
                </a:path>
              </a:pathLst>
            </a:custGeom>
            <a:ln w="21336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855440" y="7924799"/>
              <a:ext cx="335280" cy="30480"/>
            </a:xfrm>
            <a:custGeom>
              <a:avLst/>
              <a:gdLst/>
              <a:ahLst/>
              <a:cxnLst/>
              <a:rect l="l" t="t" r="r" b="b"/>
              <a:pathLst>
                <a:path w="335280" h="30479">
                  <a:moveTo>
                    <a:pt x="33528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0" y="21336"/>
                  </a:lnTo>
                  <a:lnTo>
                    <a:pt x="0" y="30480"/>
                  </a:lnTo>
                  <a:lnTo>
                    <a:pt x="335280" y="30480"/>
                  </a:lnTo>
                  <a:lnTo>
                    <a:pt x="335280" y="21336"/>
                  </a:lnTo>
                  <a:lnTo>
                    <a:pt x="335280" y="9144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751576" y="6563868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21336">
            <a:solidFill>
              <a:srgbClr val="4444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760720" y="6440423"/>
            <a:ext cx="344805" cy="30480"/>
          </a:xfrm>
          <a:custGeom>
            <a:avLst/>
            <a:gdLst/>
            <a:ahLst/>
            <a:cxnLst/>
            <a:rect l="l" t="t" r="r" b="b"/>
            <a:pathLst>
              <a:path w="344804" h="30479">
                <a:moveTo>
                  <a:pt x="344424" y="0"/>
                </a:move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9144" y="30480"/>
                </a:lnTo>
                <a:lnTo>
                  <a:pt x="344424" y="30480"/>
                </a:lnTo>
                <a:lnTo>
                  <a:pt x="344424" y="21336"/>
                </a:lnTo>
                <a:lnTo>
                  <a:pt x="344424" y="9144"/>
                </a:lnTo>
                <a:lnTo>
                  <a:pt x="344424" y="0"/>
                </a:lnTo>
                <a:close/>
              </a:path>
            </a:pathLst>
          </a:custGeom>
          <a:solidFill>
            <a:srgbClr val="44443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7029450"/>
            <a:ext cx="304800" cy="19526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637" rIns="0" bIns="0" rtlCol="0" vert="horz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 sz="6050" spc="-350" i="1">
                <a:latin typeface="Calibri"/>
                <a:cs typeface="Calibri"/>
              </a:rPr>
              <a:t>MiniMax</a:t>
            </a:r>
            <a:r>
              <a:rPr dirty="0" sz="6050" spc="135" i="1">
                <a:latin typeface="Calibri"/>
                <a:cs typeface="Calibri"/>
              </a:rPr>
              <a:t> </a:t>
            </a:r>
            <a:r>
              <a:rPr dirty="0" sz="6050" spc="-380" i="1">
                <a:latin typeface="Calibri"/>
                <a:cs typeface="Calibri"/>
              </a:rPr>
              <a:t>Value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47920" y="1966912"/>
            <a:ext cx="16565880" cy="4789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">
              <a:lnSpc>
                <a:spcPts val="5125"/>
              </a:lnSpc>
              <a:spcBef>
                <a:spcPts val="100"/>
              </a:spcBef>
              <a:tabLst>
                <a:tab pos="1554480" algn="l"/>
                <a:tab pos="3505200" algn="l"/>
                <a:tab pos="4791075" algn="l"/>
                <a:tab pos="5755640" algn="l"/>
                <a:tab pos="7729855" algn="l"/>
                <a:tab pos="9775190" algn="l"/>
                <a:tab pos="10786110" algn="l"/>
                <a:tab pos="14467205" algn="l"/>
                <a:tab pos="15792450" algn="l"/>
              </a:tabLst>
            </a:pPr>
            <a:r>
              <a:rPr dirty="0" sz="4550" spc="-10">
                <a:latin typeface="Calibri"/>
                <a:cs typeface="Calibri"/>
              </a:rPr>
              <a:t>Given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65">
                <a:latin typeface="Calibri"/>
                <a:cs typeface="Calibri"/>
              </a:rPr>
              <a:t>a</a:t>
            </a:r>
            <a:r>
              <a:rPr dirty="0" sz="4550" spc="484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game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tree,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latin typeface="Calibri"/>
                <a:cs typeface="Calibri"/>
              </a:rPr>
              <a:t>the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optimal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strategy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latin typeface="Calibri"/>
                <a:cs typeface="Calibri"/>
              </a:rPr>
              <a:t>can</a:t>
            </a:r>
            <a:r>
              <a:rPr dirty="0" sz="4550">
                <a:latin typeface="Calibri"/>
                <a:cs typeface="Calibri"/>
              </a:rPr>
              <a:t>	be</a:t>
            </a:r>
            <a:r>
              <a:rPr dirty="0" sz="4550" spc="43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determined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from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45">
                <a:latin typeface="Calibri"/>
                <a:cs typeface="Calibri"/>
              </a:rPr>
              <a:t>the</a:t>
            </a:r>
            <a:endParaRPr sz="4550">
              <a:latin typeface="Calibri"/>
              <a:cs typeface="Calibri"/>
            </a:endParaRPr>
          </a:p>
          <a:p>
            <a:pPr marL="32384">
              <a:lnSpc>
                <a:spcPts val="5185"/>
              </a:lnSpc>
            </a:pPr>
            <a:r>
              <a:rPr dirty="0" sz="4600">
                <a:latin typeface="Calibri"/>
                <a:cs typeface="Calibri"/>
              </a:rPr>
              <a:t>minimax</a:t>
            </a:r>
            <a:r>
              <a:rPr dirty="0" sz="4600" spc="-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value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each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node,</a:t>
            </a:r>
            <a:r>
              <a:rPr dirty="0" sz="4600" spc="-114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which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we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write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as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MINIMAX(n)</a:t>
            </a:r>
            <a:endParaRPr sz="4600">
              <a:latin typeface="Calibri"/>
              <a:cs typeface="Calibri"/>
            </a:endParaRPr>
          </a:p>
          <a:p>
            <a:pPr marL="394335" marR="18415" indent="-382270">
              <a:lnSpc>
                <a:spcPts val="4840"/>
              </a:lnSpc>
              <a:spcBef>
                <a:spcPts val="1620"/>
              </a:spcBef>
              <a:buChar char="•"/>
              <a:tabLst>
                <a:tab pos="394335" algn="l"/>
                <a:tab pos="401320" algn="l"/>
                <a:tab pos="1917064" algn="l"/>
                <a:tab pos="4228465" algn="l"/>
                <a:tab pos="5528945" algn="l"/>
                <a:tab pos="7353300" algn="l"/>
                <a:tab pos="8034020" algn="l"/>
                <a:tab pos="9525000" algn="l"/>
                <a:tab pos="10203815" algn="l"/>
                <a:tab pos="10683240" algn="l"/>
                <a:tab pos="12014200" algn="l"/>
                <a:tab pos="12691745" algn="l"/>
                <a:tab pos="15191740" algn="l"/>
              </a:tabLst>
            </a:pP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Given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 spc="49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choice,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MAX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prefers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to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move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to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35">
                <a:latin typeface="Calibri"/>
                <a:cs typeface="Calibri"/>
              </a:rPr>
              <a:t>a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state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5">
                <a:latin typeface="Calibri"/>
                <a:cs typeface="Calibri"/>
              </a:rPr>
              <a:t>of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maximum</a:t>
            </a: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70">
                <a:latin typeface="Calibri"/>
                <a:cs typeface="Calibri"/>
              </a:rPr>
              <a:t>value, </a:t>
            </a:r>
            <a:r>
              <a:rPr dirty="0" sz="4500">
                <a:latin typeface="Calibri"/>
                <a:cs typeface="Calibri"/>
              </a:rPr>
              <a:t>whereas</a:t>
            </a:r>
            <a:r>
              <a:rPr dirty="0" sz="4500" spc="-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MIN</a:t>
            </a:r>
            <a:r>
              <a:rPr dirty="0" sz="4500" spc="-220">
                <a:latin typeface="Calibri"/>
                <a:cs typeface="Calibri"/>
              </a:rPr>
              <a:t> </a:t>
            </a:r>
            <a:r>
              <a:rPr dirty="0" sz="4500" spc="-45">
                <a:latin typeface="Calibri"/>
                <a:cs typeface="Calibri"/>
              </a:rPr>
              <a:t>prefers</a:t>
            </a:r>
            <a:r>
              <a:rPr dirty="0" sz="4500" spc="-75">
                <a:latin typeface="Calibri"/>
                <a:cs typeface="Calibri"/>
              </a:rPr>
              <a:t> 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 spc="-40">
                <a:latin typeface="Calibri"/>
                <a:cs typeface="Calibri"/>
              </a:rPr>
              <a:t>state</a:t>
            </a:r>
            <a:r>
              <a:rPr dirty="0" sz="4500" spc="-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25">
                <a:latin typeface="Calibri"/>
                <a:cs typeface="Calibri"/>
              </a:rPr>
              <a:t> </a:t>
            </a:r>
            <a:r>
              <a:rPr dirty="0" sz="4500" spc="-45">
                <a:latin typeface="Calibri"/>
                <a:cs typeface="Calibri"/>
              </a:rPr>
              <a:t>minimum</a:t>
            </a:r>
            <a:r>
              <a:rPr dirty="0" sz="4500" spc="7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value.</a:t>
            </a:r>
            <a:endParaRPr sz="4500">
              <a:latin typeface="Calibri"/>
              <a:cs typeface="Calibri"/>
            </a:endParaRPr>
          </a:p>
          <a:p>
            <a:pPr marL="397510" indent="-384810">
              <a:lnSpc>
                <a:spcPct val="100000"/>
              </a:lnSpc>
              <a:spcBef>
                <a:spcPts val="1030"/>
              </a:spcBef>
              <a:buChar char="•"/>
              <a:tabLst>
                <a:tab pos="397510" algn="l"/>
              </a:tabLst>
            </a:pPr>
            <a:r>
              <a:rPr dirty="0" sz="4450">
                <a:latin typeface="Calibri"/>
                <a:cs typeface="Calibri"/>
              </a:rPr>
              <a:t>So</a:t>
            </a:r>
            <a:r>
              <a:rPr dirty="0" sz="4450" spc="-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we</a:t>
            </a:r>
            <a:r>
              <a:rPr dirty="0" sz="4450" spc="-1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have</a:t>
            </a:r>
            <a:r>
              <a:rPr dirty="0" sz="4450" spc="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85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following:</a:t>
            </a:r>
            <a:endParaRPr sz="4450">
              <a:latin typeface="Calibri"/>
              <a:cs typeface="Calibri"/>
            </a:endParaRPr>
          </a:p>
          <a:p>
            <a:pPr marL="1154430">
              <a:lnSpc>
                <a:spcPct val="100000"/>
              </a:lnSpc>
              <a:spcBef>
                <a:spcPts val="5270"/>
              </a:spcBef>
            </a:pPr>
            <a:r>
              <a:rPr dirty="0" sz="3550" spc="225">
                <a:latin typeface="Times New Roman"/>
                <a:cs typeface="Times New Roman"/>
              </a:rPr>
              <a:t>MINIMAX(s)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814804" y="6858389"/>
            <a:ext cx="9244965" cy="207645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160"/>
              </a:spcBef>
            </a:pPr>
            <a:r>
              <a:rPr dirty="0" sz="3600" spc="55">
                <a:latin typeface="Times New Roman"/>
                <a:cs typeface="Times New Roman"/>
              </a:rPr>
              <a:t>UTILITY</a:t>
            </a:r>
            <a:r>
              <a:rPr dirty="0" sz="3600" spc="45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Times New Roman"/>
                <a:cs typeface="Times New Roman"/>
              </a:rPr>
              <a:t>(.s)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2533015" algn="l"/>
                <a:tab pos="3616325" algn="l"/>
                <a:tab pos="8181340" algn="l"/>
              </a:tabLst>
            </a:pPr>
            <a:r>
              <a:rPr dirty="0" sz="3500" spc="-110">
                <a:latin typeface="Times New Roman"/>
                <a:cs typeface="Times New Roman"/>
              </a:rPr>
              <a:t>Iï1àNq¡q</a:t>
            </a:r>
            <a:r>
              <a:rPr dirty="0" sz="3500" spc="10">
                <a:latin typeface="Times New Roman"/>
                <a:cs typeface="Times New Roman"/>
              </a:rPr>
              <a:t> </a:t>
            </a:r>
            <a:r>
              <a:rPr dirty="0" sz="3500" spc="-20">
                <a:latin typeface="Times New Roman"/>
                <a:cs typeface="Times New Roman"/>
              </a:rPr>
              <a:t>qp¡,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240">
                <a:latin typeface="Times New Roman"/>
                <a:cs typeface="Times New Roman"/>
              </a:rPr>
              <a:t>„,(,J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260">
                <a:latin typeface="Times New Roman"/>
                <a:cs typeface="Times New Roman"/>
              </a:rPr>
              <a:t>MINI</a:t>
            </a:r>
            <a:r>
              <a:rPr dirty="0" sz="3500" spc="-48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MAX</a:t>
            </a:r>
            <a:r>
              <a:rPr dirty="0" sz="3500" spc="-135">
                <a:latin typeface="Times New Roman"/>
                <a:cs typeface="Times New Roman"/>
              </a:rPr>
              <a:t> </a:t>
            </a:r>
            <a:r>
              <a:rPr dirty="0" sz="3500" spc="110">
                <a:latin typeface="Times New Roman"/>
                <a:cs typeface="Times New Roman"/>
              </a:rPr>
              <a:t>(RESULT</a:t>
            </a:r>
            <a:r>
              <a:rPr dirty="0" sz="3500">
                <a:latin typeface="Times New Roman"/>
                <a:cs typeface="Times New Roman"/>
              </a:rPr>
              <a:t>	,s.</a:t>
            </a:r>
            <a:r>
              <a:rPr dirty="0" sz="3500" spc="-35">
                <a:latin typeface="Times New Roman"/>
                <a:cs typeface="Times New Roman"/>
              </a:rPr>
              <a:t> </a:t>
            </a:r>
            <a:r>
              <a:rPr dirty="0" sz="3500" spc="-25">
                <a:latin typeface="Times New Roman"/>
                <a:cs typeface="Times New Roman"/>
              </a:rPr>
              <a:t>n))</a:t>
            </a:r>
            <a:endParaRPr sz="35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400"/>
              </a:spcBef>
              <a:tabLst>
                <a:tab pos="1943100" algn="l"/>
                <a:tab pos="2418715" algn="l"/>
                <a:tab pos="2872740" algn="l"/>
              </a:tabLst>
            </a:pPr>
            <a:r>
              <a:rPr dirty="0" sz="3450" spc="385">
                <a:latin typeface="Times New Roman"/>
                <a:cs typeface="Times New Roman"/>
              </a:rPr>
              <a:t>min„p,;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229">
                <a:latin typeface="Times New Roman"/>
                <a:cs typeface="Times New Roman"/>
              </a:rPr>
              <a:t>t;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365">
                <a:latin typeface="Times New Roman"/>
                <a:cs typeface="Times New Roman"/>
              </a:rPr>
              <a:t>„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285">
                <a:latin typeface="Times New Roman"/>
                <a:cs typeface="Times New Roman"/>
              </a:rPr>
              <a:t>(,)</a:t>
            </a:r>
            <a:r>
              <a:rPr dirty="0" sz="3450" spc="135">
                <a:latin typeface="Times New Roman"/>
                <a:cs typeface="Times New Roman"/>
              </a:rPr>
              <a:t> </a:t>
            </a:r>
            <a:r>
              <a:rPr dirty="0" sz="3450" spc="285">
                <a:latin typeface="Times New Roman"/>
                <a:cs typeface="Times New Roman"/>
              </a:rPr>
              <a:t>MINIMAX(RES</a:t>
            </a:r>
            <a:r>
              <a:rPr dirty="0" sz="3450" spc="-30">
                <a:latin typeface="Times New Roman"/>
                <a:cs typeface="Times New Roman"/>
              </a:rPr>
              <a:t> </a:t>
            </a:r>
            <a:r>
              <a:rPr dirty="0" sz="3450" spc="140">
                <a:latin typeface="Times New Roman"/>
                <a:cs typeface="Times New Roman"/>
              </a:rPr>
              <a:t>ULT(«,</a:t>
            </a:r>
            <a:r>
              <a:rPr dirty="0" sz="3450" spc="125">
                <a:latin typeface="Times New Roman"/>
                <a:cs typeface="Times New Roman"/>
              </a:rPr>
              <a:t> </a:t>
            </a:r>
            <a:r>
              <a:rPr dirty="0" sz="3450" spc="120">
                <a:latin typeface="Times New Roman"/>
                <a:cs typeface="Times New Roman"/>
              </a:rPr>
              <a:t>o)</a:t>
            </a:r>
            <a:r>
              <a:rPr dirty="0" sz="3450" spc="100">
                <a:latin typeface="Times New Roman"/>
                <a:cs typeface="Times New Roman"/>
              </a:rPr>
              <a:t> </a:t>
            </a:r>
            <a:r>
              <a:rPr dirty="0" sz="3450" spc="-50">
                <a:solidFill>
                  <a:srgbClr val="626479"/>
                </a:solidFill>
                <a:latin typeface="Times New Roman"/>
                <a:cs typeface="Times New Roman"/>
              </a:rPr>
              <a:t>)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613700" y="6992937"/>
            <a:ext cx="50698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7840" algn="l"/>
              </a:tabLst>
            </a:pPr>
            <a:r>
              <a:rPr dirty="0" sz="3600" spc="50">
                <a:latin typeface="Times New Roman"/>
                <a:cs typeface="Times New Roman"/>
              </a:rPr>
              <a:t>íf</a:t>
            </a:r>
            <a:r>
              <a:rPr dirty="0" sz="3600">
                <a:latin typeface="Times New Roman"/>
                <a:cs typeface="Times New Roman"/>
              </a:rPr>
              <a:t>	</a:t>
            </a:r>
            <a:r>
              <a:rPr dirty="0" sz="3600" spc="105">
                <a:latin typeface="Times New Roman"/>
                <a:cs typeface="Times New Roman"/>
              </a:rPr>
              <a:t>TERMINAL-</a:t>
            </a:r>
            <a:r>
              <a:rPr dirty="0" sz="3600" spc="100">
                <a:latin typeface="Times New Roman"/>
                <a:cs typeface="Times New Roman"/>
              </a:rPr>
              <a:t>TEST</a:t>
            </a:r>
            <a:r>
              <a:rPr dirty="0" sz="3600" spc="365">
                <a:latin typeface="Times New Roman"/>
                <a:cs typeface="Times New Roman"/>
              </a:rPr>
              <a:t> </a:t>
            </a:r>
            <a:r>
              <a:rPr dirty="0" sz="3600" spc="-125">
                <a:latin typeface="Times New Roman"/>
                <a:cs typeface="Times New Roman"/>
              </a:rPr>
              <a:t>(es)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614082" y="7492010"/>
            <a:ext cx="4820920" cy="144335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  <a:tabLst>
                <a:tab pos="503555" algn="l"/>
                <a:tab pos="3770629" algn="l"/>
              </a:tabLst>
            </a:pPr>
            <a:r>
              <a:rPr dirty="0" sz="3500" spc="-25">
                <a:latin typeface="Times New Roman"/>
                <a:cs typeface="Times New Roman"/>
              </a:rPr>
              <a:t>if</a:t>
            </a:r>
            <a:r>
              <a:rPr dirty="0" sz="3500">
                <a:latin typeface="Times New Roman"/>
                <a:cs typeface="Times New Roman"/>
              </a:rPr>
              <a:t>	PLAYER</a:t>
            </a:r>
            <a:r>
              <a:rPr dirty="0" sz="3500" spc="280">
                <a:latin typeface="Times New Roman"/>
                <a:cs typeface="Times New Roman"/>
              </a:rPr>
              <a:t> </a:t>
            </a:r>
            <a:r>
              <a:rPr dirty="0" sz="3500" spc="40">
                <a:latin typeface="Times New Roman"/>
                <a:cs typeface="Times New Roman"/>
              </a:rPr>
              <a:t>(›i)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-25">
                <a:latin typeface="Times New Roman"/>
                <a:cs typeface="Times New Roman"/>
              </a:rPr>
              <a:t>MAX</a:t>
            </a: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  <a:tabLst>
                <a:tab pos="503555" algn="l"/>
                <a:tab pos="3770629" algn="l"/>
              </a:tabLst>
            </a:pPr>
            <a:r>
              <a:rPr dirty="0" sz="3450" spc="70">
                <a:latin typeface="Times New Roman"/>
                <a:cs typeface="Times New Roman"/>
              </a:rPr>
              <a:t>íf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245">
                <a:latin typeface="Times New Roman"/>
                <a:cs typeface="Times New Roman"/>
              </a:rPr>
              <a:t>PLAYER(s)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35">
                <a:latin typeface="Times New Roman"/>
                <a:cs typeface="Times New Roman"/>
              </a:rPr>
              <a:t>MÍN</a:t>
            </a:r>
            <a:endParaRPr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24100" y="73152"/>
            <a:ext cx="0" cy="10872470"/>
          </a:xfrm>
          <a:custGeom>
            <a:avLst/>
            <a:gdLst/>
            <a:ahLst/>
            <a:cxnLst/>
            <a:rect l="l" t="t" r="r" b="b"/>
            <a:pathLst>
              <a:path w="0" h="10872470">
                <a:moveTo>
                  <a:pt x="0" y="10872216"/>
                </a:moveTo>
                <a:lnTo>
                  <a:pt x="0" y="0"/>
                </a:lnTo>
              </a:path>
            </a:pathLst>
          </a:custGeom>
          <a:ln w="21336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313432" y="73152"/>
            <a:ext cx="14843760" cy="10872470"/>
            <a:chOff x="2313432" y="73152"/>
            <a:chExt cx="14843760" cy="10872470"/>
          </a:xfrm>
        </p:grpSpPr>
        <p:sp>
          <p:nvSpPr>
            <p:cNvPr id="4" name="object 4" descr=""/>
            <p:cNvSpPr/>
            <p:nvPr/>
          </p:nvSpPr>
          <p:spPr>
            <a:xfrm>
              <a:off x="17146523" y="73152"/>
              <a:ext cx="0" cy="10872470"/>
            </a:xfrm>
            <a:custGeom>
              <a:avLst/>
              <a:gdLst/>
              <a:ahLst/>
              <a:cxnLst/>
              <a:rect l="l" t="t" r="r" b="b"/>
              <a:pathLst>
                <a:path w="0" h="10872470">
                  <a:moveTo>
                    <a:pt x="0" y="10872216"/>
                  </a:moveTo>
                  <a:lnTo>
                    <a:pt x="0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13432" y="83820"/>
              <a:ext cx="14843760" cy="0"/>
            </a:xfrm>
            <a:custGeom>
              <a:avLst/>
              <a:gdLst/>
              <a:ahLst/>
              <a:cxnLst/>
              <a:rect l="l" t="t" r="r" b="b"/>
              <a:pathLst>
                <a:path w="14843760" h="0">
                  <a:moveTo>
                    <a:pt x="0" y="0"/>
                  </a:moveTo>
                  <a:lnTo>
                    <a:pt x="14843760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13432" y="10934699"/>
              <a:ext cx="14843760" cy="0"/>
            </a:xfrm>
            <a:custGeom>
              <a:avLst/>
              <a:gdLst/>
              <a:ahLst/>
              <a:cxnLst/>
              <a:rect l="l" t="t" r="r" b="b"/>
              <a:pathLst>
                <a:path w="14843760" h="0">
                  <a:moveTo>
                    <a:pt x="0" y="0"/>
                  </a:moveTo>
                  <a:lnTo>
                    <a:pt x="14843760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13432" y="7889747"/>
              <a:ext cx="14843760" cy="0"/>
            </a:xfrm>
            <a:custGeom>
              <a:avLst/>
              <a:gdLst/>
              <a:ahLst/>
              <a:cxnLst/>
              <a:rect l="l" t="t" r="r" b="b"/>
              <a:pathLst>
                <a:path w="14843760" h="0">
                  <a:moveTo>
                    <a:pt x="0" y="0"/>
                  </a:moveTo>
                  <a:lnTo>
                    <a:pt x="14843760" y="0"/>
                  </a:lnTo>
                </a:path>
              </a:pathLst>
            </a:custGeom>
            <a:ln w="21336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94432" y="4544567"/>
              <a:ext cx="13515340" cy="0"/>
            </a:xfrm>
            <a:custGeom>
              <a:avLst/>
              <a:gdLst/>
              <a:ahLst/>
              <a:cxnLst/>
              <a:rect l="l" t="t" r="r" b="b"/>
              <a:pathLst>
                <a:path w="13515340" h="0">
                  <a:moveTo>
                    <a:pt x="0" y="0"/>
                  </a:moveTo>
                  <a:lnTo>
                    <a:pt x="13514832" y="0"/>
                  </a:lnTo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94432" y="1478279"/>
              <a:ext cx="13524230" cy="0"/>
            </a:xfrm>
            <a:custGeom>
              <a:avLst/>
              <a:gdLst/>
              <a:ahLst/>
              <a:cxnLst/>
              <a:rect l="l" t="t" r="r" b="b"/>
              <a:pathLst>
                <a:path w="13524230" h="0">
                  <a:moveTo>
                    <a:pt x="0" y="0"/>
                  </a:moveTo>
                  <a:lnTo>
                    <a:pt x="13523976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612251" y="294590"/>
            <a:ext cx="14008100" cy="1040638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515"/>
              </a:spcBef>
              <a:tabLst>
                <a:tab pos="7624445" algn="l"/>
              </a:tabLst>
            </a:pPr>
            <a:r>
              <a:rPr dirty="0" sz="2750" spc="125">
                <a:latin typeface="Times New Roman"/>
                <a:cs typeface="Times New Roman"/>
              </a:rPr>
              <a:t>function</a:t>
            </a:r>
            <a:r>
              <a:rPr dirty="0" sz="2750" spc="290">
                <a:latin typeface="Times New Roman"/>
                <a:cs typeface="Times New Roman"/>
              </a:rPr>
              <a:t> </a:t>
            </a:r>
            <a:r>
              <a:rPr dirty="0" sz="2750" spc="-10">
                <a:latin typeface="Times New Roman"/>
                <a:cs typeface="Times New Roman"/>
              </a:rPr>
              <a:t>MiNlMAX-</a:t>
            </a:r>
            <a:r>
              <a:rPr dirty="0" sz="2750">
                <a:latin typeface="Times New Roman"/>
                <a:cs typeface="Times New Roman"/>
              </a:rPr>
              <a:t>DEClSIONt,›tnfe)</a:t>
            </a:r>
            <a:r>
              <a:rPr dirty="0" sz="2750" spc="60">
                <a:latin typeface="Times New Roman"/>
                <a:cs typeface="Times New Roman"/>
              </a:rPr>
              <a:t> </a:t>
            </a:r>
            <a:r>
              <a:rPr dirty="0" sz="2750" spc="155">
                <a:latin typeface="Times New Roman"/>
                <a:cs typeface="Times New Roman"/>
              </a:rPr>
              <a:t>returns</a:t>
            </a:r>
            <a:r>
              <a:rPr dirty="0" sz="2750" spc="285">
                <a:latin typeface="Times New Roman"/>
                <a:cs typeface="Times New Roman"/>
              </a:rPr>
              <a:t> </a:t>
            </a:r>
            <a:r>
              <a:rPr dirty="0" sz="2750" spc="55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275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2750" spc="120">
                <a:latin typeface="Times New Roman"/>
                <a:cs typeface="Times New Roman"/>
              </a:rPr>
              <a:t>nr/ton</a:t>
            </a:r>
            <a:endParaRPr sz="275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390"/>
              </a:spcBef>
              <a:tabLst>
                <a:tab pos="3128645" algn="l"/>
                <a:tab pos="3471545" algn="l"/>
                <a:tab pos="5373370" algn="l"/>
              </a:tabLst>
            </a:pPr>
            <a:r>
              <a:rPr dirty="0" sz="2550" spc="260">
                <a:latin typeface="Times New Roman"/>
                <a:cs typeface="Times New Roman"/>
              </a:rPr>
              <a:t>return</a:t>
            </a:r>
            <a:r>
              <a:rPr dirty="0" sz="2550" spc="275">
                <a:latin typeface="Times New Roman"/>
                <a:cs typeface="Times New Roman"/>
              </a:rPr>
              <a:t> </a:t>
            </a:r>
            <a:r>
              <a:rPr dirty="0" baseline="1089" sz="3825" spc="419">
                <a:latin typeface="Times New Roman"/>
                <a:cs typeface="Times New Roman"/>
              </a:rPr>
              <a:t>arg</a:t>
            </a:r>
            <a:r>
              <a:rPr dirty="0" baseline="1089" sz="3825" spc="-405">
                <a:latin typeface="Times New Roman"/>
                <a:cs typeface="Times New Roman"/>
              </a:rPr>
              <a:t> </a:t>
            </a:r>
            <a:r>
              <a:rPr dirty="0" baseline="1089" sz="3825" spc="494">
                <a:latin typeface="Times New Roman"/>
                <a:cs typeface="Times New Roman"/>
              </a:rPr>
              <a:t>max,</a:t>
            </a:r>
            <a:r>
              <a:rPr dirty="0" baseline="1089" sz="3825">
                <a:latin typeface="Times New Roman"/>
                <a:cs typeface="Times New Roman"/>
              </a:rPr>
              <a:t>	</a:t>
            </a:r>
            <a:r>
              <a:rPr dirty="0" baseline="-20697" sz="3825" spc="397">
                <a:solidFill>
                  <a:srgbClr val="313131"/>
                </a:solidFill>
                <a:latin typeface="Times New Roman"/>
                <a:cs typeface="Times New Roman"/>
              </a:rPr>
              <a:t>e</a:t>
            </a:r>
            <a:r>
              <a:rPr dirty="0" baseline="-20697" sz="3825">
                <a:solidFill>
                  <a:srgbClr val="313131"/>
                </a:solidFill>
                <a:latin typeface="Times New Roman"/>
                <a:cs typeface="Times New Roman"/>
              </a:rPr>
              <a:t>	</a:t>
            </a:r>
            <a:r>
              <a:rPr dirty="0" baseline="-20697" sz="3825" spc="-89">
                <a:latin typeface="Times New Roman"/>
                <a:cs typeface="Times New Roman"/>
              </a:rPr>
              <a:t>ACTION</a:t>
            </a:r>
            <a:r>
              <a:rPr dirty="0" baseline="-20697" sz="3825" spc="-262">
                <a:latin typeface="Times New Roman"/>
                <a:cs typeface="Times New Roman"/>
              </a:rPr>
              <a:t> </a:t>
            </a:r>
            <a:r>
              <a:rPr dirty="0" baseline="-20697" sz="3825" spc="-15">
                <a:solidFill>
                  <a:srgbClr val="2A2A2A"/>
                </a:solidFill>
                <a:latin typeface="Times New Roman"/>
                <a:cs typeface="Times New Roman"/>
              </a:rPr>
              <a:t>S</a:t>
            </a:r>
            <a:r>
              <a:rPr dirty="0" baseline="-18518" sz="3825" spc="-15">
                <a:solidFill>
                  <a:srgbClr val="383838"/>
                </a:solidFill>
                <a:latin typeface="Times New Roman"/>
                <a:cs typeface="Times New Roman"/>
              </a:rPr>
              <a:t>‹.</a:t>
            </a:r>
            <a:r>
              <a:rPr dirty="0" baseline="3267" sz="3825" spc="-15">
                <a:solidFill>
                  <a:srgbClr val="383838"/>
                </a:solidFill>
                <a:latin typeface="Times New Roman"/>
                <a:cs typeface="Times New Roman"/>
              </a:rPr>
              <a:t>,)</a:t>
            </a:r>
            <a:r>
              <a:rPr dirty="0" baseline="3267" sz="3825">
                <a:solidFill>
                  <a:srgbClr val="383838"/>
                </a:solidFill>
                <a:latin typeface="Times New Roman"/>
                <a:cs typeface="Times New Roman"/>
              </a:rPr>
              <a:t>	</a:t>
            </a:r>
            <a:r>
              <a:rPr dirty="0" baseline="1089" sz="3825" spc="165">
                <a:latin typeface="Times New Roman"/>
                <a:cs typeface="Times New Roman"/>
              </a:rPr>
              <a:t>MIN-</a:t>
            </a:r>
            <a:r>
              <a:rPr dirty="0" baseline="1089" sz="3825" spc="135">
                <a:latin typeface="Times New Roman"/>
                <a:cs typeface="Times New Roman"/>
              </a:rPr>
              <a:t>VALUE(RESULT(sta/e,</a:t>
            </a:r>
            <a:r>
              <a:rPr dirty="0" baseline="1089" sz="3825" spc="209">
                <a:latin typeface="Times New Roman"/>
                <a:cs typeface="Times New Roman"/>
              </a:rPr>
              <a:t> </a:t>
            </a:r>
            <a:r>
              <a:rPr dirty="0" baseline="1089" sz="3825" spc="67">
                <a:latin typeface="Times New Roman"/>
                <a:cs typeface="Times New Roman"/>
              </a:rPr>
              <a:t>n))</a:t>
            </a:r>
            <a:endParaRPr baseline="1089" sz="38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55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tabLst>
                <a:tab pos="6207125" algn="l"/>
                <a:tab pos="7264400" algn="l"/>
              </a:tabLst>
            </a:pPr>
            <a:r>
              <a:rPr dirty="0" sz="2800" spc="100">
                <a:latin typeface="Times New Roman"/>
                <a:cs typeface="Times New Roman"/>
              </a:rPr>
              <a:t>function</a:t>
            </a:r>
            <a:r>
              <a:rPr dirty="0" sz="2800" spc="275">
                <a:latin typeface="Times New Roman"/>
                <a:cs typeface="Times New Roman"/>
              </a:rPr>
              <a:t> </a:t>
            </a:r>
            <a:r>
              <a:rPr dirty="0" sz="2800" spc="-114">
                <a:latin typeface="Times New Roman"/>
                <a:cs typeface="Times New Roman"/>
              </a:rPr>
              <a:t>MAx-</a:t>
            </a:r>
            <a:r>
              <a:rPr dirty="0" sz="2800" spc="-85">
                <a:latin typeface="Times New Roman"/>
                <a:cs typeface="Times New Roman"/>
              </a:rPr>
              <a:t>VALUE(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spc="65">
                <a:latin typeface="Times New Roman"/>
                <a:cs typeface="Times New Roman"/>
              </a:rPr>
              <a:t>s/o/e)</a:t>
            </a:r>
            <a:r>
              <a:rPr dirty="0" sz="2800" spc="190">
                <a:latin typeface="Times New Roman"/>
                <a:cs typeface="Times New Roman"/>
              </a:rPr>
              <a:t> </a:t>
            </a:r>
            <a:r>
              <a:rPr dirty="0" sz="2800" spc="150">
                <a:latin typeface="Times New Roman"/>
                <a:cs typeface="Times New Roman"/>
              </a:rPr>
              <a:t>returns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ufi/i/y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uoIt›e</a:t>
            </a:r>
            <a:endParaRPr sz="2800">
              <a:latin typeface="Times New Roman"/>
              <a:cs typeface="Times New Roman"/>
            </a:endParaRPr>
          </a:p>
          <a:p>
            <a:pPr marL="463550">
              <a:lnSpc>
                <a:spcPct val="100000"/>
              </a:lnSpc>
              <a:spcBef>
                <a:spcPts val="240"/>
              </a:spcBef>
            </a:pPr>
            <a:r>
              <a:rPr dirty="0" sz="2650">
                <a:latin typeface="Times New Roman"/>
                <a:cs typeface="Times New Roman"/>
              </a:rPr>
              <a:t>if</a:t>
            </a:r>
            <a:r>
              <a:rPr dirty="0" sz="2650" spc="33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TERMINAL-TEST(.s/ale)</a:t>
            </a:r>
            <a:r>
              <a:rPr dirty="0" sz="2650" spc="254">
                <a:latin typeface="Times New Roman"/>
                <a:cs typeface="Times New Roman"/>
              </a:rPr>
              <a:t> </a:t>
            </a:r>
            <a:r>
              <a:rPr dirty="0" sz="2650" spc="170">
                <a:latin typeface="Times New Roman"/>
                <a:cs typeface="Times New Roman"/>
              </a:rPr>
              <a:t>then</a:t>
            </a:r>
            <a:r>
              <a:rPr dirty="0" sz="2650" spc="385">
                <a:latin typeface="Times New Roman"/>
                <a:cs typeface="Times New Roman"/>
              </a:rPr>
              <a:t> </a:t>
            </a:r>
            <a:r>
              <a:rPr dirty="0" sz="2650" spc="220">
                <a:latin typeface="Times New Roman"/>
                <a:cs typeface="Times New Roman"/>
              </a:rPr>
              <a:t>return</a:t>
            </a:r>
            <a:r>
              <a:rPr dirty="0" sz="2650" spc="434">
                <a:latin typeface="Times New Roman"/>
                <a:cs typeface="Times New Roman"/>
              </a:rPr>
              <a:t> </a:t>
            </a:r>
            <a:r>
              <a:rPr dirty="0" sz="2650" spc="-10">
                <a:latin typeface="Times New Roman"/>
                <a:cs typeface="Times New Roman"/>
              </a:rPr>
              <a:t>UTILITY(.strife)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65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  <a:tabLst>
                <a:tab pos="1012825" algn="l"/>
                <a:tab pos="2527935" algn="l"/>
              </a:tabLst>
            </a:pPr>
            <a:r>
              <a:rPr dirty="0" sz="2750" spc="-25">
                <a:latin typeface="Times New Roman"/>
                <a:cs typeface="Times New Roman"/>
              </a:rPr>
              <a:t>for</a:t>
            </a:r>
            <a:r>
              <a:rPr dirty="0" sz="2750">
                <a:latin typeface="Times New Roman"/>
                <a:cs typeface="Times New Roman"/>
              </a:rPr>
              <a:t>	</a:t>
            </a:r>
            <a:r>
              <a:rPr dirty="0" sz="2750" spc="125">
                <a:latin typeface="Times New Roman"/>
                <a:cs typeface="Times New Roman"/>
              </a:rPr>
              <a:t>each</a:t>
            </a:r>
            <a:r>
              <a:rPr dirty="0" sz="2750" spc="23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n</a:t>
            </a:r>
            <a:r>
              <a:rPr dirty="0" sz="2750" spc="70">
                <a:latin typeface="Times New Roman"/>
                <a:cs typeface="Times New Roman"/>
              </a:rPr>
              <a:t> </a:t>
            </a:r>
            <a:r>
              <a:rPr dirty="0" sz="2750" spc="-25">
                <a:latin typeface="Times New Roman"/>
                <a:cs typeface="Times New Roman"/>
              </a:rPr>
              <a:t>in</a:t>
            </a:r>
            <a:r>
              <a:rPr dirty="0" sz="2750">
                <a:latin typeface="Times New Roman"/>
                <a:cs typeface="Times New Roman"/>
              </a:rPr>
              <a:t>	AcvIONS(strife)</a:t>
            </a:r>
            <a:r>
              <a:rPr dirty="0" sz="2750" spc="620">
                <a:latin typeface="Times New Roman"/>
                <a:cs typeface="Times New Roman"/>
              </a:rPr>
              <a:t> </a:t>
            </a:r>
            <a:r>
              <a:rPr dirty="0" sz="2750" spc="95">
                <a:latin typeface="Times New Roman"/>
                <a:cs typeface="Times New Roman"/>
              </a:rPr>
              <a:t>do</a:t>
            </a:r>
            <a:endParaRPr sz="2750">
              <a:latin typeface="Times New Roman"/>
              <a:cs typeface="Times New Roman"/>
            </a:endParaRPr>
          </a:p>
          <a:p>
            <a:pPr marL="863600">
              <a:lnSpc>
                <a:spcPct val="100000"/>
              </a:lnSpc>
              <a:spcBef>
                <a:spcPts val="300"/>
              </a:spcBef>
              <a:tabLst>
                <a:tab pos="1544320" algn="l"/>
              </a:tabLst>
            </a:pPr>
            <a:r>
              <a:rPr dirty="0" sz="2600">
                <a:latin typeface="Times New Roman"/>
                <a:cs typeface="Times New Roman"/>
              </a:rPr>
              <a:t>u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‹-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125">
                <a:latin typeface="Times New Roman"/>
                <a:cs typeface="Times New Roman"/>
              </a:rPr>
              <a:t>MAx(</a:t>
            </a:r>
            <a:r>
              <a:rPr dirty="0" sz="2600" spc="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</a:t>
            </a:r>
            <a:r>
              <a:rPr dirty="0" sz="2600" spc="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,</a:t>
            </a:r>
            <a:r>
              <a:rPr dirty="0" sz="2600" spc="4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MIN-VALUE(RESULT(s,</a:t>
            </a:r>
            <a:r>
              <a:rPr dirty="0" sz="2600" spc="445">
                <a:latin typeface="Times New Roman"/>
                <a:cs typeface="Times New Roman"/>
              </a:rPr>
              <a:t> </a:t>
            </a:r>
            <a:r>
              <a:rPr dirty="0" sz="2600" spc="105">
                <a:latin typeface="Times New Roman"/>
                <a:cs typeface="Times New Roman"/>
              </a:rPr>
              <a:t>a)))</a:t>
            </a:r>
            <a:endParaRPr sz="26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105"/>
              </a:spcBef>
              <a:tabLst>
                <a:tab pos="1616075" algn="l"/>
              </a:tabLst>
            </a:pPr>
            <a:r>
              <a:rPr dirty="0" sz="2900" spc="114">
                <a:latin typeface="Times New Roman"/>
                <a:cs typeface="Times New Roman"/>
              </a:rPr>
              <a:t>return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545">
                <a:solidFill>
                  <a:srgbClr val="212121"/>
                </a:solidFill>
                <a:latin typeface="Times New Roman"/>
                <a:cs typeface="Times New Roman"/>
              </a:rPr>
              <a:t>u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9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tabLst>
                <a:tab pos="6121400" algn="l"/>
              </a:tabLst>
            </a:pPr>
            <a:r>
              <a:rPr dirty="0" sz="2800" spc="100">
                <a:latin typeface="Times New Roman"/>
                <a:cs typeface="Times New Roman"/>
              </a:rPr>
              <a:t>function</a:t>
            </a:r>
            <a:r>
              <a:rPr dirty="0" sz="2800" spc="200">
                <a:latin typeface="Times New Roman"/>
                <a:cs typeface="Times New Roman"/>
              </a:rPr>
              <a:t> </a:t>
            </a:r>
            <a:r>
              <a:rPr dirty="0" sz="2800" spc="-175">
                <a:latin typeface="Times New Roman"/>
                <a:cs typeface="Times New Roman"/>
              </a:rPr>
              <a:t>MIN</a:t>
            </a:r>
            <a:r>
              <a:rPr dirty="0" sz="2800" spc="-300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Times New Roman"/>
                <a:cs typeface="Times New Roman"/>
              </a:rPr>
              <a:t>-</a:t>
            </a:r>
            <a:r>
              <a:rPr dirty="0" sz="2800" spc="-10">
                <a:latin typeface="Times New Roman"/>
                <a:cs typeface="Times New Roman"/>
              </a:rPr>
              <a:t>VALUEt,s/c/c)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160">
                <a:latin typeface="Times New Roman"/>
                <a:cs typeface="Times New Roman"/>
              </a:rPr>
              <a:t>returns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-475">
                <a:latin typeface="Times New Roman"/>
                <a:cs typeface="Times New Roman"/>
              </a:rPr>
              <a:t>‹z</a:t>
            </a:r>
            <a:r>
              <a:rPr dirty="0" sz="2800">
                <a:latin typeface="Times New Roman"/>
                <a:cs typeface="Times New Roman"/>
              </a:rPr>
              <a:t>	uti/if;j</a:t>
            </a:r>
            <a:r>
              <a:rPr dirty="0" sz="2800" spc="3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velue</a:t>
            </a:r>
            <a:endParaRPr sz="2800">
              <a:latin typeface="Times New Roman"/>
              <a:cs typeface="Times New Roman"/>
            </a:endParaRPr>
          </a:p>
          <a:p>
            <a:pPr marL="464184">
              <a:lnSpc>
                <a:spcPct val="100000"/>
              </a:lnSpc>
              <a:spcBef>
                <a:spcPts val="340"/>
              </a:spcBef>
            </a:pPr>
            <a:r>
              <a:rPr dirty="0" sz="2550">
                <a:latin typeface="Times New Roman"/>
                <a:cs typeface="Times New Roman"/>
              </a:rPr>
              <a:t>if</a:t>
            </a:r>
            <a:r>
              <a:rPr dirty="0" sz="2550" spc="459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TERMINAL-TEST(.sfnfe)</a:t>
            </a:r>
            <a:r>
              <a:rPr dirty="0" sz="2550" spc="490">
                <a:latin typeface="Times New Roman"/>
                <a:cs typeface="Times New Roman"/>
              </a:rPr>
              <a:t> </a:t>
            </a:r>
            <a:r>
              <a:rPr dirty="0" sz="2550" spc="204">
                <a:latin typeface="Times New Roman"/>
                <a:cs typeface="Times New Roman"/>
              </a:rPr>
              <a:t>then</a:t>
            </a:r>
            <a:r>
              <a:rPr dirty="0" sz="2550" spc="540">
                <a:latin typeface="Times New Roman"/>
                <a:cs typeface="Times New Roman"/>
              </a:rPr>
              <a:t> </a:t>
            </a:r>
            <a:r>
              <a:rPr dirty="0" sz="2550" spc="260">
                <a:latin typeface="Times New Roman"/>
                <a:cs typeface="Times New Roman"/>
              </a:rPr>
              <a:t>return</a:t>
            </a:r>
            <a:r>
              <a:rPr dirty="0" sz="2550" spc="545">
                <a:latin typeface="Times New Roman"/>
                <a:cs typeface="Times New Roman"/>
              </a:rPr>
              <a:t> </a:t>
            </a:r>
            <a:r>
              <a:rPr dirty="0" sz="2550" spc="100">
                <a:latin typeface="Times New Roman"/>
                <a:cs typeface="Times New Roman"/>
              </a:rPr>
              <a:t>UTILITY(stole)</a:t>
            </a:r>
            <a:endParaRPr sz="2550">
              <a:latin typeface="Times New Roman"/>
              <a:cs typeface="Times New Roman"/>
            </a:endParaRPr>
          </a:p>
          <a:p>
            <a:pPr marL="499109">
              <a:lnSpc>
                <a:spcPct val="100000"/>
              </a:lnSpc>
              <a:spcBef>
                <a:spcPts val="254"/>
              </a:spcBef>
              <a:tabLst>
                <a:tab pos="1194435" algn="l"/>
              </a:tabLst>
            </a:pPr>
            <a:r>
              <a:rPr dirty="0" sz="2650" spc="-210">
                <a:solidFill>
                  <a:srgbClr val="0F0F0F"/>
                </a:solidFill>
                <a:latin typeface="Times New Roman"/>
                <a:cs typeface="Times New Roman"/>
              </a:rPr>
              <a:t>t›</a:t>
            </a:r>
            <a:r>
              <a:rPr dirty="0" sz="26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650" spc="-25">
                <a:latin typeface="Times New Roman"/>
                <a:cs typeface="Times New Roman"/>
              </a:rPr>
              <a:t>‹-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spc="-370">
                <a:latin typeface="Times New Roman"/>
                <a:cs typeface="Times New Roman"/>
              </a:rPr>
              <a:t>v</a:t>
            </a:r>
            <a:endParaRPr sz="265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  <a:spcBef>
                <a:spcPts val="204"/>
              </a:spcBef>
              <a:tabLst>
                <a:tab pos="1012825" algn="l"/>
                <a:tab pos="1852295" algn="l"/>
                <a:tab pos="2527935" algn="l"/>
              </a:tabLst>
            </a:pPr>
            <a:r>
              <a:rPr dirty="0" sz="2750" spc="-285">
                <a:latin typeface="Times New Roman"/>
                <a:cs typeface="Times New Roman"/>
              </a:rPr>
              <a:t>for</a:t>
            </a:r>
            <a:r>
              <a:rPr dirty="0" sz="2750">
                <a:latin typeface="Times New Roman"/>
                <a:cs typeface="Times New Roman"/>
              </a:rPr>
              <a:t>	</a:t>
            </a:r>
            <a:r>
              <a:rPr dirty="0" sz="2750" spc="90">
                <a:latin typeface="Times New Roman"/>
                <a:cs typeface="Times New Roman"/>
              </a:rPr>
              <a:t>each</a:t>
            </a:r>
            <a:r>
              <a:rPr dirty="0" sz="2750">
                <a:latin typeface="Times New Roman"/>
                <a:cs typeface="Times New Roman"/>
              </a:rPr>
              <a:t>	n</a:t>
            </a:r>
            <a:r>
              <a:rPr dirty="0" sz="2750" spc="-35">
                <a:latin typeface="Times New Roman"/>
                <a:cs typeface="Times New Roman"/>
              </a:rPr>
              <a:t> </a:t>
            </a:r>
            <a:r>
              <a:rPr dirty="0" sz="2750" spc="-25">
                <a:latin typeface="Times New Roman"/>
                <a:cs typeface="Times New Roman"/>
              </a:rPr>
              <a:t>in</a:t>
            </a:r>
            <a:r>
              <a:rPr dirty="0" sz="2750">
                <a:latin typeface="Times New Roman"/>
                <a:cs typeface="Times New Roman"/>
              </a:rPr>
              <a:t>	</a:t>
            </a:r>
            <a:r>
              <a:rPr dirty="0" sz="2750" spc="-60">
                <a:latin typeface="Times New Roman"/>
                <a:cs typeface="Times New Roman"/>
              </a:rPr>
              <a:t>AcTiON</a:t>
            </a:r>
            <a:r>
              <a:rPr dirty="0" sz="2750" spc="-295">
                <a:latin typeface="Times New Roman"/>
                <a:cs typeface="Times New Roman"/>
              </a:rPr>
              <a:t> </a:t>
            </a:r>
            <a:r>
              <a:rPr dirty="0" sz="2750" spc="-130">
                <a:latin typeface="Times New Roman"/>
                <a:cs typeface="Times New Roman"/>
              </a:rPr>
              <a:t>S(</a:t>
            </a:r>
            <a:r>
              <a:rPr dirty="0" sz="2750" spc="-95">
                <a:latin typeface="Times New Roman"/>
                <a:cs typeface="Times New Roman"/>
              </a:rPr>
              <a:t> </a:t>
            </a:r>
            <a:r>
              <a:rPr dirty="0" sz="2750" spc="55">
                <a:latin typeface="Times New Roman"/>
                <a:cs typeface="Times New Roman"/>
              </a:rPr>
              <a:t>tfnfe)</a:t>
            </a:r>
            <a:r>
              <a:rPr dirty="0" sz="2750" spc="245">
                <a:latin typeface="Times New Roman"/>
                <a:cs typeface="Times New Roman"/>
              </a:rPr>
              <a:t> </a:t>
            </a:r>
            <a:r>
              <a:rPr dirty="0" sz="2750" spc="95">
                <a:latin typeface="Times New Roman"/>
                <a:cs typeface="Times New Roman"/>
              </a:rPr>
              <a:t>do</a:t>
            </a:r>
            <a:endParaRPr sz="2750">
              <a:latin typeface="Times New Roman"/>
              <a:cs typeface="Times New Roman"/>
            </a:endParaRPr>
          </a:p>
          <a:p>
            <a:pPr marL="876300">
              <a:lnSpc>
                <a:spcPct val="100000"/>
              </a:lnSpc>
              <a:spcBef>
                <a:spcPts val="475"/>
              </a:spcBef>
              <a:tabLst>
                <a:tab pos="1544320" algn="l"/>
                <a:tab pos="2744470" algn="l"/>
                <a:tab pos="6634480" algn="l"/>
              </a:tabLst>
            </a:pPr>
            <a:r>
              <a:rPr dirty="0" sz="2500" i="1">
                <a:latin typeface="Times New Roman"/>
                <a:cs typeface="Times New Roman"/>
              </a:rPr>
              <a:t>r</a:t>
            </a:r>
            <a:r>
              <a:rPr dirty="0" sz="2500" spc="85" i="1">
                <a:latin typeface="Times New Roman"/>
                <a:cs typeface="Times New Roman"/>
              </a:rPr>
              <a:t> </a:t>
            </a:r>
            <a:r>
              <a:rPr dirty="0" sz="2500" spc="-25" i="1">
                <a:solidFill>
                  <a:srgbClr val="232323"/>
                </a:solidFill>
                <a:latin typeface="Times New Roman"/>
                <a:cs typeface="Times New Roman"/>
              </a:rPr>
              <a:t>+-</a:t>
            </a:r>
            <a:r>
              <a:rPr dirty="0" sz="2500" i="1">
                <a:solidFill>
                  <a:srgbClr val="232323"/>
                </a:solidFill>
                <a:latin typeface="Times New Roman"/>
                <a:cs typeface="Times New Roman"/>
              </a:rPr>
              <a:t>	</a:t>
            </a:r>
            <a:r>
              <a:rPr dirty="0" sz="2500" spc="80">
                <a:latin typeface="Times New Roman"/>
                <a:cs typeface="Times New Roman"/>
              </a:rPr>
              <a:t>MIN(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 spc="-35">
                <a:latin typeface="Times New Roman"/>
                <a:cs typeface="Times New Roman"/>
              </a:rPr>
              <a:t>r,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MAX-VALUE(RESULT(.s“,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85">
                <a:latin typeface="Times New Roman"/>
                <a:cs typeface="Times New Roman"/>
              </a:rPr>
              <a:t>n)))</a:t>
            </a:r>
            <a:endParaRPr sz="25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50"/>
              </a:spcBef>
              <a:tabLst>
                <a:tab pos="1614170" algn="l"/>
              </a:tabLst>
            </a:pPr>
            <a:r>
              <a:rPr dirty="0" sz="2900" spc="114">
                <a:latin typeface="Times New Roman"/>
                <a:cs typeface="Times New Roman"/>
              </a:rPr>
              <a:t>return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50">
                <a:latin typeface="Times New Roman"/>
                <a:cs typeface="Times New Roman"/>
              </a:rPr>
              <a:t>r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488950" marR="17780" indent="6985">
              <a:lnSpc>
                <a:spcPct val="102299"/>
              </a:lnSpc>
            </a:pPr>
            <a:r>
              <a:rPr dirty="0" sz="2850" spc="95">
                <a:latin typeface="Times New Roman"/>
                <a:cs typeface="Times New Roman"/>
              </a:rPr>
              <a:t>Figure</a:t>
            </a:r>
            <a:r>
              <a:rPr dirty="0" sz="2850" spc="17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5.3</a:t>
            </a:r>
            <a:r>
              <a:rPr dirty="0" sz="2850" spc="625">
                <a:latin typeface="Times New Roman"/>
                <a:cs typeface="Times New Roman"/>
              </a:rPr>
              <a:t>   </a:t>
            </a:r>
            <a:r>
              <a:rPr dirty="0" sz="2850">
                <a:latin typeface="Times New Roman"/>
                <a:cs typeface="Times New Roman"/>
              </a:rPr>
              <a:t>An</a:t>
            </a:r>
            <a:r>
              <a:rPr dirty="0" sz="2850" spc="229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algorithm</a:t>
            </a:r>
            <a:r>
              <a:rPr dirty="0" sz="2850" spc="39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for</a:t>
            </a:r>
            <a:r>
              <a:rPr dirty="0" sz="2850" spc="12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calculating</a:t>
            </a:r>
            <a:r>
              <a:rPr dirty="0" sz="2850" spc="409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minimax</a:t>
            </a:r>
            <a:r>
              <a:rPr dirty="0" sz="2850" spc="38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decisions.</a:t>
            </a:r>
            <a:r>
              <a:rPr dirty="0" sz="2850" spc="75">
                <a:latin typeface="Times New Roman"/>
                <a:cs typeface="Times New Roman"/>
              </a:rPr>
              <a:t>  </a:t>
            </a:r>
            <a:r>
              <a:rPr dirty="0" sz="2850">
                <a:latin typeface="Times New Roman"/>
                <a:cs typeface="Times New Roman"/>
              </a:rPr>
              <a:t>It</a:t>
            </a:r>
            <a:r>
              <a:rPr dirty="0" sz="2850" spc="36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returns</a:t>
            </a:r>
            <a:r>
              <a:rPr dirty="0" sz="2850" spc="37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the</a:t>
            </a:r>
            <a:r>
              <a:rPr dirty="0" sz="2850" spc="17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action</a:t>
            </a:r>
            <a:r>
              <a:rPr dirty="0" sz="2850" spc="345">
                <a:latin typeface="Times New Roman"/>
                <a:cs typeface="Times New Roman"/>
              </a:rPr>
              <a:t> </a:t>
            </a:r>
            <a:r>
              <a:rPr dirty="0" sz="2850" spc="-10">
                <a:latin typeface="Times New Roman"/>
                <a:cs typeface="Times New Roman"/>
              </a:rPr>
              <a:t>corre- </a:t>
            </a:r>
            <a:r>
              <a:rPr dirty="0" sz="2850">
                <a:latin typeface="Times New Roman"/>
                <a:cs typeface="Times New Roman"/>
              </a:rPr>
              <a:t>sponding</a:t>
            </a:r>
            <a:r>
              <a:rPr dirty="0" sz="2850" spc="37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to</a:t>
            </a:r>
            <a:r>
              <a:rPr dirty="0" sz="2850" spc="35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the</a:t>
            </a:r>
            <a:r>
              <a:rPr dirty="0" sz="2850" spc="42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best</a:t>
            </a:r>
            <a:r>
              <a:rPr dirty="0" sz="2850" spc="45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possible</a:t>
            </a:r>
            <a:r>
              <a:rPr dirty="0" sz="2850" spc="54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move.</a:t>
            </a:r>
            <a:r>
              <a:rPr dirty="0" sz="2850" spc="42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that</a:t>
            </a:r>
            <a:r>
              <a:rPr dirty="0" sz="2850" spc="43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is,</a:t>
            </a:r>
            <a:r>
              <a:rPr dirty="0" sz="2850" spc="44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the</a:t>
            </a:r>
            <a:r>
              <a:rPr dirty="0" sz="2850" spc="39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move</a:t>
            </a:r>
            <a:r>
              <a:rPr dirty="0" sz="2850" spc="37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that</a:t>
            </a:r>
            <a:r>
              <a:rPr dirty="0" sz="2850" spc="43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leads</a:t>
            </a:r>
            <a:r>
              <a:rPr dirty="0" sz="2850" spc="49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to</a:t>
            </a:r>
            <a:r>
              <a:rPr dirty="0" sz="2850" spc="35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the</a:t>
            </a:r>
            <a:r>
              <a:rPr dirty="0" sz="2850" spc="32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outcome</a:t>
            </a:r>
            <a:r>
              <a:rPr dirty="0" sz="2850" spc="45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with</a:t>
            </a:r>
            <a:r>
              <a:rPr dirty="0" sz="2850" spc="495">
                <a:latin typeface="Times New Roman"/>
                <a:cs typeface="Times New Roman"/>
              </a:rPr>
              <a:t> </a:t>
            </a:r>
            <a:r>
              <a:rPr dirty="0" sz="2850" spc="-25">
                <a:latin typeface="Times New Roman"/>
                <a:cs typeface="Times New Roman"/>
              </a:rPr>
              <a:t>the </a:t>
            </a:r>
            <a:r>
              <a:rPr dirty="0" sz="2800">
                <a:latin typeface="Times New Roman"/>
                <a:cs typeface="Times New Roman"/>
              </a:rPr>
              <a:t>best</a:t>
            </a:r>
            <a:r>
              <a:rPr dirty="0" sz="2800" spc="2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utility,</a:t>
            </a:r>
            <a:r>
              <a:rPr dirty="0" sz="2800" spc="3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under</a:t>
            </a:r>
            <a:r>
              <a:rPr dirty="0" sz="2800" spc="229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assumption</a:t>
            </a:r>
            <a:r>
              <a:rPr dirty="0" sz="2800" spc="5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ihe</a:t>
            </a:r>
            <a:r>
              <a:rPr dirty="0" sz="2800" spc="1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opponeni</a:t>
            </a:r>
            <a:r>
              <a:rPr dirty="0" sz="2800" spc="2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plays</a:t>
            </a:r>
            <a:r>
              <a:rPr dirty="0" sz="2800" spc="2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1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minimize</a:t>
            </a:r>
            <a:r>
              <a:rPr dirty="0" sz="2800" spc="3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utility.</a:t>
            </a:r>
            <a:r>
              <a:rPr dirty="0" sz="2800" spc="4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1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functions </a:t>
            </a:r>
            <a:r>
              <a:rPr dirty="0" sz="2750" spc="-85">
                <a:latin typeface="Times New Roman"/>
                <a:cs typeface="Times New Roman"/>
              </a:rPr>
              <a:t>MAX-</a:t>
            </a:r>
            <a:r>
              <a:rPr dirty="0" sz="2750">
                <a:latin typeface="Times New Roman"/>
                <a:cs typeface="Times New Roman"/>
              </a:rPr>
              <a:t>VALuE</a:t>
            </a:r>
            <a:r>
              <a:rPr dirty="0" sz="2750" spc="38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and</a:t>
            </a:r>
            <a:r>
              <a:rPr dirty="0" sz="2750" spc="484">
                <a:latin typeface="Times New Roman"/>
                <a:cs typeface="Times New Roman"/>
              </a:rPr>
              <a:t> </a:t>
            </a:r>
            <a:r>
              <a:rPr dirty="0" sz="2750" spc="-90">
                <a:latin typeface="Times New Roman"/>
                <a:cs typeface="Times New Roman"/>
              </a:rPr>
              <a:t>MiN-</a:t>
            </a:r>
            <a:r>
              <a:rPr dirty="0" sz="2750" spc="-210">
                <a:latin typeface="Times New Roman"/>
                <a:cs typeface="Times New Roman"/>
              </a:rPr>
              <a:t>VA</a:t>
            </a:r>
            <a:r>
              <a:rPr dirty="0" sz="2750" spc="35">
                <a:latin typeface="Times New Roman"/>
                <a:cs typeface="Times New Roman"/>
              </a:rPr>
              <a:t> </a:t>
            </a:r>
            <a:r>
              <a:rPr dirty="0" sz="2750" spc="-105">
                <a:latin typeface="Times New Roman"/>
                <a:cs typeface="Times New Roman"/>
              </a:rPr>
              <a:t>LUE</a:t>
            </a:r>
            <a:r>
              <a:rPr dirty="0" sz="2750" spc="335">
                <a:latin typeface="Times New Roman"/>
                <a:cs typeface="Times New Roman"/>
              </a:rPr>
              <a:t> </a:t>
            </a:r>
            <a:r>
              <a:rPr dirty="0" sz="2750" spc="80">
                <a:latin typeface="Times New Roman"/>
                <a:cs typeface="Times New Roman"/>
              </a:rPr>
              <a:t>go</a:t>
            </a:r>
            <a:r>
              <a:rPr dirty="0" sz="2750" spc="28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through</a:t>
            </a:r>
            <a:r>
              <a:rPr dirty="0" sz="2750" spc="33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the</a:t>
            </a:r>
            <a:r>
              <a:rPr dirty="0" sz="2750" spc="39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whole</a:t>
            </a:r>
            <a:r>
              <a:rPr dirty="0" sz="2750" spc="27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game</a:t>
            </a:r>
            <a:r>
              <a:rPr dirty="0" sz="2750" spc="31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iree,</a:t>
            </a:r>
            <a:r>
              <a:rPr dirty="0" sz="2750" spc="34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all</a:t>
            </a:r>
            <a:r>
              <a:rPr dirty="0" sz="2750" spc="409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the</a:t>
            </a:r>
            <a:r>
              <a:rPr dirty="0" sz="2750" spc="39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way</a:t>
            </a:r>
            <a:r>
              <a:rPr dirty="0" sz="2750" spc="31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to</a:t>
            </a:r>
            <a:r>
              <a:rPr dirty="0" sz="2750" spc="225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ihe</a:t>
            </a:r>
            <a:r>
              <a:rPr dirty="0" sz="2750" spc="325">
                <a:latin typeface="Times New Roman"/>
                <a:cs typeface="Times New Roman"/>
              </a:rPr>
              <a:t> </a:t>
            </a:r>
            <a:r>
              <a:rPr dirty="0" sz="2750" spc="-10">
                <a:latin typeface="Times New Roman"/>
                <a:cs typeface="Times New Roman"/>
              </a:rPr>
              <a:t>leaves,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2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determine</a:t>
            </a:r>
            <a:r>
              <a:rPr dirty="0" sz="2800" spc="4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4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backed-up</a:t>
            </a:r>
            <a:r>
              <a:rPr dirty="0" sz="2800" spc="4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value</a:t>
            </a:r>
            <a:r>
              <a:rPr dirty="0" sz="2800" spc="2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3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2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state.</a:t>
            </a:r>
            <a:r>
              <a:rPr dirty="0" sz="2800" spc="6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3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notation</a:t>
            </a:r>
            <a:r>
              <a:rPr dirty="0" sz="2800" spc="4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nvgnxnx</a:t>
            </a:r>
            <a:r>
              <a:rPr dirty="0" sz="2800" spc="229">
                <a:latin typeface="Times New Roman"/>
                <a:cs typeface="Times New Roman"/>
              </a:rPr>
              <a:t>  </a:t>
            </a:r>
            <a:r>
              <a:rPr dirty="0" sz="2800" i="1">
                <a:solidFill>
                  <a:srgbClr val="676767"/>
                </a:solidFill>
                <a:latin typeface="Times New Roman"/>
                <a:cs typeface="Times New Roman"/>
              </a:rPr>
              <a:t>;</a:t>
            </a:r>
            <a:r>
              <a:rPr dirty="0" sz="2800" spc="385" i="1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2800" spc="-270" i="1">
                <a:solidFill>
                  <a:srgbClr val="1F1F1F"/>
                </a:solidFill>
                <a:latin typeface="Times New Roman"/>
                <a:cs typeface="Times New Roman"/>
              </a:rPr>
              <a:t>g</a:t>
            </a:r>
            <a:r>
              <a:rPr dirty="0" sz="2800" spc="690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282828"/>
                </a:solidFill>
                <a:latin typeface="Times New Roman"/>
                <a:cs typeface="Times New Roman"/>
              </a:rPr>
              <a:t>f</a:t>
            </a:r>
            <a:r>
              <a:rPr dirty="0" sz="2800" spc="35" i="1">
                <a:solidFill>
                  <a:srgbClr val="282828"/>
                </a:solidFill>
                <a:latin typeface="Times New Roman"/>
                <a:cs typeface="Times New Roman"/>
              </a:rPr>
              <a:t>  </a:t>
            </a:r>
            <a:r>
              <a:rPr dirty="0" sz="2800" i="1">
                <a:latin typeface="Times New Roman"/>
                <a:cs typeface="Times New Roman"/>
              </a:rPr>
              <a:t>ct</a:t>
            </a:r>
            <a:r>
              <a:rPr dirty="0" sz="2800" i="1">
                <a:solidFill>
                  <a:srgbClr val="363636"/>
                </a:solidFill>
                <a:latin typeface="Times New Roman"/>
                <a:cs typeface="Times New Roman"/>
              </a:rPr>
              <a:t>)</a:t>
            </a:r>
            <a:r>
              <a:rPr dirty="0" sz="2800" spc="125" i="1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computes</a:t>
            </a:r>
            <a:r>
              <a:rPr dirty="0" sz="2800" spc="38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the </a:t>
            </a:r>
            <a:r>
              <a:rPr dirty="0" sz="2850">
                <a:latin typeface="Times New Roman"/>
                <a:cs typeface="Times New Roman"/>
              </a:rPr>
              <a:t>element</a:t>
            </a:r>
            <a:r>
              <a:rPr dirty="0" sz="2850" spc="-90">
                <a:latin typeface="Times New Roman"/>
                <a:cs typeface="Times New Roman"/>
              </a:rPr>
              <a:t> </a:t>
            </a:r>
            <a:r>
              <a:rPr dirty="0" sz="2850" spc="-705">
                <a:solidFill>
                  <a:srgbClr val="161616"/>
                </a:solidFill>
                <a:latin typeface="Times New Roman"/>
                <a:cs typeface="Times New Roman"/>
              </a:rPr>
              <a:t>Q</a:t>
            </a:r>
            <a:r>
              <a:rPr dirty="0" sz="2850" spc="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of</a:t>
            </a:r>
            <a:r>
              <a:rPr dirty="0" sz="2850" spc="12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set</a:t>
            </a:r>
            <a:r>
              <a:rPr dirty="0" sz="2850" spc="-40">
                <a:latin typeface="Times New Roman"/>
                <a:cs typeface="Times New Roman"/>
              </a:rPr>
              <a:t> </a:t>
            </a:r>
            <a:r>
              <a:rPr dirty="0" sz="2850" spc="-240">
                <a:latin typeface="Times New Roman"/>
                <a:cs typeface="Times New Roman"/>
              </a:rPr>
              <a:t>.'7</a:t>
            </a:r>
            <a:r>
              <a:rPr dirty="0" sz="2850" spc="6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that</a:t>
            </a:r>
            <a:r>
              <a:rPr dirty="0" sz="2850" spc="6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has</a:t>
            </a:r>
            <a:r>
              <a:rPr dirty="0" sz="2850" spc="-4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the</a:t>
            </a:r>
            <a:r>
              <a:rPr dirty="0" sz="2850" spc="5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maximum</a:t>
            </a:r>
            <a:r>
              <a:rPr dirty="0" sz="2850" spc="22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value</a:t>
            </a:r>
            <a:r>
              <a:rPr dirty="0" sz="2850" spc="3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of</a:t>
            </a:r>
            <a:r>
              <a:rPr dirty="0" sz="2850" spc="615">
                <a:latin typeface="Times New Roman"/>
                <a:cs typeface="Times New Roman"/>
              </a:rPr>
              <a:t> </a:t>
            </a:r>
            <a:r>
              <a:rPr dirty="0" sz="2850" spc="-10" i="1">
                <a:solidFill>
                  <a:srgbClr val="111111"/>
                </a:solidFill>
                <a:latin typeface="Times New Roman"/>
                <a:cs typeface="Times New Roman"/>
              </a:rPr>
              <a:t>f{:s!.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00" rIns="0" bIns="0" rtlCol="0" vert="horz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 sz="6150" spc="-420" i="1">
                <a:latin typeface="Calibri"/>
                <a:cs typeface="Calibri"/>
              </a:rPr>
              <a:t>MiniMax</a:t>
            </a:r>
            <a:r>
              <a:rPr dirty="0" sz="6150" spc="245" i="1">
                <a:latin typeface="Calibri"/>
                <a:cs typeface="Calibri"/>
              </a:rPr>
              <a:t> </a:t>
            </a:r>
            <a:r>
              <a:rPr dirty="0" sz="6150" spc="-350" i="1">
                <a:latin typeface="Calibri"/>
                <a:cs typeface="Calibri"/>
              </a:rPr>
              <a:t>Complexity</a:t>
            </a:r>
            <a:endParaRPr sz="61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6293" y="1960562"/>
            <a:ext cx="16567785" cy="481393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just" marL="19685" marR="40005" indent="5080">
              <a:lnSpc>
                <a:spcPts val="4880"/>
              </a:lnSpc>
              <a:spcBef>
                <a:spcPts val="795"/>
              </a:spcBef>
            </a:pP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minimax</a:t>
            </a:r>
            <a:r>
              <a:rPr dirty="0" sz="4600" spc="-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algorithm</a:t>
            </a:r>
            <a:r>
              <a:rPr dirty="0" sz="4600" spc="-2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performs</a:t>
            </a:r>
            <a:r>
              <a:rPr dirty="0" sz="4600">
                <a:latin typeface="Calibri"/>
                <a:cs typeface="Calibri"/>
              </a:rPr>
              <a:t> a</a:t>
            </a:r>
            <a:r>
              <a:rPr dirty="0" sz="4600" spc="-22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complete</a:t>
            </a:r>
            <a:r>
              <a:rPr dirty="0" sz="4600" spc="-10">
                <a:latin typeface="Calibri"/>
                <a:cs typeface="Calibri"/>
              </a:rPr>
              <a:t> </a:t>
            </a:r>
            <a:r>
              <a:rPr dirty="0" sz="4600" spc="-114">
                <a:latin typeface="Calibri"/>
                <a:cs typeface="Calibri"/>
              </a:rPr>
              <a:t>depth-</a:t>
            </a:r>
            <a:r>
              <a:rPr dirty="0" sz="4600">
                <a:latin typeface="Calibri"/>
                <a:cs typeface="Calibri"/>
              </a:rPr>
              <a:t>first</a:t>
            </a:r>
            <a:r>
              <a:rPr dirty="0" sz="4600" spc="-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exploration</a:t>
            </a:r>
            <a:r>
              <a:rPr dirty="0" sz="4600" spc="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of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4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game</a:t>
            </a:r>
            <a:r>
              <a:rPr dirty="0" sz="4600" spc="-16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tree.</a:t>
            </a:r>
            <a:endParaRPr sz="4600">
              <a:latin typeface="Calibri"/>
              <a:cs typeface="Calibri"/>
            </a:endParaRPr>
          </a:p>
          <a:p>
            <a:pPr algn="just" marL="12700" marR="5080" indent="6350">
              <a:lnSpc>
                <a:spcPts val="4840"/>
              </a:lnSpc>
              <a:spcBef>
                <a:spcPts val="1520"/>
              </a:spcBef>
            </a:pPr>
            <a:r>
              <a:rPr dirty="0" sz="4450">
                <a:latin typeface="Calibri"/>
                <a:cs typeface="Calibri"/>
              </a:rPr>
              <a:t>If</a:t>
            </a:r>
            <a:r>
              <a:rPr dirty="0" sz="4450" spc="3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3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maximum</a:t>
            </a:r>
            <a:r>
              <a:rPr dirty="0" sz="4450" spc="5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depth</a:t>
            </a:r>
            <a:r>
              <a:rPr dirty="0" sz="4450" spc="3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4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3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tree</a:t>
            </a:r>
            <a:r>
              <a:rPr dirty="0" sz="4450" spc="27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is</a:t>
            </a:r>
            <a:r>
              <a:rPr dirty="0" sz="4450" spc="204">
                <a:latin typeface="Calibri"/>
                <a:cs typeface="Calibri"/>
              </a:rPr>
              <a:t> </a:t>
            </a:r>
            <a:r>
              <a:rPr dirty="0" sz="4450" spc="245">
                <a:latin typeface="Calibri"/>
                <a:cs typeface="Calibri"/>
              </a:rPr>
              <a:t>m</a:t>
            </a:r>
            <a:r>
              <a:rPr dirty="0" sz="4450" spc="1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and</a:t>
            </a:r>
            <a:r>
              <a:rPr dirty="0" sz="4450" spc="3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there</a:t>
            </a:r>
            <a:r>
              <a:rPr dirty="0" sz="4450" spc="30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are</a:t>
            </a:r>
            <a:r>
              <a:rPr dirty="0" sz="4450" spc="2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</a:t>
            </a:r>
            <a:r>
              <a:rPr dirty="0" sz="4450" spc="3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legal</a:t>
            </a:r>
            <a:r>
              <a:rPr dirty="0" sz="4450" spc="3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moves</a:t>
            </a:r>
            <a:r>
              <a:rPr dirty="0" sz="4450" spc="320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at </a:t>
            </a:r>
            <a:r>
              <a:rPr dirty="0" sz="4450">
                <a:latin typeface="Calibri"/>
                <a:cs typeface="Calibri"/>
              </a:rPr>
              <a:t>each</a:t>
            </a:r>
            <a:r>
              <a:rPr dirty="0" sz="4450" spc="-1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point,</a:t>
            </a:r>
            <a:r>
              <a:rPr dirty="0" sz="4450" spc="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then</a:t>
            </a:r>
            <a:r>
              <a:rPr dirty="0" sz="4450" spc="-114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250">
                <a:latin typeface="Calibri"/>
                <a:cs typeface="Calibri"/>
              </a:rPr>
              <a:t> </a:t>
            </a:r>
            <a:r>
              <a:rPr dirty="0" sz="4450" spc="100">
                <a:latin typeface="Calibri"/>
                <a:cs typeface="Calibri"/>
              </a:rPr>
              <a:t>ñme</a:t>
            </a:r>
            <a:r>
              <a:rPr dirty="0" sz="4450" spc="-35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complexity</a:t>
            </a:r>
            <a:r>
              <a:rPr dirty="0" sz="4450" spc="2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-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60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minimax</a:t>
            </a:r>
            <a:r>
              <a:rPr dirty="0" sz="4450" spc="1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algorithm</a:t>
            </a:r>
            <a:r>
              <a:rPr dirty="0" sz="4450" spc="10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is</a:t>
            </a:r>
            <a:r>
              <a:rPr dirty="0" sz="4450" spc="-145">
                <a:latin typeface="Calibri"/>
                <a:cs typeface="Calibri"/>
              </a:rPr>
              <a:t> </a:t>
            </a:r>
            <a:r>
              <a:rPr dirty="0" sz="4450" spc="50">
                <a:latin typeface="Calibri"/>
                <a:cs typeface="Calibri"/>
              </a:rPr>
              <a:t>0(b</a:t>
            </a:r>
            <a:r>
              <a:rPr dirty="0" sz="4450" spc="204">
                <a:latin typeface="Calibri"/>
                <a:cs typeface="Calibri"/>
              </a:rPr>
              <a:t>  </a:t>
            </a:r>
            <a:r>
              <a:rPr dirty="0" sz="4450" spc="30">
                <a:latin typeface="Calibri"/>
                <a:cs typeface="Calibri"/>
              </a:rPr>
              <a:t>).</a:t>
            </a:r>
            <a:endParaRPr sz="4450">
              <a:latin typeface="Calibri"/>
              <a:cs typeface="Calibri"/>
            </a:endParaRPr>
          </a:p>
          <a:p>
            <a:pPr algn="just" marL="12700" marR="18415" indent="12065">
              <a:lnSpc>
                <a:spcPct val="86700"/>
              </a:lnSpc>
              <a:spcBef>
                <a:spcPts val="1535"/>
              </a:spcBef>
            </a:pPr>
            <a:r>
              <a:rPr dirty="0" sz="4650">
                <a:latin typeface="Calibri"/>
                <a:cs typeface="Calibri"/>
              </a:rPr>
              <a:t>The</a:t>
            </a:r>
            <a:r>
              <a:rPr dirty="0" sz="4650" spc="69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space</a:t>
            </a:r>
            <a:r>
              <a:rPr dirty="0" sz="4650" spc="65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complexity</a:t>
            </a:r>
            <a:r>
              <a:rPr dirty="0" sz="4650" spc="83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is</a:t>
            </a:r>
            <a:r>
              <a:rPr dirty="0" sz="4650" spc="64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0(bm)</a:t>
            </a:r>
            <a:r>
              <a:rPr dirty="0" sz="4650" spc="75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for</a:t>
            </a:r>
            <a:r>
              <a:rPr dirty="0" sz="4650" spc="66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</a:t>
            </a:r>
            <a:r>
              <a:rPr dirty="0" sz="4650" spc="59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algorithm</a:t>
            </a:r>
            <a:r>
              <a:rPr dirty="0" sz="4650" spc="79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that</a:t>
            </a:r>
            <a:r>
              <a:rPr dirty="0" sz="4650" spc="74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generates</a:t>
            </a:r>
            <a:r>
              <a:rPr dirty="0" sz="4650" spc="844">
                <a:latin typeface="Calibri"/>
                <a:cs typeface="Calibri"/>
              </a:rPr>
              <a:t> </a:t>
            </a:r>
            <a:r>
              <a:rPr dirty="0" sz="4650" spc="-25">
                <a:latin typeface="Calibri"/>
                <a:cs typeface="Calibri"/>
              </a:rPr>
              <a:t>all </a:t>
            </a:r>
            <a:r>
              <a:rPr dirty="0" sz="4650">
                <a:latin typeface="Calibri"/>
                <a:cs typeface="Calibri"/>
              </a:rPr>
              <a:t>actions</a:t>
            </a:r>
            <a:r>
              <a:rPr dirty="0" sz="4650" spc="103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at</a:t>
            </a:r>
            <a:r>
              <a:rPr dirty="0" sz="4650" spc="87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once,</a:t>
            </a:r>
            <a:r>
              <a:rPr dirty="0" sz="4650" spc="98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or</a:t>
            </a:r>
            <a:r>
              <a:rPr dirty="0" sz="4650" spc="90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O(m)</a:t>
            </a:r>
            <a:r>
              <a:rPr dirty="0" sz="4650" spc="95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for</a:t>
            </a:r>
            <a:r>
              <a:rPr dirty="0" sz="4650" spc="95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an</a:t>
            </a:r>
            <a:r>
              <a:rPr dirty="0" sz="4650" spc="85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algorithm</a:t>
            </a:r>
            <a:r>
              <a:rPr dirty="0" sz="4650" spc="114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that</a:t>
            </a:r>
            <a:r>
              <a:rPr dirty="0" sz="4650" spc="950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generates</a:t>
            </a:r>
            <a:r>
              <a:rPr dirty="0" sz="4650" spc="1105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actions </a:t>
            </a:r>
            <a:r>
              <a:rPr dirty="0" sz="4650">
                <a:latin typeface="Calibri"/>
                <a:cs typeface="Calibri"/>
              </a:rPr>
              <a:t>one</a:t>
            </a:r>
            <a:r>
              <a:rPr dirty="0" sz="4650" spc="-265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at</a:t>
            </a:r>
            <a:r>
              <a:rPr dirty="0" sz="4650" spc="-215">
                <a:latin typeface="Calibri"/>
                <a:cs typeface="Calibri"/>
              </a:rPr>
              <a:t> </a:t>
            </a:r>
            <a:r>
              <a:rPr dirty="0" sz="4650" spc="-455" i="1">
                <a:latin typeface="Calibri"/>
                <a:cs typeface="Calibri"/>
              </a:rPr>
              <a:t>a</a:t>
            </a:r>
            <a:r>
              <a:rPr dirty="0" sz="4650" spc="50" i="1">
                <a:latin typeface="Calibri"/>
                <a:cs typeface="Calibri"/>
              </a:rPr>
              <a:t> </a:t>
            </a:r>
            <a:r>
              <a:rPr dirty="0" sz="4650" spc="-25" i="1">
                <a:latin typeface="Calibri"/>
                <a:cs typeface="Calibri"/>
              </a:rPr>
              <a:t>bme</a:t>
            </a:r>
            <a:endParaRPr sz="4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0050" rIns="0" bIns="0" rtlCol="0" vert="horz">
            <a:spAutoFit/>
          </a:bodyPr>
          <a:lstStyle/>
          <a:p>
            <a:pPr marL="817244">
              <a:lnSpc>
                <a:spcPct val="100000"/>
              </a:lnSpc>
              <a:spcBef>
                <a:spcPts val="100"/>
              </a:spcBef>
            </a:pPr>
            <a:r>
              <a:rPr dirty="0" sz="6100" spc="-680"/>
              <a:t>OpñmaT</a:t>
            </a:r>
            <a:r>
              <a:rPr dirty="0" sz="6100" spc="665"/>
              <a:t> </a:t>
            </a:r>
            <a:r>
              <a:rPr dirty="0" sz="6100" spc="-260"/>
              <a:t>decisions</a:t>
            </a:r>
            <a:r>
              <a:rPr dirty="0" sz="6100" spc="270"/>
              <a:t> </a:t>
            </a:r>
            <a:r>
              <a:rPr dirty="0" sz="6100" spc="-235"/>
              <a:t>in</a:t>
            </a:r>
            <a:r>
              <a:rPr dirty="0" sz="6100" spc="-100"/>
              <a:t> </a:t>
            </a:r>
            <a:r>
              <a:rPr dirty="0" sz="6100" spc="-315"/>
              <a:t>muiñplayer</a:t>
            </a:r>
            <a:r>
              <a:rPr dirty="0" sz="6100" spc="480"/>
              <a:t> </a:t>
            </a:r>
            <a:r>
              <a:rPr dirty="0" sz="6100" spc="-370"/>
              <a:t>games</a:t>
            </a:r>
            <a:endParaRPr sz="6100"/>
          </a:p>
        </p:txBody>
      </p:sp>
      <p:sp>
        <p:nvSpPr>
          <p:cNvPr id="3" name="object 3" descr=""/>
          <p:cNvSpPr txBox="1"/>
          <p:nvPr/>
        </p:nvSpPr>
        <p:spPr>
          <a:xfrm>
            <a:off x="1396521" y="1960562"/>
            <a:ext cx="16663035" cy="82772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algn="just" marL="80010" marR="81915" indent="1270">
              <a:lnSpc>
                <a:spcPts val="4730"/>
              </a:lnSpc>
              <a:spcBef>
                <a:spcPts val="915"/>
              </a:spcBef>
            </a:pPr>
            <a:r>
              <a:rPr dirty="0" sz="4600">
                <a:latin typeface="Calibri"/>
                <a:cs typeface="Calibri"/>
              </a:rPr>
              <a:t>When</a:t>
            </a:r>
            <a:r>
              <a:rPr dirty="0" sz="4600" spc="19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we</a:t>
            </a:r>
            <a:r>
              <a:rPr dirty="0" sz="4600" spc="175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extend</a:t>
            </a:r>
            <a:r>
              <a:rPr dirty="0" sz="4600" spc="254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5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minimax</a:t>
            </a:r>
            <a:r>
              <a:rPr dirty="0" sz="4600" spc="229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idea</a:t>
            </a:r>
            <a:r>
              <a:rPr dirty="0" sz="4600" spc="204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16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multiplayer</a:t>
            </a:r>
            <a:r>
              <a:rPr dirty="0" sz="4600" spc="30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games</a:t>
            </a:r>
            <a:r>
              <a:rPr dirty="0" sz="4600" spc="235">
                <a:latin typeface="Calibri"/>
                <a:cs typeface="Calibri"/>
              </a:rPr>
              <a:t>  </a:t>
            </a:r>
            <a:r>
              <a:rPr dirty="0" sz="4600" spc="-65">
                <a:latin typeface="Calibri"/>
                <a:cs typeface="Calibri"/>
              </a:rPr>
              <a:t>some </a:t>
            </a:r>
            <a:r>
              <a:rPr dirty="0" sz="4600" spc="-80">
                <a:latin typeface="Calibri"/>
                <a:cs typeface="Calibri"/>
              </a:rPr>
              <a:t>interesting</a:t>
            </a:r>
            <a:r>
              <a:rPr dirty="0" sz="4600" spc="-18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new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85">
                <a:latin typeface="Calibri"/>
                <a:cs typeface="Calibri"/>
              </a:rPr>
              <a:t>conceptual</a:t>
            </a:r>
            <a:r>
              <a:rPr dirty="0" sz="460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issues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arise</a:t>
            </a:r>
            <a:endParaRPr sz="4600">
              <a:latin typeface="Calibri"/>
              <a:cs typeface="Calibri"/>
            </a:endParaRPr>
          </a:p>
          <a:p>
            <a:pPr algn="just" marL="443865" marR="55880" indent="-381000">
              <a:lnSpc>
                <a:spcPts val="4800"/>
              </a:lnSpc>
              <a:spcBef>
                <a:spcPts val="1585"/>
              </a:spcBef>
              <a:buChar char="•"/>
              <a:tabLst>
                <a:tab pos="450850" algn="l"/>
              </a:tabLst>
            </a:pPr>
            <a:r>
              <a:rPr dirty="0" sz="4550">
                <a:latin typeface="Calibri"/>
                <a:cs typeface="Calibri"/>
              </a:rPr>
              <a:t>we</a:t>
            </a:r>
            <a:r>
              <a:rPr dirty="0" sz="4550" spc="30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need</a:t>
            </a:r>
            <a:r>
              <a:rPr dirty="0" sz="4550" spc="48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315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0C6EB1"/>
                </a:solidFill>
                <a:latin typeface="Calibri"/>
                <a:cs typeface="Calibri"/>
              </a:rPr>
              <a:t>replace</a:t>
            </a:r>
            <a:r>
              <a:rPr dirty="0" sz="4550" spc="545">
                <a:solidFill>
                  <a:srgbClr val="0C6EB1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415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0564A3"/>
                </a:solidFill>
                <a:latin typeface="Calibri"/>
                <a:cs typeface="Calibri"/>
              </a:rPr>
              <a:t>single</a:t>
            </a:r>
            <a:r>
              <a:rPr dirty="0" sz="4550" spc="470">
                <a:solidFill>
                  <a:srgbClr val="0564A3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1C6EBF"/>
                </a:solidFill>
                <a:latin typeface="Calibri"/>
                <a:cs typeface="Calibri"/>
              </a:rPr>
              <a:t>value</a:t>
            </a:r>
            <a:r>
              <a:rPr dirty="0" sz="4550" spc="455">
                <a:solidFill>
                  <a:srgbClr val="1C6EBF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for</a:t>
            </a:r>
            <a:r>
              <a:rPr dirty="0" sz="4550" spc="3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each</a:t>
            </a:r>
            <a:r>
              <a:rPr dirty="0" sz="4550" spc="25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node</a:t>
            </a:r>
            <a:r>
              <a:rPr dirty="0" sz="4550" spc="3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with</a:t>
            </a:r>
            <a:r>
              <a:rPr dirty="0" sz="4550" spc="310">
                <a:latin typeface="Calibri"/>
                <a:cs typeface="Calibri"/>
              </a:rPr>
              <a:t> </a:t>
            </a:r>
            <a:r>
              <a:rPr dirty="0" sz="4550" spc="65">
                <a:solidFill>
                  <a:srgbClr val="110526"/>
                </a:solidFill>
                <a:latin typeface="Calibri"/>
                <a:cs typeface="Calibri"/>
              </a:rPr>
              <a:t>a</a:t>
            </a:r>
            <a:r>
              <a:rPr dirty="0" sz="4550" spc="310">
                <a:solidFill>
                  <a:srgbClr val="110526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vector</a:t>
            </a:r>
            <a:r>
              <a:rPr dirty="0" sz="4550" spc="280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of </a:t>
            </a:r>
            <a:r>
              <a:rPr dirty="0" sz="4550" spc="-25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values.</a:t>
            </a:r>
            <a:endParaRPr sz="4550">
              <a:latin typeface="Calibri"/>
              <a:cs typeface="Calibri"/>
            </a:endParaRPr>
          </a:p>
          <a:p>
            <a:pPr algn="just" marL="78105">
              <a:lnSpc>
                <a:spcPct val="100000"/>
              </a:lnSpc>
              <a:spcBef>
                <a:spcPts val="775"/>
              </a:spcBef>
            </a:pPr>
            <a:r>
              <a:rPr dirty="0" sz="4600">
                <a:latin typeface="Calibri"/>
                <a:cs typeface="Calibri"/>
              </a:rPr>
              <a:t>For</a:t>
            </a:r>
            <a:r>
              <a:rPr dirty="0" sz="4600" spc="280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example,</a:t>
            </a:r>
            <a:r>
              <a:rPr dirty="0" sz="4600" spc="3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1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65">
                <a:latin typeface="Calibri"/>
                <a:cs typeface="Calibri"/>
              </a:rPr>
              <a:t> </a:t>
            </a:r>
            <a:r>
              <a:rPr dirty="0" sz="4600" spc="-145">
                <a:latin typeface="Calibri"/>
                <a:cs typeface="Calibri"/>
              </a:rPr>
              <a:t>three-</a:t>
            </a:r>
            <a:r>
              <a:rPr dirty="0" sz="4600" spc="-30">
                <a:latin typeface="Calibri"/>
                <a:cs typeface="Calibri"/>
              </a:rPr>
              <a:t>player</a:t>
            </a:r>
            <a:r>
              <a:rPr dirty="0" sz="4600" spc="63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game</a:t>
            </a:r>
            <a:r>
              <a:rPr dirty="0" sz="4600" spc="2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with</a:t>
            </a:r>
            <a:r>
              <a:rPr dirty="0" sz="4600" spc="190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players</a:t>
            </a:r>
            <a:r>
              <a:rPr dirty="0" sz="4600" spc="3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A,</a:t>
            </a:r>
            <a:r>
              <a:rPr dirty="0" sz="4600" spc="11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B,</a:t>
            </a:r>
            <a:r>
              <a:rPr dirty="0" sz="4600" spc="150">
                <a:latin typeface="Calibri"/>
                <a:cs typeface="Calibri"/>
              </a:rPr>
              <a:t> </a:t>
            </a:r>
            <a:r>
              <a:rPr dirty="0" sz="4600" spc="60">
                <a:latin typeface="Calibri"/>
                <a:cs typeface="Calibri"/>
              </a:rPr>
              <a:t>acd</a:t>
            </a:r>
            <a:r>
              <a:rPr dirty="0" sz="4600" spc="1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C,</a:t>
            </a:r>
            <a:r>
              <a:rPr dirty="0" sz="4600" spc="204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1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vector</a:t>
            </a:r>
            <a:endParaRPr sz="4600">
              <a:latin typeface="Calibri"/>
              <a:cs typeface="Calibri"/>
            </a:endParaRPr>
          </a:p>
          <a:p>
            <a:pPr algn="just" marL="99060">
              <a:lnSpc>
                <a:spcPct val="100000"/>
              </a:lnSpc>
              <a:spcBef>
                <a:spcPts val="20"/>
              </a:spcBef>
            </a:pPr>
            <a:r>
              <a:rPr dirty="0" sz="4350">
                <a:latin typeface="Calibri"/>
                <a:cs typeface="Calibri"/>
              </a:rPr>
              <a:t>&lt;v</a:t>
            </a:r>
            <a:r>
              <a:rPr dirty="0" baseline="-24109" sz="3975">
                <a:latin typeface="Calibri"/>
                <a:cs typeface="Calibri"/>
              </a:rPr>
              <a:t>A</a:t>
            </a:r>
            <a:r>
              <a:rPr dirty="0" sz="4350">
                <a:latin typeface="Calibri"/>
                <a:cs typeface="Calibri"/>
              </a:rPr>
              <a:t>,v</a:t>
            </a:r>
            <a:r>
              <a:rPr dirty="0" baseline="-24109" sz="3975">
                <a:latin typeface="Calibri"/>
                <a:cs typeface="Calibri"/>
              </a:rPr>
              <a:t>B</a:t>
            </a:r>
            <a:r>
              <a:rPr dirty="0" sz="4350">
                <a:latin typeface="Calibri"/>
                <a:cs typeface="Calibri"/>
              </a:rPr>
              <a:t>,v</a:t>
            </a:r>
            <a:r>
              <a:rPr dirty="0" baseline="-24109" sz="3975">
                <a:latin typeface="Calibri"/>
                <a:cs typeface="Calibri"/>
              </a:rPr>
              <a:t>C</a:t>
            </a:r>
            <a:r>
              <a:rPr dirty="0" sz="4350">
                <a:latin typeface="Calibri"/>
                <a:cs typeface="Calibri"/>
              </a:rPr>
              <a:t>&gt;</a:t>
            </a:r>
            <a:r>
              <a:rPr dirty="0" sz="4350" spc="-32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is</a:t>
            </a:r>
            <a:r>
              <a:rPr dirty="0" sz="4350" spc="3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associated</a:t>
            </a:r>
            <a:r>
              <a:rPr dirty="0" sz="4350" spc="23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with</a:t>
            </a:r>
            <a:r>
              <a:rPr dirty="0" sz="4350" spc="8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each</a:t>
            </a:r>
            <a:r>
              <a:rPr dirty="0" sz="4350" spc="114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node.</a:t>
            </a:r>
            <a:endParaRPr sz="4350">
              <a:latin typeface="Calibri"/>
              <a:cs typeface="Calibri"/>
            </a:endParaRPr>
          </a:p>
          <a:p>
            <a:pPr algn="just" marL="82550" marR="73660" indent="-3810">
              <a:lnSpc>
                <a:spcPct val="87700"/>
              </a:lnSpc>
              <a:spcBef>
                <a:spcPts val="1780"/>
              </a:spcBef>
            </a:pP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terminal</a:t>
            </a:r>
            <a:r>
              <a:rPr dirty="0" sz="4500" spc="2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states,</a:t>
            </a:r>
            <a:r>
              <a:rPr dirty="0" sz="4500" spc="2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this</a:t>
            </a:r>
            <a:r>
              <a:rPr dirty="0" sz="4500" spc="17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vector</a:t>
            </a:r>
            <a:r>
              <a:rPr dirty="0" sz="4500" spc="2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gives</a:t>
            </a:r>
            <a:r>
              <a:rPr dirty="0" sz="4500" spc="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1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utility</a:t>
            </a:r>
            <a:r>
              <a:rPr dirty="0" sz="4500" spc="1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17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1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state</a:t>
            </a:r>
            <a:r>
              <a:rPr dirty="0" sz="4500" spc="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from</a:t>
            </a:r>
            <a:r>
              <a:rPr dirty="0" sz="4500" spc="15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each </a:t>
            </a:r>
            <a:r>
              <a:rPr dirty="0" sz="4600">
                <a:latin typeface="Calibri"/>
                <a:cs typeface="Calibri"/>
              </a:rPr>
              <a:t>player's</a:t>
            </a:r>
            <a:r>
              <a:rPr dirty="0" sz="4600" spc="4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viewpoint.</a:t>
            </a:r>
            <a:r>
              <a:rPr dirty="0" sz="4600" spc="5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(In</a:t>
            </a:r>
            <a:r>
              <a:rPr dirty="0" sz="4600" spc="270">
                <a:latin typeface="Calibri"/>
                <a:cs typeface="Calibri"/>
              </a:rPr>
              <a:t> </a:t>
            </a:r>
            <a:r>
              <a:rPr dirty="0" sz="4600" spc="-185">
                <a:latin typeface="Calibri"/>
                <a:cs typeface="Calibri"/>
              </a:rPr>
              <a:t>two-</a:t>
            </a:r>
            <a:r>
              <a:rPr dirty="0" sz="4600">
                <a:latin typeface="Calibri"/>
                <a:cs typeface="Calibri"/>
              </a:rPr>
              <a:t>player,</a:t>
            </a:r>
            <a:r>
              <a:rPr dirty="0" sz="4600" spc="500">
                <a:latin typeface="Calibri"/>
                <a:cs typeface="Calibri"/>
              </a:rPr>
              <a:t> </a:t>
            </a:r>
            <a:r>
              <a:rPr dirty="0" sz="4600" spc="-125">
                <a:latin typeface="Calibri"/>
                <a:cs typeface="Calibri"/>
              </a:rPr>
              <a:t>zero-</a:t>
            </a:r>
            <a:r>
              <a:rPr dirty="0" sz="4600">
                <a:latin typeface="Calibri"/>
                <a:cs typeface="Calibri"/>
              </a:rPr>
              <a:t>sum</a:t>
            </a:r>
            <a:r>
              <a:rPr dirty="0" sz="4600" spc="5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games,</a:t>
            </a:r>
            <a:r>
              <a:rPr dirty="0" sz="4600" spc="44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330">
                <a:latin typeface="Calibri"/>
                <a:cs typeface="Calibri"/>
              </a:rPr>
              <a:t> </a:t>
            </a:r>
            <a:r>
              <a:rPr dirty="0" sz="4600" spc="-140">
                <a:latin typeface="Calibri"/>
                <a:cs typeface="Calibri"/>
              </a:rPr>
              <a:t>two-</a:t>
            </a:r>
            <a:r>
              <a:rPr dirty="0" sz="4600" spc="-50">
                <a:latin typeface="Calibri"/>
                <a:cs typeface="Calibri"/>
              </a:rPr>
              <a:t>element </a:t>
            </a:r>
            <a:r>
              <a:rPr dirty="0" sz="4500">
                <a:latin typeface="Calibri"/>
                <a:cs typeface="Calibri"/>
              </a:rPr>
              <a:t>vector</a:t>
            </a:r>
            <a:r>
              <a:rPr dirty="0" sz="4500" spc="2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can</a:t>
            </a:r>
            <a:r>
              <a:rPr dirty="0" sz="4500" spc="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</a:t>
            </a:r>
            <a:r>
              <a:rPr dirty="0" sz="4500" spc="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reduced</a:t>
            </a:r>
            <a:r>
              <a:rPr dirty="0" sz="4500" spc="2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single</a:t>
            </a:r>
            <a:r>
              <a:rPr dirty="0" sz="4500" spc="2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value</a:t>
            </a:r>
            <a:r>
              <a:rPr dirty="0" sz="4500" spc="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because</a:t>
            </a:r>
            <a:r>
              <a:rPr dirty="0" sz="4500" spc="2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values</a:t>
            </a:r>
            <a:r>
              <a:rPr dirty="0" sz="4500" spc="2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</a:t>
            </a:r>
            <a:r>
              <a:rPr dirty="0" sz="4500" spc="9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always </a:t>
            </a:r>
            <a:r>
              <a:rPr dirty="0" sz="4550" spc="-10">
                <a:latin typeface="Calibri"/>
                <a:cs typeface="Calibri"/>
              </a:rPr>
              <a:t>opposite.)</a:t>
            </a:r>
            <a:endParaRPr sz="4550">
              <a:latin typeface="Calibri"/>
              <a:cs typeface="Calibri"/>
            </a:endParaRPr>
          </a:p>
          <a:p>
            <a:pPr algn="just" marL="94615">
              <a:lnSpc>
                <a:spcPts val="5175"/>
              </a:lnSpc>
              <a:spcBef>
                <a:spcPts val="865"/>
              </a:spcBef>
            </a:pP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615">
                <a:latin typeface="Calibri"/>
                <a:cs typeface="Calibri"/>
              </a:rPr>
              <a:t>    </a:t>
            </a:r>
            <a:r>
              <a:rPr dirty="0" sz="4600">
                <a:latin typeface="Calibri"/>
                <a:cs typeface="Calibri"/>
              </a:rPr>
              <a:t>simplest</a:t>
            </a:r>
            <a:r>
              <a:rPr dirty="0" sz="4600" spc="625">
                <a:latin typeface="Calibri"/>
                <a:cs typeface="Calibri"/>
              </a:rPr>
              <a:t>    </a:t>
            </a:r>
            <a:r>
              <a:rPr dirty="0" sz="4600">
                <a:latin typeface="Calibri"/>
                <a:cs typeface="Calibri"/>
              </a:rPr>
              <a:t>way</a:t>
            </a:r>
            <a:r>
              <a:rPr dirty="0" sz="4600" spc="630">
                <a:latin typeface="Calibri"/>
                <a:cs typeface="Calibri"/>
              </a:rPr>
              <a:t>   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1130">
                <a:latin typeface="Calibri"/>
                <a:cs typeface="Calibri"/>
              </a:rPr>
              <a:t>   </a:t>
            </a:r>
            <a:r>
              <a:rPr dirty="0" sz="4600">
                <a:latin typeface="Calibri"/>
                <a:cs typeface="Calibri"/>
              </a:rPr>
              <a:t>implement</a:t>
            </a:r>
            <a:r>
              <a:rPr dirty="0" sz="4600" spc="670">
                <a:latin typeface="Calibri"/>
                <a:cs typeface="Calibri"/>
              </a:rPr>
              <a:t>    </a:t>
            </a:r>
            <a:r>
              <a:rPr dirty="0" sz="4600">
                <a:latin typeface="Calibri"/>
                <a:cs typeface="Calibri"/>
              </a:rPr>
              <a:t>this</a:t>
            </a:r>
            <a:r>
              <a:rPr dirty="0" sz="4600" spc="610">
                <a:latin typeface="Calibri"/>
                <a:cs typeface="Calibri"/>
              </a:rPr>
              <a:t>    </a:t>
            </a:r>
            <a:r>
              <a:rPr dirty="0" sz="4600">
                <a:latin typeface="Calibri"/>
                <a:cs typeface="Calibri"/>
              </a:rPr>
              <a:t>is</a:t>
            </a:r>
            <a:r>
              <a:rPr dirty="0" sz="4600" spc="605">
                <a:latin typeface="Calibri"/>
                <a:cs typeface="Calibri"/>
              </a:rPr>
              <a:t>   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1145">
                <a:latin typeface="Calibri"/>
                <a:cs typeface="Calibri"/>
              </a:rPr>
              <a:t>   </a:t>
            </a:r>
            <a:r>
              <a:rPr dirty="0" sz="4600" spc="-20">
                <a:latin typeface="Calibri"/>
                <a:cs typeface="Calibri"/>
              </a:rPr>
              <a:t>have</a:t>
            </a:r>
            <a:endParaRPr sz="4600">
              <a:latin typeface="Calibri"/>
              <a:cs typeface="Calibri"/>
            </a:endParaRPr>
          </a:p>
          <a:p>
            <a:pPr algn="just" marL="89535">
              <a:lnSpc>
                <a:spcPts val="5055"/>
              </a:lnSpc>
            </a:pPr>
            <a:r>
              <a:rPr dirty="0" sz="4500" spc="-25">
                <a:latin typeface="Calibri"/>
                <a:cs typeface="Calibri"/>
              </a:rPr>
              <a:t>the</a:t>
            </a:r>
            <a:r>
              <a:rPr dirty="0" sz="4500" spc="-22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UTILITY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 spc="-40">
                <a:latin typeface="Calibri"/>
                <a:cs typeface="Calibri"/>
              </a:rPr>
              <a:t>function</a:t>
            </a:r>
            <a:r>
              <a:rPr dirty="0" sz="4500" spc="-135">
                <a:latin typeface="Calibri"/>
                <a:cs typeface="Calibri"/>
              </a:rPr>
              <a:t> </a:t>
            </a:r>
            <a:r>
              <a:rPr dirty="0" sz="4500" spc="-35">
                <a:latin typeface="Calibri"/>
                <a:cs typeface="Calibri"/>
              </a:rPr>
              <a:t>return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 spc="85">
                <a:latin typeface="Calibri"/>
                <a:cs typeface="Calibri"/>
              </a:rPr>
              <a:t>a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 spc="-40">
                <a:latin typeface="Calibri"/>
                <a:cs typeface="Calibri"/>
              </a:rPr>
              <a:t>vector</a:t>
            </a:r>
            <a:r>
              <a:rPr dirty="0" sz="4500" spc="-1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utilities.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6400" rIns="0" bIns="0" rtlCol="0" vert="horz">
            <a:spAutoFit/>
          </a:bodyPr>
          <a:lstStyle/>
          <a:p>
            <a:pPr marL="817880">
              <a:lnSpc>
                <a:spcPct val="100000"/>
              </a:lnSpc>
              <a:spcBef>
                <a:spcPts val="100"/>
              </a:spcBef>
            </a:pPr>
            <a:r>
              <a:rPr dirty="0" sz="6050" spc="-640"/>
              <a:t>OpñmaT</a:t>
            </a:r>
            <a:r>
              <a:rPr dirty="0" sz="6050" spc="480"/>
              <a:t> </a:t>
            </a:r>
            <a:r>
              <a:rPr dirty="0" sz="6050" spc="-195"/>
              <a:t>decisions</a:t>
            </a:r>
            <a:r>
              <a:rPr dirty="0" sz="6050" spc="125"/>
              <a:t> </a:t>
            </a:r>
            <a:r>
              <a:rPr dirty="0" sz="6050" spc="-185"/>
              <a:t>in</a:t>
            </a:r>
            <a:r>
              <a:rPr dirty="0" sz="6050" spc="-135"/>
              <a:t> </a:t>
            </a:r>
            <a:r>
              <a:rPr dirty="0" sz="6050" spc="-285"/>
              <a:t>muiñplayer</a:t>
            </a:r>
            <a:r>
              <a:rPr dirty="0" sz="6050" spc="295"/>
              <a:t> </a:t>
            </a:r>
            <a:r>
              <a:rPr dirty="0" sz="6050" spc="-335"/>
              <a:t>games</a:t>
            </a:r>
            <a:endParaRPr sz="6050"/>
          </a:p>
        </p:txBody>
      </p:sp>
      <p:sp>
        <p:nvSpPr>
          <p:cNvPr id="3" name="object 3" descr=""/>
          <p:cNvSpPr txBox="1"/>
          <p:nvPr/>
        </p:nvSpPr>
        <p:spPr>
          <a:xfrm>
            <a:off x="1447321" y="1985962"/>
            <a:ext cx="16570325" cy="825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01320" indent="-387350">
              <a:lnSpc>
                <a:spcPts val="5010"/>
              </a:lnSpc>
              <a:spcBef>
                <a:spcPts val="100"/>
              </a:spcBef>
              <a:buChar char="•"/>
              <a:tabLst>
                <a:tab pos="401320" algn="l"/>
              </a:tabLst>
            </a:pPr>
            <a:r>
              <a:rPr dirty="0" sz="4400">
                <a:latin typeface="Calibri"/>
                <a:cs typeface="Calibri"/>
              </a:rPr>
              <a:t>Mulñplayer</a:t>
            </a:r>
            <a:r>
              <a:rPr dirty="0" sz="4400" spc="630">
                <a:latin typeface="Calibri"/>
                <a:cs typeface="Calibri"/>
              </a:rPr>
              <a:t>  </a:t>
            </a:r>
            <a:r>
              <a:rPr dirty="0" sz="4400">
                <a:latin typeface="Calibri"/>
                <a:cs typeface="Calibri"/>
              </a:rPr>
              <a:t>games</a:t>
            </a:r>
            <a:r>
              <a:rPr dirty="0" sz="4400" spc="500">
                <a:latin typeface="Calibri"/>
                <a:cs typeface="Calibri"/>
              </a:rPr>
              <a:t>  </a:t>
            </a:r>
            <a:r>
              <a:rPr dirty="0" sz="4400">
                <a:latin typeface="Calibri"/>
                <a:cs typeface="Calibri"/>
              </a:rPr>
              <a:t>usually</a:t>
            </a:r>
            <a:r>
              <a:rPr dirty="0" sz="4400" spc="484">
                <a:latin typeface="Calibri"/>
                <a:cs typeface="Calibri"/>
              </a:rPr>
              <a:t>  </a:t>
            </a:r>
            <a:r>
              <a:rPr dirty="0" sz="4400">
                <a:latin typeface="Calibri"/>
                <a:cs typeface="Calibri"/>
              </a:rPr>
              <a:t>involve</a:t>
            </a:r>
            <a:r>
              <a:rPr dirty="0" sz="4400" spc="515">
                <a:latin typeface="Calibri"/>
                <a:cs typeface="Calibri"/>
              </a:rPr>
              <a:t>  </a:t>
            </a:r>
            <a:r>
              <a:rPr dirty="0" sz="4400">
                <a:latin typeface="Calibri"/>
                <a:cs typeface="Calibri"/>
              </a:rPr>
              <a:t>alliances,</a:t>
            </a:r>
            <a:r>
              <a:rPr dirty="0" sz="4400" spc="560">
                <a:latin typeface="Calibri"/>
                <a:cs typeface="Calibri"/>
              </a:rPr>
              <a:t>  </a:t>
            </a:r>
            <a:r>
              <a:rPr dirty="0" sz="4400">
                <a:latin typeface="Calibri"/>
                <a:cs typeface="Calibri"/>
              </a:rPr>
              <a:t>whether</a:t>
            </a:r>
            <a:r>
              <a:rPr dirty="0" sz="4400" spc="550">
                <a:latin typeface="Calibri"/>
                <a:cs typeface="Calibri"/>
              </a:rPr>
              <a:t>  </a:t>
            </a:r>
            <a:r>
              <a:rPr dirty="0" sz="4400">
                <a:latin typeface="Calibri"/>
                <a:cs typeface="Calibri"/>
              </a:rPr>
              <a:t>formal</a:t>
            </a:r>
            <a:r>
              <a:rPr dirty="0" sz="4400" spc="490">
                <a:latin typeface="Calibri"/>
                <a:cs typeface="Calibri"/>
              </a:rPr>
              <a:t>  </a:t>
            </a:r>
            <a:r>
              <a:rPr dirty="0" sz="4400" spc="-25">
                <a:latin typeface="Calibri"/>
                <a:cs typeface="Calibri"/>
              </a:rPr>
              <a:t>or</a:t>
            </a:r>
            <a:endParaRPr sz="4400">
              <a:latin typeface="Calibri"/>
              <a:cs typeface="Calibri"/>
            </a:endParaRPr>
          </a:p>
          <a:p>
            <a:pPr algn="just" marL="401320">
              <a:lnSpc>
                <a:spcPts val="5130"/>
              </a:lnSpc>
            </a:pPr>
            <a:r>
              <a:rPr dirty="0" sz="4500" spc="-35">
                <a:latin typeface="Calibri"/>
                <a:cs typeface="Calibri"/>
              </a:rPr>
              <a:t>informal,</a:t>
            </a:r>
            <a:r>
              <a:rPr dirty="0" sz="4500" spc="-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among</a:t>
            </a:r>
            <a:r>
              <a:rPr dirty="0" sz="4500" spc="-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players.</a:t>
            </a:r>
            <a:endParaRPr sz="4500">
              <a:latin typeface="Calibri"/>
              <a:cs typeface="Calibri"/>
            </a:endParaRPr>
          </a:p>
          <a:p>
            <a:pPr algn="just" marL="398780" indent="-386080">
              <a:lnSpc>
                <a:spcPct val="100000"/>
              </a:lnSpc>
              <a:spcBef>
                <a:spcPts val="960"/>
              </a:spcBef>
              <a:buChar char="•"/>
              <a:tabLst>
                <a:tab pos="398780" algn="l"/>
              </a:tabLst>
            </a:pPr>
            <a:r>
              <a:rPr dirty="0" sz="4550" spc="-35">
                <a:latin typeface="Calibri"/>
                <a:cs typeface="Calibri"/>
              </a:rPr>
              <a:t>Alliances</a:t>
            </a:r>
            <a:r>
              <a:rPr dirty="0" sz="4550" spc="-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are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made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and</a:t>
            </a:r>
            <a:r>
              <a:rPr dirty="0" sz="4550" spc="-150">
                <a:latin typeface="Calibri"/>
                <a:cs typeface="Calibri"/>
              </a:rPr>
              <a:t> </a:t>
            </a:r>
            <a:r>
              <a:rPr dirty="0" sz="4550" spc="-60">
                <a:latin typeface="Calibri"/>
                <a:cs typeface="Calibri"/>
              </a:rPr>
              <a:t>broken</a:t>
            </a:r>
            <a:r>
              <a:rPr dirty="0" sz="4550" spc="-1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as</a:t>
            </a:r>
            <a:r>
              <a:rPr dirty="0" sz="4550" spc="-2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9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game</a:t>
            </a:r>
            <a:r>
              <a:rPr dirty="0" sz="4550" spc="-14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proceeds.</a:t>
            </a:r>
            <a:endParaRPr sz="4550">
              <a:latin typeface="Calibri"/>
              <a:cs typeface="Calibri"/>
            </a:endParaRPr>
          </a:p>
          <a:p>
            <a:pPr algn="just" marL="31115" marR="10160" indent="12700">
              <a:lnSpc>
                <a:spcPct val="89400"/>
              </a:lnSpc>
              <a:spcBef>
                <a:spcPts val="1615"/>
              </a:spcBef>
            </a:pPr>
            <a:r>
              <a:rPr dirty="0" sz="4500">
                <a:latin typeface="Calibri"/>
                <a:cs typeface="Calibri"/>
              </a:rPr>
              <a:t>suppose</a:t>
            </a:r>
            <a:r>
              <a:rPr dirty="0" sz="4500" spc="4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2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</a:t>
            </a:r>
            <a:r>
              <a:rPr dirty="0" sz="4500" spc="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</a:t>
            </a:r>
            <a:r>
              <a:rPr dirty="0" sz="4500" spc="2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weak</a:t>
            </a:r>
            <a:r>
              <a:rPr dirty="0" sz="4500" spc="3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positions</a:t>
            </a:r>
            <a:r>
              <a:rPr dirty="0" sz="4500" spc="3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2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</a:t>
            </a:r>
            <a:r>
              <a:rPr dirty="0" sz="4500" spc="1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stronger</a:t>
            </a:r>
            <a:r>
              <a:rPr dirty="0" sz="4500" spc="45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posiñon. </a:t>
            </a:r>
            <a:r>
              <a:rPr dirty="0" sz="4500">
                <a:latin typeface="Calibri"/>
                <a:cs typeface="Calibri"/>
              </a:rPr>
              <a:t>Then</a:t>
            </a:r>
            <a:r>
              <a:rPr dirty="0" sz="4500" spc="2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it</a:t>
            </a:r>
            <a:r>
              <a:rPr dirty="0" sz="4500" spc="2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is</a:t>
            </a:r>
            <a:r>
              <a:rPr dirty="0" sz="4500" spc="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often</a:t>
            </a:r>
            <a:r>
              <a:rPr dirty="0" sz="4500" spc="2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opñmal</a:t>
            </a:r>
            <a:r>
              <a:rPr dirty="0" sz="4500" spc="3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2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both</a:t>
            </a:r>
            <a:r>
              <a:rPr dirty="0" sz="4500" spc="265">
                <a:latin typeface="Calibri"/>
                <a:cs typeface="Calibri"/>
              </a:rPr>
              <a:t> </a:t>
            </a:r>
            <a:r>
              <a:rPr dirty="0" sz="4500" spc="50">
                <a:latin typeface="Calibri"/>
                <a:cs typeface="Calibri"/>
              </a:rPr>
              <a:t>A</a:t>
            </a:r>
            <a:r>
              <a:rPr dirty="0" sz="4500" spc="1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25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</a:t>
            </a:r>
            <a:r>
              <a:rPr dirty="0" sz="4500" spc="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attack</a:t>
            </a:r>
            <a:r>
              <a:rPr dirty="0" sz="4500" spc="3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</a:t>
            </a:r>
            <a:r>
              <a:rPr dirty="0" sz="4500" spc="1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rather</a:t>
            </a:r>
            <a:r>
              <a:rPr dirty="0" sz="4500" spc="4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than</a:t>
            </a:r>
            <a:r>
              <a:rPr dirty="0" sz="4500" spc="25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each </a:t>
            </a:r>
            <a:r>
              <a:rPr dirty="0" sz="4500" spc="-65">
                <a:latin typeface="Calibri"/>
                <a:cs typeface="Calibri"/>
              </a:rPr>
              <a:t>other,</a:t>
            </a:r>
            <a:r>
              <a:rPr dirty="0" sz="4500" spc="-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lest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</a:t>
            </a:r>
            <a:r>
              <a:rPr dirty="0" sz="4500" spc="-20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destroy</a:t>
            </a:r>
            <a:r>
              <a:rPr dirty="0" sz="4500" spc="-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each</a:t>
            </a:r>
            <a:r>
              <a:rPr dirty="0" sz="4500" spc="-2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them</a:t>
            </a:r>
            <a:r>
              <a:rPr dirty="0" sz="4500" spc="-105">
                <a:latin typeface="Calibri"/>
                <a:cs typeface="Calibri"/>
              </a:rPr>
              <a:t> </a:t>
            </a:r>
            <a:r>
              <a:rPr dirty="0" sz="4500" spc="-40">
                <a:latin typeface="Calibri"/>
                <a:cs typeface="Calibri"/>
              </a:rPr>
              <a:t>individually.</a:t>
            </a:r>
            <a:r>
              <a:rPr dirty="0" sz="4500" spc="1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-2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this</a:t>
            </a:r>
            <a:r>
              <a:rPr dirty="0" sz="4500" spc="-185">
                <a:latin typeface="Calibri"/>
                <a:cs typeface="Calibri"/>
              </a:rPr>
              <a:t> </a:t>
            </a:r>
            <a:r>
              <a:rPr dirty="0" sz="4500" spc="-80">
                <a:latin typeface="Calibri"/>
                <a:cs typeface="Calibri"/>
              </a:rPr>
              <a:t>way,</a:t>
            </a:r>
            <a:r>
              <a:rPr dirty="0" sz="4500" spc="-6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collaborañon </a:t>
            </a:r>
            <a:r>
              <a:rPr dirty="0" sz="4500" spc="-20">
                <a:latin typeface="Calibri"/>
                <a:cs typeface="Calibri"/>
              </a:rPr>
              <a:t>emerges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from</a:t>
            </a:r>
            <a:r>
              <a:rPr dirty="0" sz="4500" spc="-254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purely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selfish</a:t>
            </a:r>
            <a:r>
              <a:rPr dirty="0" sz="4500" spc="-22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behavior.</a:t>
            </a:r>
            <a:endParaRPr sz="4500">
              <a:latin typeface="Calibri"/>
              <a:cs typeface="Calibri"/>
            </a:endParaRPr>
          </a:p>
          <a:p>
            <a:pPr algn="just" marL="29209">
              <a:lnSpc>
                <a:spcPts val="5205"/>
              </a:lnSpc>
              <a:spcBef>
                <a:spcPts val="1000"/>
              </a:spcBef>
            </a:pP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course,</a:t>
            </a:r>
            <a:r>
              <a:rPr dirty="0" sz="4550" spc="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as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soon</a:t>
            </a:r>
            <a:r>
              <a:rPr dirty="0" sz="4550" spc="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as</a:t>
            </a:r>
            <a:r>
              <a:rPr dirty="0" sz="4550" spc="-1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</a:t>
            </a:r>
            <a:r>
              <a:rPr dirty="0" sz="4550" spc="-105">
                <a:latin typeface="Calibri"/>
                <a:cs typeface="Calibri"/>
              </a:rPr>
              <a:t> </a:t>
            </a:r>
            <a:r>
              <a:rPr dirty="0" sz="4550" spc="-40">
                <a:latin typeface="Calibri"/>
                <a:cs typeface="Calibri"/>
              </a:rPr>
              <a:t>weakens</a:t>
            </a:r>
            <a:r>
              <a:rPr dirty="0" sz="4550" spc="-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under</a:t>
            </a:r>
            <a:r>
              <a:rPr dirty="0" sz="4550" spc="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joint</a:t>
            </a:r>
            <a:r>
              <a:rPr dirty="0" sz="4550" spc="-6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onslaught,</a:t>
            </a:r>
            <a:r>
              <a:rPr dirty="0" sz="4550" spc="1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4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alliance</a:t>
            </a:r>
            <a:endParaRPr sz="4550">
              <a:latin typeface="Calibri"/>
              <a:cs typeface="Calibri"/>
            </a:endParaRPr>
          </a:p>
          <a:p>
            <a:pPr algn="just" marL="34925">
              <a:lnSpc>
                <a:spcPts val="5025"/>
              </a:lnSpc>
            </a:pPr>
            <a:r>
              <a:rPr dirty="0" sz="4400">
                <a:latin typeface="Calibri"/>
                <a:cs typeface="Calibri"/>
              </a:rPr>
              <a:t>loses</a:t>
            </a:r>
            <a:r>
              <a:rPr dirty="0" sz="4400" spc="6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its</a:t>
            </a:r>
            <a:r>
              <a:rPr dirty="0" sz="4400" spc="-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value,</a:t>
            </a:r>
            <a:r>
              <a:rPr dirty="0" sz="4400" spc="4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and</a:t>
            </a:r>
            <a:r>
              <a:rPr dirty="0" sz="4400" spc="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either</a:t>
            </a:r>
            <a:r>
              <a:rPr dirty="0" sz="4400" spc="170">
                <a:latin typeface="Calibri"/>
                <a:cs typeface="Calibri"/>
              </a:rPr>
              <a:t> </a:t>
            </a:r>
            <a:r>
              <a:rPr dirty="0" sz="4400" spc="75">
                <a:latin typeface="Calibri"/>
                <a:cs typeface="Calibri"/>
              </a:rPr>
              <a:t>A</a:t>
            </a:r>
            <a:r>
              <a:rPr dirty="0" sz="4400" spc="-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or</a:t>
            </a:r>
            <a:r>
              <a:rPr dirty="0" sz="4400" spc="-25">
                <a:latin typeface="Calibri"/>
                <a:cs typeface="Calibri"/>
              </a:rPr>
              <a:t> </a:t>
            </a:r>
            <a:r>
              <a:rPr dirty="0" sz="4400" spc="95">
                <a:latin typeface="Calibri"/>
                <a:cs typeface="Calibri"/>
              </a:rPr>
              <a:t>B</a:t>
            </a:r>
            <a:r>
              <a:rPr dirty="0" sz="4400" spc="-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could</a:t>
            </a:r>
            <a:r>
              <a:rPr dirty="0" sz="4400" spc="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violate</a:t>
            </a:r>
            <a:r>
              <a:rPr dirty="0" sz="4400" spc="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7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agreement.</a:t>
            </a:r>
            <a:endParaRPr sz="4400">
              <a:latin typeface="Calibri"/>
              <a:cs typeface="Calibri"/>
            </a:endParaRPr>
          </a:p>
          <a:p>
            <a:pPr algn="just" marL="33020" marR="8255" indent="6985">
              <a:lnSpc>
                <a:spcPts val="4800"/>
              </a:lnSpc>
              <a:spcBef>
                <a:spcPts val="1730"/>
              </a:spcBef>
            </a:pP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10">
                <a:solidFill>
                  <a:srgbClr val="2369A0"/>
                </a:solidFill>
                <a:latin typeface="Calibri"/>
                <a:cs typeface="Calibri"/>
              </a:rPr>
              <a:t>social</a:t>
            </a:r>
            <a:r>
              <a:rPr dirty="0" sz="4600" spc="-250">
                <a:solidFill>
                  <a:srgbClr val="2369A0"/>
                </a:solidFill>
                <a:latin typeface="Calibri"/>
                <a:cs typeface="Calibri"/>
              </a:rPr>
              <a:t> </a:t>
            </a:r>
            <a:r>
              <a:rPr dirty="0" sz="4600" spc="-40">
                <a:solidFill>
                  <a:srgbClr val="1C79AC"/>
                </a:solidFill>
                <a:latin typeface="Calibri"/>
                <a:cs typeface="Calibri"/>
              </a:rPr>
              <a:t>stigma</a:t>
            </a:r>
            <a:r>
              <a:rPr dirty="0" sz="4600" spc="-150">
                <a:solidFill>
                  <a:srgbClr val="1C79AC"/>
                </a:solidFill>
                <a:latin typeface="Calibri"/>
                <a:cs typeface="Calibri"/>
              </a:rPr>
              <a:t> </a:t>
            </a:r>
            <a:r>
              <a:rPr dirty="0" sz="4600" spc="-80">
                <a:latin typeface="Calibri"/>
                <a:cs typeface="Calibri"/>
              </a:rPr>
              <a:t>attaches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breaking</a:t>
            </a:r>
            <a:r>
              <a:rPr dirty="0" sz="4600" spc="-12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alliance,</a:t>
            </a:r>
            <a:r>
              <a:rPr dirty="0" sz="4600" spc="-3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so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70">
                <a:latin typeface="Calibri"/>
                <a:cs typeface="Calibri"/>
              </a:rPr>
              <a:t>players</a:t>
            </a:r>
            <a:r>
              <a:rPr dirty="0" sz="4600" spc="-11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must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balance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49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immediate</a:t>
            </a:r>
            <a:r>
              <a:rPr dirty="0" sz="4600" spc="645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advantage</a:t>
            </a:r>
            <a:r>
              <a:rPr dirty="0" sz="4600" spc="65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53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breaking</a:t>
            </a:r>
            <a:r>
              <a:rPr dirty="0" sz="4600" spc="57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an</a:t>
            </a:r>
            <a:r>
              <a:rPr dirty="0" sz="4600" spc="48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alliance</a:t>
            </a:r>
            <a:r>
              <a:rPr dirty="0" sz="4600" spc="57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against</a:t>
            </a:r>
            <a:r>
              <a:rPr dirty="0" sz="4600" spc="550">
                <a:latin typeface="Calibri"/>
                <a:cs typeface="Calibri"/>
              </a:rPr>
              <a:t>  </a:t>
            </a:r>
            <a:r>
              <a:rPr dirty="0" sz="4600" spc="-25">
                <a:latin typeface="Calibri"/>
                <a:cs typeface="Calibri"/>
              </a:rPr>
              <a:t>the </a:t>
            </a:r>
            <a:r>
              <a:rPr dirty="0" sz="4550" spc="-85">
                <a:latin typeface="Calibri"/>
                <a:cs typeface="Calibri"/>
              </a:rPr>
              <a:t>long-</a:t>
            </a:r>
            <a:r>
              <a:rPr dirty="0" sz="4550">
                <a:latin typeface="Calibri"/>
                <a:cs typeface="Calibri"/>
              </a:rPr>
              <a:t>term</a:t>
            </a:r>
            <a:r>
              <a:rPr dirty="0" sz="4550" spc="40">
                <a:latin typeface="Calibri"/>
                <a:cs typeface="Calibri"/>
              </a:rPr>
              <a:t> </a:t>
            </a:r>
            <a:r>
              <a:rPr dirty="0" sz="4550" spc="-55">
                <a:latin typeface="Calibri"/>
                <a:cs typeface="Calibri"/>
              </a:rPr>
              <a:t>disadvantage</a:t>
            </a:r>
            <a:r>
              <a:rPr dirty="0" sz="4550" spc="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being</a:t>
            </a:r>
            <a:r>
              <a:rPr dirty="0" sz="4550" spc="-175">
                <a:latin typeface="Calibri"/>
                <a:cs typeface="Calibri"/>
              </a:rPr>
              <a:t> </a:t>
            </a:r>
            <a:r>
              <a:rPr dirty="0" sz="4550" spc="-40">
                <a:latin typeface="Calibri"/>
                <a:cs typeface="Calibri"/>
              </a:rPr>
              <a:t>perceived</a:t>
            </a:r>
            <a:r>
              <a:rPr dirty="0" sz="4550" spc="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as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untrustworthy.</a:t>
            </a:r>
            <a:endParaRPr sz="4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8475" y="7658100"/>
            <a:ext cx="466725" cy="42862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06650" y="7677150"/>
            <a:ext cx="504825" cy="4095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3400" y="7658100"/>
            <a:ext cx="647700" cy="4476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3550" y="4514850"/>
            <a:ext cx="304800" cy="342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3550" y="2952750"/>
            <a:ext cx="285750" cy="3524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3550" y="1285875"/>
            <a:ext cx="342900" cy="3429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62350" y="1162050"/>
            <a:ext cx="14316075" cy="521017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9144" y="7211568"/>
            <a:ext cx="19385280" cy="106680"/>
            <a:chOff x="9144" y="7211568"/>
            <a:chExt cx="19385280" cy="106680"/>
          </a:xfrm>
        </p:grpSpPr>
        <p:sp>
          <p:nvSpPr>
            <p:cNvPr id="10" name="object 10" descr=""/>
            <p:cNvSpPr/>
            <p:nvPr/>
          </p:nvSpPr>
          <p:spPr>
            <a:xfrm>
              <a:off x="9144" y="7307580"/>
              <a:ext cx="19385280" cy="0"/>
            </a:xfrm>
            <a:custGeom>
              <a:avLst/>
              <a:gdLst/>
              <a:ahLst/>
              <a:cxnLst/>
              <a:rect l="l" t="t" r="r" b="b"/>
              <a:pathLst>
                <a:path w="19385280" h="0">
                  <a:moveTo>
                    <a:pt x="0" y="0"/>
                  </a:moveTo>
                  <a:lnTo>
                    <a:pt x="19385280" y="0"/>
                  </a:lnTo>
                </a:path>
              </a:pathLst>
            </a:custGeom>
            <a:ln w="21336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" y="7249668"/>
              <a:ext cx="19385280" cy="0"/>
            </a:xfrm>
            <a:custGeom>
              <a:avLst/>
              <a:gdLst/>
              <a:ahLst/>
              <a:cxnLst/>
              <a:rect l="l" t="t" r="r" b="b"/>
              <a:pathLst>
                <a:path w="19385280" h="0">
                  <a:moveTo>
                    <a:pt x="0" y="0"/>
                  </a:moveTo>
                  <a:lnTo>
                    <a:pt x="19385280" y="0"/>
                  </a:lnTo>
                </a:path>
              </a:pathLst>
            </a:custGeom>
            <a:ln w="21336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144" y="7222236"/>
              <a:ext cx="19385280" cy="0"/>
            </a:xfrm>
            <a:custGeom>
              <a:avLst/>
              <a:gdLst/>
              <a:ahLst/>
              <a:cxnLst/>
              <a:rect l="l" t="t" r="r" b="b"/>
              <a:pathLst>
                <a:path w="19385280" h="0">
                  <a:moveTo>
                    <a:pt x="0" y="0"/>
                  </a:moveTo>
                  <a:lnTo>
                    <a:pt x="19385280" y="0"/>
                  </a:lnTo>
                </a:path>
              </a:pathLst>
            </a:custGeom>
            <a:ln w="21336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63025" y="1295400"/>
            <a:ext cx="1247775" cy="3048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15752" y="573087"/>
            <a:ext cx="165544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dirty="0" sz="4050" spc="4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050" spc="-85">
                <a:solidFill>
                  <a:srgbClr val="1F1F1F"/>
                </a:solidFill>
                <a:latin typeface="Times New Roman"/>
                <a:cs typeface="Times New Roman"/>
              </a:rPr>
              <a:t>move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16980" y="5745162"/>
            <a:ext cx="36893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65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954646" y="4402137"/>
            <a:ext cx="116459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9644" algn="l"/>
              </a:tabLst>
            </a:pPr>
            <a:r>
              <a:rPr dirty="0" sz="2850">
                <a:solidFill>
                  <a:srgbClr val="0F0F0F"/>
                </a:solidFill>
                <a:latin typeface="Calibri"/>
                <a:cs typeface="Calibri"/>
              </a:rPr>
              <a:t>(</a:t>
            </a:r>
            <a:r>
              <a:rPr dirty="0" sz="2850" spc="-13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850" spc="-570">
                <a:solidFill>
                  <a:srgbClr val="0F0F0F"/>
                </a:solidFill>
                <a:latin typeface="Calibri"/>
                <a:cs typeface="Calibri"/>
              </a:rPr>
              <a:t>1</a:t>
            </a:r>
            <a:r>
              <a:rPr dirty="0" sz="2850" spc="-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2850" spc="-285">
                <a:solidFill>
                  <a:srgbClr val="1A1A1A"/>
                </a:solidFill>
                <a:latin typeface="Calibri"/>
                <a:cs typeface="Calibri"/>
              </a:rPr>
              <a:t>.</a:t>
            </a:r>
            <a:r>
              <a:rPr dirty="0" sz="2850" spc="2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850" spc="-465">
                <a:solidFill>
                  <a:srgbClr val="0F0F0F"/>
                </a:solidFill>
                <a:latin typeface="Calibri"/>
                <a:cs typeface="Calibri"/>
              </a:rPr>
              <a:t>ñ.</a:t>
            </a:r>
            <a:r>
              <a:rPr dirty="0" sz="2850">
                <a:solidFill>
                  <a:srgbClr val="0F0F0F"/>
                </a:solidFill>
                <a:latin typeface="Calibri"/>
                <a:cs typeface="Calibri"/>
              </a:rPr>
              <a:t>	</a:t>
            </a:r>
            <a:r>
              <a:rPr dirty="0" sz="2850" spc="-475">
                <a:solidFill>
                  <a:srgbClr val="181818"/>
                </a:solidFill>
                <a:latin typeface="Calibri"/>
                <a:cs typeface="Calibri"/>
              </a:rPr>
              <a:t>6)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10137" y="2833687"/>
            <a:ext cx="129286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720" algn="l"/>
                <a:tab pos="954405" algn="l"/>
              </a:tabLst>
            </a:pPr>
            <a:r>
              <a:rPr dirty="0" sz="3050" spc="-295">
                <a:solidFill>
                  <a:srgbClr val="363636"/>
                </a:solidFill>
                <a:latin typeface="Times New Roman"/>
                <a:cs typeface="Times New Roman"/>
              </a:rPr>
              <a:t>(</a:t>
            </a:r>
            <a:r>
              <a:rPr dirty="0" sz="3050" spc="-10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3050" spc="-35">
                <a:solidFill>
                  <a:srgbClr val="131313"/>
                </a:solidFill>
                <a:latin typeface="Times New Roman"/>
                <a:cs typeface="Times New Roman"/>
              </a:rPr>
              <a:t>l.</a:t>
            </a:r>
            <a:r>
              <a:rPr dirty="0" sz="3050">
                <a:solidFill>
                  <a:srgbClr val="131313"/>
                </a:solidFill>
                <a:latin typeface="Times New Roman"/>
                <a:cs typeface="Times New Roman"/>
              </a:rPr>
              <a:t>	</a:t>
            </a:r>
            <a:r>
              <a:rPr dirty="0" sz="3050" spc="-335">
                <a:solidFill>
                  <a:srgbClr val="111111"/>
                </a:solidFill>
                <a:latin typeface="Times New Roman"/>
                <a:cs typeface="Times New Roman"/>
              </a:rPr>
              <a:t>?,</a:t>
            </a:r>
            <a:r>
              <a:rPr dirty="0" sz="305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3050" spc="50">
                <a:solidFill>
                  <a:srgbClr val="0C0C0C"/>
                </a:solidFill>
                <a:latin typeface="Times New Roman"/>
                <a:cs typeface="Times New Roman"/>
              </a:rPr>
              <a:t>6l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877037" y="4376737"/>
            <a:ext cx="131826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95">
                <a:solidFill>
                  <a:srgbClr val="080808"/>
                </a:solidFill>
                <a:latin typeface="Times New Roman"/>
                <a:cs typeface="Times New Roman"/>
              </a:rPr>
              <a:t>(6.</a:t>
            </a:r>
            <a:r>
              <a:rPr dirty="0" sz="3050" spc="25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3050" spc="-150">
                <a:solidFill>
                  <a:srgbClr val="0F0F0F"/>
                </a:solidFill>
                <a:latin typeface="Times New Roman"/>
                <a:cs typeface="Times New Roman"/>
              </a:rPr>
              <a:t>l</a:t>
            </a:r>
            <a:r>
              <a:rPr dirty="0" sz="3050" spc="-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1C1C1C"/>
                </a:solidFill>
                <a:latin typeface="Times New Roman"/>
                <a:cs typeface="Times New Roman"/>
              </a:rPr>
              <a:t>.</a:t>
            </a:r>
            <a:r>
              <a:rPr dirty="0" sz="3050" spc="6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3050" spc="-25">
                <a:latin typeface="Times New Roman"/>
                <a:cs typeface="Times New Roman"/>
              </a:rPr>
              <a:t>2)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182118" y="6486525"/>
            <a:ext cx="1114298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4405" algn="l"/>
                <a:tab pos="1974214" algn="l"/>
                <a:tab pos="2506345" algn="l"/>
                <a:tab pos="2925445" algn="l"/>
                <a:tab pos="3917315" algn="l"/>
                <a:tab pos="4512310" algn="l"/>
                <a:tab pos="5936615" algn="l"/>
                <a:tab pos="6479540" algn="l"/>
                <a:tab pos="6804025" algn="l"/>
                <a:tab pos="7990840" algn="l"/>
                <a:tab pos="9889490" algn="l"/>
              </a:tabLst>
            </a:pPr>
            <a:r>
              <a:rPr dirty="0" sz="2900" spc="55">
                <a:solidFill>
                  <a:srgbClr val="2D2D2D"/>
                </a:solidFill>
                <a:latin typeface="Times New Roman"/>
                <a:cs typeface="Times New Roman"/>
              </a:rPr>
              <a:t>(</a:t>
            </a:r>
            <a:r>
              <a:rPr dirty="0" sz="2900" spc="55">
                <a:latin typeface="Times New Roman"/>
                <a:cs typeface="Times New Roman"/>
              </a:rPr>
              <a:t>1</a:t>
            </a:r>
            <a:r>
              <a:rPr dirty="0" sz="2900" spc="-3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,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?,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25">
                <a:solidFill>
                  <a:srgbClr val="3D3D3D"/>
                </a:solidFill>
                <a:latin typeface="Times New Roman"/>
                <a:cs typeface="Times New Roman"/>
              </a:rPr>
              <a:t>6)</a:t>
            </a:r>
            <a:r>
              <a:rPr dirty="0" sz="2900">
                <a:solidFill>
                  <a:srgbClr val="3D3D3D"/>
                </a:solidFill>
                <a:latin typeface="Times New Roman"/>
                <a:cs typeface="Times New Roman"/>
              </a:rPr>
              <a:t>	</a:t>
            </a:r>
            <a:r>
              <a:rPr dirty="0" sz="2900" spc="-25">
                <a:latin typeface="Times New Roman"/>
                <a:cs typeface="Times New Roman"/>
              </a:rPr>
              <a:t>(4,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25">
                <a:solidFill>
                  <a:srgbClr val="0E0E0E"/>
                </a:solidFill>
                <a:latin typeface="Times New Roman"/>
                <a:cs typeface="Times New Roman"/>
              </a:rPr>
              <a:t>?.</a:t>
            </a:r>
            <a:r>
              <a:rPr dirty="0" sz="290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2900" spc="-25">
                <a:latin typeface="Times New Roman"/>
                <a:cs typeface="Times New Roman"/>
              </a:rPr>
              <a:t>?)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25">
                <a:latin typeface="Times New Roman"/>
                <a:cs typeface="Times New Roman"/>
              </a:rPr>
              <a:t>(6.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>
                <a:solidFill>
                  <a:srgbClr val="333333"/>
                </a:solidFill>
                <a:latin typeface="Times New Roman"/>
                <a:cs typeface="Times New Roman"/>
              </a:rPr>
              <a:t>l</a:t>
            </a:r>
            <a:r>
              <a:rPr dirty="0" sz="2900" spc="-15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r>
              <a:rPr dirty="0" sz="290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?)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25">
                <a:solidFill>
                  <a:srgbClr val="050505"/>
                </a:solidFill>
                <a:latin typeface="Times New Roman"/>
                <a:cs typeface="Times New Roman"/>
              </a:rPr>
              <a:t>(7.</a:t>
            </a:r>
            <a:r>
              <a:rPr dirty="0" sz="2900">
                <a:solidFill>
                  <a:srgbClr val="050505"/>
                </a:solidFill>
                <a:latin typeface="Times New Roman"/>
                <a:cs typeface="Times New Roman"/>
              </a:rPr>
              <a:t>	</a:t>
            </a:r>
            <a:r>
              <a:rPr dirty="0" sz="2900" spc="-50">
                <a:latin typeface="Times New Roman"/>
                <a:cs typeface="Times New Roman"/>
              </a:rPr>
              <a:t>4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35">
                <a:latin typeface="Times New Roman"/>
                <a:cs typeface="Times New Roman"/>
              </a:rPr>
              <a:t>1)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>
                <a:solidFill>
                  <a:srgbClr val="3B3B3B"/>
                </a:solidFill>
                <a:latin typeface="Times New Roman"/>
                <a:cs typeface="Times New Roman"/>
              </a:rPr>
              <a:t>I</a:t>
            </a:r>
            <a:r>
              <a:rPr dirty="0" sz="2900">
                <a:latin typeface="Times New Roman"/>
                <a:cs typeface="Times New Roman"/>
              </a:rPr>
              <a:t>?i,l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,l</a:t>
            </a:r>
            <a:r>
              <a:rPr dirty="0" sz="2900" spc="200">
                <a:latin typeface="Times New Roman"/>
                <a:cs typeface="Times New Roman"/>
              </a:rPr>
              <a:t> </a:t>
            </a:r>
            <a:r>
              <a:rPr dirty="0" sz="2900" spc="-50">
                <a:solidFill>
                  <a:srgbClr val="131313"/>
                </a:solidFill>
                <a:latin typeface="Times New Roman"/>
                <a:cs typeface="Times New Roman"/>
              </a:rPr>
              <a:t>)</a:t>
            </a:r>
            <a:r>
              <a:rPr dirty="0" sz="2900">
                <a:solidFill>
                  <a:srgbClr val="131313"/>
                </a:solidFill>
                <a:latin typeface="Times New Roman"/>
                <a:cs typeface="Times New Roman"/>
              </a:rPr>
              <a:t>	</a:t>
            </a:r>
            <a:r>
              <a:rPr dirty="0" sz="2900" spc="-250">
                <a:solidFill>
                  <a:srgbClr val="262626"/>
                </a:solidFill>
                <a:latin typeface="Times New Roman"/>
                <a:cs typeface="Times New Roman"/>
              </a:rPr>
              <a:t>(</a:t>
            </a:r>
            <a:r>
              <a:rPr dirty="0" sz="2900" spc="1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0A0A0A"/>
                </a:solidFill>
                <a:latin typeface="Times New Roman"/>
                <a:cs typeface="Times New Roman"/>
              </a:rPr>
              <a:t>l</a:t>
            </a:r>
            <a:r>
              <a:rPr dirty="0" sz="2900" spc="-14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. fi.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?)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040750" y="6486525"/>
            <a:ext cx="120332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6420" algn="l"/>
              </a:tabLst>
            </a:pPr>
            <a:r>
              <a:rPr dirty="0" sz="2900" spc="-25">
                <a:solidFill>
                  <a:srgbClr val="111111"/>
                </a:solidFill>
                <a:latin typeface="Times New Roman"/>
                <a:cs typeface="Times New Roman"/>
              </a:rPr>
              <a:t>(7,</a:t>
            </a:r>
            <a:r>
              <a:rPr dirty="0" sz="290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7</a:t>
            </a:r>
            <a:r>
              <a:rPr dirty="0" sz="2900" spc="36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1)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907650" y="6486525"/>
            <a:ext cx="131000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3294" algn="l"/>
              </a:tabLst>
            </a:pPr>
            <a:r>
              <a:rPr dirty="0" sz="2900" spc="-75">
                <a:solidFill>
                  <a:srgbClr val="0C0C0C"/>
                </a:solidFill>
                <a:latin typeface="Times New Roman"/>
                <a:cs typeface="Times New Roman"/>
              </a:rPr>
              <a:t>(5i.</a:t>
            </a:r>
            <a:r>
              <a:rPr dirty="0" sz="2900" spc="-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4,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130">
                <a:solidFill>
                  <a:srgbClr val="232323"/>
                </a:solidFill>
                <a:latin typeface="Times New Roman"/>
                <a:cs typeface="Times New Roman"/>
              </a:rPr>
              <a:t>?i)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79064" y="7497762"/>
            <a:ext cx="18844895" cy="1264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820"/>
              </a:lnSpc>
              <a:spcBef>
                <a:spcPts val="100"/>
              </a:spcBef>
              <a:tabLst>
                <a:tab pos="2967355" algn="l"/>
                <a:tab pos="16240760" algn="l"/>
              </a:tabLst>
            </a:pPr>
            <a:r>
              <a:rPr dirty="0" sz="4050" spc="80">
                <a:latin typeface="Times New Roman"/>
                <a:cs typeface="Times New Roman"/>
              </a:rPr>
              <a:t>Figure</a:t>
            </a:r>
            <a:r>
              <a:rPr dirty="0" sz="4050" spc="130">
                <a:latin typeface="Times New Roman"/>
                <a:cs typeface="Times New Roman"/>
              </a:rPr>
              <a:t> </a:t>
            </a:r>
            <a:r>
              <a:rPr dirty="0" sz="4050" spc="-25">
                <a:latin typeface="Times New Roman"/>
                <a:cs typeface="Times New Roman"/>
              </a:rPr>
              <a:t>5.4</a:t>
            </a:r>
            <a:r>
              <a:rPr dirty="0" sz="4050">
                <a:latin typeface="Times New Roman"/>
                <a:cs typeface="Times New Roman"/>
              </a:rPr>
              <a:t>	The</a:t>
            </a:r>
            <a:r>
              <a:rPr dirty="0" sz="4050" spc="-70">
                <a:latin typeface="Times New Roman"/>
                <a:cs typeface="Times New Roman"/>
              </a:rPr>
              <a:t> </a:t>
            </a:r>
            <a:r>
              <a:rPr dirty="0" sz="4050" spc="-390">
                <a:latin typeface="Times New Roman"/>
                <a:cs typeface="Times New Roman"/>
              </a:rPr>
              <a:t>ñ°rst</a:t>
            </a:r>
            <a:r>
              <a:rPr dirty="0" sz="4050" spc="140">
                <a:latin typeface="Times New Roman"/>
                <a:cs typeface="Times New Roman"/>
              </a:rPr>
              <a:t> </a:t>
            </a:r>
            <a:r>
              <a:rPr dirty="0" sz="4050" spc="-10">
                <a:latin typeface="Times New Roman"/>
                <a:cs typeface="Times New Roman"/>
              </a:rPr>
              <a:t>three</a:t>
            </a:r>
            <a:r>
              <a:rPr dirty="0" sz="4050" spc="80">
                <a:latin typeface="Times New Roman"/>
                <a:cs typeface="Times New Roman"/>
              </a:rPr>
              <a:t> </a:t>
            </a:r>
            <a:r>
              <a:rPr dirty="0" sz="4050" spc="-30">
                <a:latin typeface="Times New Roman"/>
                <a:cs typeface="Times New Roman"/>
              </a:rPr>
              <a:t>plies</a:t>
            </a:r>
            <a:r>
              <a:rPr dirty="0" sz="4050" spc="-175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of</a:t>
            </a:r>
            <a:r>
              <a:rPr dirty="0" sz="4050" spc="-4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a</a:t>
            </a:r>
            <a:r>
              <a:rPr dirty="0" sz="4050" spc="-19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game</a:t>
            </a:r>
            <a:r>
              <a:rPr dirty="0" sz="4050" spc="-1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tree</a:t>
            </a:r>
            <a:r>
              <a:rPr dirty="0" sz="4050" spc="-8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with</a:t>
            </a:r>
            <a:r>
              <a:rPr dirty="0" sz="4050" spc="-2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three</a:t>
            </a:r>
            <a:r>
              <a:rPr dirty="0" sz="4050" spc="20">
                <a:latin typeface="Times New Roman"/>
                <a:cs typeface="Times New Roman"/>
              </a:rPr>
              <a:t> </a:t>
            </a:r>
            <a:r>
              <a:rPr dirty="0" sz="4050" spc="-10">
                <a:latin typeface="Times New Roman"/>
                <a:cs typeface="Times New Roman"/>
              </a:rPr>
              <a:t>players</a:t>
            </a:r>
            <a:r>
              <a:rPr dirty="0" sz="4050">
                <a:latin typeface="Times New Roman"/>
                <a:cs typeface="Times New Roman"/>
              </a:rPr>
              <a:t>	Each</a:t>
            </a:r>
            <a:r>
              <a:rPr dirty="0" sz="4050" spc="-110">
                <a:latin typeface="Times New Roman"/>
                <a:cs typeface="Times New Roman"/>
              </a:rPr>
              <a:t> </a:t>
            </a:r>
            <a:r>
              <a:rPr dirty="0" sz="4050">
                <a:latin typeface="Times New Roman"/>
                <a:cs typeface="Times New Roman"/>
              </a:rPr>
              <a:t>node</a:t>
            </a:r>
            <a:r>
              <a:rPr dirty="0" sz="4050" spc="-165">
                <a:latin typeface="Times New Roman"/>
                <a:cs typeface="Times New Roman"/>
              </a:rPr>
              <a:t> </a:t>
            </a:r>
            <a:r>
              <a:rPr dirty="0" sz="4050" spc="-25">
                <a:latin typeface="Times New Roman"/>
                <a:cs typeface="Times New Roman"/>
              </a:rPr>
              <a:t>is</a:t>
            </a:r>
            <a:endParaRPr sz="4050">
              <a:latin typeface="Times New Roman"/>
              <a:cs typeface="Times New Roman"/>
            </a:endParaRPr>
          </a:p>
          <a:p>
            <a:pPr marL="14604">
              <a:lnSpc>
                <a:spcPts val="4940"/>
              </a:lnSpc>
            </a:pPr>
            <a:r>
              <a:rPr dirty="0" sz="4150" spc="-25">
                <a:latin typeface="Times New Roman"/>
                <a:cs typeface="Times New Roman"/>
              </a:rPr>
              <a:t>labeled</a:t>
            </a:r>
            <a:r>
              <a:rPr dirty="0" sz="4150" spc="-150">
                <a:latin typeface="Times New Roman"/>
                <a:cs typeface="Times New Roman"/>
              </a:rPr>
              <a:t> </a:t>
            </a:r>
            <a:r>
              <a:rPr dirty="0" sz="4150" spc="-40">
                <a:latin typeface="Times New Roman"/>
                <a:cs typeface="Times New Roman"/>
              </a:rPr>
              <a:t>with</a:t>
            </a:r>
            <a:r>
              <a:rPr dirty="0" sz="4150" spc="-90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values</a:t>
            </a:r>
            <a:r>
              <a:rPr dirty="0" sz="4150" spc="-180">
                <a:latin typeface="Times New Roman"/>
                <a:cs typeface="Times New Roman"/>
              </a:rPr>
              <a:t> </a:t>
            </a:r>
            <a:r>
              <a:rPr dirty="0" sz="4150" spc="-25">
                <a:latin typeface="Times New Roman"/>
                <a:cs typeface="Times New Roman"/>
              </a:rPr>
              <a:t>from</a:t>
            </a:r>
            <a:r>
              <a:rPr dirty="0" sz="4150" spc="-14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-185">
                <a:latin typeface="Times New Roman"/>
                <a:cs typeface="Times New Roman"/>
              </a:rPr>
              <a:t> </a:t>
            </a:r>
            <a:r>
              <a:rPr dirty="0" sz="4150" spc="-75">
                <a:latin typeface="Times New Roman"/>
                <a:cs typeface="Times New Roman"/>
              </a:rPr>
              <a:t>viewpoint</a:t>
            </a:r>
            <a:r>
              <a:rPr dirty="0" sz="4150" spc="-114">
                <a:latin typeface="Times New Roman"/>
                <a:cs typeface="Times New Roman"/>
              </a:rPr>
              <a:t> </a:t>
            </a:r>
            <a:r>
              <a:rPr dirty="0" sz="4150" spc="-20">
                <a:latin typeface="Times New Roman"/>
                <a:cs typeface="Times New Roman"/>
              </a:rPr>
              <a:t>of</a:t>
            </a:r>
            <a:r>
              <a:rPr dirty="0" sz="4150" spc="-200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each</a:t>
            </a:r>
            <a:r>
              <a:rPr dirty="0" sz="4150" spc="-110">
                <a:latin typeface="Times New Roman"/>
                <a:cs typeface="Times New Roman"/>
              </a:rPr>
              <a:t> </a:t>
            </a:r>
            <a:r>
              <a:rPr dirty="0" sz="4150" spc="-70">
                <a:latin typeface="Times New Roman"/>
                <a:cs typeface="Times New Roman"/>
              </a:rPr>
              <a:t>player.</a:t>
            </a:r>
            <a:r>
              <a:rPr dirty="0" sz="4150" spc="-4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-95">
                <a:latin typeface="Times New Roman"/>
                <a:cs typeface="Times New Roman"/>
              </a:rPr>
              <a:t> </a:t>
            </a:r>
            <a:r>
              <a:rPr dirty="0" sz="4150" spc="-20">
                <a:latin typeface="Times New Roman"/>
                <a:cs typeface="Times New Roman"/>
              </a:rPr>
              <a:t>best</a:t>
            </a:r>
            <a:r>
              <a:rPr dirty="0" sz="4150" spc="-125">
                <a:latin typeface="Times New Roman"/>
                <a:cs typeface="Times New Roman"/>
              </a:rPr>
              <a:t> </a:t>
            </a:r>
            <a:r>
              <a:rPr dirty="0" sz="4150" spc="-65">
                <a:latin typeface="Times New Roman"/>
                <a:cs typeface="Times New Roman"/>
              </a:rPr>
              <a:t>move</a:t>
            </a:r>
            <a:r>
              <a:rPr dirty="0" sz="4150" spc="-19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is</a:t>
            </a:r>
            <a:r>
              <a:rPr dirty="0" sz="4150" spc="-240">
                <a:latin typeface="Times New Roman"/>
                <a:cs typeface="Times New Roman"/>
              </a:rPr>
              <a:t> </a:t>
            </a:r>
            <a:r>
              <a:rPr dirty="0" sz="4150" spc="-45">
                <a:latin typeface="Times New Roman"/>
                <a:cs typeface="Times New Roman"/>
              </a:rPr>
              <a:t>marked</a:t>
            </a:r>
            <a:r>
              <a:rPr dirty="0" sz="4150" spc="-17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at</a:t>
            </a:r>
            <a:r>
              <a:rPr dirty="0" sz="4150" spc="-245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the</a:t>
            </a:r>
            <a:r>
              <a:rPr dirty="0" sz="4150" spc="-175">
                <a:latin typeface="Times New Roman"/>
                <a:cs typeface="Times New Roman"/>
              </a:rPr>
              <a:t> </a:t>
            </a:r>
            <a:r>
              <a:rPr dirty="0" sz="4150" spc="-10">
                <a:latin typeface="Times New Roman"/>
                <a:cs typeface="Times New Roman"/>
              </a:rPr>
              <a:t>root.</a:t>
            </a:r>
            <a:endParaRPr sz="4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41007" y="10297668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 h="0">
                <a:moveTo>
                  <a:pt x="0" y="0"/>
                </a:moveTo>
                <a:lnTo>
                  <a:pt x="298704" y="0"/>
                </a:lnTo>
              </a:path>
            </a:pathLst>
          </a:custGeom>
          <a:ln w="21336">
            <a:solidFill>
              <a:srgbClr val="1F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541007" y="10212323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 h="0">
                <a:moveTo>
                  <a:pt x="0" y="0"/>
                </a:moveTo>
                <a:lnTo>
                  <a:pt x="298704" y="0"/>
                </a:lnTo>
              </a:path>
            </a:pathLst>
          </a:custGeom>
          <a:ln w="21336">
            <a:solidFill>
              <a:srgbClr val="1F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541007" y="9593580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 h="0">
                <a:moveTo>
                  <a:pt x="0" y="0"/>
                </a:moveTo>
                <a:lnTo>
                  <a:pt x="286512" y="0"/>
                </a:lnTo>
              </a:path>
            </a:pathLst>
          </a:custGeom>
          <a:ln w="21336">
            <a:solidFill>
              <a:srgbClr val="3434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541007" y="9508235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 h="0">
                <a:moveTo>
                  <a:pt x="0" y="0"/>
                </a:moveTo>
                <a:lnTo>
                  <a:pt x="298704" y="0"/>
                </a:lnTo>
              </a:path>
            </a:pathLst>
          </a:custGeom>
          <a:ln w="21336">
            <a:solidFill>
              <a:srgbClr val="3434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057888" y="9593580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 h="0">
                <a:moveTo>
                  <a:pt x="0" y="0"/>
                </a:moveTo>
                <a:lnTo>
                  <a:pt x="286512" y="0"/>
                </a:lnTo>
              </a:path>
            </a:pathLst>
          </a:custGeom>
          <a:ln w="21336">
            <a:solidFill>
              <a:srgbClr val="2F34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2048743" y="9508235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656" y="0"/>
                </a:lnTo>
              </a:path>
            </a:pathLst>
          </a:custGeom>
          <a:ln w="21336">
            <a:solidFill>
              <a:srgbClr val="2F34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541007" y="8907780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 h="0">
                <a:moveTo>
                  <a:pt x="0" y="0"/>
                </a:moveTo>
                <a:lnTo>
                  <a:pt x="298704" y="0"/>
                </a:lnTo>
              </a:path>
            </a:pathLst>
          </a:custGeom>
          <a:ln w="21336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541007" y="8822435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 h="0">
                <a:moveTo>
                  <a:pt x="0" y="0"/>
                </a:moveTo>
                <a:lnTo>
                  <a:pt x="298704" y="0"/>
                </a:lnTo>
              </a:path>
            </a:pathLst>
          </a:custGeom>
          <a:ln w="21336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541007" y="8221980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 h="0">
                <a:moveTo>
                  <a:pt x="0" y="0"/>
                </a:moveTo>
                <a:lnTo>
                  <a:pt x="295656" y="0"/>
                </a:lnTo>
              </a:path>
            </a:pathLst>
          </a:custGeom>
          <a:ln w="21336">
            <a:solidFill>
              <a:srgbClr val="2B2B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541007" y="8127492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 h="0">
                <a:moveTo>
                  <a:pt x="0" y="0"/>
                </a:moveTo>
                <a:lnTo>
                  <a:pt x="286512" y="0"/>
                </a:lnTo>
              </a:path>
            </a:pathLst>
          </a:custGeom>
          <a:ln w="21336">
            <a:solidFill>
              <a:srgbClr val="2B2B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00" rIns="0" bIns="0" rtlCol="0" vert="horz">
            <a:spAutoFit/>
          </a:bodyPr>
          <a:lstStyle/>
          <a:p>
            <a:pPr marL="812800">
              <a:lnSpc>
                <a:spcPct val="100000"/>
              </a:lnSpc>
              <a:spcBef>
                <a:spcPts val="100"/>
              </a:spcBef>
            </a:pPr>
            <a:r>
              <a:rPr dirty="0" sz="6150" spc="-330"/>
              <a:t>Alpha-</a:t>
            </a:r>
            <a:r>
              <a:rPr dirty="0" sz="6150" spc="-345"/>
              <a:t>Beta</a:t>
            </a:r>
            <a:r>
              <a:rPr dirty="0" sz="6150" spc="150"/>
              <a:t> </a:t>
            </a:r>
            <a:r>
              <a:rPr dirty="0" sz="6150" spc="-320"/>
              <a:t>Pruning</a:t>
            </a:r>
            <a:endParaRPr sz="6150"/>
          </a:p>
        </p:txBody>
      </p:sp>
      <p:sp>
        <p:nvSpPr>
          <p:cNvPr id="13" name="object 13" descr=""/>
          <p:cNvSpPr txBox="1"/>
          <p:nvPr/>
        </p:nvSpPr>
        <p:spPr>
          <a:xfrm>
            <a:off x="1446723" y="1966912"/>
            <a:ext cx="16579850" cy="56184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algn="just" marL="401320" marR="20320" indent="-388620">
              <a:lnSpc>
                <a:spcPts val="4840"/>
              </a:lnSpc>
              <a:spcBef>
                <a:spcPts val="775"/>
              </a:spcBef>
              <a:buChar char="•"/>
              <a:tabLst>
                <a:tab pos="401320" algn="l"/>
                <a:tab pos="404495" algn="l"/>
              </a:tabLst>
            </a:pPr>
            <a:r>
              <a:rPr dirty="0" sz="4550">
                <a:latin typeface="Calibri"/>
                <a:cs typeface="Calibri"/>
              </a:rPr>
              <a:t>	The</a:t>
            </a:r>
            <a:r>
              <a:rPr dirty="0" sz="4550" spc="-1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problem</a:t>
            </a:r>
            <a:r>
              <a:rPr dirty="0" sz="4550" spc="1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with</a:t>
            </a:r>
            <a:r>
              <a:rPr dirty="0" sz="4550" spc="30">
                <a:latin typeface="Calibri"/>
                <a:cs typeface="Calibri"/>
              </a:rPr>
              <a:t> </a:t>
            </a:r>
            <a:r>
              <a:rPr dirty="0" sz="4550" spc="-10">
                <a:solidFill>
                  <a:srgbClr val="E20C28"/>
                </a:solidFill>
                <a:latin typeface="Calibri"/>
                <a:cs typeface="Calibri"/>
              </a:rPr>
              <a:t>minimax</a:t>
            </a:r>
            <a:r>
              <a:rPr dirty="0" sz="4550" spc="145">
                <a:solidFill>
                  <a:srgbClr val="E20C28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search</a:t>
            </a:r>
            <a:r>
              <a:rPr dirty="0" sz="4550" spc="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that</a:t>
            </a:r>
            <a:r>
              <a:rPr dirty="0" sz="4550" spc="1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number</a:t>
            </a:r>
            <a:r>
              <a:rPr dirty="0" sz="4550" spc="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game</a:t>
            </a:r>
            <a:r>
              <a:rPr dirty="0" sz="4550" spc="110">
                <a:latin typeface="Calibri"/>
                <a:cs typeface="Calibri"/>
              </a:rPr>
              <a:t> </a:t>
            </a:r>
            <a:r>
              <a:rPr dirty="0" sz="4550" spc="-10">
                <a:solidFill>
                  <a:srgbClr val="136491"/>
                </a:solidFill>
                <a:latin typeface="Calibri"/>
                <a:cs typeface="Calibri"/>
              </a:rPr>
              <a:t>states </a:t>
            </a:r>
            <a:r>
              <a:rPr dirty="0" sz="4550">
                <a:latin typeface="Calibri"/>
                <a:cs typeface="Calibri"/>
              </a:rPr>
              <a:t>it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has</a:t>
            </a:r>
            <a:r>
              <a:rPr dirty="0" sz="4550" spc="-90"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0760A1"/>
                </a:solidFill>
                <a:latin typeface="Calibri"/>
                <a:cs typeface="Calibri"/>
              </a:rPr>
              <a:t>to</a:t>
            </a:r>
            <a:r>
              <a:rPr dirty="0" sz="4550" spc="-195">
                <a:solidFill>
                  <a:srgbClr val="0760A1"/>
                </a:solidFill>
                <a:latin typeface="Calibri"/>
                <a:cs typeface="Calibri"/>
              </a:rPr>
              <a:t> </a:t>
            </a:r>
            <a:r>
              <a:rPr dirty="0" sz="4550" spc="-65">
                <a:solidFill>
                  <a:srgbClr val="0867A7"/>
                </a:solidFill>
                <a:latin typeface="Calibri"/>
                <a:cs typeface="Calibri"/>
              </a:rPr>
              <a:t>examine</a:t>
            </a:r>
            <a:r>
              <a:rPr dirty="0" sz="4550" spc="-25">
                <a:solidFill>
                  <a:srgbClr val="0867A7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1875BF"/>
                </a:solidFill>
                <a:latin typeface="Calibri"/>
                <a:cs typeface="Calibri"/>
              </a:rPr>
              <a:t>is</a:t>
            </a:r>
            <a:r>
              <a:rPr dirty="0" sz="4550" spc="-185">
                <a:solidFill>
                  <a:srgbClr val="1875BF"/>
                </a:solidFill>
                <a:latin typeface="Calibri"/>
                <a:cs typeface="Calibri"/>
              </a:rPr>
              <a:t> </a:t>
            </a:r>
            <a:r>
              <a:rPr dirty="0" sz="4550" spc="-30">
                <a:solidFill>
                  <a:srgbClr val="0572C1"/>
                </a:solidFill>
                <a:latin typeface="Calibri"/>
                <a:cs typeface="Calibri"/>
              </a:rPr>
              <a:t>exponenñal</a:t>
            </a:r>
            <a:r>
              <a:rPr dirty="0" sz="4550" spc="55">
                <a:solidFill>
                  <a:srgbClr val="0572C1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-19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5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depth</a:t>
            </a:r>
            <a:r>
              <a:rPr dirty="0" sz="4550" spc="-1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tree.</a:t>
            </a:r>
            <a:endParaRPr sz="4550">
              <a:latin typeface="Calibri"/>
              <a:cs typeface="Calibri"/>
            </a:endParaRPr>
          </a:p>
          <a:p>
            <a:pPr algn="just" marL="390525" indent="-376555">
              <a:lnSpc>
                <a:spcPts val="5060"/>
              </a:lnSpc>
              <a:spcBef>
                <a:spcPts val="994"/>
              </a:spcBef>
              <a:buChar char="•"/>
              <a:tabLst>
                <a:tab pos="390525" algn="l"/>
              </a:tabLst>
            </a:pPr>
            <a:r>
              <a:rPr dirty="0" sz="4450" spc="-10">
                <a:latin typeface="Calibri"/>
                <a:cs typeface="Calibri"/>
              </a:rPr>
              <a:t>Unfortunately,</a:t>
            </a:r>
            <a:r>
              <a:rPr dirty="0" sz="4450" spc="32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we</a:t>
            </a:r>
            <a:r>
              <a:rPr dirty="0" sz="4450" spc="4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can't</a:t>
            </a:r>
            <a:r>
              <a:rPr dirty="0" sz="4450" spc="4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eliminate</a:t>
            </a:r>
            <a:r>
              <a:rPr dirty="0" sz="4450" spc="7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4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exponent,</a:t>
            </a:r>
            <a:r>
              <a:rPr dirty="0" sz="4450" spc="77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but</a:t>
            </a:r>
            <a:r>
              <a:rPr dirty="0" sz="4450" spc="3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it</a:t>
            </a:r>
            <a:r>
              <a:rPr dirty="0" sz="4450" spc="3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turns</a:t>
            </a:r>
            <a:r>
              <a:rPr dirty="0" sz="4450" spc="4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out</a:t>
            </a:r>
            <a:r>
              <a:rPr dirty="0" sz="4450" spc="425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we</a:t>
            </a:r>
            <a:endParaRPr sz="4450">
              <a:latin typeface="Calibri"/>
              <a:cs typeface="Calibri"/>
            </a:endParaRPr>
          </a:p>
          <a:p>
            <a:pPr algn="just" marL="394335">
              <a:lnSpc>
                <a:spcPts val="5175"/>
              </a:lnSpc>
            </a:pPr>
            <a:r>
              <a:rPr dirty="0" sz="4550">
                <a:latin typeface="Calibri"/>
                <a:cs typeface="Calibri"/>
              </a:rPr>
              <a:t>can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 spc="-45">
                <a:latin typeface="Calibri"/>
                <a:cs typeface="Calibri"/>
              </a:rPr>
              <a:t>effecñvely</a:t>
            </a:r>
            <a:r>
              <a:rPr dirty="0" sz="4550" spc="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cut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it</a:t>
            </a:r>
            <a:r>
              <a:rPr dirty="0" sz="4550" spc="-18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half.</a:t>
            </a:r>
            <a:endParaRPr sz="4550">
              <a:latin typeface="Calibri"/>
              <a:cs typeface="Calibri"/>
            </a:endParaRPr>
          </a:p>
          <a:p>
            <a:pPr algn="just" marL="394970" marR="5080" indent="-382905">
              <a:lnSpc>
                <a:spcPts val="4840"/>
              </a:lnSpc>
              <a:spcBef>
                <a:spcPts val="1590"/>
              </a:spcBef>
              <a:buChar char="•"/>
              <a:tabLst>
                <a:tab pos="394970" algn="l"/>
                <a:tab pos="401955" algn="l"/>
              </a:tabLst>
            </a:pPr>
            <a:r>
              <a:rPr dirty="0" sz="4600">
                <a:latin typeface="Calibri"/>
                <a:cs typeface="Calibri"/>
              </a:rPr>
              <a:t>	alpha-beta</a:t>
            </a:r>
            <a:r>
              <a:rPr dirty="0" sz="4600" spc="8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pruning,</a:t>
            </a:r>
            <a:r>
              <a:rPr dirty="0" sz="4600" spc="77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When</a:t>
            </a:r>
            <a:r>
              <a:rPr dirty="0" sz="4600" spc="7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applied</a:t>
            </a:r>
            <a:r>
              <a:rPr dirty="0" sz="4600" spc="7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6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6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standard</a:t>
            </a:r>
            <a:r>
              <a:rPr dirty="0" sz="4600" spc="8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minimax</a:t>
            </a:r>
            <a:r>
              <a:rPr dirty="0" sz="4600" spc="8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tree,</a:t>
            </a:r>
            <a:r>
              <a:rPr dirty="0" sz="4600" spc="660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it </a:t>
            </a:r>
            <a:r>
              <a:rPr dirty="0" sz="4600" spc="-10">
                <a:latin typeface="Calibri"/>
                <a:cs typeface="Calibri"/>
              </a:rPr>
              <a:t>returns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same</a:t>
            </a:r>
            <a:r>
              <a:rPr dirty="0" sz="4600" spc="-19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move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as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minimax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would,</a:t>
            </a:r>
            <a:r>
              <a:rPr dirty="0" sz="4600" spc="-75"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F74BA"/>
                </a:solidFill>
                <a:latin typeface="Calibri"/>
                <a:cs typeface="Calibri"/>
              </a:rPr>
              <a:t>but</a:t>
            </a:r>
            <a:r>
              <a:rPr dirty="0" sz="4600" spc="-229">
                <a:solidFill>
                  <a:srgbClr val="0F74BA"/>
                </a:solidFill>
                <a:latin typeface="Calibri"/>
                <a:cs typeface="Calibri"/>
              </a:rPr>
              <a:t> </a:t>
            </a:r>
            <a:r>
              <a:rPr dirty="0" sz="4600">
                <a:solidFill>
                  <a:srgbClr val="0172C3"/>
                </a:solidFill>
                <a:latin typeface="Calibri"/>
                <a:cs typeface="Calibri"/>
              </a:rPr>
              <a:t>prunes</a:t>
            </a:r>
            <a:r>
              <a:rPr dirty="0" sz="4600" spc="-65">
                <a:solidFill>
                  <a:srgbClr val="0172C3"/>
                </a:solidFill>
                <a:latin typeface="Calibri"/>
                <a:cs typeface="Calibri"/>
              </a:rPr>
              <a:t> </a:t>
            </a:r>
            <a:r>
              <a:rPr dirty="0" sz="4600" spc="-20">
                <a:solidFill>
                  <a:srgbClr val="0C6BB5"/>
                </a:solidFill>
                <a:latin typeface="Calibri"/>
                <a:cs typeface="Calibri"/>
              </a:rPr>
              <a:t>away</a:t>
            </a:r>
            <a:r>
              <a:rPr dirty="0" sz="4600" spc="-170">
                <a:solidFill>
                  <a:srgbClr val="0C6BB5"/>
                </a:solidFill>
                <a:latin typeface="Calibri"/>
                <a:cs typeface="Calibri"/>
              </a:rPr>
              <a:t> </a:t>
            </a:r>
            <a:r>
              <a:rPr dirty="0" sz="4600" spc="-50">
                <a:solidFill>
                  <a:srgbClr val="0067B1"/>
                </a:solidFill>
                <a:latin typeface="Calibri"/>
                <a:cs typeface="Calibri"/>
              </a:rPr>
              <a:t>branches </a:t>
            </a:r>
            <a:r>
              <a:rPr dirty="0" sz="4600" spc="-25">
                <a:latin typeface="Calibri"/>
                <a:cs typeface="Calibri"/>
              </a:rPr>
              <a:t>that</a:t>
            </a:r>
            <a:r>
              <a:rPr dirty="0" sz="4600" spc="-235">
                <a:latin typeface="Calibri"/>
                <a:cs typeface="Calibri"/>
              </a:rPr>
              <a:t> </a:t>
            </a:r>
            <a:r>
              <a:rPr dirty="0" sz="4600" spc="-35">
                <a:solidFill>
                  <a:srgbClr val="DF1821"/>
                </a:solidFill>
                <a:latin typeface="Calibri"/>
                <a:cs typeface="Calibri"/>
              </a:rPr>
              <a:t>cannot</a:t>
            </a:r>
            <a:r>
              <a:rPr dirty="0" sz="4600" spc="-225">
                <a:solidFill>
                  <a:srgbClr val="DF1821"/>
                </a:solidFill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possibly</a:t>
            </a:r>
            <a:r>
              <a:rPr dirty="0" sz="4600" spc="-85">
                <a:latin typeface="Calibri"/>
                <a:cs typeface="Calibri"/>
              </a:rPr>
              <a:t> </a:t>
            </a:r>
            <a:r>
              <a:rPr dirty="0" sz="4600" spc="-55">
                <a:solidFill>
                  <a:srgbClr val="E20A11"/>
                </a:solidFill>
                <a:latin typeface="Calibri"/>
                <a:cs typeface="Calibri"/>
              </a:rPr>
              <a:t>influence</a:t>
            </a:r>
            <a:r>
              <a:rPr dirty="0" sz="4600" spc="-60">
                <a:solidFill>
                  <a:srgbClr val="E20A11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20">
                <a:solidFill>
                  <a:srgbClr val="DD0A1C"/>
                </a:solidFill>
                <a:latin typeface="Calibri"/>
                <a:cs typeface="Calibri"/>
              </a:rPr>
              <a:t>final</a:t>
            </a:r>
            <a:r>
              <a:rPr dirty="0" sz="4600" spc="-220">
                <a:solidFill>
                  <a:srgbClr val="DD0A1C"/>
                </a:solidFill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decision.</a:t>
            </a:r>
            <a:endParaRPr sz="4600">
              <a:latin typeface="Calibri"/>
              <a:cs typeface="Calibri"/>
            </a:endParaRPr>
          </a:p>
          <a:p>
            <a:pPr algn="just" marL="389255" indent="-375920">
              <a:lnSpc>
                <a:spcPct val="100000"/>
              </a:lnSpc>
              <a:spcBef>
                <a:spcPts val="940"/>
              </a:spcBef>
              <a:buChar char="•"/>
              <a:tabLst>
                <a:tab pos="389255" algn="l"/>
              </a:tabLst>
            </a:pPr>
            <a:r>
              <a:rPr dirty="0" sz="4500">
                <a:latin typeface="Calibri"/>
                <a:cs typeface="Calibri"/>
              </a:rPr>
              <a:t>Let</a:t>
            </a:r>
            <a:r>
              <a:rPr dirty="0" sz="4500" spc="-20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135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two</a:t>
            </a:r>
            <a:r>
              <a:rPr dirty="0" sz="4500" spc="-16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unevaluated</a:t>
            </a:r>
            <a:r>
              <a:rPr dirty="0" sz="4500" spc="215">
                <a:latin typeface="Calibri"/>
                <a:cs typeface="Calibri"/>
              </a:rPr>
              <a:t> </a:t>
            </a:r>
            <a:r>
              <a:rPr dirty="0" sz="4500" spc="-45">
                <a:latin typeface="Calibri"/>
                <a:cs typeface="Calibri"/>
              </a:rPr>
              <a:t>successors</a:t>
            </a:r>
            <a:r>
              <a:rPr dirty="0" sz="4500" spc="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node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have</a:t>
            </a:r>
            <a:r>
              <a:rPr dirty="0" sz="4500" spc="-10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values</a:t>
            </a:r>
            <a:r>
              <a:rPr dirty="0" sz="4500" spc="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x</a:t>
            </a:r>
            <a:r>
              <a:rPr dirty="0" sz="4500" spc="-2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-110">
                <a:latin typeface="Calibri"/>
                <a:cs typeface="Calibri"/>
              </a:rPr>
              <a:t> </a:t>
            </a:r>
            <a:r>
              <a:rPr dirty="0" sz="4500" spc="-50">
                <a:latin typeface="Calibri"/>
                <a:cs typeface="Calibri"/>
              </a:rPr>
              <a:t>y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171003" y="7866062"/>
            <a:ext cx="29978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0">
                <a:latin typeface="Times New Roman"/>
                <a:cs typeface="Times New Roman"/>
              </a:rPr>
              <a:t>MINIMAX(root)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60738" y="7725884"/>
            <a:ext cx="8773795" cy="275082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1200"/>
              </a:spcBef>
              <a:tabLst>
                <a:tab pos="4885055" algn="l"/>
                <a:tab pos="6156960" algn="l"/>
              </a:tabLst>
            </a:pPr>
            <a:r>
              <a:rPr dirty="0" sz="3400" spc="130">
                <a:latin typeface="Times New Roman"/>
                <a:cs typeface="Times New Roman"/>
              </a:rPr>
              <a:t>max(ruin(3,</a:t>
            </a:r>
            <a:r>
              <a:rPr dirty="0" sz="3400" spc="95">
                <a:latin typeface="Times New Roman"/>
                <a:cs typeface="Times New Roman"/>
              </a:rPr>
              <a:t> </a:t>
            </a:r>
            <a:r>
              <a:rPr dirty="0" sz="3400" spc="140">
                <a:latin typeface="Times New Roman"/>
                <a:cs typeface="Times New Roman"/>
              </a:rPr>
              <a:t>12.</a:t>
            </a:r>
            <a:r>
              <a:rPr dirty="0" sz="3400" spc="-370">
                <a:latin typeface="Times New Roman"/>
                <a:cs typeface="Times New Roman"/>
              </a:rPr>
              <a:t> </a:t>
            </a:r>
            <a:r>
              <a:rPr dirty="0" sz="3400" spc="114">
                <a:latin typeface="Times New Roman"/>
                <a:cs typeface="Times New Roman"/>
              </a:rPr>
              <a:t>8),</a:t>
            </a:r>
            <a:r>
              <a:rPr dirty="0" sz="3400" spc="100">
                <a:latin typeface="Times New Roman"/>
                <a:cs typeface="Times New Roman"/>
              </a:rPr>
              <a:t> </a:t>
            </a:r>
            <a:r>
              <a:rPr dirty="0" sz="3400" spc="120">
                <a:latin typeface="Times New Roman"/>
                <a:cs typeface="Times New Roman"/>
              </a:rPr>
              <a:t>min(</a:t>
            </a:r>
            <a:r>
              <a:rPr dirty="0" sz="3400">
                <a:latin typeface="Times New Roman"/>
                <a:cs typeface="Times New Roman"/>
              </a:rPr>
              <a:t>	</a:t>
            </a:r>
            <a:r>
              <a:rPr dirty="0" baseline="-8986" sz="5100" spc="-165">
                <a:latin typeface="Times New Roman"/>
                <a:cs typeface="Times New Roman"/>
              </a:rPr>
              <a:t>3’•.</a:t>
            </a:r>
            <a:r>
              <a:rPr dirty="0" baseline="-8986" sz="5100" spc="-270">
                <a:latin typeface="Times New Roman"/>
                <a:cs typeface="Times New Roman"/>
              </a:rPr>
              <a:t> </a:t>
            </a:r>
            <a:r>
              <a:rPr dirty="0" baseline="-5718" sz="5100" spc="660">
                <a:latin typeface="Times New Roman"/>
                <a:cs typeface="Times New Roman"/>
              </a:rPr>
              <a:t>r</a:t>
            </a:r>
            <a:r>
              <a:rPr dirty="0" baseline="5718" sz="5100" spc="660">
                <a:latin typeface="Times New Roman"/>
                <a:cs typeface="Times New Roman"/>
              </a:rPr>
              <a:t>)</a:t>
            </a:r>
            <a:r>
              <a:rPr dirty="0" baseline="5718" sz="5100">
                <a:latin typeface="Times New Roman"/>
                <a:cs typeface="Times New Roman"/>
              </a:rPr>
              <a:t>	</a:t>
            </a:r>
            <a:r>
              <a:rPr dirty="0" sz="3400" spc="100">
                <a:latin typeface="Times New Roman"/>
                <a:cs typeface="Times New Roman"/>
              </a:rPr>
              <a:t>ruin(14,</a:t>
            </a:r>
            <a:r>
              <a:rPr dirty="0" sz="3400" spc="90"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o,</a:t>
            </a:r>
            <a:r>
              <a:rPr dirty="0" sz="3400" spc="-75">
                <a:latin typeface="Times New Roman"/>
                <a:cs typeface="Times New Roman"/>
              </a:rPr>
              <a:t> </a:t>
            </a:r>
            <a:r>
              <a:rPr dirty="0" sz="3400" spc="45">
                <a:latin typeface="Times New Roman"/>
                <a:cs typeface="Times New Roman"/>
              </a:rPr>
              <a:t>2))</a:t>
            </a:r>
            <a:endParaRPr sz="3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20"/>
              </a:spcBef>
            </a:pPr>
            <a:r>
              <a:rPr dirty="0" sz="3450" spc="165">
                <a:latin typeface="Times New Roman"/>
                <a:cs typeface="Times New Roman"/>
              </a:rPr>
              <a:t>max(3.</a:t>
            </a:r>
            <a:r>
              <a:rPr dirty="0" sz="3450" spc="-220">
                <a:latin typeface="Times New Roman"/>
                <a:cs typeface="Times New Roman"/>
              </a:rPr>
              <a:t> </a:t>
            </a:r>
            <a:r>
              <a:rPr dirty="0" sz="3450" spc="155">
                <a:latin typeface="Times New Roman"/>
                <a:cs typeface="Times New Roman"/>
              </a:rPr>
              <a:t>min(2.</a:t>
            </a:r>
            <a:r>
              <a:rPr dirty="0" sz="3450" spc="-38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.z.</a:t>
            </a:r>
            <a:r>
              <a:rPr dirty="0" sz="3450" spc="-125">
                <a:latin typeface="Times New Roman"/>
                <a:cs typeface="Times New Roman"/>
              </a:rPr>
              <a:t> </a:t>
            </a:r>
            <a:r>
              <a:rPr dirty="0" sz="3450" spc="70">
                <a:latin typeface="Times New Roman"/>
                <a:cs typeface="Times New Roman"/>
              </a:rPr>
              <a:t>y),</a:t>
            </a:r>
            <a:r>
              <a:rPr dirty="0" sz="3450" spc="-30">
                <a:latin typeface="Times New Roman"/>
                <a:cs typeface="Times New Roman"/>
              </a:rPr>
              <a:t> </a:t>
            </a:r>
            <a:r>
              <a:rPr dirty="0" sz="3450" spc="-25">
                <a:latin typeface="Times New Roman"/>
                <a:cs typeface="Times New Roman"/>
              </a:rPr>
              <a:t>2)</a:t>
            </a:r>
            <a:endParaRPr sz="345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50"/>
              </a:spcBef>
              <a:tabLst>
                <a:tab pos="3394710" algn="l"/>
                <a:tab pos="5450840" algn="l"/>
                <a:tab pos="7861934" algn="l"/>
                <a:tab pos="8241030" algn="l"/>
              </a:tabLst>
            </a:pPr>
            <a:r>
              <a:rPr dirty="0" sz="3500" spc="145">
                <a:latin typeface="Times New Roman"/>
                <a:cs typeface="Times New Roman"/>
              </a:rPr>
              <a:t>max(3.</a:t>
            </a:r>
            <a:r>
              <a:rPr dirty="0" sz="3500" spc="-185">
                <a:latin typeface="Times New Roman"/>
                <a:cs typeface="Times New Roman"/>
              </a:rPr>
              <a:t> </a:t>
            </a:r>
            <a:r>
              <a:rPr dirty="0" sz="3500" spc="105">
                <a:latin typeface="Times New Roman"/>
                <a:cs typeface="Times New Roman"/>
              </a:rPr>
              <a:t>c,</a:t>
            </a:r>
            <a:r>
              <a:rPr dirty="0" sz="3500" spc="-95">
                <a:latin typeface="Times New Roman"/>
                <a:cs typeface="Times New Roman"/>
              </a:rPr>
              <a:t> </a:t>
            </a:r>
            <a:r>
              <a:rPr dirty="0" sz="3500" spc="-25">
                <a:latin typeface="Times New Roman"/>
                <a:cs typeface="Times New Roman"/>
              </a:rPr>
              <a:t>2)</a:t>
            </a:r>
            <a:r>
              <a:rPr dirty="0" sz="3500">
                <a:latin typeface="Times New Roman"/>
                <a:cs typeface="Times New Roman"/>
              </a:rPr>
              <a:t>	where</a:t>
            </a:r>
            <a:r>
              <a:rPr dirty="0" sz="3500" spc="235">
                <a:latin typeface="Times New Roman"/>
                <a:cs typeface="Times New Roman"/>
              </a:rPr>
              <a:t> </a:t>
            </a:r>
            <a:r>
              <a:rPr dirty="0" sz="3500" spc="-50">
                <a:latin typeface="Times New Roman"/>
                <a:cs typeface="Times New Roman"/>
              </a:rPr>
              <a:t>r</a:t>
            </a:r>
            <a:r>
              <a:rPr dirty="0" sz="3500">
                <a:latin typeface="Times New Roman"/>
                <a:cs typeface="Times New Roman"/>
              </a:rPr>
              <a:t>	</a:t>
            </a:r>
            <a:r>
              <a:rPr dirty="0" sz="3500" spc="95">
                <a:latin typeface="Times New Roman"/>
                <a:cs typeface="Times New Roman"/>
              </a:rPr>
              <a:t>min(2.</a:t>
            </a:r>
            <a:r>
              <a:rPr dirty="0" sz="3500" spc="-330"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.z,</a:t>
            </a:r>
            <a:r>
              <a:rPr dirty="0" sz="3500" spc="-185">
                <a:latin typeface="Times New Roman"/>
                <a:cs typeface="Times New Roman"/>
              </a:rPr>
              <a:t> </a:t>
            </a:r>
            <a:r>
              <a:rPr dirty="0" sz="3500" spc="-25">
                <a:solidFill>
                  <a:srgbClr val="0F0F0F"/>
                </a:solidFill>
                <a:latin typeface="Times New Roman"/>
                <a:cs typeface="Times New Roman"/>
              </a:rPr>
              <a:t>y)</a:t>
            </a:r>
            <a:r>
              <a:rPr dirty="0" sz="350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u="heavy" sz="3500">
                <a:solidFill>
                  <a:srgbClr val="0F0F0F"/>
                </a:solidFill>
                <a:uFill>
                  <a:solidFill>
                    <a:srgbClr val="2F342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3500" spc="-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500">
                <a:latin typeface="Times New Roman"/>
                <a:cs typeface="Times New Roman"/>
              </a:rPr>
              <a:t>2</a:t>
            </a:r>
            <a:endParaRPr sz="350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  <a:spcBef>
                <a:spcPts val="1485"/>
              </a:spcBef>
            </a:pPr>
            <a:r>
              <a:rPr dirty="0" sz="3400" spc="35">
                <a:latin typeface="Times New Roman"/>
                <a:cs typeface="Times New Roman"/>
              </a:rPr>
              <a:t>3.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5287" rIns="0" bIns="0" rtlCol="0" vert="horz">
            <a:spAutoFit/>
          </a:bodyPr>
          <a:lstStyle/>
          <a:p>
            <a:pPr marL="812800">
              <a:lnSpc>
                <a:spcPct val="100000"/>
              </a:lnSpc>
              <a:spcBef>
                <a:spcPts val="100"/>
              </a:spcBef>
            </a:pPr>
            <a:r>
              <a:rPr dirty="0" sz="6100" spc="-300"/>
              <a:t>Alpha-</a:t>
            </a:r>
            <a:r>
              <a:rPr dirty="0" sz="6100" spc="-315"/>
              <a:t>Beta</a:t>
            </a:r>
            <a:r>
              <a:rPr dirty="0" sz="6100" spc="375"/>
              <a:t> </a:t>
            </a:r>
            <a:r>
              <a:rPr dirty="0" sz="6100" spc="-320"/>
              <a:t>Pruning</a:t>
            </a:r>
            <a:endParaRPr sz="6100"/>
          </a:p>
        </p:txBody>
      </p:sp>
      <p:sp>
        <p:nvSpPr>
          <p:cNvPr id="3" name="object 3" descr=""/>
          <p:cNvSpPr txBox="1"/>
          <p:nvPr/>
        </p:nvSpPr>
        <p:spPr>
          <a:xfrm>
            <a:off x="1446723" y="1979612"/>
            <a:ext cx="16574769" cy="275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4495" indent="-390525">
              <a:lnSpc>
                <a:spcPts val="5040"/>
              </a:lnSpc>
              <a:spcBef>
                <a:spcPts val="100"/>
              </a:spcBef>
              <a:buChar char="•"/>
              <a:tabLst>
                <a:tab pos="404495" algn="l"/>
                <a:tab pos="2536190" algn="l"/>
                <a:tab pos="4604385" algn="l"/>
                <a:tab pos="8557895" algn="l"/>
              </a:tabLst>
            </a:pPr>
            <a:r>
              <a:rPr dirty="0" sz="4450" spc="-10">
                <a:latin typeface="Calibri"/>
                <a:cs typeface="Calibri"/>
              </a:rPr>
              <a:t>minimax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decision</a:t>
            </a:r>
            <a:r>
              <a:rPr dirty="0" sz="4450">
                <a:latin typeface="Calibri"/>
                <a:cs typeface="Calibri"/>
              </a:rPr>
              <a:t>	are</a:t>
            </a:r>
            <a:r>
              <a:rPr dirty="0" sz="4450" spc="290">
                <a:latin typeface="Calibri"/>
                <a:cs typeface="Calibri"/>
              </a:rPr>
              <a:t> </a:t>
            </a:r>
            <a:r>
              <a:rPr dirty="0" sz="4450" spc="-10" i="1">
                <a:latin typeface="Calibri"/>
                <a:cs typeface="Calibri"/>
              </a:rPr>
              <a:t>independent</a:t>
            </a:r>
            <a:r>
              <a:rPr dirty="0" sz="4450" i="1">
                <a:latin typeface="Calibri"/>
                <a:cs typeface="Calibri"/>
              </a:rPr>
              <a:t>	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28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1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values</a:t>
            </a:r>
            <a:r>
              <a:rPr dirty="0" sz="4450" spc="17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28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1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pruned</a:t>
            </a:r>
            <a:r>
              <a:rPr dirty="0" sz="4450" spc="295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leaves</a:t>
            </a:r>
            <a:endParaRPr sz="4450">
              <a:latin typeface="Calibri"/>
              <a:cs typeface="Calibri"/>
            </a:endParaRPr>
          </a:p>
          <a:p>
            <a:pPr marL="408305">
              <a:lnSpc>
                <a:spcPts val="5160"/>
              </a:lnSpc>
            </a:pPr>
            <a:r>
              <a:rPr dirty="0" sz="4550">
                <a:latin typeface="Calibri"/>
                <a:cs typeface="Calibri"/>
              </a:rPr>
              <a:t>x</a:t>
            </a:r>
            <a:r>
              <a:rPr dirty="0" sz="4550" spc="-13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and</a:t>
            </a:r>
            <a:endParaRPr sz="4550">
              <a:latin typeface="Calibri"/>
              <a:cs typeface="Calibri"/>
            </a:endParaRPr>
          </a:p>
          <a:p>
            <a:pPr marL="399415" marR="5080" indent="-387350">
              <a:lnSpc>
                <a:spcPts val="4880"/>
              </a:lnSpc>
              <a:spcBef>
                <a:spcPts val="1595"/>
              </a:spcBef>
              <a:buChar char="•"/>
              <a:tabLst>
                <a:tab pos="403860" algn="l"/>
                <a:tab pos="3261995" algn="l"/>
                <a:tab pos="5271135" algn="l"/>
                <a:tab pos="6300470" algn="l"/>
                <a:tab pos="7099300" algn="l"/>
                <a:tab pos="9030335" algn="l"/>
                <a:tab pos="9735185" algn="l"/>
                <a:tab pos="11119485" algn="l"/>
                <a:tab pos="11814175" algn="l"/>
                <a:tab pos="12851130" algn="l"/>
                <a:tab pos="14576425" algn="l"/>
                <a:tab pos="15659735" algn="l"/>
                <a:tab pos="16202660" algn="l"/>
              </a:tabLst>
            </a:pPr>
            <a:r>
              <a:rPr dirty="0" sz="4600" spc="-325">
                <a:latin typeface="Calibri"/>
                <a:cs typeface="Calibri"/>
              </a:rPr>
              <a:t>Alpha—</a:t>
            </a:r>
            <a:r>
              <a:rPr dirty="0" sz="4600" spc="-295">
                <a:latin typeface="Calibri"/>
                <a:cs typeface="Calibri"/>
              </a:rPr>
              <a:t>beta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pruning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can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be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applied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to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trees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of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any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10">
                <a:latin typeface="Calibri"/>
                <a:cs typeface="Calibri"/>
              </a:rPr>
              <a:t>depth,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and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25">
                <a:latin typeface="Calibri"/>
                <a:cs typeface="Calibri"/>
              </a:rPr>
              <a:t>it</a:t>
            </a:r>
            <a:r>
              <a:rPr dirty="0" sz="4600">
                <a:latin typeface="Calibri"/>
                <a:cs typeface="Calibri"/>
              </a:rPr>
              <a:t>	</a:t>
            </a:r>
            <a:r>
              <a:rPr dirty="0" sz="4600" spc="-40">
                <a:latin typeface="Calibri"/>
                <a:cs typeface="Calibri"/>
              </a:rPr>
              <a:t>is </a:t>
            </a:r>
            <a:r>
              <a:rPr dirty="0" sz="4600" spc="-40">
                <a:latin typeface="Calibri"/>
                <a:cs typeface="Calibri"/>
              </a:rPr>
              <a:t>	</a:t>
            </a:r>
            <a:r>
              <a:rPr dirty="0" sz="4600" spc="85">
                <a:latin typeface="Calibri"/>
                <a:cs typeface="Calibri"/>
              </a:rPr>
              <a:t>oken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35">
                <a:solidFill>
                  <a:srgbClr val="DB110C"/>
                </a:solidFill>
                <a:latin typeface="Calibri"/>
                <a:cs typeface="Calibri"/>
              </a:rPr>
              <a:t>possible</a:t>
            </a:r>
            <a:r>
              <a:rPr dirty="0" sz="4600" spc="-110">
                <a:solidFill>
                  <a:srgbClr val="DB110C"/>
                </a:solidFill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 spc="-45">
                <a:latin typeface="Calibri"/>
                <a:cs typeface="Calibri"/>
              </a:rPr>
              <a:t>prune</a:t>
            </a:r>
            <a:r>
              <a:rPr dirty="0" sz="4600" spc="-215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entire</a:t>
            </a:r>
            <a:r>
              <a:rPr dirty="0" sz="4600" spc="-22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subtrees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rather</a:t>
            </a:r>
            <a:r>
              <a:rPr dirty="0" sz="4600" spc="-2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than</a:t>
            </a:r>
            <a:r>
              <a:rPr dirty="0" sz="4600" spc="-13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just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leaves</a:t>
            </a:r>
            <a:endParaRPr sz="4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6950" y="5848350"/>
            <a:ext cx="4667250" cy="383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54025" y="5848350"/>
            <a:ext cx="4686300" cy="38385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550" y="390525"/>
            <a:ext cx="5581650" cy="3848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39625" y="390525"/>
            <a:ext cx="5600700" cy="385762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99183" y="5818187"/>
            <a:ext cx="621665" cy="65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 spc="-25">
                <a:solidFill>
                  <a:srgbClr val="111111"/>
                </a:solidFill>
                <a:latin typeface="Times New Roman"/>
                <a:cs typeface="Times New Roman"/>
              </a:rPr>
              <a:t>(c)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38975" y="4287837"/>
            <a:ext cx="27305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05683" y="9802812"/>
            <a:ext cx="24828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145">
                <a:solidFill>
                  <a:srgbClr val="2D2D2D"/>
                </a:solidFill>
                <a:latin typeface="Times New Roman"/>
                <a:cs typeface="Times New Roman"/>
              </a:rPr>
              <a:t>2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05461" y="5748337"/>
            <a:ext cx="146875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2065" algn="l"/>
              </a:tabLst>
            </a:pPr>
            <a:r>
              <a:rPr dirty="0" sz="3800" spc="50">
                <a:solidFill>
                  <a:srgbClr val="0F0F0F"/>
                </a:solidFill>
                <a:latin typeface="Times New Roman"/>
                <a:cs typeface="Times New Roman"/>
              </a:rPr>
              <a:t>[3,</a:t>
            </a:r>
            <a:r>
              <a:rPr dirty="0" sz="380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3800" spc="-395">
                <a:solidFill>
                  <a:srgbClr val="3B3B3B"/>
                </a:solidFill>
                <a:latin typeface="Times New Roman"/>
                <a:cs typeface="Times New Roman"/>
              </a:rPr>
              <a:t>+</a:t>
            </a:r>
            <a:r>
              <a:rPr dirty="0" sz="3800">
                <a:solidFill>
                  <a:srgbClr val="3B3B3B"/>
                </a:solidFill>
                <a:latin typeface="Times New Roman"/>
                <a:cs typeface="Times New Roman"/>
              </a:rPr>
              <a:t>	</a:t>
            </a:r>
            <a:r>
              <a:rPr dirty="0" sz="3800" spc="50">
                <a:solidFill>
                  <a:srgbClr val="3B3B3B"/>
                </a:solidFill>
                <a:latin typeface="Times New Roman"/>
                <a:cs typeface="Times New Roman"/>
              </a:rPr>
              <a:t>]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711068" y="7437437"/>
            <a:ext cx="1464310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 spc="-1055">
                <a:solidFill>
                  <a:srgbClr val="161616"/>
                </a:solidFill>
                <a:latin typeface="Times New Roman"/>
                <a:cs typeface="Times New Roman"/>
              </a:rPr>
              <a:t>[—</a:t>
            </a:r>
            <a:r>
              <a:rPr dirty="0" sz="3850" spc="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850" spc="-10">
                <a:solidFill>
                  <a:srgbClr val="161616"/>
                </a:solidFill>
                <a:latin typeface="Times New Roman"/>
                <a:cs typeface="Times New Roman"/>
              </a:rPr>
              <a:t>=,</a:t>
            </a:r>
            <a:r>
              <a:rPr dirty="0" sz="3850" spc="-22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850" spc="35">
                <a:solidFill>
                  <a:srgbClr val="2B2B2B"/>
                </a:solidFill>
                <a:latin typeface="Times New Roman"/>
                <a:cs typeface="Times New Roman"/>
              </a:rPr>
              <a:t>2]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477628" y="9802812"/>
            <a:ext cx="30607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50">
                <a:solidFill>
                  <a:srgbClr val="242424"/>
                </a:solidFill>
                <a:latin typeface="Consolas"/>
                <a:cs typeface="Consolas"/>
              </a:rPr>
              <a:t>2</a:t>
            </a:r>
            <a:endParaRPr sz="3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3724275"/>
            <a:ext cx="6457950" cy="56578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3675" y="3867150"/>
            <a:ext cx="409575" cy="3714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8550" y="3724275"/>
            <a:ext cx="7086600" cy="322897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68697" y="3697287"/>
            <a:ext cx="5175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161616"/>
                </a:solidFill>
                <a:latin typeface="Times New Roman"/>
                <a:cs typeface="Times New Roman"/>
              </a:rPr>
              <a:t>(e)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31728" y="3646487"/>
            <a:ext cx="107886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>
                <a:solidFill>
                  <a:srgbClr val="0A0A0A"/>
                </a:solidFill>
                <a:latin typeface="Times New Roman"/>
                <a:cs typeface="Times New Roman"/>
              </a:rPr>
              <a:t>[3,</a:t>
            </a:r>
            <a:r>
              <a:rPr dirty="0" sz="3100" spc="7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080808"/>
                </a:solidFill>
                <a:latin typeface="Times New Roman"/>
                <a:cs typeface="Times New Roman"/>
              </a:rPr>
              <a:t>14]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08424" y="5091112"/>
            <a:ext cx="122936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265">
                <a:solidFill>
                  <a:srgbClr val="131313"/>
                </a:solidFill>
                <a:latin typeface="Times New Roman"/>
                <a:cs typeface="Times New Roman"/>
              </a:rPr>
              <a:t>[—</a:t>
            </a:r>
            <a:r>
              <a:rPr dirty="0" sz="3050">
                <a:solidFill>
                  <a:srgbClr val="131313"/>
                </a:solidFill>
                <a:latin typeface="Times New Roman"/>
                <a:cs typeface="Times New Roman"/>
              </a:rPr>
              <a:t>'°,</a:t>
            </a:r>
            <a:r>
              <a:rPr dirty="0" sz="3050" spc="-114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050" spc="50">
                <a:latin typeface="Times New Roman"/>
                <a:cs typeface="Times New Roman"/>
              </a:rPr>
              <a:t>2]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37299" y="5091112"/>
            <a:ext cx="142621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265">
                <a:solidFill>
                  <a:srgbClr val="151515"/>
                </a:solidFill>
                <a:latin typeface="Times New Roman"/>
                <a:cs typeface="Times New Roman"/>
              </a:rPr>
              <a:t>[—</a:t>
            </a:r>
            <a:r>
              <a:rPr dirty="0" sz="3050">
                <a:solidFill>
                  <a:srgbClr val="151515"/>
                </a:solidFill>
                <a:latin typeface="Times New Roman"/>
                <a:cs typeface="Times New Roman"/>
              </a:rPr>
              <a:t>&lt;,</a:t>
            </a:r>
            <a:r>
              <a:rPr dirty="0" sz="3050" spc="-135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3050" spc="55">
                <a:solidFill>
                  <a:srgbClr val="1A1A1A"/>
                </a:solidFill>
                <a:latin typeface="Times New Roman"/>
                <a:cs typeface="Times New Roman"/>
              </a:rPr>
              <a:t>14]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02694" y="6992937"/>
            <a:ext cx="205613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700" algn="l"/>
                <a:tab pos="1851025" algn="l"/>
              </a:tabLst>
            </a:pPr>
            <a:r>
              <a:rPr dirty="0" sz="3150" spc="-25">
                <a:solidFill>
                  <a:srgbClr val="0A0A0A"/>
                </a:solidFill>
                <a:latin typeface="Times New Roman"/>
                <a:cs typeface="Times New Roman"/>
              </a:rPr>
              <a:t>12</a:t>
            </a:r>
            <a:r>
              <a:rPr dirty="0" sz="3150">
                <a:solidFill>
                  <a:srgbClr val="0A0A0A"/>
                </a:solidFill>
                <a:latin typeface="Times New Roman"/>
                <a:cs typeface="Times New Roman"/>
              </a:rPr>
              <a:t>	</a:t>
            </a:r>
            <a:r>
              <a:rPr dirty="0" sz="3150" spc="-50">
                <a:latin typeface="Times New Roman"/>
                <a:cs typeface="Times New Roman"/>
              </a:rPr>
              <a:t>8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50">
                <a:solidFill>
                  <a:srgbClr val="363636"/>
                </a:solidFill>
                <a:latin typeface="Times New Roman"/>
                <a:cs typeface="Times New Roman"/>
              </a:rPr>
              <a:t>2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41506" y="6999287"/>
            <a:ext cx="31940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25">
                <a:solidFill>
                  <a:srgbClr val="0F0F0F"/>
                </a:solidFill>
                <a:latin typeface="Times New Roman"/>
                <a:cs typeface="Times New Roman"/>
              </a:rPr>
              <a:t>t4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052671" y="5078412"/>
            <a:ext cx="8731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765" algn="l"/>
              </a:tabLst>
            </a:pPr>
            <a:r>
              <a:rPr dirty="0" sz="3000" spc="-25">
                <a:solidFill>
                  <a:srgbClr val="0E0E0E"/>
                </a:solidFill>
                <a:latin typeface="Times New Roman"/>
                <a:cs typeface="Times New Roman"/>
              </a:rPr>
              <a:t>[à,</a:t>
            </a:r>
            <a:r>
              <a:rPr dirty="0" sz="300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3000" spc="-25">
                <a:latin typeface="Times New Roman"/>
                <a:cs typeface="Times New Roman"/>
              </a:rPr>
              <a:t>3]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232854" y="5084762"/>
            <a:ext cx="122872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315">
                <a:solidFill>
                  <a:srgbClr val="1C1C1C"/>
                </a:solidFill>
                <a:latin typeface="Times New Roman"/>
                <a:cs typeface="Times New Roman"/>
              </a:rPr>
              <a:t>[—</a:t>
            </a:r>
            <a:r>
              <a:rPr dirty="0" sz="3100" spc="-10">
                <a:solidFill>
                  <a:srgbClr val="1C1C1C"/>
                </a:solidFill>
                <a:latin typeface="Times New Roman"/>
                <a:cs typeface="Times New Roman"/>
              </a:rPr>
              <a:t>&gt;,</a:t>
            </a:r>
            <a:r>
              <a:rPr dirty="0" sz="3100" spc="-6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080808"/>
                </a:solidFill>
                <a:latin typeface="Times New Roman"/>
                <a:cs typeface="Times New Roman"/>
              </a:rPr>
              <a:t>2]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344192" y="6999287"/>
            <a:ext cx="27698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6120" algn="l"/>
                <a:tab pos="1612265" algn="l"/>
                <a:tab pos="2553335" algn="l"/>
              </a:tabLst>
            </a:pPr>
            <a:r>
              <a:rPr dirty="0" sz="3100" spc="-50">
                <a:solidFill>
                  <a:srgbClr val="565656"/>
                </a:solidFill>
                <a:latin typeface="Times New Roman"/>
                <a:cs typeface="Times New Roman"/>
              </a:rPr>
              <a:t>3</a:t>
            </a:r>
            <a:r>
              <a:rPr dirty="0" sz="3100">
                <a:solidFill>
                  <a:srgbClr val="565656"/>
                </a:solidFill>
                <a:latin typeface="Times New Roman"/>
                <a:cs typeface="Times New Roman"/>
              </a:rPr>
              <a:t>	</a:t>
            </a:r>
            <a:r>
              <a:rPr dirty="0" sz="3100" spc="-25">
                <a:latin typeface="Times New Roman"/>
                <a:cs typeface="Times New Roman"/>
              </a:rPr>
              <a:t>12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-50">
                <a:solidFill>
                  <a:srgbClr val="151515"/>
                </a:solidFill>
                <a:latin typeface="Times New Roman"/>
                <a:cs typeface="Times New Roman"/>
              </a:rPr>
              <a:t>ß</a:t>
            </a:r>
            <a:r>
              <a:rPr dirty="0" sz="3100">
                <a:solidFill>
                  <a:srgbClr val="151515"/>
                </a:solidFill>
                <a:latin typeface="Times New Roman"/>
                <a:cs typeface="Times New Roman"/>
              </a:rPr>
              <a:t>	</a:t>
            </a:r>
            <a:r>
              <a:rPr dirty="0" sz="3100" spc="-50">
                <a:solidFill>
                  <a:srgbClr val="363636"/>
                </a:solidFill>
                <a:latin typeface="Times New Roman"/>
                <a:cs typeface="Times New Roman"/>
              </a:rPr>
              <a:t>2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422386" y="9464675"/>
            <a:ext cx="628205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>
                <a:latin typeface="Calibri"/>
                <a:cs typeface="Calibri"/>
              </a:rPr>
              <a:t>This</a:t>
            </a:r>
            <a:r>
              <a:rPr dirty="0" sz="4500" spc="-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Need</a:t>
            </a:r>
            <a:r>
              <a:rPr dirty="0" sz="4500" spc="-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not</a:t>
            </a:r>
            <a:r>
              <a:rPr dirty="0" sz="4500" spc="-1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 spc="-45">
                <a:latin typeface="Calibri"/>
                <a:cs typeface="Calibri"/>
              </a:rPr>
              <a:t>expanded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099879" y="5065712"/>
            <a:ext cx="87249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>
                <a:solidFill>
                  <a:srgbClr val="131313"/>
                </a:solidFill>
                <a:latin typeface="Times New Roman"/>
                <a:cs typeface="Times New Roman"/>
              </a:rPr>
              <a:t>[2,</a:t>
            </a:r>
            <a:r>
              <a:rPr dirty="0" sz="3100" spc="-1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3100" spc="-25">
                <a:solidFill>
                  <a:srgbClr val="181818"/>
                </a:solidFill>
                <a:latin typeface="Times New Roman"/>
                <a:cs typeface="Times New Roman"/>
              </a:rPr>
              <a:t>2]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351998" y="6992937"/>
            <a:ext cx="190373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780" algn="l"/>
                <a:tab pos="1698625" algn="l"/>
              </a:tabLst>
            </a:pPr>
            <a:r>
              <a:rPr dirty="0" sz="3150" spc="-25">
                <a:latin typeface="Times New Roman"/>
                <a:cs typeface="Times New Roman"/>
              </a:rPr>
              <a:t>14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50">
                <a:solidFill>
                  <a:srgbClr val="2D2D2D"/>
                </a:solidFill>
                <a:latin typeface="Times New Roman"/>
                <a:cs typeface="Times New Roman"/>
              </a:rPr>
              <a:t>5</a:t>
            </a:r>
            <a:r>
              <a:rPr dirty="0" sz="3150">
                <a:solidFill>
                  <a:srgbClr val="2D2D2D"/>
                </a:solidFill>
                <a:latin typeface="Times New Roman"/>
                <a:cs typeface="Times New Roman"/>
              </a:rPr>
              <a:t>	</a:t>
            </a:r>
            <a:r>
              <a:rPr dirty="0" sz="3150" spc="-50">
                <a:latin typeface="Times New Roman"/>
                <a:cs typeface="Times New Roman"/>
              </a:rPr>
              <a:t>2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2750" rIns="0" bIns="0" rtlCol="0" vert="horz">
            <a:spAutoFit/>
          </a:bodyPr>
          <a:lstStyle/>
          <a:p>
            <a:pPr marL="819150">
              <a:lnSpc>
                <a:spcPct val="100000"/>
              </a:lnSpc>
              <a:spcBef>
                <a:spcPts val="100"/>
              </a:spcBef>
            </a:pPr>
            <a:r>
              <a:rPr dirty="0" sz="6000" spc="-290"/>
              <a:t>Evaluañon</a:t>
            </a:r>
            <a:r>
              <a:rPr dirty="0" sz="6000" spc="459"/>
              <a:t> </a:t>
            </a:r>
            <a:r>
              <a:rPr dirty="0" sz="6000" spc="-220"/>
              <a:t>funcñons</a:t>
            </a:r>
            <a:endParaRPr sz="6000"/>
          </a:p>
        </p:txBody>
      </p:sp>
      <p:sp>
        <p:nvSpPr>
          <p:cNvPr id="3" name="object 3" descr=""/>
          <p:cNvSpPr txBox="1"/>
          <p:nvPr/>
        </p:nvSpPr>
        <p:spPr>
          <a:xfrm>
            <a:off x="1446723" y="1979612"/>
            <a:ext cx="16561435" cy="33648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395605" marR="5080" indent="-381635">
              <a:lnSpc>
                <a:spcPts val="4840"/>
              </a:lnSpc>
              <a:spcBef>
                <a:spcPts val="675"/>
              </a:spcBef>
              <a:buChar char="•"/>
              <a:tabLst>
                <a:tab pos="395605" algn="l"/>
                <a:tab pos="398780" algn="l"/>
              </a:tabLst>
            </a:pPr>
            <a:r>
              <a:rPr dirty="0" sz="4450">
                <a:latin typeface="Calibri"/>
                <a:cs typeface="Calibri"/>
              </a:rPr>
              <a:t>	An</a:t>
            </a:r>
            <a:r>
              <a:rPr dirty="0" sz="4450" spc="254"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D80013"/>
                </a:solidFill>
                <a:latin typeface="Calibri"/>
                <a:cs typeface="Calibri"/>
              </a:rPr>
              <a:t>evaluation</a:t>
            </a:r>
            <a:r>
              <a:rPr dirty="0" sz="4450" spc="515">
                <a:solidFill>
                  <a:srgbClr val="D80013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E80000"/>
                </a:solidFill>
                <a:latin typeface="Calibri"/>
                <a:cs typeface="Calibri"/>
              </a:rPr>
              <a:t>function</a:t>
            </a:r>
            <a:r>
              <a:rPr dirty="0" sz="4450" spc="405">
                <a:solidFill>
                  <a:srgbClr val="E80000"/>
                </a:solidFill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returns</a:t>
            </a:r>
            <a:r>
              <a:rPr dirty="0" sz="4450" spc="40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an</a:t>
            </a:r>
            <a:r>
              <a:rPr dirty="0" sz="4450" spc="17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esñmate</a:t>
            </a:r>
            <a:r>
              <a:rPr dirty="0" sz="4450" spc="39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36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305"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0566AA"/>
                </a:solidFill>
                <a:latin typeface="Calibri"/>
                <a:cs typeface="Calibri"/>
              </a:rPr>
              <a:t>expected</a:t>
            </a:r>
            <a:r>
              <a:rPr dirty="0" sz="4450" spc="475">
                <a:solidFill>
                  <a:srgbClr val="0566AA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1680BC"/>
                </a:solidFill>
                <a:latin typeface="Calibri"/>
                <a:cs typeface="Calibri"/>
              </a:rPr>
              <a:t>uñlity</a:t>
            </a:r>
            <a:r>
              <a:rPr dirty="0" sz="4450" spc="420">
                <a:solidFill>
                  <a:srgbClr val="1680BC"/>
                </a:solidFill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of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4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game</a:t>
            </a:r>
            <a:r>
              <a:rPr dirty="0" sz="4450" spc="5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from</a:t>
            </a:r>
            <a:r>
              <a:rPr dirty="0" sz="4450" spc="5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a</a:t>
            </a:r>
            <a:r>
              <a:rPr dirty="0" sz="4450" spc="4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given</a:t>
            </a:r>
            <a:r>
              <a:rPr dirty="0" sz="4450" spc="434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posiñon</a:t>
            </a:r>
            <a:r>
              <a:rPr dirty="0" sz="4450" spc="505">
                <a:latin typeface="Calibri"/>
                <a:cs typeface="Calibri"/>
              </a:rPr>
              <a:t>  </a:t>
            </a:r>
            <a:r>
              <a:rPr dirty="0" sz="4450">
                <a:latin typeface="Calibri"/>
                <a:cs typeface="Calibri"/>
              </a:rPr>
              <a:t>(Just</a:t>
            </a:r>
            <a:r>
              <a:rPr dirty="0" sz="4450" spc="5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like</a:t>
            </a:r>
            <a:r>
              <a:rPr dirty="0" sz="4450" spc="4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470"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F2111F"/>
                </a:solidFill>
                <a:latin typeface="Calibri"/>
                <a:cs typeface="Calibri"/>
              </a:rPr>
              <a:t>heuristic</a:t>
            </a:r>
            <a:r>
              <a:rPr dirty="0" sz="4450" spc="735">
                <a:solidFill>
                  <a:srgbClr val="F2111F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EF0A1F"/>
                </a:solidFill>
                <a:latin typeface="Calibri"/>
                <a:cs typeface="Calibri"/>
              </a:rPr>
              <a:t>funcñons</a:t>
            </a:r>
            <a:r>
              <a:rPr dirty="0" sz="4450" spc="765">
                <a:solidFill>
                  <a:srgbClr val="EF0A1F"/>
                </a:solidFill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of </a:t>
            </a:r>
            <a:r>
              <a:rPr dirty="0" sz="4550">
                <a:latin typeface="Calibri"/>
                <a:cs typeface="Calibri"/>
              </a:rPr>
              <a:t>which</a:t>
            </a:r>
            <a:r>
              <a:rPr dirty="0" sz="4550" spc="-195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return</a:t>
            </a:r>
            <a:r>
              <a:rPr dirty="0" sz="4550" spc="-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40">
                <a:solidFill>
                  <a:srgbClr val="0F6BA7"/>
                </a:solidFill>
                <a:latin typeface="Calibri"/>
                <a:cs typeface="Calibri"/>
              </a:rPr>
              <a:t>estimate</a:t>
            </a:r>
            <a:r>
              <a:rPr dirty="0" sz="4550" spc="-55">
                <a:solidFill>
                  <a:srgbClr val="0F6BA7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0F6BA0"/>
                </a:solidFill>
                <a:latin typeface="Calibri"/>
                <a:cs typeface="Calibri"/>
              </a:rPr>
              <a:t>of</a:t>
            </a:r>
            <a:r>
              <a:rPr dirty="0" sz="4550" spc="-110">
                <a:solidFill>
                  <a:srgbClr val="0F6BA0"/>
                </a:solidFill>
                <a:latin typeface="Calibri"/>
                <a:cs typeface="Calibri"/>
              </a:rPr>
              <a:t> </a:t>
            </a:r>
            <a:r>
              <a:rPr dirty="0" sz="4550">
                <a:solidFill>
                  <a:srgbClr val="1172AE"/>
                </a:solidFill>
                <a:latin typeface="Calibri"/>
                <a:cs typeface="Calibri"/>
              </a:rPr>
              <a:t>the</a:t>
            </a:r>
            <a:r>
              <a:rPr dirty="0" sz="4550" spc="-150">
                <a:solidFill>
                  <a:srgbClr val="1172AE"/>
                </a:solidFill>
                <a:latin typeface="Calibri"/>
                <a:cs typeface="Calibri"/>
              </a:rPr>
              <a:t> </a:t>
            </a:r>
            <a:r>
              <a:rPr dirty="0" sz="4550" spc="-30">
                <a:solidFill>
                  <a:srgbClr val="056BB6"/>
                </a:solidFill>
                <a:latin typeface="Calibri"/>
                <a:cs typeface="Calibri"/>
              </a:rPr>
              <a:t>distance</a:t>
            </a:r>
            <a:r>
              <a:rPr dirty="0" sz="4550" spc="5">
                <a:solidFill>
                  <a:srgbClr val="056BB6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12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goal)</a:t>
            </a:r>
            <a:endParaRPr sz="4550">
              <a:latin typeface="Calibri"/>
              <a:cs typeface="Calibri"/>
            </a:endParaRPr>
          </a:p>
          <a:p>
            <a:pPr algn="just" marL="401955" marR="6985" indent="-389890">
              <a:lnSpc>
                <a:spcPts val="4840"/>
              </a:lnSpc>
              <a:spcBef>
                <a:spcPts val="1570"/>
              </a:spcBef>
              <a:buChar char="•"/>
              <a:tabLst>
                <a:tab pos="401955" algn="l"/>
                <a:tab pos="409575" algn="l"/>
              </a:tabLst>
            </a:pPr>
            <a:r>
              <a:rPr dirty="0" sz="4600">
                <a:latin typeface="Calibri"/>
                <a:cs typeface="Calibri"/>
              </a:rPr>
              <a:t>	the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performance</a:t>
            </a:r>
            <a:r>
              <a:rPr dirty="0" sz="4600" spc="1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6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</a:t>
            </a:r>
            <a:r>
              <a:rPr dirty="0" sz="4600" spc="-185">
                <a:latin typeface="Calibri"/>
                <a:cs typeface="Calibri"/>
              </a:rPr>
              <a:t> </a:t>
            </a:r>
            <a:r>
              <a:rPr dirty="0" sz="4600" spc="-130">
                <a:latin typeface="Calibri"/>
                <a:cs typeface="Calibri"/>
              </a:rPr>
              <a:t>game-</a:t>
            </a:r>
            <a:r>
              <a:rPr dirty="0" sz="4600">
                <a:latin typeface="Calibri"/>
                <a:cs typeface="Calibri"/>
              </a:rPr>
              <a:t>playing</a:t>
            </a:r>
            <a:r>
              <a:rPr dirty="0" sz="4600" spc="4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program</a:t>
            </a:r>
            <a:r>
              <a:rPr dirty="0" sz="4600" spc="-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depends</a:t>
            </a:r>
            <a:r>
              <a:rPr dirty="0" sz="4600" spc="-1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strongly</a:t>
            </a:r>
            <a:r>
              <a:rPr dirty="0" sz="4600" spc="-2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on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 spc="-30">
                <a:latin typeface="Calibri"/>
                <a:cs typeface="Calibri"/>
              </a:rPr>
              <a:t>the </a:t>
            </a:r>
            <a:r>
              <a:rPr dirty="0" sz="4600" spc="-40">
                <a:latin typeface="Calibri"/>
                <a:cs typeface="Calibri"/>
              </a:rPr>
              <a:t>quality</a:t>
            </a:r>
            <a:r>
              <a:rPr dirty="0" sz="4600" spc="-10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of</a:t>
            </a:r>
            <a:r>
              <a:rPr dirty="0" sz="4600" spc="-15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its</a:t>
            </a:r>
            <a:r>
              <a:rPr dirty="0" sz="4600" spc="-254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evaluation</a:t>
            </a:r>
            <a:r>
              <a:rPr dirty="0" sz="4600" spc="-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function.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6124" y="5426075"/>
            <a:ext cx="16565880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3110" indent="-740410">
              <a:lnSpc>
                <a:spcPct val="100000"/>
              </a:lnSpc>
              <a:spcBef>
                <a:spcPts val="100"/>
              </a:spcBef>
              <a:buChar char="•"/>
              <a:tabLst>
                <a:tab pos="753110" algn="l"/>
                <a:tab pos="1744345" algn="l"/>
                <a:tab pos="4498975" algn="l"/>
                <a:tab pos="7267575" algn="l"/>
                <a:tab pos="9549130" algn="l"/>
                <a:tab pos="10711180" algn="l"/>
                <a:tab pos="12338050" algn="l"/>
                <a:tab pos="13261975" algn="l"/>
                <a:tab pos="14926944" algn="l"/>
              </a:tabLst>
            </a:pPr>
            <a:r>
              <a:rPr dirty="0" sz="4650" spc="-25">
                <a:latin typeface="Calibri"/>
                <a:cs typeface="Calibri"/>
              </a:rPr>
              <a:t>An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inaccurate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evaluation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funcñon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0">
                <a:latin typeface="Calibri"/>
                <a:cs typeface="Calibri"/>
              </a:rPr>
              <a:t>will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guide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25">
                <a:latin typeface="Calibri"/>
                <a:cs typeface="Calibri"/>
              </a:rPr>
              <a:t>an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0">
                <a:latin typeface="Calibri"/>
                <a:cs typeface="Calibri"/>
              </a:rPr>
              <a:t>agent</a:t>
            </a:r>
            <a:r>
              <a:rPr dirty="0" sz="4650">
                <a:latin typeface="Calibri"/>
                <a:cs typeface="Calibri"/>
              </a:rPr>
              <a:t>	</a:t>
            </a:r>
            <a:r>
              <a:rPr dirty="0" sz="4650" spc="-135">
                <a:latin typeface="Calibri"/>
                <a:cs typeface="Calibri"/>
              </a:rPr>
              <a:t>toward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47920" y="5911500"/>
            <a:ext cx="12675235" cy="167386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115"/>
              </a:spcBef>
            </a:pPr>
            <a:r>
              <a:rPr dirty="0" sz="4650" spc="-70">
                <a:latin typeface="Calibri"/>
                <a:cs typeface="Calibri"/>
              </a:rPr>
              <a:t>positions</a:t>
            </a:r>
            <a:r>
              <a:rPr dirty="0" sz="4650" spc="-55">
                <a:latin typeface="Calibri"/>
                <a:cs typeface="Calibri"/>
              </a:rPr>
              <a:t> </a:t>
            </a:r>
            <a:r>
              <a:rPr dirty="0" sz="4650" spc="-95">
                <a:latin typeface="Calibri"/>
                <a:cs typeface="Calibri"/>
              </a:rPr>
              <a:t>that</a:t>
            </a:r>
            <a:r>
              <a:rPr dirty="0" sz="4650" spc="-170">
                <a:latin typeface="Calibri"/>
                <a:cs typeface="Calibri"/>
              </a:rPr>
              <a:t> </a:t>
            </a:r>
            <a:r>
              <a:rPr dirty="0" sz="4650" spc="-55">
                <a:latin typeface="Calibri"/>
                <a:cs typeface="Calibri"/>
              </a:rPr>
              <a:t>turn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out</a:t>
            </a:r>
            <a:r>
              <a:rPr dirty="0" sz="4650" spc="-204">
                <a:latin typeface="Calibri"/>
                <a:cs typeface="Calibri"/>
              </a:rPr>
              <a:t> </a:t>
            </a:r>
            <a:r>
              <a:rPr dirty="0" sz="4650" spc="-20">
                <a:latin typeface="Calibri"/>
                <a:cs typeface="Calibri"/>
              </a:rPr>
              <a:t>to</a:t>
            </a:r>
            <a:r>
              <a:rPr dirty="0" sz="4650" spc="-245">
                <a:latin typeface="Calibri"/>
                <a:cs typeface="Calibri"/>
              </a:rPr>
              <a:t> </a:t>
            </a:r>
            <a:r>
              <a:rPr dirty="0" sz="4650">
                <a:latin typeface="Calibri"/>
                <a:cs typeface="Calibri"/>
              </a:rPr>
              <a:t>be</a:t>
            </a:r>
            <a:r>
              <a:rPr dirty="0" sz="4650" spc="-260">
                <a:latin typeface="Calibri"/>
                <a:cs typeface="Calibri"/>
              </a:rPr>
              <a:t> </a:t>
            </a:r>
            <a:r>
              <a:rPr dirty="0" sz="4650" spc="-10">
                <a:latin typeface="Calibri"/>
                <a:cs typeface="Calibri"/>
              </a:rPr>
              <a:t>lost.</a:t>
            </a:r>
            <a:endParaRPr sz="465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980"/>
              </a:spcBef>
              <a:buChar char="•"/>
              <a:tabLst>
                <a:tab pos="388620" algn="l"/>
              </a:tabLst>
            </a:pPr>
            <a:r>
              <a:rPr dirty="0" sz="4500">
                <a:latin typeface="Calibri"/>
                <a:cs typeface="Calibri"/>
              </a:rPr>
              <a:t>How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exactly </a:t>
            </a:r>
            <a:r>
              <a:rPr dirty="0" sz="4500">
                <a:latin typeface="Calibri"/>
                <a:cs typeface="Calibri"/>
              </a:rPr>
              <a:t>do</a:t>
            </a:r>
            <a:r>
              <a:rPr dirty="0" sz="4500" spc="-1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we</a:t>
            </a:r>
            <a:r>
              <a:rPr dirty="0" sz="4500" spc="-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design</a:t>
            </a:r>
            <a:r>
              <a:rPr dirty="0" sz="4500" spc="-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good</a:t>
            </a:r>
            <a:r>
              <a:rPr dirty="0" sz="4500" spc="-1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evaluañon</a:t>
            </a:r>
            <a:r>
              <a:rPr dirty="0" sz="4500" spc="5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funcñons?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0665" y="7688262"/>
            <a:ext cx="16543655" cy="21374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838835" marR="5080" indent="-815975">
              <a:lnSpc>
                <a:spcPts val="4880"/>
              </a:lnSpc>
              <a:spcBef>
                <a:spcPts val="695"/>
              </a:spcBef>
              <a:buAutoNum type="arabicPeriod"/>
              <a:tabLst>
                <a:tab pos="838835" algn="l"/>
                <a:tab pos="840105" algn="l"/>
                <a:tab pos="7196455" algn="l"/>
                <a:tab pos="11870055" algn="l"/>
              </a:tabLst>
            </a:pPr>
            <a:r>
              <a:rPr dirty="0" sz="4500">
                <a:latin typeface="Calibri"/>
                <a:cs typeface="Calibri"/>
              </a:rPr>
              <a:t>	</a:t>
            </a:r>
            <a:r>
              <a:rPr dirty="0" sz="4500" spc="-20">
                <a:latin typeface="Calibri"/>
                <a:cs typeface="Calibri"/>
              </a:rPr>
              <a:t>states</a:t>
            </a:r>
            <a:r>
              <a:rPr dirty="0" sz="4500" spc="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are </a:t>
            </a:r>
            <a:r>
              <a:rPr dirty="0" sz="4500">
                <a:solidFill>
                  <a:srgbClr val="1670AC"/>
                </a:solidFill>
                <a:latin typeface="Calibri"/>
                <a:cs typeface="Calibri"/>
              </a:rPr>
              <a:t>wins</a:t>
            </a:r>
            <a:r>
              <a:rPr dirty="0" sz="4500" spc="90">
                <a:solidFill>
                  <a:srgbClr val="1670AC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must</a:t>
            </a:r>
            <a:r>
              <a:rPr dirty="0" sz="4500" spc="-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evaluate</a:t>
            </a:r>
            <a:r>
              <a:rPr dirty="0" sz="4500" spc="105">
                <a:latin typeface="Calibri"/>
                <a:cs typeface="Calibri"/>
              </a:rPr>
              <a:t> </a:t>
            </a:r>
            <a:r>
              <a:rPr dirty="0" sz="4500" spc="-40">
                <a:solidFill>
                  <a:srgbClr val="FB0511"/>
                </a:solidFill>
                <a:latin typeface="Calibri"/>
                <a:cs typeface="Calibri"/>
              </a:rPr>
              <a:t>better</a:t>
            </a:r>
            <a:r>
              <a:rPr dirty="0" sz="4500" spc="155">
                <a:solidFill>
                  <a:srgbClr val="FB0511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than</a:t>
            </a:r>
            <a:r>
              <a:rPr dirty="0" sz="4500" spc="2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draws,</a:t>
            </a:r>
            <a:r>
              <a:rPr dirty="0" sz="4500" spc="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which</a:t>
            </a:r>
            <a:r>
              <a:rPr dirty="0" sz="4500" spc="2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turn </a:t>
            </a:r>
            <a:r>
              <a:rPr dirty="0" sz="4500">
                <a:latin typeface="Calibri"/>
                <a:cs typeface="Calibri"/>
              </a:rPr>
              <a:t>must</a:t>
            </a:r>
            <a:r>
              <a:rPr dirty="0" sz="4500" spc="-1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be</a:t>
            </a:r>
            <a:r>
              <a:rPr dirty="0" sz="4500" spc="-254">
                <a:latin typeface="Calibri"/>
                <a:cs typeface="Calibri"/>
              </a:rPr>
              <a:t> </a:t>
            </a:r>
            <a:r>
              <a:rPr dirty="0" sz="4500" spc="-35">
                <a:solidFill>
                  <a:srgbClr val="EF0001"/>
                </a:solidFill>
                <a:latin typeface="Calibri"/>
                <a:cs typeface="Calibri"/>
              </a:rPr>
              <a:t>better</a:t>
            </a:r>
            <a:r>
              <a:rPr dirty="0" sz="4500" spc="-30">
                <a:solidFill>
                  <a:srgbClr val="EF0001"/>
                </a:solidFill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than</a:t>
            </a:r>
            <a:r>
              <a:rPr dirty="0" sz="4500" spc="-120">
                <a:latin typeface="Calibri"/>
                <a:cs typeface="Calibri"/>
              </a:rPr>
              <a:t> </a:t>
            </a:r>
            <a:r>
              <a:rPr dirty="0" sz="4500" spc="-10">
                <a:solidFill>
                  <a:srgbClr val="1F7CC1"/>
                </a:solidFill>
                <a:latin typeface="Calibri"/>
                <a:cs typeface="Calibri"/>
              </a:rPr>
              <a:t>losses</a:t>
            </a:r>
            <a:r>
              <a:rPr dirty="0" sz="4500">
                <a:solidFill>
                  <a:srgbClr val="1F7CC1"/>
                </a:solidFill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-</a:t>
            </a:r>
            <a:r>
              <a:rPr dirty="0" sz="4500" spc="-24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order</a:t>
            </a:r>
            <a:r>
              <a:rPr dirty="0" sz="4500" spc="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-200">
                <a:latin typeface="Calibri"/>
                <a:cs typeface="Calibri"/>
              </a:rPr>
              <a:t> </a:t>
            </a:r>
            <a:r>
              <a:rPr dirty="0" sz="4500" spc="-10" i="1">
                <a:latin typeface="Calibri"/>
                <a:cs typeface="Calibri"/>
              </a:rPr>
              <a:t>terminal</a:t>
            </a:r>
            <a:r>
              <a:rPr dirty="0" sz="4500" i="1">
                <a:latin typeface="Calibri"/>
                <a:cs typeface="Calibri"/>
              </a:rPr>
              <a:t>	</a:t>
            </a:r>
            <a:r>
              <a:rPr dirty="0" sz="4500" spc="-10">
                <a:latin typeface="Calibri"/>
                <a:cs typeface="Calibri"/>
              </a:rPr>
              <a:t>states</a:t>
            </a:r>
            <a:endParaRPr sz="4500">
              <a:latin typeface="Calibri"/>
              <a:cs typeface="Calibri"/>
            </a:endParaRPr>
          </a:p>
          <a:p>
            <a:pPr marL="843915" indent="-83121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843915" algn="l"/>
              </a:tabLst>
            </a:pP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8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computañon</a:t>
            </a:r>
            <a:r>
              <a:rPr dirty="0" sz="4400" spc="2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of Evaluañon</a:t>
            </a:r>
            <a:r>
              <a:rPr dirty="0" sz="4400" spc="1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Funcñon</a:t>
            </a:r>
            <a:r>
              <a:rPr dirty="0" sz="4400" spc="1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must</a:t>
            </a:r>
            <a:r>
              <a:rPr dirty="0" sz="4400" spc="-6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not</a:t>
            </a:r>
            <a:r>
              <a:rPr dirty="0" sz="4400" spc="-3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take</a:t>
            </a:r>
            <a:r>
              <a:rPr dirty="0" sz="4400" spc="4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too </a:t>
            </a:r>
            <a:r>
              <a:rPr dirty="0" sz="4400" spc="-10">
                <a:latin typeface="Calibri"/>
                <a:cs typeface="Calibri"/>
              </a:rPr>
              <a:t>long!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035808" y="4419599"/>
            <a:ext cx="421005" cy="40005"/>
          </a:xfrm>
          <a:custGeom>
            <a:avLst/>
            <a:gdLst/>
            <a:ahLst/>
            <a:cxnLst/>
            <a:rect l="l" t="t" r="r" b="b"/>
            <a:pathLst>
              <a:path w="421004" h="40004">
                <a:moveTo>
                  <a:pt x="420624" y="0"/>
                </a:move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9144" y="39636"/>
                </a:lnTo>
                <a:lnTo>
                  <a:pt x="420624" y="39636"/>
                </a:lnTo>
                <a:lnTo>
                  <a:pt x="420624" y="21336"/>
                </a:lnTo>
                <a:lnTo>
                  <a:pt x="420624" y="18300"/>
                </a:lnTo>
                <a:lnTo>
                  <a:pt x="420624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8150" rIns="0" bIns="0" rtlCol="0" vert="horz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dirty="0" sz="5800" spc="-155"/>
              <a:t>Evaluañon</a:t>
            </a:r>
            <a:r>
              <a:rPr dirty="0" sz="5800" spc="-120"/>
              <a:t> </a:t>
            </a:r>
            <a:r>
              <a:rPr dirty="0" sz="5800" spc="-80"/>
              <a:t>funcñons</a:t>
            </a:r>
            <a:endParaRPr sz="5800"/>
          </a:p>
        </p:txBody>
      </p:sp>
      <p:sp>
        <p:nvSpPr>
          <p:cNvPr id="4" name="object 4" descr=""/>
          <p:cNvSpPr txBox="1"/>
          <p:nvPr/>
        </p:nvSpPr>
        <p:spPr>
          <a:xfrm>
            <a:off x="1448518" y="1979612"/>
            <a:ext cx="16565880" cy="2132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5344" indent="-817880">
              <a:lnSpc>
                <a:spcPts val="5060"/>
              </a:lnSpc>
              <a:spcBef>
                <a:spcPts val="100"/>
              </a:spcBef>
              <a:buAutoNum type="arabicPeriod" startAt="3"/>
              <a:tabLst>
                <a:tab pos="855344" algn="l"/>
                <a:tab pos="1718945" algn="l"/>
                <a:tab pos="4767580" algn="l"/>
                <a:tab pos="6466840" algn="l"/>
                <a:tab pos="7440930" algn="l"/>
                <a:tab pos="10056495" algn="l"/>
                <a:tab pos="12187555" algn="l"/>
                <a:tab pos="13939519" algn="l"/>
                <a:tab pos="14721205" algn="l"/>
              </a:tabLst>
            </a:pPr>
            <a:r>
              <a:rPr dirty="0" sz="4450" spc="-25">
                <a:latin typeface="Calibri"/>
                <a:cs typeface="Calibri"/>
              </a:rPr>
              <a:t>for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nonterminal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states,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the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evaluañon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funcñon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should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be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strongly</a:t>
            </a:r>
            <a:endParaRPr sz="4450">
              <a:latin typeface="Calibri"/>
              <a:cs typeface="Calibri"/>
            </a:endParaRPr>
          </a:p>
          <a:p>
            <a:pPr marL="859155">
              <a:lnSpc>
                <a:spcPts val="5175"/>
              </a:lnSpc>
            </a:pPr>
            <a:r>
              <a:rPr dirty="0" sz="4550" spc="-65">
                <a:solidFill>
                  <a:srgbClr val="F2080C"/>
                </a:solidFill>
                <a:latin typeface="Calibri"/>
                <a:cs typeface="Calibri"/>
              </a:rPr>
              <a:t>correlated</a:t>
            </a:r>
            <a:r>
              <a:rPr dirty="0" sz="4550" spc="-114">
                <a:solidFill>
                  <a:srgbClr val="F2080C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with</a:t>
            </a:r>
            <a:r>
              <a:rPr dirty="0" sz="4550" spc="-2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2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actual</a:t>
            </a:r>
            <a:r>
              <a:rPr dirty="0" sz="4550" spc="-21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chances</a:t>
            </a:r>
            <a:r>
              <a:rPr dirty="0" sz="4550" spc="-114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22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winning</a:t>
            </a:r>
            <a:endParaRPr sz="4550">
              <a:latin typeface="Calibri"/>
              <a:cs typeface="Calibri"/>
            </a:endParaRPr>
          </a:p>
          <a:p>
            <a:pPr lvl="1" marL="398145" indent="-385445">
              <a:lnSpc>
                <a:spcPct val="100000"/>
              </a:lnSpc>
              <a:spcBef>
                <a:spcPts val="1015"/>
              </a:spcBef>
              <a:buChar char="•"/>
              <a:tabLst>
                <a:tab pos="398145" algn="l"/>
              </a:tabLst>
            </a:pPr>
            <a:r>
              <a:rPr dirty="0" sz="4450">
                <a:latin typeface="Calibri"/>
                <a:cs typeface="Calibri"/>
              </a:rPr>
              <a:t>Most</a:t>
            </a:r>
            <a:r>
              <a:rPr dirty="0" sz="4450" spc="1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evaluation</a:t>
            </a:r>
            <a:r>
              <a:rPr dirty="0" sz="4450" spc="19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funcñons</a:t>
            </a:r>
            <a:r>
              <a:rPr dirty="0" sz="4450" spc="2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work</a:t>
            </a:r>
            <a:r>
              <a:rPr dirty="0" sz="4450" spc="2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by</a:t>
            </a:r>
            <a:r>
              <a:rPr dirty="0" sz="4450" spc="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calculañng</a:t>
            </a:r>
            <a:r>
              <a:rPr dirty="0" sz="4450" spc="24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various</a:t>
            </a:r>
            <a:r>
              <a:rPr dirty="0" sz="4450" spc="24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features</a:t>
            </a:r>
            <a:r>
              <a:rPr dirty="0" sz="4450" spc="16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210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the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41375" y="4022725"/>
            <a:ext cx="1614170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3539" algn="l"/>
                <a:tab pos="4712970" algn="l"/>
              </a:tabLst>
            </a:pPr>
            <a:r>
              <a:rPr dirty="0" sz="4450" spc="-10">
                <a:latin typeface="Calibri"/>
                <a:cs typeface="Calibri"/>
              </a:rPr>
              <a:t>state</a:t>
            </a:r>
            <a:r>
              <a:rPr dirty="0" sz="4450">
                <a:latin typeface="Calibri"/>
                <a:cs typeface="Calibri"/>
              </a:rPr>
              <a:t>	for</a:t>
            </a:r>
            <a:r>
              <a:rPr dirty="0" sz="4450" spc="80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example,</a:t>
            </a:r>
            <a:r>
              <a:rPr dirty="0" sz="4450">
                <a:latin typeface="Calibri"/>
                <a:cs typeface="Calibri"/>
              </a:rPr>
              <a:t>	in</a:t>
            </a:r>
            <a:r>
              <a:rPr dirty="0" sz="4450" spc="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chess,</a:t>
            </a:r>
            <a:r>
              <a:rPr dirty="0" sz="4450" spc="229">
                <a:latin typeface="Calibri"/>
                <a:cs typeface="Calibri"/>
              </a:rPr>
              <a:t> </a:t>
            </a:r>
            <a:r>
              <a:rPr dirty="0" sz="4450" spc="50">
                <a:latin typeface="Calibri"/>
                <a:cs typeface="Calibri"/>
              </a:rPr>
              <a:t>we</a:t>
            </a:r>
            <a:r>
              <a:rPr dirty="0" sz="4450" spc="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would</a:t>
            </a:r>
            <a:r>
              <a:rPr dirty="0" sz="4450" spc="2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have</a:t>
            </a:r>
            <a:r>
              <a:rPr dirty="0" sz="4450" spc="2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features</a:t>
            </a:r>
            <a:r>
              <a:rPr dirty="0" sz="4450" spc="2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for</a:t>
            </a:r>
            <a:r>
              <a:rPr dirty="0" sz="4450" spc="19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225">
                <a:latin typeface="Calibri"/>
                <a:cs typeface="Calibri"/>
              </a:rPr>
              <a:t> </a:t>
            </a:r>
            <a:r>
              <a:rPr dirty="0" sz="4450" spc="-10">
                <a:solidFill>
                  <a:srgbClr val="2A80BC"/>
                </a:solidFill>
                <a:latin typeface="Calibri"/>
                <a:cs typeface="Calibri"/>
              </a:rPr>
              <a:t>number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47920" y="4487716"/>
            <a:ext cx="16565244" cy="51409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algn="just" marL="402590">
              <a:lnSpc>
                <a:spcPct val="100000"/>
              </a:lnSpc>
              <a:spcBef>
                <a:spcPts val="1175"/>
              </a:spcBef>
            </a:pPr>
            <a:r>
              <a:rPr dirty="0" sz="4550">
                <a:solidFill>
                  <a:srgbClr val="0C72BC"/>
                </a:solidFill>
                <a:latin typeface="Calibri"/>
                <a:cs typeface="Calibri"/>
              </a:rPr>
              <a:t>of</a:t>
            </a:r>
            <a:r>
              <a:rPr dirty="0" sz="4550" spc="-215">
                <a:solidFill>
                  <a:srgbClr val="0C72BC"/>
                </a:solidFill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white</a:t>
            </a:r>
            <a:r>
              <a:rPr dirty="0" sz="4550" spc="-16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pawns,</a:t>
            </a:r>
            <a:r>
              <a:rPr dirty="0" sz="4550" spc="-1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black</a:t>
            </a:r>
            <a:r>
              <a:rPr dirty="0" sz="4550" spc="-204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pawns,</a:t>
            </a:r>
            <a:r>
              <a:rPr dirty="0" sz="4550" spc="-18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white</a:t>
            </a:r>
            <a:r>
              <a:rPr dirty="0" sz="4550" spc="-18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queens,</a:t>
            </a:r>
            <a:r>
              <a:rPr dirty="0" sz="4550" spc="-1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black</a:t>
            </a:r>
            <a:r>
              <a:rPr dirty="0" sz="4550" spc="-16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queens,</a:t>
            </a:r>
            <a:r>
              <a:rPr dirty="0" sz="4550" spc="-1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and</a:t>
            </a:r>
            <a:r>
              <a:rPr dirty="0" sz="4550" spc="-2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so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on</a:t>
            </a:r>
            <a:endParaRPr sz="4550">
              <a:latin typeface="Calibri"/>
              <a:cs typeface="Calibri"/>
            </a:endParaRPr>
          </a:p>
          <a:p>
            <a:pPr algn="just" marL="397510" marR="5080" indent="-384810">
              <a:lnSpc>
                <a:spcPct val="90700"/>
              </a:lnSpc>
              <a:spcBef>
                <a:spcPts val="1550"/>
              </a:spcBef>
              <a:buChar char="•"/>
              <a:tabLst>
                <a:tab pos="397510" algn="l"/>
                <a:tab pos="403225" algn="l"/>
              </a:tabLst>
            </a:pPr>
            <a:r>
              <a:rPr dirty="0" sz="4450">
                <a:latin typeface="Calibri"/>
                <a:cs typeface="Calibri"/>
              </a:rPr>
              <a:t>	The</a:t>
            </a:r>
            <a:r>
              <a:rPr dirty="0" sz="4450" spc="-17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features,</a:t>
            </a:r>
            <a:r>
              <a:rPr dirty="0" sz="4450" spc="3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taken</a:t>
            </a:r>
            <a:r>
              <a:rPr dirty="0" sz="4450" spc="-114">
                <a:latin typeface="Calibri"/>
                <a:cs typeface="Calibri"/>
              </a:rPr>
              <a:t> </a:t>
            </a:r>
            <a:r>
              <a:rPr dirty="0" sz="4450" spc="-10">
                <a:latin typeface="Calibri"/>
                <a:cs typeface="Calibri"/>
              </a:rPr>
              <a:t>together,</a:t>
            </a:r>
            <a:r>
              <a:rPr dirty="0" sz="4450" spc="-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define</a:t>
            </a:r>
            <a:r>
              <a:rPr dirty="0" sz="4450" spc="-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various</a:t>
            </a:r>
            <a:r>
              <a:rPr dirty="0" sz="4450" spc="-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cotegories</a:t>
            </a:r>
            <a:r>
              <a:rPr dirty="0" sz="4450" spc="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or</a:t>
            </a:r>
            <a:r>
              <a:rPr dirty="0" sz="4450" spc="-165">
                <a:latin typeface="Calibri"/>
                <a:cs typeface="Calibri"/>
              </a:rPr>
              <a:t> </a:t>
            </a:r>
            <a:r>
              <a:rPr dirty="0" sz="4450" spc="-10" i="1">
                <a:solidFill>
                  <a:srgbClr val="EB030E"/>
                </a:solidFill>
                <a:latin typeface="Calibri"/>
                <a:cs typeface="Calibri"/>
              </a:rPr>
              <a:t>equivalence </a:t>
            </a:r>
            <a:r>
              <a:rPr dirty="0" sz="4450" i="1">
                <a:solidFill>
                  <a:srgbClr val="F90F16"/>
                </a:solidFill>
                <a:latin typeface="Calibri"/>
                <a:cs typeface="Calibri"/>
              </a:rPr>
              <a:t>classes</a:t>
            </a:r>
            <a:r>
              <a:rPr dirty="0" sz="4450" spc="210" i="1">
                <a:solidFill>
                  <a:srgbClr val="F90F16"/>
                </a:solidFill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of</a:t>
            </a:r>
            <a:r>
              <a:rPr dirty="0" sz="4450" spc="1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states:</a:t>
            </a:r>
            <a:r>
              <a:rPr dirty="0" sz="4450" spc="1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1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states</a:t>
            </a:r>
            <a:r>
              <a:rPr dirty="0" sz="4450" spc="8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in</a:t>
            </a:r>
            <a:r>
              <a:rPr dirty="0" sz="4450" spc="-1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each</a:t>
            </a:r>
            <a:r>
              <a:rPr dirty="0" sz="4450" spc="-5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category</a:t>
            </a:r>
            <a:r>
              <a:rPr dirty="0" sz="4450" spc="155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have</a:t>
            </a:r>
            <a:r>
              <a:rPr dirty="0" sz="4450" spc="3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the</a:t>
            </a:r>
            <a:r>
              <a:rPr dirty="0" sz="4450" spc="-2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same</a:t>
            </a:r>
            <a:r>
              <a:rPr dirty="0" sz="4450" spc="110">
                <a:latin typeface="Calibri"/>
                <a:cs typeface="Calibri"/>
              </a:rPr>
              <a:t> </a:t>
            </a:r>
            <a:r>
              <a:rPr dirty="0" sz="4450">
                <a:latin typeface="Calibri"/>
                <a:cs typeface="Calibri"/>
              </a:rPr>
              <a:t>values</a:t>
            </a:r>
            <a:r>
              <a:rPr dirty="0" sz="4450" spc="80">
                <a:latin typeface="Calibri"/>
                <a:cs typeface="Calibri"/>
              </a:rPr>
              <a:t> </a:t>
            </a:r>
            <a:r>
              <a:rPr dirty="0" sz="4450" spc="-25">
                <a:latin typeface="Calibri"/>
                <a:cs typeface="Calibri"/>
              </a:rPr>
              <a:t>for </a:t>
            </a:r>
            <a:r>
              <a:rPr dirty="0" sz="4400">
                <a:latin typeface="Calibri"/>
                <a:cs typeface="Calibri"/>
              </a:rPr>
              <a:t>all</a:t>
            </a:r>
            <a:r>
              <a:rPr dirty="0" sz="4400" spc="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1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features</a:t>
            </a:r>
            <a:endParaRPr sz="4400">
              <a:latin typeface="Calibri"/>
              <a:cs typeface="Calibri"/>
            </a:endParaRPr>
          </a:p>
          <a:p>
            <a:pPr algn="just" marL="27305">
              <a:lnSpc>
                <a:spcPct val="100000"/>
              </a:lnSpc>
              <a:spcBef>
                <a:spcPts val="1019"/>
              </a:spcBef>
            </a:pPr>
            <a:r>
              <a:rPr dirty="0" sz="4550">
                <a:latin typeface="Calibri"/>
                <a:cs typeface="Calibri"/>
              </a:rPr>
              <a:t>Ex:</a:t>
            </a:r>
            <a:r>
              <a:rPr dirty="0" sz="4550" spc="-2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one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category</a:t>
            </a:r>
            <a:r>
              <a:rPr dirty="0" sz="4550" spc="-20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contains</a:t>
            </a:r>
            <a:r>
              <a:rPr dirty="0" sz="4550" spc="-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all</a:t>
            </a:r>
            <a:r>
              <a:rPr dirty="0" sz="4550" spc="-185">
                <a:latin typeface="Calibri"/>
                <a:cs typeface="Calibri"/>
              </a:rPr>
              <a:t> </a:t>
            </a:r>
            <a:r>
              <a:rPr dirty="0" sz="4550" spc="-100">
                <a:latin typeface="Calibri"/>
                <a:cs typeface="Calibri"/>
              </a:rPr>
              <a:t>two-</a:t>
            </a:r>
            <a:r>
              <a:rPr dirty="0" sz="4550">
                <a:latin typeface="Calibri"/>
                <a:cs typeface="Calibri"/>
              </a:rPr>
              <a:t>pawn vs.</a:t>
            </a:r>
            <a:r>
              <a:rPr dirty="0" sz="4550" spc="-185">
                <a:latin typeface="Calibri"/>
                <a:cs typeface="Calibri"/>
              </a:rPr>
              <a:t> </a:t>
            </a:r>
            <a:r>
              <a:rPr dirty="0" sz="4550" spc="-75">
                <a:latin typeface="Calibri"/>
                <a:cs typeface="Calibri"/>
              </a:rPr>
              <a:t>one-</a:t>
            </a:r>
            <a:r>
              <a:rPr dirty="0" sz="4550">
                <a:latin typeface="Calibri"/>
                <a:cs typeface="Calibri"/>
              </a:rPr>
              <a:t>pawn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endgames</a:t>
            </a:r>
            <a:endParaRPr sz="4550">
              <a:latin typeface="Calibri"/>
              <a:cs typeface="Calibri"/>
            </a:endParaRPr>
          </a:p>
          <a:p>
            <a:pPr algn="just" marL="397510" marR="15240" indent="-385445">
              <a:lnSpc>
                <a:spcPts val="4840"/>
              </a:lnSpc>
              <a:spcBef>
                <a:spcPts val="1630"/>
              </a:spcBef>
              <a:buChar char="•"/>
              <a:tabLst>
                <a:tab pos="400050" algn="l"/>
              </a:tabLst>
            </a:pPr>
            <a:r>
              <a:rPr dirty="0" sz="4500">
                <a:latin typeface="Calibri"/>
                <a:cs typeface="Calibri"/>
              </a:rPr>
              <a:t>Any</a:t>
            </a:r>
            <a:r>
              <a:rPr dirty="0" sz="4500" spc="2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given</a:t>
            </a:r>
            <a:r>
              <a:rPr dirty="0" sz="4500" spc="2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category</a:t>
            </a:r>
            <a:r>
              <a:rPr dirty="0" sz="4500" spc="40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will</a:t>
            </a:r>
            <a:r>
              <a:rPr dirty="0" sz="4500" spc="2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contain</a:t>
            </a:r>
            <a:r>
              <a:rPr dirty="0" sz="4500" spc="3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some</a:t>
            </a:r>
            <a:r>
              <a:rPr dirty="0" sz="4500" spc="30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states</a:t>
            </a:r>
            <a:r>
              <a:rPr dirty="0" sz="4500" spc="28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31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lead</a:t>
            </a:r>
            <a:r>
              <a:rPr dirty="0" sz="4500" spc="2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1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wins,</a:t>
            </a:r>
            <a:r>
              <a:rPr dirty="0" sz="4500" spc="320">
                <a:latin typeface="Calibri"/>
                <a:cs typeface="Calibri"/>
              </a:rPr>
              <a:t> </a:t>
            </a:r>
            <a:r>
              <a:rPr dirty="0" sz="4500" spc="-20">
                <a:latin typeface="Calibri"/>
                <a:cs typeface="Calibri"/>
              </a:rPr>
              <a:t>some </a:t>
            </a:r>
            <a:r>
              <a:rPr dirty="0" sz="4500" spc="-20">
                <a:latin typeface="Calibri"/>
                <a:cs typeface="Calibri"/>
              </a:rPr>
              <a:t>	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-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lead</a:t>
            </a:r>
            <a:r>
              <a:rPr dirty="0" sz="4500" spc="-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2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draws,</a:t>
            </a:r>
            <a:r>
              <a:rPr dirty="0" sz="4500" spc="-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and</a:t>
            </a:r>
            <a:r>
              <a:rPr dirty="0" sz="4500" spc="-1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some</a:t>
            </a:r>
            <a:r>
              <a:rPr dirty="0" sz="4500" spc="-11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-1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lead</a:t>
            </a:r>
            <a:r>
              <a:rPr dirty="0" sz="4500" spc="-14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-204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losses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8162925"/>
            <a:ext cx="16841724" cy="16120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2750" rIns="0" bIns="0" rtlCol="0" vert="horz">
            <a:spAutoFit/>
          </a:bodyPr>
          <a:lstStyle/>
          <a:p>
            <a:pPr marL="819150">
              <a:lnSpc>
                <a:spcPct val="100000"/>
              </a:lnSpc>
              <a:spcBef>
                <a:spcPts val="100"/>
              </a:spcBef>
            </a:pPr>
            <a:r>
              <a:rPr dirty="0" sz="6000" spc="-290"/>
              <a:t>Evaluañon</a:t>
            </a:r>
            <a:r>
              <a:rPr dirty="0" sz="6000" spc="459"/>
              <a:t> </a:t>
            </a:r>
            <a:r>
              <a:rPr dirty="0" sz="6000" spc="-220"/>
              <a:t>funcñons</a:t>
            </a:r>
            <a:endParaRPr sz="6000"/>
          </a:p>
        </p:txBody>
      </p:sp>
      <p:sp>
        <p:nvSpPr>
          <p:cNvPr id="4" name="object 4" descr=""/>
          <p:cNvSpPr txBox="1"/>
          <p:nvPr/>
        </p:nvSpPr>
        <p:spPr>
          <a:xfrm>
            <a:off x="1409221" y="1957387"/>
            <a:ext cx="16653510" cy="831469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just" marL="404495" marR="43180" indent="-354330">
              <a:lnSpc>
                <a:spcPts val="4730"/>
              </a:lnSpc>
              <a:spcBef>
                <a:spcPts val="865"/>
              </a:spcBef>
              <a:buChar char="•"/>
              <a:tabLst>
                <a:tab pos="404495" algn="l"/>
                <a:tab pos="432434" algn="l"/>
              </a:tabLst>
            </a:pPr>
            <a:r>
              <a:rPr dirty="0" sz="4550">
                <a:latin typeface="Calibri"/>
                <a:cs typeface="Calibri"/>
              </a:rPr>
              <a:t>	The</a:t>
            </a:r>
            <a:r>
              <a:rPr dirty="0" sz="4550" spc="1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evaluation</a:t>
            </a:r>
            <a:r>
              <a:rPr dirty="0" sz="4550" spc="3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function</a:t>
            </a:r>
            <a:r>
              <a:rPr dirty="0" sz="4550" spc="2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cannot</a:t>
            </a:r>
            <a:r>
              <a:rPr dirty="0" sz="4550" spc="1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know</a:t>
            </a:r>
            <a:r>
              <a:rPr dirty="0" sz="4550" spc="1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which</a:t>
            </a:r>
            <a:r>
              <a:rPr dirty="0" sz="4550" spc="2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states</a:t>
            </a:r>
            <a:r>
              <a:rPr dirty="0" sz="4550" spc="25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are</a:t>
            </a:r>
            <a:r>
              <a:rPr dirty="0" sz="4550" spc="14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which</a:t>
            </a:r>
            <a:r>
              <a:rPr dirty="0" sz="4550" spc="2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(Loss</a:t>
            </a:r>
            <a:r>
              <a:rPr dirty="0" sz="4550" spc="200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/ </a:t>
            </a:r>
            <a:r>
              <a:rPr dirty="0" sz="4500">
                <a:latin typeface="Calibri"/>
                <a:cs typeface="Calibri"/>
              </a:rPr>
              <a:t>Win</a:t>
            </a:r>
            <a:r>
              <a:rPr dirty="0" sz="4500" spc="2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/</a:t>
            </a:r>
            <a:r>
              <a:rPr dirty="0" sz="4500" spc="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Draw</a:t>
            </a:r>
            <a:r>
              <a:rPr dirty="0" sz="4500" spc="1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leading),</a:t>
            </a:r>
            <a:r>
              <a:rPr dirty="0" sz="4500" spc="28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but</a:t>
            </a:r>
            <a:r>
              <a:rPr dirty="0" sz="4500" spc="114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it</a:t>
            </a:r>
            <a:r>
              <a:rPr dirty="0" sz="4500" spc="6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can</a:t>
            </a:r>
            <a:r>
              <a:rPr dirty="0" sz="4500" spc="1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return</a:t>
            </a:r>
            <a:r>
              <a:rPr dirty="0" sz="4500" spc="2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single</a:t>
            </a:r>
            <a:r>
              <a:rPr dirty="0" sz="4500" spc="1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value</a:t>
            </a:r>
            <a:r>
              <a:rPr dirty="0" sz="4500" spc="19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17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reflects</a:t>
            </a:r>
            <a:r>
              <a:rPr dirty="0" sz="4500" spc="280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the </a:t>
            </a:r>
            <a:r>
              <a:rPr dirty="0" sz="4550" spc="-90">
                <a:latin typeface="Calibri"/>
                <a:cs typeface="Calibri"/>
              </a:rPr>
              <a:t>proporñon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-150">
                <a:latin typeface="Calibri"/>
                <a:cs typeface="Calibri"/>
              </a:rPr>
              <a:t> </a:t>
            </a:r>
            <a:r>
              <a:rPr dirty="0" sz="4550" spc="-80">
                <a:latin typeface="Calibri"/>
                <a:cs typeface="Calibri"/>
              </a:rPr>
              <a:t>states</a:t>
            </a:r>
            <a:r>
              <a:rPr dirty="0" sz="4550" spc="-150">
                <a:latin typeface="Calibri"/>
                <a:cs typeface="Calibri"/>
              </a:rPr>
              <a:t> </a:t>
            </a:r>
            <a:r>
              <a:rPr dirty="0" sz="4550" spc="-85">
                <a:latin typeface="Calibri"/>
                <a:cs typeface="Calibri"/>
              </a:rPr>
              <a:t>with</a:t>
            </a:r>
            <a:r>
              <a:rPr dirty="0" sz="4550" spc="-170">
                <a:latin typeface="Calibri"/>
                <a:cs typeface="Calibri"/>
              </a:rPr>
              <a:t> </a:t>
            </a:r>
            <a:r>
              <a:rPr dirty="0" sz="4550" spc="-30">
                <a:latin typeface="Calibri"/>
                <a:cs typeface="Calibri"/>
              </a:rPr>
              <a:t>each</a:t>
            </a:r>
            <a:r>
              <a:rPr dirty="0" sz="4550" spc="-165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outcome.</a:t>
            </a:r>
            <a:endParaRPr sz="4550">
              <a:latin typeface="Calibri"/>
              <a:cs typeface="Calibri"/>
            </a:endParaRPr>
          </a:p>
          <a:p>
            <a:pPr algn="just" marL="69215" marR="43180" indent="-3175">
              <a:lnSpc>
                <a:spcPts val="4730"/>
              </a:lnSpc>
              <a:spcBef>
                <a:spcPts val="1560"/>
              </a:spcBef>
            </a:pPr>
            <a:r>
              <a:rPr dirty="0" sz="4500">
                <a:latin typeface="Calibri"/>
                <a:cs typeface="Calibri"/>
              </a:rPr>
              <a:t>For</a:t>
            </a:r>
            <a:r>
              <a:rPr dirty="0" sz="4500" spc="29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example,</a:t>
            </a:r>
            <a:r>
              <a:rPr dirty="0" sz="4500" spc="4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suppose</a:t>
            </a:r>
            <a:r>
              <a:rPr dirty="0" sz="4500" spc="37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our</a:t>
            </a:r>
            <a:r>
              <a:rPr dirty="0" sz="4500" spc="33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experience</a:t>
            </a:r>
            <a:r>
              <a:rPr dirty="0" sz="4500" spc="5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suggests</a:t>
            </a:r>
            <a:r>
              <a:rPr dirty="0" sz="4500" spc="45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that</a:t>
            </a:r>
            <a:r>
              <a:rPr dirty="0" sz="4500" spc="355">
                <a:latin typeface="Calibri"/>
                <a:cs typeface="Calibri"/>
              </a:rPr>
              <a:t> </a:t>
            </a:r>
            <a:r>
              <a:rPr dirty="0" sz="4500" spc="-265">
                <a:latin typeface="Calibri"/>
                <a:cs typeface="Calibri"/>
              </a:rPr>
              <a:t>72</a:t>
            </a:r>
            <a:r>
              <a:rPr dirty="0" baseline="35460" sz="3525" spc="-397">
                <a:latin typeface="Calibri"/>
                <a:cs typeface="Calibri"/>
              </a:rPr>
              <a:t>0</a:t>
            </a:r>
            <a:r>
              <a:rPr dirty="0" sz="4500" spc="-265">
                <a:latin typeface="Calibri"/>
                <a:cs typeface="Calibri"/>
              </a:rPr>
              <a:t>%</a:t>
            </a:r>
            <a:r>
              <a:rPr dirty="0" sz="4500" spc="1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of</a:t>
            </a:r>
            <a:r>
              <a:rPr dirty="0" sz="4500" spc="3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285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states </a:t>
            </a:r>
            <a:r>
              <a:rPr dirty="0" sz="4500">
                <a:latin typeface="Calibri"/>
                <a:cs typeface="Calibri"/>
              </a:rPr>
              <a:t>encountered</a:t>
            </a:r>
            <a:r>
              <a:rPr dirty="0" sz="4500" spc="919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in</a:t>
            </a:r>
            <a:r>
              <a:rPr dirty="0" sz="4500" spc="63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the</a:t>
            </a:r>
            <a:r>
              <a:rPr dirty="0" sz="4500" spc="670">
                <a:latin typeface="Calibri"/>
                <a:cs typeface="Calibri"/>
              </a:rPr>
              <a:t> </a:t>
            </a:r>
            <a:r>
              <a:rPr dirty="0" sz="4500" spc="-120">
                <a:latin typeface="Calibri"/>
                <a:cs typeface="Calibri"/>
              </a:rPr>
              <a:t>two-</a:t>
            </a:r>
            <a:r>
              <a:rPr dirty="0" sz="4500">
                <a:latin typeface="Calibri"/>
                <a:cs typeface="Calibri"/>
              </a:rPr>
              <a:t>pawns</a:t>
            </a:r>
            <a:r>
              <a:rPr dirty="0" sz="4500" spc="100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vs.</a:t>
            </a:r>
            <a:r>
              <a:rPr dirty="0" sz="4500" spc="635">
                <a:latin typeface="Calibri"/>
                <a:cs typeface="Calibri"/>
              </a:rPr>
              <a:t> </a:t>
            </a:r>
            <a:r>
              <a:rPr dirty="0" sz="4500" spc="-95">
                <a:latin typeface="Calibri"/>
                <a:cs typeface="Calibri"/>
              </a:rPr>
              <a:t>one-</a:t>
            </a:r>
            <a:r>
              <a:rPr dirty="0" sz="4500">
                <a:latin typeface="Calibri"/>
                <a:cs typeface="Calibri"/>
              </a:rPr>
              <a:t>pawn</a:t>
            </a:r>
            <a:r>
              <a:rPr dirty="0" sz="4500" spc="8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category</a:t>
            </a:r>
            <a:r>
              <a:rPr dirty="0" sz="4500" spc="860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lead</a:t>
            </a:r>
            <a:r>
              <a:rPr dirty="0" sz="4500" spc="72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to</a:t>
            </a:r>
            <a:r>
              <a:rPr dirty="0" sz="4500" spc="655">
                <a:latin typeface="Calibri"/>
                <a:cs typeface="Calibri"/>
              </a:rPr>
              <a:t> </a:t>
            </a:r>
            <a:r>
              <a:rPr dirty="0" sz="4500">
                <a:latin typeface="Calibri"/>
                <a:cs typeface="Calibri"/>
              </a:rPr>
              <a:t>a</a:t>
            </a:r>
            <a:r>
              <a:rPr dirty="0" sz="4500" spc="585">
                <a:latin typeface="Calibri"/>
                <a:cs typeface="Calibri"/>
              </a:rPr>
              <a:t> </a:t>
            </a:r>
            <a:r>
              <a:rPr dirty="0" sz="4500" spc="-25">
                <a:latin typeface="Calibri"/>
                <a:cs typeface="Calibri"/>
              </a:rPr>
              <a:t>win </a:t>
            </a:r>
            <a:r>
              <a:rPr dirty="0" sz="4400" spc="-20">
                <a:latin typeface="Calibri"/>
                <a:cs typeface="Calibri"/>
              </a:rPr>
              <a:t>(utility</a:t>
            </a:r>
            <a:r>
              <a:rPr dirty="0" sz="4400" spc="-17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+1);</a:t>
            </a:r>
            <a:r>
              <a:rPr dirty="0" sz="4400" spc="-75">
                <a:latin typeface="Calibri"/>
                <a:cs typeface="Calibri"/>
              </a:rPr>
              <a:t> </a:t>
            </a:r>
            <a:r>
              <a:rPr dirty="0" sz="4400" spc="-275">
                <a:latin typeface="Calibri"/>
                <a:cs typeface="Calibri"/>
              </a:rPr>
              <a:t>20</a:t>
            </a:r>
            <a:r>
              <a:rPr dirty="0" baseline="37037" sz="3375" spc="-412">
                <a:latin typeface="Calibri"/>
                <a:cs typeface="Calibri"/>
              </a:rPr>
              <a:t>O</a:t>
            </a:r>
            <a:r>
              <a:rPr dirty="0" sz="4400" spc="-275">
                <a:latin typeface="Calibri"/>
                <a:cs typeface="Calibri"/>
              </a:rPr>
              <a:t>ñi</a:t>
            </a:r>
            <a:r>
              <a:rPr dirty="0" sz="4400" spc="-2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to</a:t>
            </a:r>
            <a:r>
              <a:rPr dirty="0" sz="4400" spc="-11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</a:t>
            </a:r>
            <a:r>
              <a:rPr dirty="0" sz="4400" spc="-2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loss</a:t>
            </a:r>
            <a:r>
              <a:rPr dirty="0" sz="4400" spc="-1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(0),</a:t>
            </a:r>
            <a:r>
              <a:rPr dirty="0" sz="4400" spc="-4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and</a:t>
            </a:r>
            <a:r>
              <a:rPr dirty="0" sz="4400" spc="-70">
                <a:latin typeface="Calibri"/>
                <a:cs typeface="Calibri"/>
              </a:rPr>
              <a:t> </a:t>
            </a:r>
            <a:r>
              <a:rPr dirty="0" sz="4400" spc="-370">
                <a:latin typeface="Calibri"/>
                <a:cs typeface="Calibri"/>
              </a:rPr>
              <a:t>8</a:t>
            </a:r>
            <a:r>
              <a:rPr dirty="0" baseline="37037" sz="3375" spc="-555">
                <a:latin typeface="Calibri"/>
                <a:cs typeface="Calibri"/>
              </a:rPr>
              <a:t>O</a:t>
            </a:r>
            <a:r>
              <a:rPr dirty="0" sz="4400" spc="-370">
                <a:latin typeface="Calibri"/>
                <a:cs typeface="Calibri"/>
              </a:rPr>
              <a:t>ñi</a:t>
            </a:r>
            <a:r>
              <a:rPr dirty="0" sz="4400" spc="-2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to</a:t>
            </a:r>
            <a:r>
              <a:rPr dirty="0" sz="4400" spc="-10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</a:t>
            </a:r>
            <a:r>
              <a:rPr dirty="0" sz="4400" spc="-21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draw </a:t>
            </a:r>
            <a:r>
              <a:rPr dirty="0" sz="4400" spc="-10">
                <a:latin typeface="Calibri"/>
                <a:cs typeface="Calibri"/>
              </a:rPr>
              <a:t>(1/2).</a:t>
            </a:r>
            <a:endParaRPr sz="4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4500">
              <a:latin typeface="Calibri"/>
              <a:cs typeface="Calibri"/>
            </a:endParaRPr>
          </a:p>
          <a:p>
            <a:pPr algn="just" marL="76200" marR="75565" indent="5080">
              <a:lnSpc>
                <a:spcPts val="4650"/>
              </a:lnSpc>
            </a:pPr>
            <a:r>
              <a:rPr dirty="0" sz="4550">
                <a:latin typeface="Calibri"/>
                <a:cs typeface="Calibri"/>
              </a:rPr>
              <a:t>Then</a:t>
            </a:r>
            <a:r>
              <a:rPr dirty="0" sz="4550" spc="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</a:t>
            </a:r>
            <a:r>
              <a:rPr dirty="0" sz="4550" spc="-120">
                <a:latin typeface="Calibri"/>
                <a:cs typeface="Calibri"/>
              </a:rPr>
              <a:t> </a:t>
            </a:r>
            <a:r>
              <a:rPr dirty="0" sz="4550" spc="-30">
                <a:latin typeface="Calibri"/>
                <a:cs typeface="Calibri"/>
              </a:rPr>
              <a:t>reasonable</a:t>
            </a:r>
            <a:r>
              <a:rPr dirty="0" sz="4550" spc="220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evaluation</a:t>
            </a:r>
            <a:r>
              <a:rPr dirty="0" sz="4550" spc="13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for</a:t>
            </a:r>
            <a:r>
              <a:rPr dirty="0" sz="4550" spc="50">
                <a:latin typeface="Calibri"/>
                <a:cs typeface="Calibri"/>
              </a:rPr>
              <a:t> </a:t>
            </a:r>
            <a:r>
              <a:rPr dirty="0" sz="4550" spc="-10">
                <a:latin typeface="Calibri"/>
                <a:cs typeface="Calibri"/>
              </a:rPr>
              <a:t>states</a:t>
            </a:r>
            <a:r>
              <a:rPr dirty="0" sz="4550" spc="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in</a:t>
            </a:r>
            <a:r>
              <a:rPr dirty="0" sz="4550" spc="-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5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category</a:t>
            </a:r>
            <a:r>
              <a:rPr dirty="0" sz="4550" spc="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is</a:t>
            </a:r>
            <a:r>
              <a:rPr dirty="0" sz="4550" spc="-3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the</a:t>
            </a:r>
            <a:r>
              <a:rPr dirty="0" sz="4550" spc="-55">
                <a:latin typeface="Calibri"/>
                <a:cs typeface="Calibri"/>
              </a:rPr>
              <a:t> </a:t>
            </a:r>
            <a:r>
              <a:rPr dirty="0" sz="4550" spc="-50">
                <a:latin typeface="Calibri"/>
                <a:cs typeface="Calibri"/>
              </a:rPr>
              <a:t>expected </a:t>
            </a:r>
            <a:r>
              <a:rPr dirty="0" sz="4550">
                <a:latin typeface="Calibri"/>
                <a:cs typeface="Calibri"/>
              </a:rPr>
              <a:t>value:</a:t>
            </a:r>
            <a:r>
              <a:rPr dirty="0" sz="4550" spc="-145">
                <a:latin typeface="Calibri"/>
                <a:cs typeface="Calibri"/>
              </a:rPr>
              <a:t> </a:t>
            </a:r>
            <a:r>
              <a:rPr dirty="0" sz="4550" spc="-60">
                <a:latin typeface="Calibri"/>
                <a:cs typeface="Calibri"/>
              </a:rPr>
              <a:t>(0.72</a:t>
            </a:r>
            <a:r>
              <a:rPr dirty="0" sz="4550" spc="-155">
                <a:latin typeface="Calibri"/>
                <a:cs typeface="Calibri"/>
              </a:rPr>
              <a:t> </a:t>
            </a:r>
            <a:r>
              <a:rPr dirty="0" sz="4550" spc="114">
                <a:latin typeface="Calibri"/>
                <a:cs typeface="Calibri"/>
              </a:rPr>
              <a:t>«</a:t>
            </a:r>
            <a:r>
              <a:rPr dirty="0" sz="4550" spc="-30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+1)</a:t>
            </a:r>
            <a:r>
              <a:rPr dirty="0" sz="4550" spc="-11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+</a:t>
            </a:r>
            <a:r>
              <a:rPr dirty="0" sz="4550" spc="-254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(0.20</a:t>
            </a:r>
            <a:r>
              <a:rPr dirty="0" sz="4550" spc="-15">
                <a:latin typeface="Calibri"/>
                <a:cs typeface="Calibri"/>
              </a:rPr>
              <a:t> </a:t>
            </a:r>
            <a:r>
              <a:rPr dirty="0" baseline="4273" sz="6825">
                <a:latin typeface="Calibri"/>
                <a:cs typeface="Calibri"/>
              </a:rPr>
              <a:t>x</a:t>
            </a:r>
            <a:r>
              <a:rPr dirty="0" baseline="4273" sz="6825" spc="-12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0)</a:t>
            </a:r>
            <a:r>
              <a:rPr dirty="0" sz="4550" spc="-12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+</a:t>
            </a:r>
            <a:r>
              <a:rPr dirty="0" sz="4550" spc="-260">
                <a:latin typeface="Calibri"/>
                <a:cs typeface="Calibri"/>
              </a:rPr>
              <a:t> </a:t>
            </a:r>
            <a:r>
              <a:rPr dirty="0" sz="4550" spc="-35">
                <a:latin typeface="Calibri"/>
                <a:cs typeface="Calibri"/>
              </a:rPr>
              <a:t>(0.08</a:t>
            </a:r>
            <a:r>
              <a:rPr dirty="0" sz="4550" spc="70">
                <a:latin typeface="Calibri"/>
                <a:cs typeface="Calibri"/>
              </a:rPr>
              <a:t> </a:t>
            </a:r>
            <a:r>
              <a:rPr dirty="0" baseline="4273" sz="6825">
                <a:latin typeface="Calibri"/>
                <a:cs typeface="Calibri"/>
              </a:rPr>
              <a:t>x</a:t>
            </a:r>
            <a:r>
              <a:rPr dirty="0" baseline="4273" sz="6825" spc="-135">
                <a:latin typeface="Calibri"/>
                <a:cs typeface="Calibri"/>
              </a:rPr>
              <a:t> </a:t>
            </a:r>
            <a:r>
              <a:rPr dirty="0" sz="4550" spc="-40">
                <a:latin typeface="Calibri"/>
                <a:cs typeface="Calibri"/>
              </a:rPr>
              <a:t>1/2)</a:t>
            </a:r>
            <a:r>
              <a:rPr dirty="0" sz="4550" spc="-6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=</a:t>
            </a:r>
            <a:r>
              <a:rPr dirty="0" sz="4550" spc="-220">
                <a:latin typeface="Calibri"/>
                <a:cs typeface="Calibri"/>
              </a:rPr>
              <a:t> </a:t>
            </a:r>
            <a:r>
              <a:rPr dirty="0" sz="4550" spc="-20">
                <a:latin typeface="Calibri"/>
                <a:cs typeface="Calibri"/>
              </a:rPr>
              <a:t>0.76</a:t>
            </a:r>
            <a:endParaRPr sz="4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4550">
              <a:latin typeface="Calibri"/>
              <a:cs typeface="Calibri"/>
            </a:endParaRPr>
          </a:p>
          <a:p>
            <a:pPr algn="just" marL="66675">
              <a:lnSpc>
                <a:spcPts val="5030"/>
              </a:lnSpc>
            </a:pPr>
            <a:r>
              <a:rPr dirty="0" sz="4400">
                <a:solidFill>
                  <a:srgbClr val="161616"/>
                </a:solidFill>
                <a:latin typeface="Calibri"/>
                <a:cs typeface="Calibri"/>
              </a:rPr>
              <a:t>As</a:t>
            </a:r>
            <a:r>
              <a:rPr dirty="0" sz="4400" spc="18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81818"/>
                </a:solidFill>
                <a:latin typeface="Calibri"/>
                <a:cs typeface="Calibri"/>
              </a:rPr>
              <a:t>with</a:t>
            </a:r>
            <a:r>
              <a:rPr dirty="0" sz="4400" spc="29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A1A1A"/>
                </a:solidFill>
                <a:latin typeface="Calibri"/>
                <a:cs typeface="Calibri"/>
              </a:rPr>
              <a:t>terminal</a:t>
            </a:r>
            <a:r>
              <a:rPr dirty="0" sz="4400" spc="3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81818"/>
                </a:solidFill>
                <a:latin typeface="Calibri"/>
                <a:cs typeface="Calibri"/>
              </a:rPr>
              <a:t>states,</a:t>
            </a:r>
            <a:r>
              <a:rPr dirty="0" sz="4400" spc="38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dirty="0" sz="4400" spc="22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61616"/>
                </a:solidFill>
                <a:latin typeface="Calibri"/>
                <a:cs typeface="Calibri"/>
              </a:rPr>
              <a:t>evaluañon</a:t>
            </a:r>
            <a:r>
              <a:rPr dirty="0" sz="4400" spc="49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61616"/>
                </a:solidFill>
                <a:latin typeface="Calibri"/>
                <a:cs typeface="Calibri"/>
              </a:rPr>
              <a:t>function</a:t>
            </a:r>
            <a:r>
              <a:rPr dirty="0" sz="4400" spc="40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81818"/>
                </a:solidFill>
                <a:latin typeface="Calibri"/>
                <a:cs typeface="Calibri"/>
              </a:rPr>
              <a:t>need</a:t>
            </a:r>
            <a:r>
              <a:rPr dirty="0" sz="4400" spc="32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61616"/>
                </a:solidFill>
                <a:latin typeface="Calibri"/>
                <a:cs typeface="Calibri"/>
              </a:rPr>
              <a:t>not</a:t>
            </a:r>
            <a:r>
              <a:rPr dirty="0" sz="4400" spc="27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400">
                <a:solidFill>
                  <a:srgbClr val="181818"/>
                </a:solidFill>
                <a:latin typeface="Calibri"/>
                <a:cs typeface="Calibri"/>
              </a:rPr>
              <a:t>return</a:t>
            </a:r>
            <a:r>
              <a:rPr dirty="0" sz="4400" spc="34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4400" spc="-10">
                <a:solidFill>
                  <a:srgbClr val="161616"/>
                </a:solidFill>
                <a:latin typeface="Calibri"/>
                <a:cs typeface="Calibri"/>
              </a:rPr>
              <a:t>actual</a:t>
            </a:r>
            <a:endParaRPr sz="4400">
              <a:latin typeface="Calibri"/>
              <a:cs typeface="Calibri"/>
            </a:endParaRPr>
          </a:p>
          <a:p>
            <a:pPr algn="just" marL="70485">
              <a:lnSpc>
                <a:spcPts val="4970"/>
              </a:lnSpc>
            </a:pPr>
            <a:r>
              <a:rPr dirty="0" sz="4350" spc="-10">
                <a:latin typeface="Calibri"/>
                <a:cs typeface="Calibri"/>
              </a:rPr>
              <a:t>expected</a:t>
            </a:r>
            <a:r>
              <a:rPr dirty="0" sz="4350" spc="14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values</a:t>
            </a:r>
            <a:r>
              <a:rPr dirty="0" sz="4350" spc="-5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as</a:t>
            </a:r>
            <a:r>
              <a:rPr dirty="0" sz="4350" spc="-13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long</a:t>
            </a:r>
            <a:r>
              <a:rPr dirty="0" sz="4350" spc="-14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as</a:t>
            </a:r>
            <a:r>
              <a:rPr dirty="0" sz="4350" spc="-10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the</a:t>
            </a:r>
            <a:r>
              <a:rPr dirty="0" sz="4350" spc="-100">
                <a:latin typeface="Calibri"/>
                <a:cs typeface="Calibri"/>
              </a:rPr>
              <a:t> </a:t>
            </a:r>
            <a:r>
              <a:rPr dirty="0" sz="4350" i="1">
                <a:latin typeface="Calibri"/>
                <a:cs typeface="Calibri"/>
              </a:rPr>
              <a:t>ordering</a:t>
            </a:r>
            <a:r>
              <a:rPr dirty="0" sz="4350" spc="55" i="1">
                <a:latin typeface="Calibri"/>
                <a:cs typeface="Calibri"/>
              </a:rPr>
              <a:t> </a:t>
            </a:r>
            <a:r>
              <a:rPr dirty="0" sz="4350" i="1">
                <a:latin typeface="Calibri"/>
                <a:cs typeface="Calibri"/>
              </a:rPr>
              <a:t>ot</a:t>
            </a:r>
            <a:r>
              <a:rPr dirty="0" sz="4350" spc="-50" i="1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the</a:t>
            </a:r>
            <a:r>
              <a:rPr dirty="0" sz="4350" spc="-140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states</a:t>
            </a:r>
            <a:r>
              <a:rPr dirty="0" sz="4350" spc="4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is</a:t>
            </a:r>
            <a:r>
              <a:rPr dirty="0" sz="4350" spc="-14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the</a:t>
            </a:r>
            <a:r>
              <a:rPr dirty="0" sz="4350" spc="-100">
                <a:latin typeface="Calibri"/>
                <a:cs typeface="Calibri"/>
              </a:rPr>
              <a:t> </a:t>
            </a:r>
            <a:r>
              <a:rPr dirty="0" sz="4350" spc="-20">
                <a:latin typeface="Calibri"/>
                <a:cs typeface="Calibri"/>
              </a:rPr>
              <a:t>same</a:t>
            </a:r>
            <a:endParaRPr sz="4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41119" y="7667243"/>
            <a:ext cx="16834485" cy="0"/>
          </a:xfrm>
          <a:custGeom>
            <a:avLst/>
            <a:gdLst/>
            <a:ahLst/>
            <a:cxnLst/>
            <a:rect l="l" t="t" r="r" b="b"/>
            <a:pathLst>
              <a:path w="16834485" h="0">
                <a:moveTo>
                  <a:pt x="0" y="0"/>
                </a:moveTo>
                <a:lnTo>
                  <a:pt x="16834104" y="0"/>
                </a:lnTo>
              </a:path>
            </a:pathLst>
          </a:custGeom>
          <a:ln w="21336">
            <a:solidFill>
              <a:srgbClr val="3F4F7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341119" y="5474208"/>
            <a:ext cx="16834485" cy="2204085"/>
            <a:chOff x="1341119" y="5474208"/>
            <a:chExt cx="16834485" cy="2204085"/>
          </a:xfrm>
        </p:grpSpPr>
        <p:sp>
          <p:nvSpPr>
            <p:cNvPr id="4" name="object 4" descr=""/>
            <p:cNvSpPr/>
            <p:nvPr/>
          </p:nvSpPr>
          <p:spPr>
            <a:xfrm>
              <a:off x="1341119" y="5474208"/>
              <a:ext cx="16834485" cy="2204085"/>
            </a:xfrm>
            <a:custGeom>
              <a:avLst/>
              <a:gdLst/>
              <a:ahLst/>
              <a:cxnLst/>
              <a:rect l="l" t="t" r="r" b="b"/>
              <a:pathLst>
                <a:path w="16834485" h="2204084">
                  <a:moveTo>
                    <a:pt x="0" y="10668"/>
                  </a:moveTo>
                  <a:lnTo>
                    <a:pt x="16834104" y="10668"/>
                  </a:lnTo>
                </a:path>
                <a:path w="16834485" h="2204084">
                  <a:moveTo>
                    <a:pt x="10668" y="2203704"/>
                  </a:moveTo>
                  <a:lnTo>
                    <a:pt x="10668" y="0"/>
                  </a:lnTo>
                </a:path>
              </a:pathLst>
            </a:custGeom>
            <a:ln w="21336">
              <a:solidFill>
                <a:srgbClr val="3F4F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8164556" y="5474208"/>
              <a:ext cx="0" cy="2204085"/>
            </a:xfrm>
            <a:custGeom>
              <a:avLst/>
              <a:gdLst/>
              <a:ahLst/>
              <a:cxnLst/>
              <a:rect l="l" t="t" r="r" b="b"/>
              <a:pathLst>
                <a:path w="0" h="2204084">
                  <a:moveTo>
                    <a:pt x="0" y="2203704"/>
                  </a:moveTo>
                  <a:lnTo>
                    <a:pt x="0" y="0"/>
                  </a:lnTo>
                </a:path>
              </a:pathLst>
            </a:custGeom>
            <a:ln w="21336">
              <a:solidFill>
                <a:srgbClr val="3F4F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9100" rIns="0" bIns="0" rtlCol="0" vert="horz">
            <a:spAutoFit/>
          </a:bodyPr>
          <a:lstStyle/>
          <a:p>
            <a:pPr marL="819785">
              <a:lnSpc>
                <a:spcPct val="100000"/>
              </a:lnSpc>
              <a:spcBef>
                <a:spcPts val="100"/>
              </a:spcBef>
            </a:pPr>
            <a:r>
              <a:rPr dirty="0" sz="5950" spc="-260"/>
              <a:t>Evaluañon</a:t>
            </a:r>
            <a:r>
              <a:rPr dirty="0" sz="5950" spc="415"/>
              <a:t> </a:t>
            </a:r>
            <a:r>
              <a:rPr dirty="0" sz="5950" spc="-190"/>
              <a:t>funcñons</a:t>
            </a:r>
            <a:endParaRPr sz="5950"/>
          </a:p>
        </p:txBody>
      </p:sp>
      <p:sp>
        <p:nvSpPr>
          <p:cNvPr id="7" name="object 7" descr=""/>
          <p:cNvSpPr txBox="1"/>
          <p:nvPr/>
        </p:nvSpPr>
        <p:spPr>
          <a:xfrm>
            <a:off x="1446723" y="1960562"/>
            <a:ext cx="16562069" cy="338518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394970" marR="38100" indent="-382905">
              <a:lnSpc>
                <a:spcPts val="4840"/>
              </a:lnSpc>
              <a:spcBef>
                <a:spcPts val="825"/>
              </a:spcBef>
              <a:buChar char="•"/>
              <a:tabLst>
                <a:tab pos="394970" algn="l"/>
                <a:tab pos="398145" algn="l"/>
              </a:tabLst>
            </a:pPr>
            <a:r>
              <a:rPr dirty="0" sz="4600">
                <a:latin typeface="Calibri"/>
                <a:cs typeface="Calibri"/>
              </a:rPr>
              <a:t>	In</a:t>
            </a:r>
            <a:r>
              <a:rPr dirty="0" sz="4600" spc="-195">
                <a:latin typeface="Calibri"/>
                <a:cs typeface="Calibri"/>
              </a:rPr>
              <a:t> </a:t>
            </a:r>
            <a:r>
              <a:rPr dirty="0" sz="4600" spc="-20">
                <a:latin typeface="Calibri"/>
                <a:cs typeface="Calibri"/>
              </a:rPr>
              <a:t>principle,</a:t>
            </a:r>
            <a:r>
              <a:rPr dirty="0" sz="4600" spc="9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-17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expected</a:t>
            </a:r>
            <a:r>
              <a:rPr dirty="0" sz="4600" spc="-1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value</a:t>
            </a:r>
            <a:r>
              <a:rPr dirty="0" sz="4600" spc="-1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can</a:t>
            </a:r>
            <a:r>
              <a:rPr dirty="0" sz="4600" spc="-13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be</a:t>
            </a:r>
            <a:r>
              <a:rPr dirty="0" sz="4600" spc="-229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determined</a:t>
            </a:r>
            <a:r>
              <a:rPr dirty="0" sz="4600" spc="10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for</a:t>
            </a:r>
            <a:r>
              <a:rPr dirty="0" sz="4600" spc="-1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each</a:t>
            </a:r>
            <a:r>
              <a:rPr dirty="0" sz="4600" spc="-90">
                <a:latin typeface="Calibri"/>
                <a:cs typeface="Calibri"/>
              </a:rPr>
              <a:t> </a:t>
            </a:r>
            <a:r>
              <a:rPr dirty="0" sz="4600" spc="-114">
                <a:latin typeface="Calibri"/>
                <a:cs typeface="Calibri"/>
              </a:rPr>
              <a:t>category, </a:t>
            </a:r>
            <a:r>
              <a:rPr dirty="0" sz="4600" spc="-55">
                <a:latin typeface="Calibri"/>
                <a:cs typeface="Calibri"/>
              </a:rPr>
              <a:t>resulting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in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</a:t>
            </a:r>
            <a:r>
              <a:rPr dirty="0" sz="4600" spc="-260">
                <a:latin typeface="Calibri"/>
                <a:cs typeface="Calibri"/>
              </a:rPr>
              <a:t> </a:t>
            </a:r>
            <a:r>
              <a:rPr dirty="0" sz="4600" spc="-65">
                <a:latin typeface="Calibri"/>
                <a:cs typeface="Calibri"/>
              </a:rPr>
              <a:t>evaluation</a:t>
            </a:r>
            <a:r>
              <a:rPr dirty="0" sz="4600" spc="-30">
                <a:latin typeface="Calibri"/>
                <a:cs typeface="Calibri"/>
              </a:rPr>
              <a:t> </a:t>
            </a:r>
            <a:r>
              <a:rPr dirty="0" sz="4600" spc="-35">
                <a:latin typeface="Calibri"/>
                <a:cs typeface="Calibri"/>
              </a:rPr>
              <a:t>function</a:t>
            </a:r>
            <a:r>
              <a:rPr dirty="0" sz="4600" spc="-100">
                <a:latin typeface="Calibri"/>
                <a:cs typeface="Calibri"/>
              </a:rPr>
              <a:t> </a:t>
            </a:r>
            <a:r>
              <a:rPr dirty="0" sz="4600" spc="-50">
                <a:latin typeface="Calibri"/>
                <a:cs typeface="Calibri"/>
              </a:rPr>
              <a:t>that</a:t>
            </a:r>
            <a:r>
              <a:rPr dirty="0" sz="4600" spc="-210">
                <a:latin typeface="Calibri"/>
                <a:cs typeface="Calibri"/>
              </a:rPr>
              <a:t> </a:t>
            </a:r>
            <a:r>
              <a:rPr dirty="0" sz="4600" spc="-40">
                <a:latin typeface="Calibri"/>
                <a:cs typeface="Calibri"/>
              </a:rPr>
              <a:t>works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 spc="-25">
                <a:latin typeface="Calibri"/>
                <a:cs typeface="Calibri"/>
              </a:rPr>
              <a:t>for</a:t>
            </a:r>
            <a:r>
              <a:rPr dirty="0" sz="4600" spc="-1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any</a:t>
            </a:r>
            <a:r>
              <a:rPr dirty="0" sz="4600" spc="-150">
                <a:latin typeface="Calibri"/>
                <a:cs typeface="Calibri"/>
              </a:rPr>
              <a:t> </a:t>
            </a:r>
            <a:r>
              <a:rPr dirty="0" sz="4600" spc="-10">
                <a:latin typeface="Calibri"/>
                <a:cs typeface="Calibri"/>
              </a:rPr>
              <a:t>state.</a:t>
            </a:r>
            <a:endParaRPr sz="4600">
              <a:latin typeface="Calibri"/>
              <a:cs typeface="Calibri"/>
            </a:endParaRPr>
          </a:p>
          <a:p>
            <a:pPr algn="just" marL="394970" marR="5080" indent="-382270">
              <a:lnSpc>
                <a:spcPct val="87300"/>
              </a:lnSpc>
              <a:spcBef>
                <a:spcPts val="1585"/>
              </a:spcBef>
              <a:buChar char="•"/>
              <a:tabLst>
                <a:tab pos="394970" algn="l"/>
                <a:tab pos="398780" algn="l"/>
              </a:tabLst>
            </a:pPr>
            <a:r>
              <a:rPr dirty="0" sz="4550">
                <a:latin typeface="Calibri"/>
                <a:cs typeface="Calibri"/>
              </a:rPr>
              <a:t>	In</a:t>
            </a:r>
            <a:r>
              <a:rPr dirty="0" sz="4550" spc="5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practice,</a:t>
            </a:r>
            <a:r>
              <a:rPr dirty="0" sz="4550" spc="7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this</a:t>
            </a:r>
            <a:r>
              <a:rPr dirty="0" sz="4550" spc="5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kind</a:t>
            </a:r>
            <a:r>
              <a:rPr dirty="0" sz="4550" spc="57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of</a:t>
            </a:r>
            <a:r>
              <a:rPr dirty="0" sz="4550" spc="57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analysis</a:t>
            </a:r>
            <a:r>
              <a:rPr dirty="0" sz="4550" spc="59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requires</a:t>
            </a:r>
            <a:r>
              <a:rPr dirty="0" sz="4550" spc="740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too</a:t>
            </a:r>
            <a:r>
              <a:rPr dirty="0" sz="4550" spc="60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many</a:t>
            </a:r>
            <a:r>
              <a:rPr dirty="0" sz="4550" spc="615">
                <a:latin typeface="Calibri"/>
                <a:cs typeface="Calibri"/>
              </a:rPr>
              <a:t> </a:t>
            </a:r>
            <a:r>
              <a:rPr dirty="0" sz="4550">
                <a:latin typeface="Calibri"/>
                <a:cs typeface="Calibri"/>
              </a:rPr>
              <a:t>categories</a:t>
            </a:r>
            <a:r>
              <a:rPr dirty="0" sz="4550" spc="725">
                <a:latin typeface="Calibri"/>
                <a:cs typeface="Calibri"/>
              </a:rPr>
              <a:t> </a:t>
            </a:r>
            <a:r>
              <a:rPr dirty="0" sz="4550" spc="-25">
                <a:latin typeface="Calibri"/>
                <a:cs typeface="Calibri"/>
              </a:rPr>
              <a:t>and </a:t>
            </a:r>
            <a:r>
              <a:rPr dirty="0" sz="4600">
                <a:latin typeface="Calibri"/>
                <a:cs typeface="Calibri"/>
              </a:rPr>
              <a:t>hence</a:t>
            </a:r>
            <a:r>
              <a:rPr dirty="0" sz="4600" spc="12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too</a:t>
            </a:r>
            <a:r>
              <a:rPr dirty="0" sz="4600" spc="114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much</a:t>
            </a:r>
            <a:r>
              <a:rPr dirty="0" sz="4600" spc="65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experience</a:t>
            </a:r>
            <a:r>
              <a:rPr dirty="0" sz="4600" spc="170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to</a:t>
            </a:r>
            <a:r>
              <a:rPr dirty="0" sz="4600" spc="1075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estimate</a:t>
            </a:r>
            <a:r>
              <a:rPr dirty="0" sz="4600" spc="114">
                <a:latin typeface="Calibri"/>
                <a:cs typeface="Calibri"/>
              </a:rPr>
              <a:t>  </a:t>
            </a:r>
            <a:r>
              <a:rPr dirty="0" sz="4600">
                <a:latin typeface="Calibri"/>
                <a:cs typeface="Calibri"/>
              </a:rPr>
              <a:t>all</a:t>
            </a:r>
            <a:r>
              <a:rPr dirty="0" sz="4600" spc="10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the</a:t>
            </a:r>
            <a:r>
              <a:rPr dirty="0" sz="4600" spc="1080">
                <a:latin typeface="Calibri"/>
                <a:cs typeface="Calibri"/>
              </a:rPr>
              <a:t> </a:t>
            </a:r>
            <a:r>
              <a:rPr dirty="0" sz="4600">
                <a:latin typeface="Calibri"/>
                <a:cs typeface="Calibri"/>
              </a:rPr>
              <a:t>probabilities</a:t>
            </a:r>
            <a:r>
              <a:rPr dirty="0" sz="4600" spc="165">
                <a:latin typeface="Calibri"/>
                <a:cs typeface="Calibri"/>
              </a:rPr>
              <a:t>  </a:t>
            </a:r>
            <a:r>
              <a:rPr dirty="0" sz="4600" spc="-25">
                <a:latin typeface="Calibri"/>
                <a:cs typeface="Calibri"/>
              </a:rPr>
              <a:t>of </a:t>
            </a:r>
            <a:r>
              <a:rPr dirty="0" sz="4650" spc="-10">
                <a:latin typeface="Calibri"/>
                <a:cs typeface="Calibri"/>
              </a:rPr>
              <a:t>winning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86061" y="5456237"/>
            <a:ext cx="343154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272030" algn="l"/>
              </a:tabLst>
            </a:pPr>
            <a:r>
              <a:rPr dirty="0" sz="4450" spc="-10">
                <a:latin typeface="Calibri"/>
                <a:cs typeface="Calibri"/>
              </a:rPr>
              <a:t>Instead,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0">
                <a:latin typeface="Calibri"/>
                <a:cs typeface="Calibri"/>
              </a:rPr>
              <a:t>most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55963" y="5456237"/>
            <a:ext cx="1263650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844165" algn="l"/>
                <a:tab pos="5429885" algn="l"/>
                <a:tab pos="7927975" algn="l"/>
                <a:tab pos="10355580" algn="l"/>
              </a:tabLst>
            </a:pPr>
            <a:r>
              <a:rPr dirty="0" sz="4450" spc="-10">
                <a:latin typeface="Calibri"/>
                <a:cs typeface="Calibri"/>
              </a:rPr>
              <a:t>evaluañon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funcñons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compute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10">
                <a:latin typeface="Calibri"/>
                <a:cs typeface="Calibri"/>
              </a:rPr>
              <a:t>separate</a:t>
            </a:r>
            <a:r>
              <a:rPr dirty="0" sz="4450">
                <a:latin typeface="Calibri"/>
                <a:cs typeface="Calibri"/>
              </a:rPr>
              <a:t>	</a:t>
            </a:r>
            <a:r>
              <a:rPr dirty="0" sz="4450" spc="-25">
                <a:latin typeface="Calibri"/>
                <a:cs typeface="Calibri"/>
              </a:rPr>
              <a:t>numerical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94938" y="6053137"/>
            <a:ext cx="13121640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60500" algn="l"/>
                <a:tab pos="2894965" algn="l"/>
                <a:tab pos="4908550" algn="l"/>
                <a:tab pos="6115685" algn="l"/>
                <a:tab pos="7532370" algn="l"/>
                <a:tab pos="9830435" algn="l"/>
                <a:tab pos="11402060" algn="l"/>
                <a:tab pos="12219940" algn="l"/>
              </a:tabLst>
            </a:pPr>
            <a:r>
              <a:rPr dirty="0" sz="4550" spc="-20">
                <a:latin typeface="Calibri"/>
                <a:cs typeface="Calibri"/>
              </a:rPr>
              <a:t>from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each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>
                <a:latin typeface="Calibri"/>
                <a:cs typeface="Calibri"/>
              </a:rPr>
              <a:t>feature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latin typeface="Calibri"/>
                <a:cs typeface="Calibri"/>
              </a:rPr>
              <a:t>and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then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10" i="1">
                <a:latin typeface="Calibri"/>
                <a:cs typeface="Calibri"/>
              </a:rPr>
              <a:t>combine</a:t>
            </a:r>
            <a:r>
              <a:rPr dirty="0" sz="4550" i="1">
                <a:latin typeface="Calibri"/>
                <a:cs typeface="Calibri"/>
              </a:rPr>
              <a:t>	</a:t>
            </a:r>
            <a:r>
              <a:rPr dirty="0" sz="4550" spc="-20">
                <a:latin typeface="Calibri"/>
                <a:cs typeface="Calibri"/>
              </a:rPr>
              <a:t>them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25">
                <a:latin typeface="Calibri"/>
                <a:cs typeface="Calibri"/>
              </a:rPr>
              <a:t>to</a:t>
            </a:r>
            <a:r>
              <a:rPr dirty="0" sz="4550">
                <a:latin typeface="Calibri"/>
                <a:cs typeface="Calibri"/>
              </a:rPr>
              <a:t>	</a:t>
            </a:r>
            <a:r>
              <a:rPr dirty="0" sz="4550" spc="-50">
                <a:latin typeface="Calibri"/>
                <a:cs typeface="Calibri"/>
              </a:rPr>
              <a:t>find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79551" y="6053137"/>
            <a:ext cx="3336925" cy="131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5305"/>
              </a:lnSpc>
              <a:spcBef>
                <a:spcPts val="100"/>
              </a:spcBef>
            </a:pPr>
            <a:r>
              <a:rPr dirty="0" sz="4550" spc="-10">
                <a:latin typeface="Calibri"/>
                <a:cs typeface="Calibri"/>
              </a:rPr>
              <a:t>contribuñons</a:t>
            </a:r>
            <a:endParaRPr sz="4550">
              <a:latin typeface="Calibri"/>
              <a:cs typeface="Calibri"/>
            </a:endParaRPr>
          </a:p>
          <a:p>
            <a:pPr marL="6985">
              <a:lnSpc>
                <a:spcPts val="4885"/>
              </a:lnSpc>
            </a:pPr>
            <a:r>
              <a:rPr dirty="0" sz="4200" spc="90">
                <a:latin typeface="Calibri"/>
                <a:cs typeface="Calibri"/>
              </a:rPr>
              <a:t>the</a:t>
            </a:r>
            <a:r>
              <a:rPr dirty="0" sz="4200" spc="16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total</a:t>
            </a:r>
            <a:r>
              <a:rPr dirty="0" sz="4200" spc="300">
                <a:latin typeface="Calibri"/>
                <a:cs typeface="Calibri"/>
              </a:rPr>
              <a:t> </a:t>
            </a:r>
            <a:r>
              <a:rPr dirty="0" sz="4200" spc="45">
                <a:latin typeface="Calibri"/>
                <a:cs typeface="Calibri"/>
              </a:rPr>
              <a:t>value</a:t>
            </a:r>
            <a:endParaRPr sz="4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880" y="987425"/>
            <a:ext cx="7219950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360"/>
              <a:t>Evaluañon</a:t>
            </a:r>
            <a:r>
              <a:rPr dirty="0" sz="7500" spc="585"/>
              <a:t> </a:t>
            </a:r>
            <a:r>
              <a:rPr dirty="0" sz="7500" spc="-300"/>
              <a:t>funcñons</a:t>
            </a:r>
            <a:endParaRPr sz="7500"/>
          </a:p>
        </p:txBody>
      </p:sp>
      <p:sp>
        <p:nvSpPr>
          <p:cNvPr id="3" name="object 3" descr=""/>
          <p:cNvSpPr txBox="1"/>
          <p:nvPr/>
        </p:nvSpPr>
        <p:spPr>
          <a:xfrm>
            <a:off x="1163965" y="2125662"/>
            <a:ext cx="17260570" cy="758063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69570" marR="614045" indent="-357505">
              <a:lnSpc>
                <a:spcPts val="4580"/>
              </a:lnSpc>
              <a:spcBef>
                <a:spcPts val="785"/>
              </a:spcBef>
              <a:buChar char="•"/>
              <a:tabLst>
                <a:tab pos="378460" algn="l"/>
                <a:tab pos="15457169" algn="l"/>
              </a:tabLst>
            </a:pPr>
            <a:r>
              <a:rPr dirty="0" sz="4350" spc="-40">
                <a:latin typeface="Calibri"/>
                <a:cs typeface="Calibri"/>
              </a:rPr>
              <a:t>For</a:t>
            </a:r>
            <a:r>
              <a:rPr dirty="0" sz="4350" spc="-210">
                <a:latin typeface="Calibri"/>
                <a:cs typeface="Calibri"/>
              </a:rPr>
              <a:t> </a:t>
            </a:r>
            <a:r>
              <a:rPr dirty="0" sz="4350" spc="-100">
                <a:latin typeface="Calibri"/>
                <a:cs typeface="Calibri"/>
              </a:rPr>
              <a:t>example,</a:t>
            </a:r>
            <a:r>
              <a:rPr dirty="0" sz="4350" spc="-145">
                <a:latin typeface="Calibri"/>
                <a:cs typeface="Calibri"/>
              </a:rPr>
              <a:t> </a:t>
            </a:r>
            <a:r>
              <a:rPr dirty="0" sz="4350" spc="-85">
                <a:latin typeface="Calibri"/>
                <a:cs typeface="Calibri"/>
              </a:rPr>
              <a:t>introductory</a:t>
            </a:r>
            <a:r>
              <a:rPr dirty="0" sz="4350" spc="-165">
                <a:latin typeface="Calibri"/>
                <a:cs typeface="Calibri"/>
              </a:rPr>
              <a:t> </a:t>
            </a:r>
            <a:r>
              <a:rPr dirty="0" sz="4350" spc="-25">
                <a:latin typeface="Calibri"/>
                <a:cs typeface="Calibri"/>
              </a:rPr>
              <a:t>chess</a:t>
            </a:r>
            <a:r>
              <a:rPr dirty="0" sz="4350" spc="-155">
                <a:latin typeface="Calibri"/>
                <a:cs typeface="Calibri"/>
              </a:rPr>
              <a:t> </a:t>
            </a:r>
            <a:r>
              <a:rPr dirty="0" sz="4350" spc="-70">
                <a:latin typeface="Calibri"/>
                <a:cs typeface="Calibri"/>
              </a:rPr>
              <a:t>books</a:t>
            </a:r>
            <a:r>
              <a:rPr dirty="0" sz="4350" spc="-75">
                <a:latin typeface="Calibri"/>
                <a:cs typeface="Calibri"/>
              </a:rPr>
              <a:t> </a:t>
            </a:r>
            <a:r>
              <a:rPr dirty="0" sz="4350" spc="-70">
                <a:latin typeface="Calibri"/>
                <a:cs typeface="Calibri"/>
              </a:rPr>
              <a:t>give</a:t>
            </a:r>
            <a:r>
              <a:rPr dirty="0" sz="4350" spc="-18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an</a:t>
            </a:r>
            <a:r>
              <a:rPr dirty="0" sz="4350" spc="-245">
                <a:latin typeface="Calibri"/>
                <a:cs typeface="Calibri"/>
              </a:rPr>
              <a:t> </a:t>
            </a:r>
            <a:r>
              <a:rPr dirty="0" sz="4350" spc="-114">
                <a:latin typeface="Calibri"/>
                <a:cs typeface="Calibri"/>
              </a:rPr>
              <a:t>approximate</a:t>
            </a:r>
            <a:r>
              <a:rPr dirty="0" sz="4350" spc="-45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material</a:t>
            </a:r>
            <a:r>
              <a:rPr dirty="0" sz="4350">
                <a:latin typeface="Calibri"/>
                <a:cs typeface="Calibri"/>
              </a:rPr>
              <a:t>	</a:t>
            </a:r>
            <a:r>
              <a:rPr dirty="0" sz="4350" spc="-55">
                <a:latin typeface="Calibri"/>
                <a:cs typeface="Calibri"/>
              </a:rPr>
              <a:t>value </a:t>
            </a:r>
            <a:r>
              <a:rPr dirty="0" sz="4350" spc="-55">
                <a:latin typeface="Calibri"/>
                <a:cs typeface="Calibri"/>
              </a:rPr>
              <a:t>	</a:t>
            </a:r>
            <a:r>
              <a:rPr dirty="0" sz="4350" spc="-45">
                <a:latin typeface="Calibri"/>
                <a:cs typeface="Calibri"/>
              </a:rPr>
              <a:t>for</a:t>
            </a:r>
            <a:r>
              <a:rPr dirty="0" sz="4350" spc="-180">
                <a:latin typeface="Calibri"/>
                <a:cs typeface="Calibri"/>
              </a:rPr>
              <a:t> </a:t>
            </a:r>
            <a:r>
              <a:rPr dirty="0" sz="4350" spc="-65">
                <a:latin typeface="Calibri"/>
                <a:cs typeface="Calibri"/>
              </a:rPr>
              <a:t>each</a:t>
            </a:r>
            <a:r>
              <a:rPr dirty="0" sz="4350" spc="-180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piece:</a:t>
            </a:r>
            <a:endParaRPr sz="4350">
              <a:latin typeface="Calibri"/>
              <a:cs typeface="Calibri"/>
            </a:endParaRPr>
          </a:p>
          <a:p>
            <a:pPr marL="40005">
              <a:lnSpc>
                <a:spcPts val="4845"/>
              </a:lnSpc>
              <a:spcBef>
                <a:spcPts val="830"/>
              </a:spcBef>
            </a:pPr>
            <a:r>
              <a:rPr dirty="0" sz="4250">
                <a:latin typeface="Calibri"/>
                <a:cs typeface="Calibri"/>
              </a:rPr>
              <a:t>each</a:t>
            </a:r>
            <a:r>
              <a:rPr dirty="0" sz="4250" spc="-160">
                <a:latin typeface="Calibri"/>
                <a:cs typeface="Calibri"/>
              </a:rPr>
              <a:t> </a:t>
            </a:r>
            <a:r>
              <a:rPr dirty="0" sz="4250" spc="-20">
                <a:solidFill>
                  <a:srgbClr val="EB0C11"/>
                </a:solidFill>
                <a:latin typeface="Calibri"/>
                <a:cs typeface="Calibri"/>
              </a:rPr>
              <a:t>pawn</a:t>
            </a:r>
            <a:r>
              <a:rPr dirty="0" sz="4250" spc="-95">
                <a:solidFill>
                  <a:srgbClr val="EB0C11"/>
                </a:solidFill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is</a:t>
            </a:r>
            <a:r>
              <a:rPr dirty="0" sz="4250" spc="-185">
                <a:latin typeface="Calibri"/>
                <a:cs typeface="Calibri"/>
              </a:rPr>
              <a:t> </a:t>
            </a:r>
            <a:r>
              <a:rPr dirty="0" sz="4250" spc="-10">
                <a:latin typeface="Calibri"/>
                <a:cs typeface="Calibri"/>
              </a:rPr>
              <a:t>worth</a:t>
            </a:r>
            <a:r>
              <a:rPr dirty="0" sz="4250" spc="15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1,</a:t>
            </a:r>
            <a:r>
              <a:rPr dirty="0" sz="4250" spc="-140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a</a:t>
            </a:r>
            <a:r>
              <a:rPr dirty="0" sz="4250" spc="-235">
                <a:latin typeface="Calibri"/>
                <a:cs typeface="Calibri"/>
              </a:rPr>
              <a:t> </a:t>
            </a:r>
            <a:r>
              <a:rPr dirty="0" sz="4250" spc="-10">
                <a:solidFill>
                  <a:srgbClr val="2A70A1"/>
                </a:solidFill>
                <a:latin typeface="Calibri"/>
                <a:cs typeface="Calibri"/>
              </a:rPr>
              <a:t>knight</a:t>
            </a:r>
            <a:r>
              <a:rPr dirty="0" sz="4250" spc="-25">
                <a:solidFill>
                  <a:srgbClr val="2A70A1"/>
                </a:solidFill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or</a:t>
            </a:r>
            <a:r>
              <a:rPr dirty="0" sz="4250" spc="-130">
                <a:latin typeface="Calibri"/>
                <a:cs typeface="Calibri"/>
              </a:rPr>
              <a:t> </a:t>
            </a:r>
            <a:r>
              <a:rPr dirty="0" sz="4250" spc="-25">
                <a:solidFill>
                  <a:srgbClr val="005DA5"/>
                </a:solidFill>
                <a:latin typeface="Calibri"/>
                <a:cs typeface="Calibri"/>
              </a:rPr>
              <a:t>bishop</a:t>
            </a:r>
            <a:r>
              <a:rPr dirty="0" sz="4250" spc="-55">
                <a:solidFill>
                  <a:srgbClr val="005DA5"/>
                </a:solidFill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is</a:t>
            </a:r>
            <a:r>
              <a:rPr dirty="0" sz="4250" spc="-240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worth</a:t>
            </a:r>
            <a:r>
              <a:rPr dirty="0" sz="4250" spc="-75">
                <a:latin typeface="Calibri"/>
                <a:cs typeface="Calibri"/>
              </a:rPr>
              <a:t> </a:t>
            </a:r>
            <a:r>
              <a:rPr dirty="0" sz="4250">
                <a:solidFill>
                  <a:srgbClr val="070707"/>
                </a:solidFill>
                <a:latin typeface="Calibri"/>
                <a:cs typeface="Calibri"/>
              </a:rPr>
              <a:t>3,</a:t>
            </a:r>
            <a:r>
              <a:rPr dirty="0" sz="4250" spc="-15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a</a:t>
            </a:r>
            <a:r>
              <a:rPr dirty="0" sz="4250" spc="-235">
                <a:latin typeface="Calibri"/>
                <a:cs typeface="Calibri"/>
              </a:rPr>
              <a:t> </a:t>
            </a:r>
            <a:r>
              <a:rPr dirty="0" sz="4250">
                <a:solidFill>
                  <a:srgbClr val="6E3D83"/>
                </a:solidFill>
                <a:latin typeface="Calibri"/>
                <a:cs typeface="Calibri"/>
              </a:rPr>
              <a:t>rook</a:t>
            </a:r>
            <a:r>
              <a:rPr dirty="0" sz="4250" spc="45">
                <a:solidFill>
                  <a:srgbClr val="6E3D83"/>
                </a:solidFill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5,</a:t>
            </a:r>
            <a:r>
              <a:rPr dirty="0" sz="4250" spc="-140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and</a:t>
            </a:r>
            <a:r>
              <a:rPr dirty="0" sz="4250" spc="-75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the</a:t>
            </a:r>
            <a:r>
              <a:rPr dirty="0" sz="4250" spc="-175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queen</a:t>
            </a:r>
            <a:r>
              <a:rPr dirty="0" sz="4250" spc="5">
                <a:latin typeface="Calibri"/>
                <a:cs typeface="Calibri"/>
              </a:rPr>
              <a:t> </a:t>
            </a:r>
            <a:r>
              <a:rPr dirty="0" sz="4250" spc="-25">
                <a:latin typeface="Calibri"/>
                <a:cs typeface="Calibri"/>
              </a:rPr>
              <a:t>9.</a:t>
            </a:r>
            <a:endParaRPr sz="4250">
              <a:latin typeface="Calibri"/>
              <a:cs typeface="Calibri"/>
            </a:endParaRPr>
          </a:p>
          <a:p>
            <a:pPr marL="29209">
              <a:lnSpc>
                <a:spcPts val="4505"/>
              </a:lnSpc>
            </a:pPr>
            <a:r>
              <a:rPr dirty="0" sz="4200">
                <a:latin typeface="Calibri"/>
                <a:cs typeface="Calibri"/>
              </a:rPr>
              <a:t>Other</a:t>
            </a:r>
            <a:r>
              <a:rPr dirty="0" sz="4200" spc="-95">
                <a:latin typeface="Calibri"/>
                <a:cs typeface="Calibri"/>
              </a:rPr>
              <a:t> </a:t>
            </a:r>
            <a:r>
              <a:rPr dirty="0" sz="4200" spc="-30">
                <a:latin typeface="Calibri"/>
                <a:cs typeface="Calibri"/>
              </a:rPr>
              <a:t>features</a:t>
            </a:r>
            <a:r>
              <a:rPr dirty="0" sz="4200" spc="1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such</a:t>
            </a:r>
            <a:r>
              <a:rPr dirty="0" sz="4200" spc="-10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as</a:t>
            </a:r>
            <a:r>
              <a:rPr dirty="0" sz="4200" spc="-6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“good</a:t>
            </a:r>
            <a:r>
              <a:rPr dirty="0" sz="4200" spc="-114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pawn</a:t>
            </a:r>
            <a:r>
              <a:rPr dirty="0" sz="4200" spc="-150">
                <a:latin typeface="Calibri"/>
                <a:cs typeface="Calibri"/>
              </a:rPr>
              <a:t> </a:t>
            </a:r>
            <a:r>
              <a:rPr dirty="0" sz="4200" spc="-20">
                <a:latin typeface="Calibri"/>
                <a:cs typeface="Calibri"/>
              </a:rPr>
              <a:t>structure”</a:t>
            </a:r>
            <a:r>
              <a:rPr dirty="0" sz="4200" spc="1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and “king</a:t>
            </a:r>
            <a:r>
              <a:rPr dirty="0" sz="4200" spc="-150">
                <a:latin typeface="Calibri"/>
                <a:cs typeface="Calibri"/>
              </a:rPr>
              <a:t> </a:t>
            </a:r>
            <a:r>
              <a:rPr dirty="0" sz="4200" spc="-20">
                <a:latin typeface="Calibri"/>
                <a:cs typeface="Calibri"/>
              </a:rPr>
              <a:t>safety”</a:t>
            </a:r>
            <a:r>
              <a:rPr dirty="0" sz="4200" spc="-1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might</a:t>
            </a:r>
            <a:r>
              <a:rPr dirty="0" sz="4200" spc="-15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be</a:t>
            </a:r>
            <a:r>
              <a:rPr dirty="0" sz="4200" spc="-190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worth</a:t>
            </a:r>
            <a:endParaRPr sz="4200">
              <a:latin typeface="Calibri"/>
              <a:cs typeface="Calibri"/>
            </a:endParaRPr>
          </a:p>
          <a:p>
            <a:pPr marL="2548890">
              <a:lnSpc>
                <a:spcPts val="4575"/>
              </a:lnSpc>
            </a:pPr>
            <a:r>
              <a:rPr dirty="0" sz="4250">
                <a:latin typeface="Calibri"/>
                <a:cs typeface="Calibri"/>
              </a:rPr>
              <a:t>.</a:t>
            </a:r>
            <a:r>
              <a:rPr dirty="0" sz="4250" spc="-220">
                <a:latin typeface="Calibri"/>
                <a:cs typeface="Calibri"/>
              </a:rPr>
              <a:t> </a:t>
            </a:r>
            <a:r>
              <a:rPr dirty="0" sz="4250" spc="-20">
                <a:latin typeface="Calibri"/>
                <a:cs typeface="Calibri"/>
              </a:rPr>
              <a:t>These</a:t>
            </a:r>
            <a:r>
              <a:rPr dirty="0" sz="4250" spc="-125">
                <a:latin typeface="Calibri"/>
                <a:cs typeface="Calibri"/>
              </a:rPr>
              <a:t> </a:t>
            </a:r>
            <a:r>
              <a:rPr dirty="0" sz="4250" spc="-45">
                <a:latin typeface="Calibri"/>
                <a:cs typeface="Calibri"/>
              </a:rPr>
              <a:t>feature</a:t>
            </a:r>
            <a:r>
              <a:rPr dirty="0" sz="4250" spc="-70">
                <a:latin typeface="Calibri"/>
                <a:cs typeface="Calibri"/>
              </a:rPr>
              <a:t> </a:t>
            </a:r>
            <a:r>
              <a:rPr dirty="0" sz="4250" spc="-20">
                <a:latin typeface="Calibri"/>
                <a:cs typeface="Calibri"/>
              </a:rPr>
              <a:t>values</a:t>
            </a:r>
            <a:r>
              <a:rPr dirty="0" sz="4250" spc="-114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are</a:t>
            </a:r>
            <a:r>
              <a:rPr dirty="0" sz="4250" spc="-229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then</a:t>
            </a:r>
            <a:r>
              <a:rPr dirty="0" sz="4250" spc="-160">
                <a:latin typeface="Calibri"/>
                <a:cs typeface="Calibri"/>
              </a:rPr>
              <a:t> </a:t>
            </a:r>
            <a:r>
              <a:rPr dirty="0" sz="4250" spc="-20">
                <a:latin typeface="Calibri"/>
                <a:cs typeface="Calibri"/>
              </a:rPr>
              <a:t>simply</a:t>
            </a:r>
            <a:r>
              <a:rPr dirty="0" sz="4250" spc="-80">
                <a:latin typeface="Calibri"/>
                <a:cs typeface="Calibri"/>
              </a:rPr>
              <a:t> </a:t>
            </a:r>
            <a:r>
              <a:rPr dirty="0" sz="4250" spc="-20">
                <a:latin typeface="Calibri"/>
                <a:cs typeface="Calibri"/>
              </a:rPr>
              <a:t>added</a:t>
            </a:r>
            <a:r>
              <a:rPr dirty="0" sz="4250" spc="-95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up</a:t>
            </a:r>
            <a:r>
              <a:rPr dirty="0" sz="4250" spc="-175">
                <a:latin typeface="Calibri"/>
                <a:cs typeface="Calibri"/>
              </a:rPr>
              <a:t> </a:t>
            </a:r>
            <a:r>
              <a:rPr dirty="0" sz="4250">
                <a:latin typeface="Calibri"/>
                <a:cs typeface="Calibri"/>
              </a:rPr>
              <a:t>to</a:t>
            </a:r>
            <a:r>
              <a:rPr dirty="0" sz="4250" spc="-245">
                <a:latin typeface="Calibri"/>
                <a:cs typeface="Calibri"/>
              </a:rPr>
              <a:t> </a:t>
            </a:r>
            <a:r>
              <a:rPr dirty="0" sz="4250" spc="-20">
                <a:latin typeface="Calibri"/>
                <a:cs typeface="Calibri"/>
              </a:rPr>
              <a:t>obtain</a:t>
            </a:r>
            <a:r>
              <a:rPr dirty="0" sz="4250" spc="-75">
                <a:latin typeface="Calibri"/>
                <a:cs typeface="Calibri"/>
              </a:rPr>
              <a:t> </a:t>
            </a:r>
            <a:r>
              <a:rPr dirty="0" sz="4250" spc="-25">
                <a:latin typeface="Calibri"/>
                <a:cs typeface="Calibri"/>
              </a:rPr>
              <a:t>the</a:t>
            </a:r>
            <a:endParaRPr sz="4250">
              <a:latin typeface="Calibri"/>
              <a:cs typeface="Calibri"/>
            </a:endParaRPr>
          </a:p>
          <a:p>
            <a:pPr marL="31115">
              <a:lnSpc>
                <a:spcPts val="4730"/>
              </a:lnSpc>
            </a:pPr>
            <a:r>
              <a:rPr dirty="0" sz="4150">
                <a:latin typeface="Calibri"/>
                <a:cs typeface="Calibri"/>
              </a:rPr>
              <a:t>evaluation</a:t>
            </a:r>
            <a:r>
              <a:rPr dirty="0" sz="4150" spc="229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of</a:t>
            </a:r>
            <a:r>
              <a:rPr dirty="0" sz="4150" spc="6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-50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posiñon.</a:t>
            </a:r>
            <a:endParaRPr sz="4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4150">
              <a:latin typeface="Calibri"/>
              <a:cs typeface="Calibri"/>
            </a:endParaRPr>
          </a:p>
          <a:p>
            <a:pPr algn="ctr" marL="131445">
              <a:lnSpc>
                <a:spcPts val="4860"/>
              </a:lnSpc>
              <a:spcBef>
                <a:spcPts val="5"/>
              </a:spcBef>
            </a:pPr>
            <a:r>
              <a:rPr dirty="0" sz="4350">
                <a:latin typeface="Calibri"/>
                <a:cs typeface="Calibri"/>
              </a:rPr>
              <a:t>A</a:t>
            </a:r>
            <a:r>
              <a:rPr dirty="0" sz="4350" spc="-260">
                <a:latin typeface="Calibri"/>
                <a:cs typeface="Calibri"/>
              </a:rPr>
              <a:t> </a:t>
            </a:r>
            <a:r>
              <a:rPr dirty="0" sz="4350" spc="-60">
                <a:latin typeface="Calibri"/>
                <a:cs typeface="Calibri"/>
              </a:rPr>
              <a:t>secure</a:t>
            </a:r>
            <a:r>
              <a:rPr dirty="0" sz="4350" spc="-105">
                <a:latin typeface="Calibri"/>
                <a:cs typeface="Calibri"/>
              </a:rPr>
              <a:t> </a:t>
            </a:r>
            <a:r>
              <a:rPr dirty="0" sz="4350" spc="-50">
                <a:latin typeface="Calibri"/>
                <a:cs typeface="Calibri"/>
              </a:rPr>
              <a:t>advantage</a:t>
            </a:r>
            <a:r>
              <a:rPr dirty="0" sz="4350" spc="-70">
                <a:latin typeface="Calibri"/>
                <a:cs typeface="Calibri"/>
              </a:rPr>
              <a:t> </a:t>
            </a:r>
            <a:r>
              <a:rPr dirty="0" sz="4350" spc="-80">
                <a:latin typeface="Calibri"/>
                <a:cs typeface="Calibri"/>
              </a:rPr>
              <a:t>equivalent</a:t>
            </a:r>
            <a:r>
              <a:rPr dirty="0" sz="4350" spc="-20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to</a:t>
            </a:r>
            <a:r>
              <a:rPr dirty="0" sz="4350" spc="-235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</a:t>
            </a:r>
            <a:r>
              <a:rPr dirty="0" sz="4350" spc="-245">
                <a:latin typeface="Calibri"/>
                <a:cs typeface="Calibri"/>
              </a:rPr>
              <a:t> </a:t>
            </a:r>
            <a:r>
              <a:rPr dirty="0" sz="4350" spc="-70">
                <a:latin typeface="Calibri"/>
                <a:cs typeface="Calibri"/>
              </a:rPr>
              <a:t>pawn</a:t>
            </a:r>
            <a:r>
              <a:rPr dirty="0" sz="4350" spc="-170">
                <a:latin typeface="Calibri"/>
                <a:cs typeface="Calibri"/>
              </a:rPr>
              <a:t> </a:t>
            </a:r>
            <a:r>
              <a:rPr dirty="0" sz="4350" spc="-55">
                <a:latin typeface="Calibri"/>
                <a:cs typeface="Calibri"/>
              </a:rPr>
              <a:t>gives</a:t>
            </a:r>
            <a:r>
              <a:rPr dirty="0" sz="4350" spc="-120">
                <a:latin typeface="Calibri"/>
                <a:cs typeface="Calibri"/>
              </a:rPr>
              <a:t> </a:t>
            </a:r>
            <a:r>
              <a:rPr dirty="0" sz="4350">
                <a:latin typeface="Calibri"/>
                <a:cs typeface="Calibri"/>
              </a:rPr>
              <a:t>a</a:t>
            </a:r>
            <a:r>
              <a:rPr dirty="0" sz="4350" spc="-250">
                <a:latin typeface="Calibri"/>
                <a:cs typeface="Calibri"/>
              </a:rPr>
              <a:t> </a:t>
            </a:r>
            <a:r>
              <a:rPr dirty="0" sz="4350" spc="-95">
                <a:latin typeface="Calibri"/>
                <a:cs typeface="Calibri"/>
              </a:rPr>
              <a:t>substantial</a:t>
            </a:r>
            <a:r>
              <a:rPr dirty="0" sz="4350" spc="10">
                <a:latin typeface="Calibri"/>
                <a:cs typeface="Calibri"/>
              </a:rPr>
              <a:t> </a:t>
            </a:r>
            <a:r>
              <a:rPr dirty="0" sz="4350" spc="-90">
                <a:solidFill>
                  <a:srgbClr val="1569AA"/>
                </a:solidFill>
                <a:latin typeface="Calibri"/>
                <a:cs typeface="Calibri"/>
              </a:rPr>
              <a:t>likelihood</a:t>
            </a:r>
            <a:r>
              <a:rPr dirty="0" sz="4350" spc="25">
                <a:solidFill>
                  <a:srgbClr val="1569AA"/>
                </a:solidFill>
                <a:latin typeface="Calibri"/>
                <a:cs typeface="Calibri"/>
              </a:rPr>
              <a:t> </a:t>
            </a:r>
            <a:r>
              <a:rPr dirty="0" sz="4350" spc="-25">
                <a:solidFill>
                  <a:srgbClr val="0F649C"/>
                </a:solidFill>
                <a:latin typeface="Calibri"/>
                <a:cs typeface="Calibri"/>
              </a:rPr>
              <a:t>of</a:t>
            </a:r>
            <a:endParaRPr sz="4350">
              <a:latin typeface="Calibri"/>
              <a:cs typeface="Calibri"/>
            </a:endParaRPr>
          </a:p>
          <a:p>
            <a:pPr algn="ctr" marR="128270">
              <a:lnSpc>
                <a:spcPts val="4860"/>
              </a:lnSpc>
            </a:pPr>
            <a:r>
              <a:rPr dirty="0" sz="4350" spc="-10">
                <a:solidFill>
                  <a:srgbClr val="237EBD"/>
                </a:solidFill>
                <a:latin typeface="Calibri"/>
                <a:cs typeface="Calibri"/>
              </a:rPr>
              <a:t>winning</a:t>
            </a:r>
            <a:endParaRPr sz="4350">
              <a:latin typeface="Calibri"/>
              <a:cs typeface="Calibri"/>
            </a:endParaRPr>
          </a:p>
          <a:p>
            <a:pPr algn="ctr" marL="137795">
              <a:lnSpc>
                <a:spcPts val="4885"/>
              </a:lnSpc>
              <a:spcBef>
                <a:spcPts val="855"/>
              </a:spcBef>
            </a:pPr>
            <a:r>
              <a:rPr dirty="0" sz="4350" spc="-25">
                <a:latin typeface="Calibri"/>
                <a:cs typeface="Calibri"/>
              </a:rPr>
              <a:t>and</a:t>
            </a:r>
            <a:endParaRPr sz="4350">
              <a:latin typeface="Calibri"/>
              <a:cs typeface="Calibri"/>
            </a:endParaRPr>
          </a:p>
          <a:p>
            <a:pPr algn="ctr" marL="108585">
              <a:lnSpc>
                <a:spcPts val="4545"/>
              </a:lnSpc>
            </a:pPr>
            <a:r>
              <a:rPr dirty="0" sz="4300" spc="60">
                <a:latin typeface="Calibri"/>
                <a:cs typeface="Calibri"/>
              </a:rPr>
              <a:t>a</a:t>
            </a:r>
            <a:r>
              <a:rPr dirty="0" sz="4300" spc="-245">
                <a:latin typeface="Calibri"/>
                <a:cs typeface="Calibri"/>
              </a:rPr>
              <a:t> </a:t>
            </a:r>
            <a:r>
              <a:rPr dirty="0" sz="4300" spc="-60">
                <a:latin typeface="Calibri"/>
                <a:cs typeface="Calibri"/>
              </a:rPr>
              <a:t>secure</a:t>
            </a:r>
            <a:r>
              <a:rPr dirty="0" sz="4300" spc="-185">
                <a:latin typeface="Calibri"/>
                <a:cs typeface="Calibri"/>
              </a:rPr>
              <a:t> </a:t>
            </a:r>
            <a:r>
              <a:rPr dirty="0" sz="4300" spc="-25">
                <a:latin typeface="Calibri"/>
                <a:cs typeface="Calibri"/>
              </a:rPr>
              <a:t>advantage</a:t>
            </a:r>
            <a:r>
              <a:rPr dirty="0" sz="4300" spc="-35">
                <a:latin typeface="Calibri"/>
                <a:cs typeface="Calibri"/>
              </a:rPr>
              <a:t> </a:t>
            </a:r>
            <a:r>
              <a:rPr dirty="0" sz="4300" spc="-65">
                <a:latin typeface="Calibri"/>
                <a:cs typeface="Calibri"/>
              </a:rPr>
              <a:t>equivalent</a:t>
            </a:r>
            <a:r>
              <a:rPr dirty="0" sz="4300" spc="-70">
                <a:latin typeface="Calibri"/>
                <a:cs typeface="Calibri"/>
              </a:rPr>
              <a:t> </a:t>
            </a:r>
            <a:r>
              <a:rPr dirty="0" sz="4300">
                <a:latin typeface="Calibri"/>
                <a:cs typeface="Calibri"/>
              </a:rPr>
              <a:t>to</a:t>
            </a:r>
            <a:r>
              <a:rPr dirty="0" sz="4300" spc="-200">
                <a:latin typeface="Calibri"/>
                <a:cs typeface="Calibri"/>
              </a:rPr>
              <a:t> </a:t>
            </a:r>
            <a:r>
              <a:rPr dirty="0" sz="4300" spc="-40">
                <a:latin typeface="Calibri"/>
                <a:cs typeface="Calibri"/>
              </a:rPr>
              <a:t>three</a:t>
            </a:r>
            <a:r>
              <a:rPr dirty="0" sz="4300" spc="-200">
                <a:latin typeface="Calibri"/>
                <a:cs typeface="Calibri"/>
              </a:rPr>
              <a:t> </a:t>
            </a:r>
            <a:r>
              <a:rPr dirty="0" sz="4300" spc="-40">
                <a:latin typeface="Calibri"/>
                <a:cs typeface="Calibri"/>
              </a:rPr>
              <a:t>pawns</a:t>
            </a:r>
            <a:r>
              <a:rPr dirty="0" sz="4300" spc="-55">
                <a:latin typeface="Calibri"/>
                <a:cs typeface="Calibri"/>
              </a:rPr>
              <a:t> </a:t>
            </a:r>
            <a:r>
              <a:rPr dirty="0" sz="4300" spc="-40">
                <a:latin typeface="Calibri"/>
                <a:cs typeface="Calibri"/>
              </a:rPr>
              <a:t>should</a:t>
            </a:r>
            <a:r>
              <a:rPr dirty="0" sz="4300" spc="-60">
                <a:latin typeface="Calibri"/>
                <a:cs typeface="Calibri"/>
              </a:rPr>
              <a:t> </a:t>
            </a:r>
            <a:r>
              <a:rPr dirty="0" sz="4300" spc="-20">
                <a:latin typeface="Calibri"/>
                <a:cs typeface="Calibri"/>
              </a:rPr>
              <a:t>give</a:t>
            </a:r>
            <a:r>
              <a:rPr dirty="0" sz="4300" spc="-215">
                <a:latin typeface="Calibri"/>
                <a:cs typeface="Calibri"/>
              </a:rPr>
              <a:t> </a:t>
            </a:r>
            <a:r>
              <a:rPr dirty="0" sz="4300" spc="-55">
                <a:latin typeface="Calibri"/>
                <a:cs typeface="Calibri"/>
              </a:rPr>
              <a:t>almost</a:t>
            </a:r>
            <a:r>
              <a:rPr dirty="0" sz="4300" spc="-145">
                <a:latin typeface="Calibri"/>
                <a:cs typeface="Calibri"/>
              </a:rPr>
              <a:t> </a:t>
            </a:r>
            <a:r>
              <a:rPr dirty="0" sz="4300" spc="-10">
                <a:solidFill>
                  <a:srgbClr val="0E548E"/>
                </a:solidFill>
                <a:latin typeface="Calibri"/>
                <a:cs typeface="Calibri"/>
              </a:rPr>
              <a:t>certain</a:t>
            </a:r>
            <a:endParaRPr sz="4300">
              <a:latin typeface="Calibri"/>
              <a:cs typeface="Calibri"/>
            </a:endParaRPr>
          </a:p>
          <a:p>
            <a:pPr algn="ctr" marL="111760">
              <a:lnSpc>
                <a:spcPts val="4760"/>
              </a:lnSpc>
            </a:pPr>
            <a:r>
              <a:rPr dirty="0" sz="4200" spc="-10">
                <a:solidFill>
                  <a:srgbClr val="1682C6"/>
                </a:solidFill>
                <a:latin typeface="Calibri"/>
                <a:cs typeface="Calibri"/>
              </a:rPr>
              <a:t>victory</a:t>
            </a:r>
            <a:endParaRPr sz="4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114776" y="4096511"/>
            <a:ext cx="335280" cy="40005"/>
          </a:xfrm>
          <a:custGeom>
            <a:avLst/>
            <a:gdLst/>
            <a:ahLst/>
            <a:cxnLst/>
            <a:rect l="l" t="t" r="r" b="b"/>
            <a:pathLst>
              <a:path w="335280" h="40004">
                <a:moveTo>
                  <a:pt x="335280" y="0"/>
                </a:moveTo>
                <a:lnTo>
                  <a:pt x="0" y="0"/>
                </a:lnTo>
                <a:lnTo>
                  <a:pt x="0" y="9144"/>
                </a:lnTo>
                <a:lnTo>
                  <a:pt x="0" y="18288"/>
                </a:lnTo>
                <a:lnTo>
                  <a:pt x="0" y="21336"/>
                </a:lnTo>
                <a:lnTo>
                  <a:pt x="0" y="30480"/>
                </a:lnTo>
                <a:lnTo>
                  <a:pt x="0" y="39624"/>
                </a:lnTo>
                <a:lnTo>
                  <a:pt x="335280" y="39624"/>
                </a:lnTo>
                <a:lnTo>
                  <a:pt x="335280" y="30480"/>
                </a:lnTo>
                <a:lnTo>
                  <a:pt x="335280" y="21336"/>
                </a:lnTo>
                <a:lnTo>
                  <a:pt x="335280" y="18288"/>
                </a:lnTo>
                <a:lnTo>
                  <a:pt x="335280" y="9144"/>
                </a:lnTo>
                <a:lnTo>
                  <a:pt x="335280" y="0"/>
                </a:lnTo>
                <a:close/>
              </a:path>
            </a:pathLst>
          </a:custGeom>
          <a:solidFill>
            <a:srgbClr val="48484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6096487" y="3992879"/>
            <a:ext cx="353695" cy="30480"/>
            <a:chOff x="16096487" y="3992879"/>
            <a:chExt cx="353695" cy="30480"/>
          </a:xfrm>
        </p:grpSpPr>
        <p:sp>
          <p:nvSpPr>
            <p:cNvPr id="4" name="object 4" descr=""/>
            <p:cNvSpPr/>
            <p:nvPr/>
          </p:nvSpPr>
          <p:spPr>
            <a:xfrm>
              <a:off x="16096487" y="4012691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4" h="0">
                  <a:moveTo>
                    <a:pt x="0" y="0"/>
                  </a:moveTo>
                  <a:lnTo>
                    <a:pt x="353568" y="0"/>
                  </a:lnTo>
                </a:path>
              </a:pathLst>
            </a:custGeom>
            <a:ln w="21336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114775" y="4003547"/>
              <a:ext cx="335280" cy="0"/>
            </a:xfrm>
            <a:custGeom>
              <a:avLst/>
              <a:gdLst/>
              <a:ahLst/>
              <a:cxnLst/>
              <a:rect l="l" t="t" r="r" b="b"/>
              <a:pathLst>
                <a:path w="335280" h="0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ln w="21336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3502152" y="3209543"/>
            <a:ext cx="469900" cy="33655"/>
          </a:xfrm>
          <a:custGeom>
            <a:avLst/>
            <a:gdLst/>
            <a:ahLst/>
            <a:cxnLst/>
            <a:rect l="l" t="t" r="r" b="b"/>
            <a:pathLst>
              <a:path w="469900" h="33655">
                <a:moveTo>
                  <a:pt x="469392" y="12192"/>
                </a:moveTo>
                <a:lnTo>
                  <a:pt x="460248" y="12192"/>
                </a:lnTo>
                <a:lnTo>
                  <a:pt x="460248" y="0"/>
                </a:lnTo>
                <a:lnTo>
                  <a:pt x="9144" y="0"/>
                </a:lnTo>
                <a:lnTo>
                  <a:pt x="9144" y="12192"/>
                </a:lnTo>
                <a:lnTo>
                  <a:pt x="0" y="12192"/>
                </a:lnTo>
                <a:lnTo>
                  <a:pt x="0" y="33528"/>
                </a:lnTo>
                <a:lnTo>
                  <a:pt x="469392" y="33528"/>
                </a:lnTo>
                <a:lnTo>
                  <a:pt x="469392" y="12192"/>
                </a:lnTo>
                <a:close/>
              </a:path>
            </a:pathLst>
          </a:custGeom>
          <a:solidFill>
            <a:srgbClr val="3F3F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511296" y="3089148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5" h="0">
                <a:moveTo>
                  <a:pt x="0" y="0"/>
                </a:moveTo>
                <a:lnTo>
                  <a:pt x="451104" y="0"/>
                </a:lnTo>
              </a:path>
            </a:pathLst>
          </a:custGeom>
          <a:ln w="21336">
            <a:solidFill>
              <a:srgbClr val="3F3F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093695" y="3220211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392" y="0"/>
                </a:lnTo>
              </a:path>
            </a:pathLst>
          </a:custGeom>
          <a:ln w="21336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102840" y="3066287"/>
            <a:ext cx="441959" cy="60960"/>
          </a:xfrm>
          <a:custGeom>
            <a:avLst/>
            <a:gdLst/>
            <a:ahLst/>
            <a:cxnLst/>
            <a:rect l="l" t="t" r="r" b="b"/>
            <a:pathLst>
              <a:path w="441959" h="60960">
                <a:moveTo>
                  <a:pt x="441960" y="0"/>
                </a:moveTo>
                <a:lnTo>
                  <a:pt x="0" y="0"/>
                </a:lnTo>
                <a:lnTo>
                  <a:pt x="0" y="21336"/>
                </a:lnTo>
                <a:lnTo>
                  <a:pt x="9144" y="21336"/>
                </a:lnTo>
                <a:lnTo>
                  <a:pt x="9144" y="39624"/>
                </a:lnTo>
                <a:lnTo>
                  <a:pt x="9144" y="42672"/>
                </a:lnTo>
                <a:lnTo>
                  <a:pt x="9144" y="60960"/>
                </a:lnTo>
                <a:lnTo>
                  <a:pt x="441960" y="60960"/>
                </a:lnTo>
                <a:lnTo>
                  <a:pt x="441960" y="42672"/>
                </a:lnTo>
                <a:lnTo>
                  <a:pt x="441960" y="39624"/>
                </a:lnTo>
                <a:lnTo>
                  <a:pt x="441960" y="21336"/>
                </a:lnTo>
                <a:lnTo>
                  <a:pt x="44196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162" rIns="0" bIns="0" rtlCol="0" vert="horz">
            <a:spAutoFit/>
          </a:bodyPr>
          <a:lstStyle/>
          <a:p>
            <a:pPr marL="810260">
              <a:lnSpc>
                <a:spcPct val="100000"/>
              </a:lnSpc>
              <a:spcBef>
                <a:spcPts val="100"/>
              </a:spcBef>
            </a:pPr>
            <a:r>
              <a:rPr dirty="0" spc="-445"/>
              <a:t>weighted</a:t>
            </a:r>
            <a:r>
              <a:rPr dirty="0" spc="315"/>
              <a:t> </a:t>
            </a:r>
            <a:r>
              <a:rPr dirty="0" spc="-330"/>
              <a:t>linear</a:t>
            </a:r>
            <a:r>
              <a:rPr dirty="0" spc="65"/>
              <a:t> </a:t>
            </a:r>
            <a:r>
              <a:rPr dirty="0" spc="-405"/>
              <a:t>funcfion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6139884" y="1811337"/>
            <a:ext cx="16573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 spc="-1485">
                <a:solidFill>
                  <a:srgbClr val="1C1C1C"/>
                </a:solidFill>
                <a:latin typeface="Calibri"/>
                <a:cs typeface="Calibri"/>
              </a:rPr>
              <a:t>7</a:t>
            </a:r>
            <a:endParaRPr sz="49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7394" y="2690812"/>
            <a:ext cx="979106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2350" algn="l"/>
                <a:tab pos="4399280" algn="l"/>
                <a:tab pos="6828155" algn="l"/>
                <a:tab pos="9297035" algn="l"/>
              </a:tabLst>
            </a:pPr>
            <a:r>
              <a:rPr dirty="0" sz="5000" spc="140">
                <a:latin typeface="Calibri"/>
                <a:cs typeface="Calibri"/>
              </a:rPr>
              <a:t>EVA&amp;(.1)</a:t>
            </a:r>
            <a:r>
              <a:rPr dirty="0" sz="5000">
                <a:latin typeface="Calibri"/>
                <a:cs typeface="Calibri"/>
              </a:rPr>
              <a:t>	</a:t>
            </a:r>
            <a:r>
              <a:rPr dirty="0" sz="5000" spc="-370">
                <a:solidFill>
                  <a:srgbClr val="080808"/>
                </a:solidFill>
                <a:latin typeface="Calibri"/>
                <a:cs typeface="Calibri"/>
              </a:rPr>
              <a:t>zf;</a:t>
            </a:r>
            <a:r>
              <a:rPr dirty="0" sz="500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5000" spc="285">
                <a:solidFill>
                  <a:srgbClr val="1C1C1C"/>
                </a:solidFill>
                <a:latin typeface="Calibri"/>
                <a:cs typeface="Calibri"/>
              </a:rPr>
              <a:t>/}(.s)</a:t>
            </a:r>
            <a:r>
              <a:rPr dirty="0" sz="5000" spc="52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5000" spc="-2270">
                <a:latin typeface="Calibri"/>
                <a:cs typeface="Calibri"/>
              </a:rPr>
              <a:t>—</a:t>
            </a:r>
            <a:r>
              <a:rPr dirty="0" sz="5000" spc="-830">
                <a:latin typeface="Calibri"/>
                <a:cs typeface="Calibri"/>
              </a:rPr>
              <a:t>t-</a:t>
            </a:r>
            <a:r>
              <a:rPr dirty="0" sz="5000">
                <a:latin typeface="Calibri"/>
                <a:cs typeface="Calibri"/>
              </a:rPr>
              <a:t>	</a:t>
            </a:r>
            <a:r>
              <a:rPr dirty="0" sz="5000" spc="-10">
                <a:latin typeface="Calibri"/>
                <a:cs typeface="Calibri"/>
              </a:rPr>
              <a:t>/Aty/g(.s)</a:t>
            </a:r>
            <a:r>
              <a:rPr dirty="0" sz="5000">
                <a:latin typeface="Calibri"/>
                <a:cs typeface="Calibri"/>
              </a:rPr>
              <a:t>	</a:t>
            </a:r>
            <a:r>
              <a:rPr dirty="0" sz="5000" spc="-2315">
                <a:latin typeface="Calibri"/>
                <a:cs typeface="Calibri"/>
              </a:rPr>
              <a:t>—</a:t>
            </a:r>
            <a:r>
              <a:rPr dirty="0" sz="5000" spc="-850">
                <a:latin typeface="Calibri"/>
                <a:cs typeface="Calibri"/>
              </a:rPr>
              <a:t>t-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966936" y="2690812"/>
            <a:ext cx="382841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3260" indent="-670560">
              <a:lnSpc>
                <a:spcPct val="100000"/>
              </a:lnSpc>
              <a:spcBef>
                <a:spcPts val="100"/>
              </a:spcBef>
              <a:buChar char="•"/>
              <a:tabLst>
                <a:tab pos="683260" algn="l"/>
              </a:tabLst>
            </a:pPr>
            <a:r>
              <a:rPr dirty="0" sz="5000" spc="-2405">
                <a:latin typeface="Calibri"/>
                <a:cs typeface="Calibri"/>
              </a:rPr>
              <a:t>—</a:t>
            </a:r>
            <a:r>
              <a:rPr dirty="0" sz="5000" spc="-1019">
                <a:latin typeface="Calibri"/>
                <a:cs typeface="Calibri"/>
              </a:rPr>
              <a:t>|-</a:t>
            </a:r>
            <a:r>
              <a:rPr dirty="0" sz="5000" spc="420">
                <a:latin typeface="Calibri"/>
                <a:cs typeface="Calibri"/>
              </a:rPr>
              <a:t> </a:t>
            </a:r>
            <a:r>
              <a:rPr dirty="0" sz="5000" spc="-20">
                <a:latin typeface="Calibri"/>
                <a:cs typeface="Calibri"/>
              </a:rPr>
              <a:t>u:„,/„,(.1)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929938" y="2690812"/>
            <a:ext cx="212090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45">
                <a:latin typeface="Calibri"/>
                <a:cs typeface="Calibri"/>
              </a:rPr>
              <a:t>-</a:t>
            </a:r>
            <a:r>
              <a:rPr dirty="0" sz="5000" spc="-409">
                <a:latin typeface="Calibri"/>
                <a:cs typeface="Calibri"/>
              </a:rPr>
              <a:t>t1';/*¿(.s)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7828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dirty="0" spc="-145"/>
              <a:t> </a:t>
            </a:r>
            <a:r>
              <a:rPr dirty="0"/>
              <a:t>each</a:t>
            </a:r>
            <a:r>
              <a:rPr dirty="0" spc="-75"/>
              <a:t> </a:t>
            </a:r>
            <a:r>
              <a:rPr dirty="0" spc="-204"/>
              <a:t>w,</a:t>
            </a:r>
            <a:r>
              <a:rPr dirty="0" spc="-135"/>
              <a:t> </a:t>
            </a:r>
            <a:r>
              <a:rPr dirty="0"/>
              <a:t>is</a:t>
            </a:r>
            <a:r>
              <a:rPr dirty="0" spc="-135"/>
              <a:t> </a:t>
            </a:r>
            <a:r>
              <a:rPr dirty="0"/>
              <a:t>a</a:t>
            </a:r>
            <a:r>
              <a:rPr dirty="0" spc="-250"/>
              <a:t> </a:t>
            </a:r>
            <a:r>
              <a:rPr dirty="0"/>
              <a:t>weight</a:t>
            </a:r>
            <a:r>
              <a:rPr dirty="0" spc="45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/>
              <a:t>each</a:t>
            </a:r>
            <a:r>
              <a:rPr dirty="0" spc="-40"/>
              <a:t> </a:t>
            </a:r>
            <a:r>
              <a:rPr dirty="0" spc="95"/>
              <a:t>f</a:t>
            </a:r>
            <a:r>
              <a:rPr dirty="0" baseline="-21825" sz="4200" spc="142"/>
              <a:t>i</a:t>
            </a:r>
            <a:r>
              <a:rPr dirty="0" baseline="-21825" sz="4200" spc="15"/>
              <a:t> </a:t>
            </a:r>
            <a:r>
              <a:rPr dirty="0" sz="4450"/>
              <a:t>is</a:t>
            </a:r>
            <a:r>
              <a:rPr dirty="0" sz="4450" spc="-200"/>
              <a:t> </a:t>
            </a:r>
            <a:r>
              <a:rPr dirty="0" sz="4450" spc="85"/>
              <a:t>a</a:t>
            </a:r>
            <a:r>
              <a:rPr dirty="0" sz="4450" spc="-229"/>
              <a:t> </a:t>
            </a:r>
            <a:r>
              <a:rPr dirty="0" sz="4450" spc="-30"/>
              <a:t>feature</a:t>
            </a:r>
            <a:r>
              <a:rPr dirty="0" sz="4450" spc="25"/>
              <a:t> </a:t>
            </a:r>
            <a:r>
              <a:rPr dirty="0" sz="4450"/>
              <a:t>of</a:t>
            </a:r>
            <a:r>
              <a:rPr dirty="0" sz="4450" spc="30"/>
              <a:t> </a:t>
            </a:r>
            <a:r>
              <a:rPr dirty="0" sz="4450"/>
              <a:t>the</a:t>
            </a:r>
            <a:r>
              <a:rPr dirty="0" sz="4450" spc="-110"/>
              <a:t> </a:t>
            </a:r>
            <a:r>
              <a:rPr dirty="0" sz="4450" spc="-10"/>
              <a:t>posiñon</a:t>
            </a:r>
            <a:endParaRPr sz="4450"/>
          </a:p>
          <a:p>
            <a:pPr>
              <a:lnSpc>
                <a:spcPct val="100000"/>
              </a:lnSpc>
              <a:spcBef>
                <a:spcPts val="425"/>
              </a:spcBef>
            </a:pPr>
          </a:p>
          <a:p>
            <a:pPr marL="25400">
              <a:lnSpc>
                <a:spcPts val="5030"/>
              </a:lnSpc>
              <a:tabLst>
                <a:tab pos="8865235" algn="l"/>
                <a:tab pos="13840460" algn="l"/>
              </a:tabLst>
            </a:pPr>
            <a:r>
              <a:rPr dirty="0" sz="4500"/>
              <a:t>Disadv:-</a:t>
            </a:r>
            <a:r>
              <a:rPr dirty="0" sz="4500" spc="50"/>
              <a:t> </a:t>
            </a:r>
            <a:r>
              <a:rPr dirty="0" sz="4500" spc="-40"/>
              <a:t>involves</a:t>
            </a:r>
            <a:r>
              <a:rPr dirty="0" sz="4500" spc="100"/>
              <a:t> </a:t>
            </a:r>
            <a:r>
              <a:rPr dirty="0" sz="4500"/>
              <a:t>a</a:t>
            </a:r>
            <a:r>
              <a:rPr dirty="0" sz="4500" spc="-145"/>
              <a:t> </a:t>
            </a:r>
            <a:r>
              <a:rPr dirty="0" sz="4500" spc="-25"/>
              <a:t>strong</a:t>
            </a:r>
            <a:r>
              <a:rPr dirty="0" sz="4500" spc="60"/>
              <a:t> </a:t>
            </a:r>
            <a:r>
              <a:rPr dirty="0" sz="4500" spc="-10">
                <a:solidFill>
                  <a:srgbClr val="077CDB"/>
                </a:solidFill>
              </a:rPr>
              <a:t>assumption</a:t>
            </a:r>
            <a:r>
              <a:rPr dirty="0" sz="4500">
                <a:solidFill>
                  <a:srgbClr val="077CDB"/>
                </a:solidFill>
              </a:rPr>
              <a:t>	</a:t>
            </a:r>
            <a:r>
              <a:rPr dirty="0" sz="4500"/>
              <a:t>that</a:t>
            </a:r>
            <a:r>
              <a:rPr dirty="0" sz="4500" spc="-30"/>
              <a:t> </a:t>
            </a:r>
            <a:r>
              <a:rPr dirty="0" sz="4500"/>
              <a:t>the</a:t>
            </a:r>
            <a:r>
              <a:rPr dirty="0" sz="4500" spc="-100"/>
              <a:t> </a:t>
            </a:r>
            <a:r>
              <a:rPr dirty="0" sz="4500" spc="-10"/>
              <a:t>contribuñon</a:t>
            </a:r>
            <a:r>
              <a:rPr dirty="0" sz="4500"/>
              <a:t>	of</a:t>
            </a:r>
            <a:r>
              <a:rPr dirty="0" sz="4500" spc="135"/>
              <a:t> </a:t>
            </a:r>
            <a:r>
              <a:rPr dirty="0" sz="4500">
                <a:solidFill>
                  <a:srgbClr val="E81318"/>
                </a:solidFill>
              </a:rPr>
              <a:t>each</a:t>
            </a:r>
            <a:r>
              <a:rPr dirty="0" sz="4500" spc="105">
                <a:solidFill>
                  <a:srgbClr val="E81318"/>
                </a:solidFill>
              </a:rPr>
              <a:t> </a:t>
            </a:r>
            <a:r>
              <a:rPr dirty="0" sz="4500" spc="-50">
                <a:solidFill>
                  <a:srgbClr val="CF0A13"/>
                </a:solidFill>
              </a:rPr>
              <a:t>feature</a:t>
            </a:r>
            <a:endParaRPr sz="4500"/>
          </a:p>
          <a:p>
            <a:pPr marL="35560">
              <a:lnSpc>
                <a:spcPts val="5150"/>
              </a:lnSpc>
            </a:pPr>
            <a:r>
              <a:rPr dirty="0" sz="4600">
                <a:solidFill>
                  <a:srgbClr val="E2131A"/>
                </a:solidFill>
              </a:rPr>
              <a:t>is</a:t>
            </a:r>
            <a:r>
              <a:rPr dirty="0" sz="4600" spc="-260">
                <a:solidFill>
                  <a:srgbClr val="E2131A"/>
                </a:solidFill>
              </a:rPr>
              <a:t> </a:t>
            </a:r>
            <a:r>
              <a:rPr dirty="0" sz="4600" spc="-85" i="1">
                <a:solidFill>
                  <a:srgbClr val="FD1116"/>
                </a:solidFill>
                <a:latin typeface="Calibri"/>
                <a:cs typeface="Calibri"/>
              </a:rPr>
              <a:t>independent</a:t>
            </a:r>
            <a:r>
              <a:rPr dirty="0" sz="4600" spc="20" i="1">
                <a:solidFill>
                  <a:srgbClr val="FD1116"/>
                </a:solidFill>
                <a:latin typeface="Calibri"/>
                <a:cs typeface="Calibri"/>
              </a:rPr>
              <a:t> </a:t>
            </a:r>
            <a:r>
              <a:rPr dirty="0" sz="4600"/>
              <a:t>of</a:t>
            </a:r>
            <a:r>
              <a:rPr dirty="0" sz="4600" spc="-140"/>
              <a:t> </a:t>
            </a:r>
            <a:r>
              <a:rPr dirty="0" sz="4600" spc="-40"/>
              <a:t>the</a:t>
            </a:r>
            <a:r>
              <a:rPr dirty="0" sz="4600" spc="-220"/>
              <a:t> </a:t>
            </a:r>
            <a:r>
              <a:rPr dirty="0" sz="4600" spc="-70"/>
              <a:t>values</a:t>
            </a:r>
            <a:r>
              <a:rPr dirty="0" sz="4600" spc="-125"/>
              <a:t> </a:t>
            </a:r>
            <a:r>
              <a:rPr dirty="0" sz="4600"/>
              <a:t>of</a:t>
            </a:r>
            <a:r>
              <a:rPr dirty="0" sz="4600" spc="-140"/>
              <a:t> </a:t>
            </a:r>
            <a:r>
              <a:rPr dirty="0" sz="4600" spc="-65"/>
              <a:t>the</a:t>
            </a:r>
            <a:r>
              <a:rPr dirty="0" sz="4600" spc="-195"/>
              <a:t> </a:t>
            </a:r>
            <a:r>
              <a:rPr dirty="0" sz="4600" spc="-45"/>
              <a:t>other</a:t>
            </a:r>
            <a:r>
              <a:rPr dirty="0" sz="4600" spc="-150"/>
              <a:t> </a:t>
            </a:r>
            <a:r>
              <a:rPr dirty="0" sz="4600" spc="-20"/>
              <a:t>features</a:t>
            </a:r>
            <a:endParaRPr sz="4600">
              <a:latin typeface="Calibri"/>
              <a:cs typeface="Calibri"/>
            </a:endParaRPr>
          </a:p>
          <a:p>
            <a:pPr marL="25400">
              <a:lnSpc>
                <a:spcPts val="5130"/>
              </a:lnSpc>
              <a:spcBef>
                <a:spcPts val="905"/>
              </a:spcBef>
            </a:pPr>
            <a:r>
              <a:rPr dirty="0" sz="4550" spc="-30"/>
              <a:t>Hence,</a:t>
            </a:r>
            <a:r>
              <a:rPr dirty="0" sz="4550" spc="85"/>
              <a:t> </a:t>
            </a:r>
            <a:r>
              <a:rPr dirty="0" sz="4550"/>
              <a:t>the</a:t>
            </a:r>
            <a:r>
              <a:rPr dirty="0" sz="4550" spc="-120"/>
              <a:t> </a:t>
            </a:r>
            <a:r>
              <a:rPr dirty="0" sz="4550" spc="-20"/>
              <a:t>current</a:t>
            </a:r>
            <a:r>
              <a:rPr dirty="0" sz="4550"/>
              <a:t> </a:t>
            </a:r>
            <a:r>
              <a:rPr dirty="0" sz="4550" spc="-55"/>
              <a:t>programs</a:t>
            </a:r>
            <a:r>
              <a:rPr dirty="0" sz="4550" spc="95"/>
              <a:t> </a:t>
            </a:r>
            <a:r>
              <a:rPr dirty="0" sz="4550"/>
              <a:t>for</a:t>
            </a:r>
            <a:r>
              <a:rPr dirty="0" sz="4550" spc="-25"/>
              <a:t> </a:t>
            </a:r>
            <a:r>
              <a:rPr dirty="0" sz="4550"/>
              <a:t>chess</a:t>
            </a:r>
            <a:r>
              <a:rPr dirty="0" sz="4550" spc="-20"/>
              <a:t> </a:t>
            </a:r>
            <a:r>
              <a:rPr dirty="0" sz="4550"/>
              <a:t>and</a:t>
            </a:r>
            <a:r>
              <a:rPr dirty="0" sz="4550" spc="-90"/>
              <a:t> </a:t>
            </a:r>
            <a:r>
              <a:rPr dirty="0" sz="4550"/>
              <a:t>other</a:t>
            </a:r>
            <a:r>
              <a:rPr dirty="0" sz="4550" spc="90"/>
              <a:t> </a:t>
            </a:r>
            <a:r>
              <a:rPr dirty="0" sz="4550" spc="-40"/>
              <a:t>games </a:t>
            </a:r>
            <a:r>
              <a:rPr dirty="0" sz="4550"/>
              <a:t>also</a:t>
            </a:r>
            <a:r>
              <a:rPr dirty="0" sz="4550" spc="-105"/>
              <a:t> </a:t>
            </a:r>
            <a:r>
              <a:rPr dirty="0" sz="4550"/>
              <a:t>use</a:t>
            </a:r>
            <a:r>
              <a:rPr dirty="0" sz="4550" spc="100"/>
              <a:t> </a:t>
            </a:r>
            <a:r>
              <a:rPr dirty="0" sz="4550" spc="-10" i="1">
                <a:solidFill>
                  <a:srgbClr val="D8131A"/>
                </a:solidFill>
                <a:latin typeface="Calibri"/>
                <a:cs typeface="Calibri"/>
              </a:rPr>
              <a:t>nonlinear</a:t>
            </a:r>
            <a:endParaRPr sz="4550">
              <a:latin typeface="Calibri"/>
              <a:cs typeface="Calibri"/>
            </a:endParaRPr>
          </a:p>
          <a:p>
            <a:pPr marL="29209">
              <a:lnSpc>
                <a:spcPts val="5130"/>
              </a:lnSpc>
            </a:pPr>
            <a:r>
              <a:rPr dirty="0" sz="4550" spc="-60"/>
              <a:t>combinations </a:t>
            </a:r>
            <a:r>
              <a:rPr dirty="0" sz="4550"/>
              <a:t>of</a:t>
            </a:r>
            <a:r>
              <a:rPr dirty="0" sz="4550" spc="-180"/>
              <a:t> </a:t>
            </a:r>
            <a:r>
              <a:rPr dirty="0" sz="4550" spc="-10"/>
              <a:t>features.</a:t>
            </a:r>
            <a:endParaRPr sz="4550"/>
          </a:p>
          <a:p>
            <a:pPr marL="45085" marR="17780" indent="122555">
              <a:lnSpc>
                <a:spcPts val="4800"/>
              </a:lnSpc>
              <a:spcBef>
                <a:spcPts val="1550"/>
              </a:spcBef>
            </a:pPr>
            <a:r>
              <a:rPr dirty="0" sz="4550"/>
              <a:t>For</a:t>
            </a:r>
            <a:r>
              <a:rPr dirty="0" sz="4550" spc="-170"/>
              <a:t> </a:t>
            </a:r>
            <a:r>
              <a:rPr dirty="0" sz="4550" spc="-80"/>
              <a:t>example,</a:t>
            </a:r>
            <a:r>
              <a:rPr dirty="0" sz="4550" spc="-10"/>
              <a:t> </a:t>
            </a:r>
            <a:r>
              <a:rPr dirty="0" sz="4550" spc="65"/>
              <a:t>a</a:t>
            </a:r>
            <a:r>
              <a:rPr dirty="0" sz="4550" spc="-240"/>
              <a:t> </a:t>
            </a:r>
            <a:r>
              <a:rPr dirty="0" sz="4550">
                <a:solidFill>
                  <a:srgbClr val="0070BC"/>
                </a:solidFill>
              </a:rPr>
              <a:t>pair</a:t>
            </a:r>
            <a:r>
              <a:rPr dirty="0" sz="4550" spc="-45">
                <a:solidFill>
                  <a:srgbClr val="0070BC"/>
                </a:solidFill>
              </a:rPr>
              <a:t> </a:t>
            </a:r>
            <a:r>
              <a:rPr dirty="0" sz="4550">
                <a:solidFill>
                  <a:srgbClr val="0C75A8"/>
                </a:solidFill>
              </a:rPr>
              <a:t>of</a:t>
            </a:r>
            <a:r>
              <a:rPr dirty="0" sz="4550" spc="-85">
                <a:solidFill>
                  <a:srgbClr val="0C75A8"/>
                </a:solidFill>
              </a:rPr>
              <a:t> </a:t>
            </a:r>
            <a:r>
              <a:rPr dirty="0" sz="4550" spc="-45">
                <a:solidFill>
                  <a:srgbClr val="0062AA"/>
                </a:solidFill>
              </a:rPr>
              <a:t>bishops</a:t>
            </a:r>
            <a:r>
              <a:rPr dirty="0" sz="4550" spc="-5">
                <a:solidFill>
                  <a:srgbClr val="0062AA"/>
                </a:solidFill>
              </a:rPr>
              <a:t> </a:t>
            </a:r>
            <a:r>
              <a:rPr dirty="0" sz="4550" spc="-30"/>
              <a:t>might</a:t>
            </a:r>
            <a:r>
              <a:rPr dirty="0" sz="4550" spc="-100"/>
              <a:t> </a:t>
            </a:r>
            <a:r>
              <a:rPr dirty="0" sz="4550"/>
              <a:t>be</a:t>
            </a:r>
            <a:r>
              <a:rPr dirty="0" sz="4550" spc="-210"/>
              <a:t> </a:t>
            </a:r>
            <a:r>
              <a:rPr dirty="0" sz="4550" spc="-10"/>
              <a:t>worth</a:t>
            </a:r>
            <a:r>
              <a:rPr dirty="0" sz="4550" spc="-60"/>
              <a:t> </a:t>
            </a:r>
            <a:r>
              <a:rPr dirty="0" sz="4550" spc="-60">
                <a:solidFill>
                  <a:srgbClr val="2DAF6E"/>
                </a:solidFill>
              </a:rPr>
              <a:t>slightly</a:t>
            </a:r>
            <a:r>
              <a:rPr dirty="0" sz="4550" spc="65">
                <a:solidFill>
                  <a:srgbClr val="2DAF6E"/>
                </a:solidFill>
              </a:rPr>
              <a:t> </a:t>
            </a:r>
            <a:r>
              <a:rPr dirty="0" sz="4550" spc="-40">
                <a:solidFill>
                  <a:srgbClr val="18A360"/>
                </a:solidFill>
              </a:rPr>
              <a:t>more</a:t>
            </a:r>
            <a:r>
              <a:rPr dirty="0" sz="4550" spc="-10">
                <a:solidFill>
                  <a:srgbClr val="18A360"/>
                </a:solidFill>
              </a:rPr>
              <a:t> </a:t>
            </a:r>
            <a:r>
              <a:rPr dirty="0" sz="4550"/>
              <a:t>than</a:t>
            </a:r>
            <a:r>
              <a:rPr dirty="0" sz="4550" spc="-114"/>
              <a:t> </a:t>
            </a:r>
            <a:r>
              <a:rPr dirty="0" sz="4550" spc="-25">
                <a:solidFill>
                  <a:srgbClr val="2877B1"/>
                </a:solidFill>
              </a:rPr>
              <a:t>twice</a:t>
            </a:r>
            <a:r>
              <a:rPr dirty="0" sz="4550" spc="-90">
                <a:solidFill>
                  <a:srgbClr val="2877B1"/>
                </a:solidFill>
              </a:rPr>
              <a:t> </a:t>
            </a:r>
            <a:r>
              <a:rPr dirty="0" sz="4550" spc="-25">
                <a:solidFill>
                  <a:srgbClr val="0062A3"/>
                </a:solidFill>
              </a:rPr>
              <a:t>the </a:t>
            </a:r>
            <a:r>
              <a:rPr dirty="0" sz="4550" spc="-55">
                <a:solidFill>
                  <a:srgbClr val="1874C4"/>
                </a:solidFill>
              </a:rPr>
              <a:t>value</a:t>
            </a:r>
            <a:r>
              <a:rPr dirty="0" sz="4550" spc="-204">
                <a:solidFill>
                  <a:srgbClr val="1874C4"/>
                </a:solidFill>
              </a:rPr>
              <a:t> </a:t>
            </a:r>
            <a:r>
              <a:rPr dirty="0" sz="4550">
                <a:solidFill>
                  <a:srgbClr val="056BB5"/>
                </a:solidFill>
              </a:rPr>
              <a:t>of</a:t>
            </a:r>
            <a:r>
              <a:rPr dirty="0" sz="4550" spc="-145">
                <a:solidFill>
                  <a:srgbClr val="056BB5"/>
                </a:solidFill>
              </a:rPr>
              <a:t> </a:t>
            </a:r>
            <a:r>
              <a:rPr dirty="0" sz="4550">
                <a:solidFill>
                  <a:srgbClr val="136BAE"/>
                </a:solidFill>
              </a:rPr>
              <a:t>a</a:t>
            </a:r>
            <a:r>
              <a:rPr dirty="0" sz="4550" spc="-190">
                <a:solidFill>
                  <a:srgbClr val="136BAE"/>
                </a:solidFill>
              </a:rPr>
              <a:t> </a:t>
            </a:r>
            <a:r>
              <a:rPr dirty="0" sz="4550" spc="-30">
                <a:solidFill>
                  <a:srgbClr val="186DA3"/>
                </a:solidFill>
              </a:rPr>
              <a:t>single</a:t>
            </a:r>
            <a:r>
              <a:rPr dirty="0" sz="4550" spc="-60">
                <a:solidFill>
                  <a:srgbClr val="186DA3"/>
                </a:solidFill>
              </a:rPr>
              <a:t> </a:t>
            </a:r>
            <a:r>
              <a:rPr dirty="0" sz="4550" spc="-30"/>
              <a:t>bishop,</a:t>
            </a:r>
            <a:r>
              <a:rPr dirty="0" sz="4550" spc="-70"/>
              <a:t> </a:t>
            </a:r>
            <a:r>
              <a:rPr dirty="0" sz="4550"/>
              <a:t>and</a:t>
            </a:r>
            <a:r>
              <a:rPr dirty="0" sz="4550" spc="-120"/>
              <a:t> </a:t>
            </a:r>
            <a:r>
              <a:rPr dirty="0" sz="4550" spc="65"/>
              <a:t>a</a:t>
            </a:r>
            <a:r>
              <a:rPr dirty="0" sz="4550" spc="-254"/>
              <a:t> </a:t>
            </a:r>
            <a:r>
              <a:rPr dirty="0" sz="4550" spc="-35"/>
              <a:t>bishop</a:t>
            </a:r>
            <a:r>
              <a:rPr dirty="0" sz="4550" spc="-114"/>
              <a:t> </a:t>
            </a:r>
            <a:r>
              <a:rPr dirty="0" sz="4550"/>
              <a:t>is</a:t>
            </a:r>
            <a:r>
              <a:rPr dirty="0" sz="4550" spc="-254"/>
              <a:t> </a:t>
            </a:r>
            <a:r>
              <a:rPr dirty="0" sz="4550" spc="-25"/>
              <a:t>worth</a:t>
            </a:r>
            <a:r>
              <a:rPr dirty="0" sz="4550" spc="-190"/>
              <a:t> </a:t>
            </a:r>
            <a:r>
              <a:rPr dirty="0" sz="4550" spc="-75"/>
              <a:t>more</a:t>
            </a:r>
            <a:r>
              <a:rPr dirty="0" sz="4550" spc="-170"/>
              <a:t> </a:t>
            </a:r>
            <a:r>
              <a:rPr dirty="0" sz="4550"/>
              <a:t>in</a:t>
            </a:r>
            <a:r>
              <a:rPr dirty="0" sz="4550" spc="-195"/>
              <a:t> </a:t>
            </a:r>
            <a:r>
              <a:rPr dirty="0" sz="4550" spc="-30"/>
              <a:t>the</a:t>
            </a:r>
            <a:r>
              <a:rPr dirty="0" sz="4550" spc="-229"/>
              <a:t> </a:t>
            </a:r>
            <a:r>
              <a:rPr dirty="0" sz="4550" spc="-10"/>
              <a:t>endgame</a:t>
            </a:r>
            <a:endParaRPr sz="4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2026-01-22T06:19:20Z</dcterms:created>
  <dcterms:modified xsi:type="dcterms:W3CDTF">2026-01-22T06:19:20Z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LastSaved">
    <vt:filetime>2026-01-22T00:00:00Z</vt:filetime>
  </property>
</Properties>
</file>